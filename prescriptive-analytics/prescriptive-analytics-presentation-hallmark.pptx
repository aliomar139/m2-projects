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  <p:defaultTextStyle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62000" y="850000"/>
            <a:ext cx="160000" cy="3400000"/>
          </a:xfrm>
          <a:prstGeom prst="rect">
            <a:avLst/>
          </a:prstGeom>
          <a:solidFill>
            <a:srgbClr val="E8893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1250000" y="1100000"/>
            <a:ext cx="9800000" cy="13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5200" b="1" i="0">
                <a:solidFill>
                  <a:srgbClr val="FFFFFF"/>
                </a:solidFill>
                <a:latin typeface="Aptos"/>
              </a:rPr>
              <a:t>Prescriptive</a:t>
            </a:r>
            <a:endParaRPr lang="en-US" sz="5200"/>
          </a:p>
          <a:p>
            <a:pPr algn="l"/>
            <a:r>
              <a:rPr lang="en-US" sz="5200" b="1" i="0">
                <a:solidFill>
                  <a:srgbClr val="FFFFFF"/>
                </a:solidFill>
                <a:latin typeface="Aptos"/>
              </a:rPr>
              <a:t>analytics</a:t>
            </a:r>
            <a:endParaRPr lang="en-US" sz="5200"/>
          </a:p>
        </p:txBody>
      </p:sp>
      <p:sp>
        <p:nvSpPr>
          <p:cNvPr id="5" name="Text 5"/>
          <p:cNvSpPr txBox="1"/>
          <p:nvPr/>
        </p:nvSpPr>
        <p:spPr>
          <a:xfrm>
            <a:off x="1290000" y="2900000"/>
            <a:ext cx="9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500" b="0" i="0">
                <a:solidFill>
                  <a:srgbClr val="B7D7F0"/>
                </a:solidFill>
                <a:latin typeface="Aptos"/>
              </a:rPr>
              <a:t>Turning analysis into a recommended action</a:t>
            </a:r>
            <a:endParaRPr lang="en-US" sz="2500"/>
          </a:p>
        </p:txBody>
      </p:sp>
      <p:sp>
        <p:nvSpPr>
          <p:cNvPr id="6" name="Text 6"/>
          <p:cNvSpPr txBox="1"/>
          <p:nvPr/>
        </p:nvSpPr>
        <p:spPr>
          <a:xfrm>
            <a:off x="1290000" y="3940000"/>
            <a:ext cx="88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FFFFFF"/>
                </a:solidFill>
                <a:latin typeface="Aptos"/>
              </a:rPr>
              <a:t>Using goals, forecasts, and real-world limits to guide decisions</a:t>
            </a:r>
            <a:endParaRPr lang="en-US" sz="1900"/>
          </a:p>
        </p:txBody>
      </p:sp>
      <p:sp>
        <p:nvSpPr>
          <p:cNvPr id="7" name="Shape 7"/>
          <p:cNvSpPr/>
          <p:nvPr/>
        </p:nvSpPr>
        <p:spPr>
          <a:xfrm>
            <a:off x="10300000" y="4850000"/>
            <a:ext cx="500000" cy="50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0900000" y="4300000"/>
            <a:ext cx="400000" cy="400000"/>
          </a:xfrm>
          <a:prstGeom prst="ellipse">
            <a:avLst/>
          </a:prstGeom>
          <a:solidFill>
            <a:srgbClr val="E88936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1200000" y="5200000"/>
            <a:ext cx="250000" cy="250000"/>
          </a:xfrm>
          <a:prstGeom prst="ellipse">
            <a:avLst/>
          </a:prstGeom>
          <a:solidFill>
            <a:srgbClr val="74A9D8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What is prescriptive analytics?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THE DECISION QUESTION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02</a:t>
            </a:r>
            <a:endParaRPr lang="en-US" sz="1100"/>
          </a:p>
        </p:txBody>
      </p:sp>
      <p:sp>
        <p:nvSpPr>
          <p:cNvPr id="5" name="Text 5"/>
          <p:cNvSpPr txBox="1"/>
          <p:nvPr/>
        </p:nvSpPr>
        <p:spPr>
          <a:xfrm>
            <a:off x="900000" y="1550000"/>
            <a:ext cx="101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3600" b="1" i="0">
                <a:solidFill>
                  <a:srgbClr val="145DA0"/>
                </a:solidFill>
                <a:latin typeface="Aptos"/>
              </a:rPr>
              <a:t>Given what we know, what should we do?</a:t>
            </a:r>
            <a:endParaRPr lang="en-US" sz="3600"/>
          </a:p>
        </p:txBody>
      </p:sp>
      <p:sp>
        <p:nvSpPr>
          <p:cNvPr id="12" name="Text 12"/>
          <p:cNvSpPr txBox="1"/>
          <p:nvPr/>
        </p:nvSpPr>
        <p:spPr>
          <a:xfrm>
            <a:off x="1100000" y="4750000"/>
            <a:ext cx="10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900" b="0" i="0">
                <a:solidFill>
                  <a:srgbClr val="243B53"/>
                </a:solidFill>
                <a:latin typeface="Aptos"/>
              </a:rPr>
              <a:t>Outputs can be a recommendation, ranked options, or an automated action.</a:t>
            </a:r>
            <a:endParaRPr lang="en-US" sz="1900"/>
          </a:p>
        </p:txBody>
      </p:sp>
      <p:sp>
        <p:nvSpPr>
          <p:cNvPr id="100" name="Definition sequence rule"/>
          <p:cNvSpPr/>
          <p:nvPr/>
        </p:nvSpPr>
        <p:spPr>
          <a:xfrm>
            <a:off x="1100000" y="3380000"/>
            <a:ext cx="9800000" cy="1"/>
          </a:xfrm>
          <a:prstGeom prst="line">
            <a:avLst/>
          </a:prstGeom>
          <a:noFill/>
          <a:ln w="26000">
            <a:solidFill>
              <a:srgbClr val="D7E3ED"/>
            </a:solidFill>
          </a:ln>
        </p:spPr>
      </p:sp>
      <p:sp>
        <p:nvSpPr>
          <p:cNvPr id="101" name="Step 01 marker"/>
          <p:cNvSpPr/>
          <p:nvPr/>
        </p:nvSpPr>
        <p:spPr>
          <a:xfrm>
            <a:off x="1200000" y="3200000"/>
            <a:ext cx="360000" cy="360000"/>
          </a:xfrm>
          <a:prstGeom prst="ellipse">
            <a:avLst/>
          </a:prstGeom>
          <a:solidFill>
            <a:srgbClr val="145DA0"/>
          </a:solidFill>
          <a:ln w="28575">
            <a:noFill/>
          </a:ln>
        </p:spPr>
      </p:sp>
      <p:sp>
        <p:nvSpPr>
          <p:cNvPr id="104" name="Step 01"/>
          <p:cNvSpPr txBox="1"/>
          <p:nvPr/>
        </p:nvSpPr>
        <p:spPr>
          <a:xfrm>
            <a:off x="1200000" y="320000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50" b="1" i="0">
                <a:solidFill>
                  <a:srgbClr val="FFFFFF"/>
                </a:solidFill>
                <a:latin typeface="Aptos"/>
              </a:rPr>
              <a:t>01</a:t>
            </a:r>
            <a:endParaRPr lang="en-US" sz="1150"/>
          </a:p>
        </p:txBody>
      </p:sp>
      <p:sp>
        <p:nvSpPr>
          <p:cNvPr id="120" name="Step heading A choice"/>
          <p:cNvSpPr txBox="1"/>
          <p:nvPr/>
        </p:nvSpPr>
        <p:spPr>
          <a:xfrm>
            <a:off x="1150000" y="3760000"/>
            <a:ext cx="3000000" cy="39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50" b="1" i="0">
                <a:solidFill>
                  <a:srgbClr val="102A43"/>
                </a:solidFill>
                <a:latin typeface="Aptos"/>
              </a:rPr>
              <a:t>A choice</a:t>
            </a:r>
            <a:endParaRPr lang="en-US" sz="1850"/>
          </a:p>
        </p:txBody>
      </p:sp>
      <p:sp>
        <p:nvSpPr>
          <p:cNvPr id="121" name="Step description A choice"/>
          <p:cNvSpPr txBox="1"/>
          <p:nvPr/>
        </p:nvSpPr>
        <p:spPr>
          <a:xfrm>
            <a:off x="1150000" y="4200000"/>
            <a:ext cx="30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50" b="0" i="0">
                <a:solidFill>
                  <a:srgbClr val="243B53"/>
                </a:solidFill>
                <a:latin typeface="Aptos"/>
              </a:rPr>
              <a:t>Compare actions that are actually available.</a:t>
            </a:r>
            <a:endParaRPr lang="en-US" sz="1550"/>
          </a:p>
        </p:txBody>
      </p:sp>
      <p:sp>
        <p:nvSpPr>
          <p:cNvPr id="105" name="Step 02 marker"/>
          <p:cNvSpPr/>
          <p:nvPr/>
        </p:nvSpPr>
        <p:spPr>
          <a:xfrm>
            <a:off x="4800000" y="3200000"/>
            <a:ext cx="360000" cy="360000"/>
          </a:xfrm>
          <a:prstGeom prst="ellipse">
            <a:avLst/>
          </a:prstGeom>
          <a:solidFill>
            <a:srgbClr val="145DA0"/>
          </a:solidFill>
          <a:ln w="28575">
            <a:noFill/>
          </a:ln>
        </p:spPr>
      </p:sp>
      <p:sp>
        <p:nvSpPr>
          <p:cNvPr id="108" name="Step 02"/>
          <p:cNvSpPr txBox="1"/>
          <p:nvPr/>
        </p:nvSpPr>
        <p:spPr>
          <a:xfrm>
            <a:off x="4800000" y="320000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50" b="1" i="0">
                <a:solidFill>
                  <a:srgbClr val="FFFFFF"/>
                </a:solidFill>
                <a:latin typeface="Aptos"/>
              </a:rPr>
              <a:t>02</a:t>
            </a:r>
            <a:endParaRPr lang="en-US" sz="1150"/>
          </a:p>
        </p:txBody>
      </p:sp>
      <p:sp>
        <p:nvSpPr>
          <p:cNvPr id="123" name="Step heading A goal"/>
          <p:cNvSpPr txBox="1"/>
          <p:nvPr/>
        </p:nvSpPr>
        <p:spPr>
          <a:xfrm>
            <a:off x="4750000" y="3760000"/>
            <a:ext cx="3000000" cy="39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50" b="1" i="0">
                <a:solidFill>
                  <a:srgbClr val="102A43"/>
                </a:solidFill>
                <a:latin typeface="Aptos"/>
              </a:rPr>
              <a:t>A goal</a:t>
            </a:r>
            <a:endParaRPr lang="en-US" sz="1850"/>
          </a:p>
        </p:txBody>
      </p:sp>
      <p:sp>
        <p:nvSpPr>
          <p:cNvPr id="124" name="Step description A goal"/>
          <p:cNvSpPr txBox="1"/>
          <p:nvPr/>
        </p:nvSpPr>
        <p:spPr>
          <a:xfrm>
            <a:off x="4750000" y="4200000"/>
            <a:ext cx="30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50" b="0" i="0">
                <a:solidFill>
                  <a:srgbClr val="243B53"/>
                </a:solidFill>
                <a:latin typeface="Aptos"/>
              </a:rPr>
              <a:t>Define what a good outcome means.</a:t>
            </a:r>
            <a:endParaRPr lang="en-US" sz="1550"/>
          </a:p>
        </p:txBody>
      </p:sp>
      <p:sp>
        <p:nvSpPr>
          <p:cNvPr id="109" name="Step 03 marker"/>
          <p:cNvSpPr/>
          <p:nvPr/>
        </p:nvSpPr>
        <p:spPr>
          <a:xfrm>
            <a:off x="8400000" y="3200000"/>
            <a:ext cx="360000" cy="360000"/>
          </a:xfrm>
          <a:prstGeom prst="ellipse">
            <a:avLst/>
          </a:prstGeom>
          <a:solidFill>
            <a:srgbClr val="E88936"/>
          </a:solidFill>
          <a:ln w="28575">
            <a:noFill/>
          </a:ln>
        </p:spPr>
      </p:sp>
      <p:sp>
        <p:nvSpPr>
          <p:cNvPr id="112" name="Step 03"/>
          <p:cNvSpPr txBox="1"/>
          <p:nvPr/>
        </p:nvSpPr>
        <p:spPr>
          <a:xfrm>
            <a:off x="8400000" y="320000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50" b="1" i="0">
                <a:solidFill>
                  <a:srgbClr val="FFFFFF"/>
                </a:solidFill>
                <a:latin typeface="Aptos"/>
              </a:rPr>
              <a:t>03</a:t>
            </a:r>
            <a:endParaRPr lang="en-US" sz="1150"/>
          </a:p>
        </p:txBody>
      </p:sp>
      <p:sp>
        <p:nvSpPr>
          <p:cNvPr id="126" name="Step heading Real limits"/>
          <p:cNvSpPr txBox="1"/>
          <p:nvPr/>
        </p:nvSpPr>
        <p:spPr>
          <a:xfrm>
            <a:off x="8350000" y="3760000"/>
            <a:ext cx="3000000" cy="39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50" b="1" i="0">
                <a:solidFill>
                  <a:srgbClr val="102A43"/>
                </a:solidFill>
                <a:latin typeface="Aptos"/>
              </a:rPr>
              <a:t>Real limits</a:t>
            </a:r>
            <a:endParaRPr lang="en-US" sz="1850"/>
          </a:p>
        </p:txBody>
      </p:sp>
      <p:sp>
        <p:nvSpPr>
          <p:cNvPr id="127" name="Step description Real limits"/>
          <p:cNvSpPr txBox="1"/>
          <p:nvPr/>
        </p:nvSpPr>
        <p:spPr>
          <a:xfrm>
            <a:off x="8350000" y="4200000"/>
            <a:ext cx="30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50" b="0" i="0">
                <a:solidFill>
                  <a:srgbClr val="243B53"/>
                </a:solidFill>
                <a:latin typeface="Aptos"/>
              </a:rPr>
              <a:t>Apply rules, budgets, and capacity.</a:t>
            </a:r>
            <a:endParaRPr lang="en-US" sz="15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What goes into a prescription?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INPUTS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03</a:t>
            </a:r>
            <a:endParaRPr lang="en-US" sz="1100"/>
          </a:p>
        </p:txBody>
      </p:sp>
      <p:sp>
        <p:nvSpPr>
          <p:cNvPr id="5" name="Shape 5"/>
          <p:cNvSpPr/>
          <p:nvPr/>
        </p:nvSpPr>
        <p:spPr>
          <a:xfrm>
            <a:off x="850000" y="1430000"/>
            <a:ext cx="260000" cy="260000"/>
          </a:xfrm>
          <a:prstGeom prst="ellipse">
            <a:avLst/>
          </a:prstGeom>
          <a:solidFill>
            <a:srgbClr val="E8893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350000" y="1380000"/>
            <a:ext cx="2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Decision</a:t>
            </a:r>
            <a:endParaRPr lang="en-US" sz="2100"/>
          </a:p>
        </p:txBody>
      </p:sp>
      <p:sp>
        <p:nvSpPr>
          <p:cNvPr id="7" name="Text 7"/>
          <p:cNvSpPr txBox="1"/>
          <p:nvPr/>
        </p:nvSpPr>
        <p:spPr>
          <a:xfrm>
            <a:off x="4250000" y="1380000"/>
            <a:ext cx="68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243B53"/>
                </a:solidFill>
                <a:latin typeface="Aptos"/>
              </a:rPr>
              <a:t>Which choice needs support?</a:t>
            </a:r>
            <a:endParaRPr lang="en-US" sz="1900"/>
          </a:p>
        </p:txBody>
      </p:sp>
      <p:sp>
        <p:nvSpPr>
          <p:cNvPr id="8" name="Shape 8"/>
          <p:cNvSpPr/>
          <p:nvPr/>
        </p:nvSpPr>
        <p:spPr>
          <a:xfrm>
            <a:off x="850000" y="2310000"/>
            <a:ext cx="260000" cy="26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50000" y="2260000"/>
            <a:ext cx="2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Goal</a:t>
            </a:r>
            <a:endParaRPr lang="en-US" sz="2100"/>
          </a:p>
        </p:txBody>
      </p:sp>
      <p:sp>
        <p:nvSpPr>
          <p:cNvPr id="10" name="Text 10"/>
          <p:cNvSpPr txBox="1"/>
          <p:nvPr/>
        </p:nvSpPr>
        <p:spPr>
          <a:xfrm>
            <a:off x="4250000" y="2260000"/>
            <a:ext cx="68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243B53"/>
                </a:solidFill>
                <a:latin typeface="Aptos"/>
              </a:rPr>
              <a:t>What does a good outcome mean?</a:t>
            </a:r>
            <a:endParaRPr lang="en-US" sz="1900"/>
          </a:p>
        </p:txBody>
      </p:sp>
      <p:sp>
        <p:nvSpPr>
          <p:cNvPr id="11" name="Shape 11"/>
          <p:cNvSpPr/>
          <p:nvPr/>
        </p:nvSpPr>
        <p:spPr>
          <a:xfrm>
            <a:off x="850000" y="3190000"/>
            <a:ext cx="260000" cy="26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350000" y="3140000"/>
            <a:ext cx="2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Information</a:t>
            </a:r>
            <a:endParaRPr lang="en-US" sz="2100"/>
          </a:p>
        </p:txBody>
      </p:sp>
      <p:sp>
        <p:nvSpPr>
          <p:cNvPr id="13" name="Text 13"/>
          <p:cNvSpPr txBox="1"/>
          <p:nvPr/>
        </p:nvSpPr>
        <p:spPr>
          <a:xfrm>
            <a:off x="4250000" y="3140000"/>
            <a:ext cx="68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243B53"/>
                </a:solidFill>
                <a:latin typeface="Aptos"/>
              </a:rPr>
              <a:t>What is happening, and what may happen next?</a:t>
            </a:r>
            <a:endParaRPr lang="en-US" sz="1900"/>
          </a:p>
        </p:txBody>
      </p:sp>
      <p:sp>
        <p:nvSpPr>
          <p:cNvPr id="14" name="Shape 14"/>
          <p:cNvSpPr/>
          <p:nvPr/>
        </p:nvSpPr>
        <p:spPr>
          <a:xfrm>
            <a:off x="850000" y="4070000"/>
            <a:ext cx="260000" cy="26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350000" y="4020000"/>
            <a:ext cx="2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Constraints</a:t>
            </a:r>
            <a:endParaRPr lang="en-US" sz="2100"/>
          </a:p>
        </p:txBody>
      </p:sp>
      <p:sp>
        <p:nvSpPr>
          <p:cNvPr id="16" name="Text 16"/>
          <p:cNvSpPr txBox="1"/>
          <p:nvPr/>
        </p:nvSpPr>
        <p:spPr>
          <a:xfrm>
            <a:off x="4250000" y="4020000"/>
            <a:ext cx="68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243B53"/>
                </a:solidFill>
                <a:latin typeface="Aptos"/>
              </a:rPr>
              <a:t>What limits, rules, or requirements apply?</a:t>
            </a:r>
            <a:endParaRPr lang="en-US" sz="1900"/>
          </a:p>
        </p:txBody>
      </p:sp>
      <p:sp>
        <p:nvSpPr>
          <p:cNvPr id="17" name="Shape 17"/>
          <p:cNvSpPr/>
          <p:nvPr/>
        </p:nvSpPr>
        <p:spPr>
          <a:xfrm>
            <a:off x="850000" y="4950000"/>
            <a:ext cx="260000" cy="26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1350000" y="4900000"/>
            <a:ext cx="2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Possible actions</a:t>
            </a:r>
            <a:endParaRPr lang="en-US" sz="2100"/>
          </a:p>
        </p:txBody>
      </p:sp>
      <p:sp>
        <p:nvSpPr>
          <p:cNvPr id="19" name="Text 19"/>
          <p:cNvSpPr txBox="1"/>
          <p:nvPr/>
        </p:nvSpPr>
        <p:spPr>
          <a:xfrm>
            <a:off x="4250000" y="4900000"/>
            <a:ext cx="68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243B53"/>
                </a:solidFill>
                <a:latin typeface="Aptos"/>
              </a:rPr>
              <a:t>What can the organization actually do?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"/>
          <p:cNvSpPr txBox="1"/>
          <p:nvPr>
            <p:ph type="title"/>
          </p:nvPr>
        </p:nvSpPr>
        <p:spPr>
          <a:xfrm>
            <a:off x="609600" y="548633"/>
            <a:ext cx="10972800" cy="6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</a:rPr>
              <a:t>How a recommendation is produced</a:t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5471800" y="4619684"/>
            <a:ext cx="1248400" cy="1248400"/>
          </a:xfrm>
          <a:prstGeom prst="roundRect">
            <a:avLst>
              <a:gd fmla="val 50000" name="adj"/>
            </a:avLst>
          </a:prstGeom>
          <a:solidFill>
            <a:srgbClr val="E889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3988200" y="3205917"/>
            <a:ext cx="1248400" cy="1248400"/>
          </a:xfrm>
          <a:prstGeom prst="roundRect">
            <a:avLst>
              <a:gd fmla="val 50000" name="adj"/>
            </a:avLst>
          </a:prstGeom>
          <a:solidFill>
            <a:srgbClr val="F1C2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6955400" y="3205917"/>
            <a:ext cx="1248400" cy="1248400"/>
          </a:xfrm>
          <a:prstGeom prst="roundRect">
            <a:avLst>
              <a:gd fmla="val 50000" name="adj"/>
            </a:avLst>
          </a:prstGeom>
          <a:solidFill>
            <a:srgbClr val="74A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5471800" y="1739251"/>
            <a:ext cx="1248400" cy="1248400"/>
          </a:xfrm>
          <a:prstGeom prst="roundRect">
            <a:avLst>
              <a:gd fmla="val 50000" name="adj"/>
            </a:avLst>
          </a:prstGeom>
          <a:solidFill>
            <a:srgbClr val="145D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1219200" y="1739267"/>
            <a:ext cx="263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45DA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Decision</a:t>
            </a:r>
            <a:endParaRPr b="1" sz="1600">
              <a:solidFill>
                <a:srgbClr val="145DA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1219200" y="4722900"/>
            <a:ext cx="263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1C27D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Compare</a:t>
            </a:r>
            <a:endParaRPr b="1" sz="1600">
              <a:solidFill>
                <a:srgbClr val="F1C27D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8340400" y="1739267"/>
            <a:ext cx="263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4A9D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Constraints</a:t>
            </a:r>
            <a:endParaRPr b="1" sz="1600">
              <a:solidFill>
                <a:srgbClr val="74A9D8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8340400" y="4722900"/>
            <a:ext cx="263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E8893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Action</a:t>
            </a:r>
            <a:endParaRPr b="1" sz="1600">
              <a:solidFill>
                <a:srgbClr val="E8893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1219200" y="2122067"/>
            <a:ext cx="2253200" cy="7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the choice and the outcome to improve.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1219200" y="5105700"/>
            <a:ext cx="2253200" cy="7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feasible actions and trade-offs.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8719600" y="2122051"/>
            <a:ext cx="2253200" cy="7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Apply budgets, capacity, deadlines, and rules.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8719600" y="5105700"/>
            <a:ext cx="2253200" cy="7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Recommend an action for review or execution.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1"/>
          <p:cNvSpPr/>
          <p:nvPr/>
        </p:nvSpPr>
        <p:spPr>
          <a:xfrm rot="5400000">
            <a:off x="6955400" y="2273300"/>
            <a:ext cx="714400" cy="714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 rot="10800000">
            <a:off x="6864400" y="4619700"/>
            <a:ext cx="714400" cy="714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1"/>
          <p:cNvSpPr/>
          <p:nvPr/>
        </p:nvSpPr>
        <p:spPr>
          <a:xfrm rot="-5400000">
            <a:off x="4522200" y="4619700"/>
            <a:ext cx="714400" cy="714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4598000" y="2273300"/>
            <a:ext cx="714400" cy="714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2" name="Google Shape;362;p21"/>
          <p:cNvGrpSpPr/>
          <p:nvPr/>
        </p:nvGrpSpPr>
        <p:grpSpPr>
          <a:xfrm>
            <a:off x="5850543" y="2119216"/>
            <a:ext cx="490915" cy="488485"/>
            <a:chOff x="-82869267" y="5482367"/>
            <a:chExt cx="424300" cy="422200"/>
          </a:xfrm>
        </p:grpSpPr>
        <p:sp>
          <p:nvSpPr>
            <p:cNvPr id="363" name="Google Shape;363;p21"/>
            <p:cNvSpPr/>
            <p:nvPr/>
          </p:nvSpPr>
          <p:spPr>
            <a:xfrm>
              <a:off x="-82869267" y="5877233"/>
              <a:ext cx="424300" cy="27333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-82869267" y="5711300"/>
              <a:ext cx="112400" cy="138667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-82711733" y="5482367"/>
              <a:ext cx="110300" cy="3676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-82555267" y="5601033"/>
              <a:ext cx="110300" cy="248933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7" name="Google Shape;367;p21"/>
          <p:cNvSpPr txBox="1"/>
          <p:nvPr/>
        </p:nvSpPr>
        <p:spPr>
          <a:xfrm>
            <a:off x="7578800" y="2118600"/>
            <a:ext cx="7616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7578800" y="4999084"/>
            <a:ext cx="7616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3851600" y="4999084"/>
            <a:ext cx="7616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3851600" y="2118600"/>
            <a:ext cx="7616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71" name="Google Shape;371;p21"/>
          <p:cNvGrpSpPr/>
          <p:nvPr/>
        </p:nvGrpSpPr>
        <p:grpSpPr>
          <a:xfrm>
            <a:off x="5852149" y="5124653"/>
            <a:ext cx="487700" cy="260097"/>
            <a:chOff x="2779100" y="484400"/>
            <a:chExt cx="645533" cy="338800"/>
          </a:xfrm>
        </p:grpSpPr>
        <p:sp>
          <p:nvSpPr>
            <p:cNvPr id="372" name="Google Shape;372;p21"/>
            <p:cNvSpPr/>
            <p:nvPr/>
          </p:nvSpPr>
          <p:spPr>
            <a:xfrm>
              <a:off x="2779100" y="484400"/>
              <a:ext cx="645533" cy="338800"/>
            </a:xfrm>
            <a:custGeom>
              <a:rect b="b" l="l" r="r" t="t"/>
              <a:pathLst>
                <a:path extrusionOk="0" h="10164" w="19366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3000800" y="559700"/>
              <a:ext cx="193567" cy="188167"/>
            </a:xfrm>
            <a:custGeom>
              <a:rect b="b" l="l" r="r" t="t"/>
              <a:pathLst>
                <a:path extrusionOk="0" h="5645" w="5807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74" name="Google Shape;374;p21"/>
          <p:cNvGrpSpPr/>
          <p:nvPr/>
        </p:nvGrpSpPr>
        <p:grpSpPr>
          <a:xfrm>
            <a:off x="7335767" y="3527335"/>
            <a:ext cx="487680" cy="552715"/>
            <a:chOff x="4400433" y="333167"/>
            <a:chExt cx="578300" cy="641200"/>
          </a:xfrm>
        </p:grpSpPr>
        <p:sp>
          <p:nvSpPr>
            <p:cNvPr id="375" name="Google Shape;375;p21"/>
            <p:cNvSpPr/>
            <p:nvPr/>
          </p:nvSpPr>
          <p:spPr>
            <a:xfrm>
              <a:off x="4814500" y="446067"/>
              <a:ext cx="75300" cy="37667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4623567" y="333167"/>
              <a:ext cx="61867" cy="75300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4755367" y="333167"/>
              <a:ext cx="61867" cy="75300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4551000" y="446067"/>
              <a:ext cx="75333" cy="37667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4400433" y="635567"/>
              <a:ext cx="112967" cy="338800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4551000" y="447367"/>
              <a:ext cx="427733" cy="527000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81" name="Google Shape;381;p21"/>
          <p:cNvGrpSpPr/>
          <p:nvPr/>
        </p:nvGrpSpPr>
        <p:grpSpPr>
          <a:xfrm>
            <a:off x="4368563" y="3577196"/>
            <a:ext cx="487671" cy="487671"/>
            <a:chOff x="1990233" y="6656167"/>
            <a:chExt cx="642433" cy="642433"/>
          </a:xfrm>
        </p:grpSpPr>
        <p:sp>
          <p:nvSpPr>
            <p:cNvPr id="382" name="Google Shape;382;p21"/>
            <p:cNvSpPr/>
            <p:nvPr/>
          </p:nvSpPr>
          <p:spPr>
            <a:xfrm>
              <a:off x="1990233" y="6656167"/>
              <a:ext cx="642433" cy="642433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2186167" y="6893567"/>
              <a:ext cx="253467" cy="167667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Delivery planning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EXAMPLE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05</a:t>
            </a:r>
            <a:endParaRPr lang="en-US" sz="1100"/>
          </a:p>
        </p:txBody>
      </p:sp>
      <p:sp>
        <p:nvSpPr>
          <p:cNvPr id="100" name="Goal sentence"/>
          <p:cNvSpPr txBox="1"/>
          <p:nvPr/>
        </p:nvSpPr>
        <p:spPr>
          <a:xfrm>
            <a:off x="900000" y="1350000"/>
            <a:ext cx="1020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50" b="1" i="0">
                <a:solidFill>
                  <a:srgbClr val="102A43"/>
                </a:solidFill>
                <a:latin typeface="Aptos"/>
              </a:rPr>
              <a:t>Goal: deliver on time while controlling fuel use.</a:t>
            </a:r>
            <a:endParaRPr lang="en-US" sz="2150"/>
          </a:p>
        </p:txBody>
      </p:sp>
      <p:sp>
        <p:nvSpPr>
          <p:cNvPr id="101" name="Route label"/>
          <p:cNvSpPr txBox="1"/>
          <p:nvPr/>
        </p:nvSpPr>
        <p:spPr>
          <a:xfrm>
            <a:off x="900000" y="1950000"/>
            <a:ext cx="102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50" b="1" i="0">
                <a:solidFill>
                  <a:srgbClr val="145DA0"/>
                </a:solidFill>
                <a:latin typeface="Aptos"/>
              </a:rPr>
              <a:t>ILLUSTRATIVE ROUTE</a:t>
            </a:r>
            <a:endParaRPr lang="en-US" sz="1150"/>
          </a:p>
        </p:txBody>
      </p:sp>
      <p:sp>
        <p:nvSpPr>
          <p:cNvPr id="102" name="Route segment 1"/>
          <p:cNvSpPr/>
          <p:nvPr/>
        </p:nvSpPr>
        <p:spPr>
          <a:xfrm>
            <a:off x="1880000" y="3140000"/>
            <a:ext cx="2490000" cy="1"/>
          </a:xfrm>
          <a:prstGeom prst="line">
            <a:avLst/>
          </a:prstGeom>
          <a:noFill/>
          <a:ln w="44000">
            <a:solidFill>
              <a:srgbClr val="145DA0"/>
            </a:solidFill>
            <a:headEnd type="triangle"/>
          </a:ln>
        </p:spPr>
      </p:sp>
      <p:sp>
        <p:nvSpPr>
          <p:cNvPr id="103" name="Route segment 2"/>
          <p:cNvSpPr/>
          <p:nvPr/>
        </p:nvSpPr>
        <p:spPr>
          <a:xfrm>
            <a:off x="4730000" y="3140000"/>
            <a:ext cx="2490000" cy="1"/>
          </a:xfrm>
          <a:prstGeom prst="line">
            <a:avLst/>
          </a:prstGeom>
          <a:noFill/>
          <a:ln w="44000">
            <a:solidFill>
              <a:srgbClr val="145DA0"/>
            </a:solidFill>
            <a:headEnd type="triangle"/>
          </a:ln>
        </p:spPr>
      </p:sp>
      <p:sp>
        <p:nvSpPr>
          <p:cNvPr id="104" name="Route segment 3"/>
          <p:cNvSpPr/>
          <p:nvPr/>
        </p:nvSpPr>
        <p:spPr>
          <a:xfrm>
            <a:off x="7580000" y="3140000"/>
            <a:ext cx="2490000" cy="1"/>
          </a:xfrm>
          <a:prstGeom prst="line">
            <a:avLst/>
          </a:prstGeom>
          <a:noFill/>
          <a:ln w="44000">
            <a:solidFill>
              <a:srgbClr val="145DA0"/>
            </a:solidFill>
            <a:headEnd type="triangle"/>
          </a:ln>
        </p:spPr>
      </p:sp>
      <p:sp>
        <p:nvSpPr>
          <p:cNvPr id="110" name="Route stop 1"/>
          <p:cNvSpPr/>
          <p:nvPr/>
        </p:nvSpPr>
        <p:spPr>
          <a:xfrm>
            <a:off x="1490000" y="2930000"/>
            <a:ext cx="420000" cy="420000"/>
          </a:xfrm>
          <a:prstGeom prst="ellipse">
            <a:avLst/>
          </a:prstGeom>
          <a:solidFill>
            <a:srgbClr val="145DA0"/>
          </a:solidFill>
          <a:ln w="28575">
            <a:noFill/>
          </a:ln>
        </p:spPr>
      </p:sp>
      <p:sp>
        <p:nvSpPr>
          <p:cNvPr id="120" name="Route label Depot"/>
          <p:cNvSpPr txBox="1"/>
          <p:nvPr/>
        </p:nvSpPr>
        <p:spPr>
          <a:xfrm>
            <a:off x="800000" y="3520000"/>
            <a:ext cx="18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650" b="1" i="0">
                <a:solidFill>
                  <a:srgbClr val="102A43"/>
                </a:solidFill>
                <a:latin typeface="Aptos"/>
              </a:rPr>
              <a:t>Depot</a:t>
            </a:r>
            <a:endParaRPr lang="en-US" sz="1650"/>
          </a:p>
        </p:txBody>
      </p:sp>
      <p:sp>
        <p:nvSpPr>
          <p:cNvPr id="111" name="Route stop 2"/>
          <p:cNvSpPr/>
          <p:nvPr/>
        </p:nvSpPr>
        <p:spPr>
          <a:xfrm>
            <a:off x="4340000" y="2930000"/>
            <a:ext cx="420000" cy="420000"/>
          </a:xfrm>
          <a:prstGeom prst="ellipse">
            <a:avLst/>
          </a:prstGeom>
          <a:solidFill>
            <a:srgbClr val="145DA0"/>
          </a:solidFill>
          <a:ln w="28575">
            <a:noFill/>
          </a:ln>
        </p:spPr>
      </p:sp>
      <p:sp>
        <p:nvSpPr>
          <p:cNvPr id="121" name="Route label Stop A"/>
          <p:cNvSpPr txBox="1"/>
          <p:nvPr/>
        </p:nvSpPr>
        <p:spPr>
          <a:xfrm>
            <a:off x="3650000" y="3520000"/>
            <a:ext cx="18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650" b="1" i="0">
                <a:solidFill>
                  <a:srgbClr val="102A43"/>
                </a:solidFill>
                <a:latin typeface="Aptos"/>
              </a:rPr>
              <a:t>Stop A</a:t>
            </a:r>
            <a:endParaRPr lang="en-US" sz="1650"/>
          </a:p>
        </p:txBody>
      </p:sp>
      <p:sp>
        <p:nvSpPr>
          <p:cNvPr id="112" name="Route stop 3"/>
          <p:cNvSpPr/>
          <p:nvPr/>
        </p:nvSpPr>
        <p:spPr>
          <a:xfrm>
            <a:off x="7190000" y="2930000"/>
            <a:ext cx="420000" cy="420000"/>
          </a:xfrm>
          <a:prstGeom prst="ellipse">
            <a:avLst/>
          </a:prstGeom>
          <a:solidFill>
            <a:srgbClr val="145DA0"/>
          </a:solidFill>
          <a:ln w="28575">
            <a:noFill/>
          </a:ln>
        </p:spPr>
      </p:sp>
      <p:sp>
        <p:nvSpPr>
          <p:cNvPr id="122" name="Route label Stop B"/>
          <p:cNvSpPr txBox="1"/>
          <p:nvPr/>
        </p:nvSpPr>
        <p:spPr>
          <a:xfrm>
            <a:off x="6500000" y="3520000"/>
            <a:ext cx="18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650" b="1" i="0">
                <a:solidFill>
                  <a:srgbClr val="102A43"/>
                </a:solidFill>
                <a:latin typeface="Aptos"/>
              </a:rPr>
              <a:t>Stop B</a:t>
            </a:r>
            <a:endParaRPr lang="en-US" sz="1650"/>
          </a:p>
        </p:txBody>
      </p:sp>
      <p:sp>
        <p:nvSpPr>
          <p:cNvPr id="113" name="Route stop 4"/>
          <p:cNvSpPr/>
          <p:nvPr/>
        </p:nvSpPr>
        <p:spPr>
          <a:xfrm>
            <a:off x="10040000" y="2930000"/>
            <a:ext cx="420000" cy="420000"/>
          </a:xfrm>
          <a:prstGeom prst="ellipse">
            <a:avLst/>
          </a:prstGeom>
          <a:solidFill>
            <a:srgbClr val="E88936"/>
          </a:solidFill>
          <a:ln w="28575">
            <a:noFill/>
          </a:ln>
        </p:spPr>
      </p:sp>
      <p:sp>
        <p:nvSpPr>
          <p:cNvPr id="123" name="Route label Destination"/>
          <p:cNvSpPr txBox="1"/>
          <p:nvPr/>
        </p:nvSpPr>
        <p:spPr>
          <a:xfrm>
            <a:off x="9350000" y="3520000"/>
            <a:ext cx="18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650" b="1" i="0">
                <a:solidFill>
                  <a:srgbClr val="102A43"/>
                </a:solidFill>
                <a:latin typeface="Aptos"/>
              </a:rPr>
              <a:t>Destination</a:t>
            </a:r>
            <a:endParaRPr lang="en-US" sz="1650"/>
          </a:p>
        </p:txBody>
      </p:sp>
      <p:sp>
        <p:nvSpPr>
          <p:cNvPr id="130" name="Route caption rule"/>
          <p:cNvSpPr/>
          <p:nvPr/>
        </p:nvSpPr>
        <p:spPr>
          <a:xfrm>
            <a:off x="1000000" y="4450000"/>
            <a:ext cx="9900000" cy="1"/>
          </a:xfrm>
          <a:prstGeom prst="line">
            <a:avLst/>
          </a:prstGeom>
          <a:noFill/>
          <a:ln w="22000">
            <a:solidFill>
              <a:srgbClr val="D7E3ED"/>
            </a:solidFill>
          </a:ln>
        </p:spPr>
      </p:sp>
      <p:sp>
        <p:nvSpPr>
          <p:cNvPr id="131" name="Inputs and constraints"/>
          <p:cNvSpPr txBox="1"/>
          <p:nvPr/>
        </p:nvSpPr>
        <p:spPr>
          <a:xfrm>
            <a:off x="1000000" y="47000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00" b="1" i="0">
                <a:solidFill>
                  <a:srgbClr val="145DA0"/>
                </a:solidFill>
                <a:latin typeface="Aptos"/>
              </a:rPr>
              <a:t>PLAN WITH</a:t>
            </a:r>
            <a:endParaRPr lang="en-US" sz="1100"/>
          </a:p>
        </p:txBody>
      </p:sp>
      <p:sp>
        <p:nvSpPr>
          <p:cNvPr id="132" name="Inputs"/>
          <p:cNvSpPr txBox="1"/>
          <p:nvPr/>
        </p:nvSpPr>
        <p:spPr>
          <a:xfrm>
            <a:off x="1000000" y="5060000"/>
            <a:ext cx="103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80" b="0" i="0">
                <a:solidFill>
                  <a:srgbClr val="243B53"/>
                </a:solidFill>
                <a:latin typeface="Aptos"/>
              </a:rPr>
              <a:t>Locations · traffic · vehicle capacity · delivery windows · driver hours · road limits · vehicle availability</a:t>
            </a:r>
            <a:endParaRPr lang="en-US" sz="1580"/>
          </a:p>
        </p:txBody>
      </p:sp>
      <p:sp>
        <p:nvSpPr>
          <p:cNvPr id="133" name="Recommendation"/>
          <p:cNvSpPr txBox="1"/>
          <p:nvPr/>
        </p:nvSpPr>
        <p:spPr>
          <a:xfrm>
            <a:off x="1000000" y="5790000"/>
            <a:ext cx="10300000" cy="5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30" b="1" i="0">
                <a:solidFill>
                  <a:srgbClr val="102A43"/>
                </a:solidFill>
                <a:latin typeface="Aptos"/>
              </a:rPr>
              <a:t>Recommend a route plan that meets the schedule within those limits.</a:t>
            </a:r>
            <a:endParaRPr lang="en-US" sz="183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Where it can help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EXAMPLE DECISIONS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06</a:t>
            </a:r>
            <a:endParaRPr lang="en-US" sz="1100"/>
          </a:p>
        </p:txBody>
      </p:sp>
      <p:sp>
        <p:nvSpPr>
          <p:cNvPr id="5" name="Shape 5"/>
          <p:cNvSpPr/>
          <p:nvPr/>
        </p:nvSpPr>
        <p:spPr>
          <a:xfrm>
            <a:off x="760000" y="1380000"/>
            <a:ext cx="10700000" cy="700000"/>
          </a:xfrm>
          <a:prstGeom prst="rect">
            <a:avLst/>
          </a:prstGeom>
          <a:solidFill>
            <a:srgbClr val="F4F8F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1020000" y="1450000"/>
            <a:ext cx="3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1" i="0">
                <a:solidFill>
                  <a:srgbClr val="145DA0"/>
                </a:solidFill>
                <a:latin typeface="Aptos"/>
              </a:rPr>
              <a:t>Supply chain</a:t>
            </a:r>
            <a:endParaRPr lang="en-US" sz="1800"/>
          </a:p>
        </p:txBody>
      </p:sp>
      <p:sp>
        <p:nvSpPr>
          <p:cNvPr id="30" name="Text 30"/>
          <p:cNvSpPr txBox="1"/>
          <p:nvPr/>
        </p:nvSpPr>
        <p:spPr>
          <a:xfrm>
            <a:off x="4350000" y="1450000"/>
            <a:ext cx="65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243B53"/>
                </a:solidFill>
                <a:latin typeface="Aptos"/>
              </a:rPr>
              <a:t>How much stock should go to each location?</a:t>
            </a:r>
            <a:endParaRPr lang="en-US" sz="1800"/>
          </a:p>
        </p:txBody>
      </p:sp>
      <p:sp>
        <p:nvSpPr>
          <p:cNvPr id="21" name="Text 21"/>
          <p:cNvSpPr txBox="1"/>
          <p:nvPr/>
        </p:nvSpPr>
        <p:spPr>
          <a:xfrm>
            <a:off x="1020000" y="2300000"/>
            <a:ext cx="3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1" i="0">
                <a:solidFill>
                  <a:srgbClr val="145DA0"/>
                </a:solidFill>
                <a:latin typeface="Aptos"/>
              </a:rPr>
              <a:t>Manufacturing</a:t>
            </a:r>
            <a:endParaRPr lang="en-US" sz="1800"/>
          </a:p>
        </p:txBody>
      </p:sp>
      <p:sp>
        <p:nvSpPr>
          <p:cNvPr id="31" name="Text 31"/>
          <p:cNvSpPr txBox="1"/>
          <p:nvPr/>
        </p:nvSpPr>
        <p:spPr>
          <a:xfrm>
            <a:off x="4350000" y="2300000"/>
            <a:ext cx="65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243B53"/>
                </a:solidFill>
                <a:latin typeface="Aptos"/>
              </a:rPr>
              <a:t>When should equipment be maintained?</a:t>
            </a:r>
            <a:endParaRPr lang="en-US" sz="1800"/>
          </a:p>
        </p:txBody>
      </p:sp>
      <p:sp>
        <p:nvSpPr>
          <p:cNvPr id="7" name="Shape 7"/>
          <p:cNvSpPr/>
          <p:nvPr/>
        </p:nvSpPr>
        <p:spPr>
          <a:xfrm>
            <a:off x="760000" y="3080000"/>
            <a:ext cx="10700000" cy="700000"/>
          </a:xfrm>
          <a:prstGeom prst="rect">
            <a:avLst/>
          </a:prstGeom>
          <a:solidFill>
            <a:srgbClr val="F4F8F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020000" y="3150000"/>
            <a:ext cx="3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1" i="0">
                <a:solidFill>
                  <a:srgbClr val="145DA0"/>
                </a:solidFill>
                <a:latin typeface="Aptos"/>
              </a:rPr>
              <a:t>Healthcare operations</a:t>
            </a:r>
            <a:endParaRPr lang="en-US" sz="1800"/>
          </a:p>
        </p:txBody>
      </p:sp>
      <p:sp>
        <p:nvSpPr>
          <p:cNvPr id="32" name="Text 32"/>
          <p:cNvSpPr txBox="1"/>
          <p:nvPr/>
        </p:nvSpPr>
        <p:spPr>
          <a:xfrm>
            <a:off x="4350000" y="3150000"/>
            <a:ext cx="65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243B53"/>
                </a:solidFill>
                <a:latin typeface="Aptos"/>
              </a:rPr>
              <a:t>How should staff and rooms be scheduled?</a:t>
            </a:r>
            <a:endParaRPr lang="en-US" sz="1800"/>
          </a:p>
        </p:txBody>
      </p:sp>
      <p:sp>
        <p:nvSpPr>
          <p:cNvPr id="23" name="Text 23"/>
          <p:cNvSpPr txBox="1"/>
          <p:nvPr/>
        </p:nvSpPr>
        <p:spPr>
          <a:xfrm>
            <a:off x="1020000" y="4000000"/>
            <a:ext cx="3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1" i="0">
                <a:solidFill>
                  <a:srgbClr val="145DA0"/>
                </a:solidFill>
                <a:latin typeface="Aptos"/>
              </a:rPr>
              <a:t>Finance</a:t>
            </a:r>
            <a:endParaRPr lang="en-US" sz="1800"/>
          </a:p>
        </p:txBody>
      </p:sp>
      <p:sp>
        <p:nvSpPr>
          <p:cNvPr id="33" name="Text 33"/>
          <p:cNvSpPr txBox="1"/>
          <p:nvPr/>
        </p:nvSpPr>
        <p:spPr>
          <a:xfrm>
            <a:off x="4350000" y="4000000"/>
            <a:ext cx="65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243B53"/>
                </a:solidFill>
                <a:latin typeface="Aptos"/>
              </a:rPr>
              <a:t>Which cases should investigators review first?</a:t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760000" y="4780000"/>
            <a:ext cx="10700000" cy="700000"/>
          </a:xfrm>
          <a:prstGeom prst="rect">
            <a:avLst/>
          </a:prstGeom>
          <a:solidFill>
            <a:srgbClr val="F4F8FB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1020000" y="4850000"/>
            <a:ext cx="3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1" i="0">
                <a:solidFill>
                  <a:srgbClr val="145DA0"/>
                </a:solidFill>
                <a:latin typeface="Aptos"/>
              </a:rPr>
              <a:t>Customer service</a:t>
            </a:r>
            <a:endParaRPr lang="en-US" sz="1800"/>
          </a:p>
        </p:txBody>
      </p:sp>
      <p:sp>
        <p:nvSpPr>
          <p:cNvPr id="34" name="Text 34"/>
          <p:cNvSpPr txBox="1"/>
          <p:nvPr/>
        </p:nvSpPr>
        <p:spPr>
          <a:xfrm>
            <a:off x="4350000" y="4850000"/>
            <a:ext cx="65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243B53"/>
                </a:solidFill>
                <a:latin typeface="Aptos"/>
              </a:rPr>
              <a:t>How should a limited team prioritize requests?</a:t>
            </a:r>
            <a:endParaRPr lang="en-US" sz="1800"/>
          </a:p>
        </p:txBody>
      </p:sp>
      <p:sp>
        <p:nvSpPr>
          <p:cNvPr id="50" name="Text 50"/>
          <p:cNvSpPr txBox="1"/>
          <p:nvPr/>
        </p:nvSpPr>
        <p:spPr>
          <a:xfrm>
            <a:off x="1000000" y="5750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650" b="0" i="0">
                <a:solidFill>
                  <a:srgbClr val="627D98"/>
                </a:solidFill>
                <a:latin typeface="Aptos"/>
              </a:rPr>
              <a:t>Each application connects a real decision to goals and constraints.</a:t>
            </a:r>
            <a:endParaRPr lang="en-US" sz="16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How it differs from other analytics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ANALYTICS QUESTIONS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07</a:t>
            </a:r>
            <a:endParaRPr lang="en-US" sz="1100"/>
          </a:p>
        </p:txBody>
      </p:sp>
      <p:sp>
        <p:nvSpPr>
          <p:cNvPr id="100" name="Analytics stage 1"/>
          <p:cNvSpPr/>
          <p:nvPr/>
        </p:nvSpPr>
        <p:spPr>
          <a:xfrm>
            <a:off x="950000" y="1590000"/>
            <a:ext cx="185000" cy="185000"/>
          </a:xfrm>
          <a:prstGeom prst="ellipse">
            <a:avLst/>
          </a:prstGeom>
          <a:solidFill>
            <a:srgbClr val="145DA0"/>
          </a:solidFill>
          <a:ln w="28575">
            <a:noFill/>
          </a:ln>
        </p:spPr>
      </p:sp>
      <p:sp>
        <p:nvSpPr>
          <p:cNvPr id="110" name="Analytics type DESCRIPTIVE"/>
          <p:cNvSpPr txBox="1"/>
          <p:nvPr/>
        </p:nvSpPr>
        <p:spPr>
          <a:xfrm>
            <a:off x="1220000" y="1500000"/>
            <a:ext cx="25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00" b="1" i="0">
                <a:solidFill>
                  <a:srgbClr val="627D98"/>
                </a:solidFill>
                <a:latin typeface="Aptos"/>
              </a:rPr>
              <a:t>DESCRIPTIVE</a:t>
            </a:r>
            <a:endParaRPr lang="en-US" sz="1100"/>
          </a:p>
        </p:txBody>
      </p:sp>
      <p:sp>
        <p:nvSpPr>
          <p:cNvPr id="111" name="Analytics question DESCRIPTIVE"/>
          <p:cNvSpPr txBox="1"/>
          <p:nvPr/>
        </p:nvSpPr>
        <p:spPr>
          <a:xfrm>
            <a:off x="1220000" y="1820000"/>
            <a:ext cx="46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102A43"/>
                </a:solidFill>
                <a:latin typeface="Aptos"/>
              </a:rPr>
              <a:t>What happened?</a:t>
            </a:r>
            <a:endParaRPr lang="en-US" sz="1900"/>
          </a:p>
        </p:txBody>
      </p:sp>
      <p:sp>
        <p:nvSpPr>
          <p:cNvPr id="112" name="Analytics output DESCRIPTIVE"/>
          <p:cNvSpPr txBox="1"/>
          <p:nvPr/>
        </p:nvSpPr>
        <p:spPr>
          <a:xfrm>
            <a:off x="6200000" y="1835000"/>
            <a:ext cx="485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50" b="0" i="0">
                <a:solidFill>
                  <a:srgbClr val="243B53"/>
                </a:solidFill>
                <a:latin typeface="Aptos"/>
              </a:rPr>
              <a:t>Reports and summaries</a:t>
            </a:r>
            <a:endParaRPr lang="en-US" sz="1450"/>
          </a:p>
        </p:txBody>
      </p:sp>
      <p:sp>
        <p:nvSpPr>
          <p:cNvPr id="130" name="Progression rule 1"/>
          <p:cNvSpPr/>
          <p:nvPr/>
        </p:nvSpPr>
        <p:spPr>
          <a:xfrm>
            <a:off x="1040000" y="1830000"/>
            <a:ext cx="380000" cy="640000"/>
          </a:xfrm>
          <a:prstGeom prst="line">
            <a:avLst/>
          </a:prstGeom>
          <a:noFill/>
          <a:ln w="23000">
            <a:solidFill>
              <a:srgbClr val="D7E3ED"/>
            </a:solidFill>
          </a:ln>
        </p:spPr>
      </p:sp>
      <p:sp>
        <p:nvSpPr>
          <p:cNvPr id="101" name="Analytics stage 2"/>
          <p:cNvSpPr/>
          <p:nvPr/>
        </p:nvSpPr>
        <p:spPr>
          <a:xfrm>
            <a:off x="1330000" y="2560000"/>
            <a:ext cx="185000" cy="185000"/>
          </a:xfrm>
          <a:prstGeom prst="ellipse">
            <a:avLst/>
          </a:prstGeom>
          <a:solidFill>
            <a:srgbClr val="145DA0"/>
          </a:solidFill>
          <a:ln w="28575">
            <a:noFill/>
          </a:ln>
        </p:spPr>
      </p:sp>
      <p:sp>
        <p:nvSpPr>
          <p:cNvPr id="113" name="Analytics type DIAGNOSTIC"/>
          <p:cNvSpPr txBox="1"/>
          <p:nvPr/>
        </p:nvSpPr>
        <p:spPr>
          <a:xfrm>
            <a:off x="1600000" y="2470000"/>
            <a:ext cx="25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00" b="1" i="0">
                <a:solidFill>
                  <a:srgbClr val="627D98"/>
                </a:solidFill>
                <a:latin typeface="Aptos"/>
              </a:rPr>
              <a:t>DIAGNOSTIC</a:t>
            </a:r>
            <a:endParaRPr lang="en-US" sz="1100"/>
          </a:p>
        </p:txBody>
      </p:sp>
      <p:sp>
        <p:nvSpPr>
          <p:cNvPr id="114" name="Analytics question DIAGNOSTIC"/>
          <p:cNvSpPr txBox="1"/>
          <p:nvPr/>
        </p:nvSpPr>
        <p:spPr>
          <a:xfrm>
            <a:off x="1600000" y="2790000"/>
            <a:ext cx="46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102A43"/>
                </a:solidFill>
                <a:latin typeface="Aptos"/>
              </a:rPr>
              <a:t>Why did it happen?</a:t>
            </a:r>
            <a:endParaRPr lang="en-US" sz="1900"/>
          </a:p>
        </p:txBody>
      </p:sp>
      <p:sp>
        <p:nvSpPr>
          <p:cNvPr id="115" name="Analytics output DIAGNOSTIC"/>
          <p:cNvSpPr txBox="1"/>
          <p:nvPr/>
        </p:nvSpPr>
        <p:spPr>
          <a:xfrm>
            <a:off x="6580000" y="2805000"/>
            <a:ext cx="485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50" b="0" i="0">
                <a:solidFill>
                  <a:srgbClr val="243B53"/>
                </a:solidFill>
                <a:latin typeface="Aptos"/>
              </a:rPr>
              <a:t>Explanations and contributing factors</a:t>
            </a:r>
            <a:endParaRPr lang="en-US" sz="1450"/>
          </a:p>
        </p:txBody>
      </p:sp>
      <p:sp>
        <p:nvSpPr>
          <p:cNvPr id="131" name="Progression rule 2"/>
          <p:cNvSpPr/>
          <p:nvPr/>
        </p:nvSpPr>
        <p:spPr>
          <a:xfrm>
            <a:off x="1420000" y="2800000"/>
            <a:ext cx="380000" cy="640000"/>
          </a:xfrm>
          <a:prstGeom prst="line">
            <a:avLst/>
          </a:prstGeom>
          <a:noFill/>
          <a:ln w="23000">
            <a:solidFill>
              <a:srgbClr val="D7E3ED"/>
            </a:solidFill>
          </a:ln>
        </p:spPr>
      </p:sp>
      <p:sp>
        <p:nvSpPr>
          <p:cNvPr id="102" name="Analytics stage 3"/>
          <p:cNvSpPr/>
          <p:nvPr/>
        </p:nvSpPr>
        <p:spPr>
          <a:xfrm>
            <a:off x="1710000" y="3530000"/>
            <a:ext cx="185000" cy="185000"/>
          </a:xfrm>
          <a:prstGeom prst="ellipse">
            <a:avLst/>
          </a:prstGeom>
          <a:solidFill>
            <a:srgbClr val="145DA0"/>
          </a:solidFill>
          <a:ln w="28575">
            <a:noFill/>
          </a:ln>
        </p:spPr>
      </p:sp>
      <p:sp>
        <p:nvSpPr>
          <p:cNvPr id="116" name="Analytics type PREDICTIVE"/>
          <p:cNvSpPr txBox="1"/>
          <p:nvPr/>
        </p:nvSpPr>
        <p:spPr>
          <a:xfrm>
            <a:off x="1980000" y="3440000"/>
            <a:ext cx="25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00" b="1" i="0">
                <a:solidFill>
                  <a:srgbClr val="627D98"/>
                </a:solidFill>
                <a:latin typeface="Aptos"/>
              </a:rPr>
              <a:t>PREDICTIVE</a:t>
            </a:r>
            <a:endParaRPr lang="en-US" sz="1100"/>
          </a:p>
        </p:txBody>
      </p:sp>
      <p:sp>
        <p:nvSpPr>
          <p:cNvPr id="117" name="Analytics question PREDICTIVE"/>
          <p:cNvSpPr txBox="1"/>
          <p:nvPr/>
        </p:nvSpPr>
        <p:spPr>
          <a:xfrm>
            <a:off x="1980000" y="3760000"/>
            <a:ext cx="46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102A43"/>
                </a:solidFill>
                <a:latin typeface="Aptos"/>
              </a:rPr>
              <a:t>What may happen?</a:t>
            </a:r>
            <a:endParaRPr lang="en-US" sz="1900"/>
          </a:p>
        </p:txBody>
      </p:sp>
      <p:sp>
        <p:nvSpPr>
          <p:cNvPr id="118" name="Analytics output PREDICTIVE"/>
          <p:cNvSpPr txBox="1"/>
          <p:nvPr/>
        </p:nvSpPr>
        <p:spPr>
          <a:xfrm>
            <a:off x="6960000" y="3775000"/>
            <a:ext cx="485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50" b="0" i="0">
                <a:solidFill>
                  <a:srgbClr val="243B53"/>
                </a:solidFill>
                <a:latin typeface="Aptos"/>
              </a:rPr>
              <a:t>Forecasts and probabilities</a:t>
            </a:r>
            <a:endParaRPr lang="en-US" sz="1450"/>
          </a:p>
        </p:txBody>
      </p:sp>
      <p:sp>
        <p:nvSpPr>
          <p:cNvPr id="132" name="Progression rule 3"/>
          <p:cNvSpPr/>
          <p:nvPr/>
        </p:nvSpPr>
        <p:spPr>
          <a:xfrm>
            <a:off x="1800000" y="3770000"/>
            <a:ext cx="380000" cy="640000"/>
          </a:xfrm>
          <a:prstGeom prst="line">
            <a:avLst/>
          </a:prstGeom>
          <a:noFill/>
          <a:ln w="23000">
            <a:solidFill>
              <a:srgbClr val="D7E3ED"/>
            </a:solidFill>
          </a:ln>
        </p:spPr>
      </p:sp>
      <p:sp>
        <p:nvSpPr>
          <p:cNvPr id="103" name="Analytics stage 4"/>
          <p:cNvSpPr/>
          <p:nvPr/>
        </p:nvSpPr>
        <p:spPr>
          <a:xfrm>
            <a:off x="2090000" y="4500000"/>
            <a:ext cx="185000" cy="185000"/>
          </a:xfrm>
          <a:prstGeom prst="ellipse">
            <a:avLst/>
          </a:prstGeom>
          <a:solidFill>
            <a:srgbClr val="E88936"/>
          </a:solidFill>
          <a:ln w="28575">
            <a:noFill/>
          </a:ln>
        </p:spPr>
      </p:sp>
      <p:sp>
        <p:nvSpPr>
          <p:cNvPr id="119" name="Analytics type PRESCRIPTIVE"/>
          <p:cNvSpPr txBox="1"/>
          <p:nvPr/>
        </p:nvSpPr>
        <p:spPr>
          <a:xfrm>
            <a:off x="2360000" y="4410000"/>
            <a:ext cx="25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00" b="1" i="0">
                <a:solidFill>
                  <a:srgbClr val="145DA0"/>
                </a:solidFill>
                <a:latin typeface="Aptos"/>
              </a:rPr>
              <a:t>PRESCRIPTIVE</a:t>
            </a:r>
            <a:endParaRPr lang="en-US" sz="1100"/>
          </a:p>
        </p:txBody>
      </p:sp>
      <p:sp>
        <p:nvSpPr>
          <p:cNvPr id="120" name="Analytics question PRESCRIPTIVE"/>
          <p:cNvSpPr txBox="1"/>
          <p:nvPr/>
        </p:nvSpPr>
        <p:spPr>
          <a:xfrm>
            <a:off x="2360000" y="4730000"/>
            <a:ext cx="46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1" i="0">
                <a:solidFill>
                  <a:srgbClr val="102A43"/>
                </a:solidFill>
                <a:latin typeface="Aptos"/>
              </a:rPr>
              <a:t>What action should we take?</a:t>
            </a:r>
            <a:endParaRPr lang="en-US" sz="1900"/>
          </a:p>
        </p:txBody>
      </p:sp>
      <p:sp>
        <p:nvSpPr>
          <p:cNvPr id="121" name="Analytics output PRESCRIPTIVE"/>
          <p:cNvSpPr txBox="1"/>
          <p:nvPr/>
        </p:nvSpPr>
        <p:spPr>
          <a:xfrm>
            <a:off x="7340000" y="4745000"/>
            <a:ext cx="485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50" b="0" i="0">
                <a:solidFill>
                  <a:srgbClr val="243B53"/>
                </a:solidFill>
                <a:latin typeface="Aptos"/>
              </a:rPr>
              <a:t>Recommended or optimized actions</a:t>
            </a:r>
            <a:endParaRPr lang="en-US" sz="1450"/>
          </a:p>
        </p:txBody>
      </p:sp>
      <p:sp>
        <p:nvSpPr>
          <p:cNvPr id="140" name="Analytics relationship"/>
          <p:cNvSpPr txBox="1"/>
          <p:nvPr/>
        </p:nvSpPr>
        <p:spPr>
          <a:xfrm>
            <a:off x="1000000" y="575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550" b="0" i="0">
                <a:solidFill>
                  <a:srgbClr val="627D98"/>
                </a:solidFill>
                <a:latin typeface="Aptos"/>
              </a:rPr>
              <a:t>Prescriptive analytics uses findings and forecasts to evaluate choices against goals and constraints.</a:t>
            </a:r>
            <a:endParaRPr lang="en-US" sz="15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Good recommendations need good judgment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LIMITATIONS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08</a:t>
            </a:r>
            <a:endParaRPr lang="en-US" sz="1100"/>
          </a:p>
        </p:txBody>
      </p:sp>
      <p:sp>
        <p:nvSpPr>
          <p:cNvPr id="100" name="Question accent"/>
          <p:cNvSpPr/>
          <p:nvPr/>
        </p:nvSpPr>
        <p:spPr>
          <a:xfrm>
            <a:off x="900000" y="1700000"/>
            <a:ext cx="120000" cy="2850000"/>
          </a:xfrm>
          <a:prstGeom prst="rect">
            <a:avLst/>
          </a:prstGeom>
          <a:solidFill>
            <a:srgbClr val="E88936"/>
          </a:solidFill>
          <a:ln w="28575">
            <a:noFill/>
          </a:ln>
        </p:spPr>
      </p:sp>
      <p:sp>
        <p:nvSpPr>
          <p:cNvPr id="101" name="Judgment question"/>
          <p:cNvSpPr txBox="1"/>
          <p:nvPr/>
        </p:nvSpPr>
        <p:spPr>
          <a:xfrm>
            <a:off x="1200000" y="16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000" b="1" i="0">
                <a:solidFill>
                  <a:srgbClr val="102A43"/>
                </a:solidFill>
                <a:latin typeface="Aptos"/>
              </a:rPr>
              <a:t>What is being</a:t>
            </a:r>
            <a:endParaRPr lang="en-US" sz="3000"/>
          </a:p>
          <a:p>
            <a:pPr algn="l"/>
            <a:r>
              <a:rPr lang="en-US" sz="3000" b="1" i="0">
                <a:solidFill>
                  <a:srgbClr val="102A43"/>
                </a:solidFill>
                <a:latin typeface="Aptos"/>
              </a:rPr>
              <a:t>optimized?</a:t>
            </a:r>
            <a:endParaRPr lang="en-US" sz="3000"/>
          </a:p>
        </p:txBody>
      </p:sp>
      <p:sp>
        <p:nvSpPr>
          <p:cNvPr id="102" name="Missing information prompt"/>
          <p:cNvSpPr txBox="1"/>
          <p:nvPr/>
        </p:nvSpPr>
        <p:spPr>
          <a:xfrm>
            <a:off x="1200000" y="4050000"/>
            <a:ext cx="4400000" cy="9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1" i="0">
                <a:solidFill>
                  <a:srgbClr val="145DA0"/>
                </a:solidFill>
                <a:latin typeface="Aptos"/>
              </a:rPr>
              <a:t>What might the model be missing?</a:t>
            </a:r>
            <a:endParaRPr lang="en-US" sz="1900"/>
          </a:p>
        </p:txBody>
      </p:sp>
      <p:sp>
        <p:nvSpPr>
          <p:cNvPr id="103" name="Risk divider"/>
          <p:cNvSpPr/>
          <p:nvPr/>
        </p:nvSpPr>
        <p:spPr>
          <a:xfrm>
            <a:off x="6150000" y="1650000"/>
            <a:ext cx="1" cy="3670000"/>
          </a:xfrm>
          <a:prstGeom prst="line">
            <a:avLst/>
          </a:prstGeom>
          <a:noFill/>
          <a:ln w="26000">
            <a:solidFill>
              <a:srgbClr val="D7E3ED"/>
            </a:solidFill>
          </a:ln>
        </p:spPr>
      </p:sp>
      <p:sp>
        <p:nvSpPr>
          <p:cNvPr id="110" name="Risk number 1"/>
          <p:cNvSpPr txBox="1"/>
          <p:nvPr/>
        </p:nvSpPr>
        <p:spPr>
          <a:xfrm>
            <a:off x="6450000" y="168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50" b="1" i="0">
                <a:solidFill>
                  <a:srgbClr val="E88936"/>
                </a:solidFill>
                <a:latin typeface="Aptos"/>
              </a:rPr>
              <a:t>01</a:t>
            </a:r>
            <a:endParaRPr lang="en-US" sz="1150"/>
          </a:p>
        </p:txBody>
      </p:sp>
      <p:sp>
        <p:nvSpPr>
          <p:cNvPr id="111" name="Risk 1"/>
          <p:cNvSpPr txBox="1"/>
          <p:nvPr/>
        </p:nvSpPr>
        <p:spPr>
          <a:xfrm>
            <a:off x="7200000" y="1620000"/>
            <a:ext cx="4100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0" i="0">
                <a:solidFill>
                  <a:srgbClr val="243B53"/>
                </a:solidFill>
                <a:latin typeface="Aptos"/>
              </a:rPr>
              <a:t>A poorly chosen goal can produce an undesirable result.</a:t>
            </a:r>
            <a:endParaRPr lang="en-US" sz="1600"/>
          </a:p>
        </p:txBody>
      </p:sp>
      <p:sp>
        <p:nvSpPr>
          <p:cNvPr id="112" name="Risk number 2"/>
          <p:cNvSpPr txBox="1"/>
          <p:nvPr/>
        </p:nvSpPr>
        <p:spPr>
          <a:xfrm>
            <a:off x="6450000" y="255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50" b="1" i="0">
                <a:solidFill>
                  <a:srgbClr val="E88936"/>
                </a:solidFill>
                <a:latin typeface="Aptos"/>
              </a:rPr>
              <a:t>02</a:t>
            </a:r>
            <a:endParaRPr lang="en-US" sz="1150"/>
          </a:p>
        </p:txBody>
      </p:sp>
      <p:sp>
        <p:nvSpPr>
          <p:cNvPr id="113" name="Risk 2"/>
          <p:cNvSpPr txBox="1"/>
          <p:nvPr/>
        </p:nvSpPr>
        <p:spPr>
          <a:xfrm>
            <a:off x="7200000" y="2490000"/>
            <a:ext cx="4100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0" i="0">
                <a:solidFill>
                  <a:srgbClr val="243B53"/>
                </a:solidFill>
                <a:latin typeface="Aptos"/>
              </a:rPr>
              <a:t>Incomplete or outdated data can distort the options.</a:t>
            </a:r>
            <a:endParaRPr lang="en-US" sz="1600"/>
          </a:p>
        </p:txBody>
      </p:sp>
      <p:sp>
        <p:nvSpPr>
          <p:cNvPr id="114" name="Risk number 3"/>
          <p:cNvSpPr txBox="1"/>
          <p:nvPr/>
        </p:nvSpPr>
        <p:spPr>
          <a:xfrm>
            <a:off x="6450000" y="342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50" b="1" i="0">
                <a:solidFill>
                  <a:srgbClr val="E88936"/>
                </a:solidFill>
                <a:latin typeface="Aptos"/>
              </a:rPr>
              <a:t>03</a:t>
            </a:r>
            <a:endParaRPr lang="en-US" sz="1150"/>
          </a:p>
        </p:txBody>
      </p:sp>
      <p:sp>
        <p:nvSpPr>
          <p:cNvPr id="115" name="Risk 3"/>
          <p:cNvSpPr txBox="1"/>
          <p:nvPr/>
        </p:nvSpPr>
        <p:spPr>
          <a:xfrm>
            <a:off x="7200000" y="3360000"/>
            <a:ext cx="4100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0" i="0">
                <a:solidFill>
                  <a:srgbClr val="243B53"/>
                </a:solidFill>
                <a:latin typeface="Aptos"/>
              </a:rPr>
              <a:t>Recommendations depend on assumptions and constraints.</a:t>
            </a:r>
            <a:endParaRPr lang="en-US" sz="1600"/>
          </a:p>
        </p:txBody>
      </p:sp>
      <p:sp>
        <p:nvSpPr>
          <p:cNvPr id="116" name="Risk number 4"/>
          <p:cNvSpPr txBox="1"/>
          <p:nvPr/>
        </p:nvSpPr>
        <p:spPr>
          <a:xfrm>
            <a:off x="6450000" y="429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50" b="1" i="0">
                <a:solidFill>
                  <a:srgbClr val="E88936"/>
                </a:solidFill>
                <a:latin typeface="Aptos"/>
              </a:rPr>
              <a:t>04</a:t>
            </a:r>
            <a:endParaRPr lang="en-US" sz="1150"/>
          </a:p>
        </p:txBody>
      </p:sp>
      <p:sp>
        <p:nvSpPr>
          <p:cNvPr id="117" name="Risk 4"/>
          <p:cNvSpPr txBox="1"/>
          <p:nvPr/>
        </p:nvSpPr>
        <p:spPr>
          <a:xfrm>
            <a:off x="7200000" y="4230000"/>
            <a:ext cx="4100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0" i="0">
                <a:solidFill>
                  <a:srgbClr val="243B53"/>
                </a:solidFill>
                <a:latin typeface="Aptos"/>
              </a:rPr>
              <a:t>People need a way to review decisions and results.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From recommendation to responsible action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REVIEW AND OVERSIGHT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09</a:t>
            </a:r>
            <a:endParaRPr lang="en-US" sz="1100"/>
          </a:p>
        </p:txBody>
      </p:sp>
      <p:sp>
        <p:nvSpPr>
          <p:cNvPr id="5" name="Shape 5"/>
          <p:cNvSpPr/>
          <p:nvPr/>
        </p:nvSpPr>
        <p:spPr>
          <a:xfrm>
            <a:off x="1000000" y="1550000"/>
            <a:ext cx="380000" cy="380000"/>
          </a:xfrm>
          <a:prstGeom prst="ellipse">
            <a:avLst/>
          </a:prstGeom>
          <a:solidFill>
            <a:srgbClr val="EAF3FA"/>
          </a:solidFill>
          <a:ln w="12700">
            <a:solidFill>
              <a:srgbClr val="145DA0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1000000" y="15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45DA0"/>
                </a:solidFill>
                <a:latin typeface="Aptos"/>
              </a:rPr>
              <a:t>✓</a:t>
            </a:r>
            <a:endParaRPr lang="en-US" sz="1700"/>
          </a:p>
        </p:txBody>
      </p:sp>
      <p:sp>
        <p:nvSpPr>
          <p:cNvPr id="20" name="Text 20"/>
          <p:cNvSpPr txBox="1"/>
          <p:nvPr/>
        </p:nvSpPr>
        <p:spPr>
          <a:xfrm>
            <a:off x="1600000" y="1510000"/>
            <a:ext cx="9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Understand the main trade-offs</a:t>
            </a:r>
            <a:endParaRPr lang="en-US" sz="2100"/>
          </a:p>
        </p:txBody>
      </p:sp>
      <p:sp>
        <p:nvSpPr>
          <p:cNvPr id="7" name="Shape 7"/>
          <p:cNvSpPr/>
          <p:nvPr/>
        </p:nvSpPr>
        <p:spPr>
          <a:xfrm>
            <a:off x="1000000" y="2450000"/>
            <a:ext cx="380000" cy="380000"/>
          </a:xfrm>
          <a:prstGeom prst="ellipse">
            <a:avLst/>
          </a:prstGeom>
          <a:solidFill>
            <a:srgbClr val="EAF3FA"/>
          </a:solidFill>
          <a:ln w="12700">
            <a:solidFill>
              <a:srgbClr val="145DA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00000" y="24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45DA0"/>
                </a:solidFill>
                <a:latin typeface="Aptos"/>
              </a:rPr>
              <a:t>✓</a:t>
            </a:r>
            <a:endParaRPr lang="en-US" sz="1700"/>
          </a:p>
        </p:txBody>
      </p:sp>
      <p:sp>
        <p:nvSpPr>
          <p:cNvPr id="21" name="Text 21"/>
          <p:cNvSpPr txBox="1"/>
          <p:nvPr/>
        </p:nvSpPr>
        <p:spPr>
          <a:xfrm>
            <a:off x="1600000" y="2410000"/>
            <a:ext cx="9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Approve or challenge the proposed action</a:t>
            </a:r>
            <a:endParaRPr lang="en-US" sz="2100"/>
          </a:p>
        </p:txBody>
      </p:sp>
      <p:sp>
        <p:nvSpPr>
          <p:cNvPr id="9" name="Shape 9"/>
          <p:cNvSpPr/>
          <p:nvPr/>
        </p:nvSpPr>
        <p:spPr>
          <a:xfrm>
            <a:off x="1000000" y="3350000"/>
            <a:ext cx="380000" cy="380000"/>
          </a:xfrm>
          <a:prstGeom prst="ellipse">
            <a:avLst/>
          </a:prstGeom>
          <a:solidFill>
            <a:srgbClr val="EAF3FA"/>
          </a:solidFill>
          <a:ln w="12700">
            <a:solidFill>
              <a:srgbClr val="145DA0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1000000" y="33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45DA0"/>
                </a:solidFill>
                <a:latin typeface="Aptos"/>
              </a:rPr>
              <a:t>✓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1600000" y="3310000"/>
            <a:ext cx="9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Measure what happened afterward</a:t>
            </a:r>
            <a:endParaRPr lang="en-US" sz="2100"/>
          </a:p>
        </p:txBody>
      </p:sp>
      <p:sp>
        <p:nvSpPr>
          <p:cNvPr id="11" name="Shape 11"/>
          <p:cNvSpPr/>
          <p:nvPr/>
        </p:nvSpPr>
        <p:spPr>
          <a:xfrm>
            <a:off x="1000000" y="4250000"/>
            <a:ext cx="380000" cy="380000"/>
          </a:xfrm>
          <a:prstGeom prst="ellipse">
            <a:avLst/>
          </a:prstGeom>
          <a:solidFill>
            <a:srgbClr val="EAF3FA"/>
          </a:solidFill>
          <a:ln w="12700">
            <a:solidFill>
              <a:srgbClr val="145DA0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1000000" y="42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45DA0"/>
                </a:solidFill>
                <a:latin typeface="Aptos"/>
              </a:rPr>
              <a:t>✓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1600000" y="4210000"/>
            <a:ext cx="9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Adjust the approach when conditions change</a:t>
            </a:r>
            <a:endParaRPr lang="en-US" sz="2100"/>
          </a:p>
        </p:txBody>
      </p:sp>
      <p:sp>
        <p:nvSpPr>
          <p:cNvPr id="30" name="Text 30"/>
          <p:cNvSpPr txBox="1"/>
          <p:nvPr/>
        </p:nvSpPr>
        <p:spPr>
          <a:xfrm>
            <a:off x="1300000" y="5450000"/>
            <a:ext cx="95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0" i="0">
                <a:solidFill>
                  <a:srgbClr val="627D98"/>
                </a:solidFill>
                <a:latin typeface="Aptos"/>
              </a:rPr>
              <a:t>Automation can fit routine decisions when rules and oversight are clear.</a:t>
            </a: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The central idea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SUMMARY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10</a:t>
            </a:r>
            <a:endParaRPr lang="en-US" sz="1100"/>
          </a:p>
        </p:txBody>
      </p:sp>
      <p:sp>
        <p:nvSpPr>
          <p:cNvPr id="6" name="Text 6"/>
          <p:cNvSpPr txBox="1"/>
          <p:nvPr/>
        </p:nvSpPr>
        <p:spPr>
          <a:xfrm>
            <a:off x="1100000" y="1650000"/>
            <a:ext cx="10000000" cy="21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800" b="1" i="0">
                <a:solidFill>
                  <a:srgbClr val="FFFFFF"/>
                </a:solidFill>
                <a:latin typeface="Aptos"/>
              </a:rPr>
              <a:t>Evaluate possible actions using available information, a defined goal, and real-world constraints.</a:t>
            </a:r>
            <a:endParaRPr lang="en-US" sz="2600"/>
          </a:p>
        </p:txBody>
      </p:sp>
      <p:sp>
        <p:nvSpPr>
          <p:cNvPr id="7" name="Text 7"/>
          <p:cNvSpPr txBox="1"/>
          <p:nvPr/>
        </p:nvSpPr>
        <p:spPr>
          <a:xfrm>
            <a:off x="1100000" y="4150000"/>
            <a:ext cx="10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200" b="1" i="0">
                <a:solidFill>
                  <a:srgbClr val="145DA0"/>
                </a:solidFill>
                <a:latin typeface="Aptos"/>
              </a:rPr>
              <a:t>A structured basis for choosing what to do.</a:t>
            </a:r>
            <a:endParaRPr lang="en-US" sz="2200"/>
          </a:p>
        </p:txBody>
      </p:sp>
      <p:sp>
        <p:nvSpPr>
          <p:cNvPr id="8" name="Text 8"/>
          <p:cNvSpPr txBox="1"/>
          <p:nvPr/>
        </p:nvSpPr>
        <p:spPr>
          <a:xfrm>
            <a:off x="1100000" y="5500000"/>
            <a:ext cx="10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300" b="1" i="0">
                <a:solidFill>
                  <a:srgbClr val="102A43"/>
                </a:solidFill>
                <a:latin typeface="Aptos"/>
              </a:rPr>
              <a:t>Questions?</a:t>
            </a:r>
            <a:endParaRPr lang="en-US" sz="2300"/>
          </a:p>
        </p:txBody>
      </p:sp>
      <p:sp>
        <p:nvSpPr>
          <p:cNvPr id="9" name="Text 9"/>
          <p:cNvSpPr txBox="1"/>
          <p:nvPr/>
        </p:nvSpPr>
        <p:spPr>
          <a:xfrm>
            <a:off x="800000" y="6350000"/>
            <a:ext cx="10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950" b="0" i="1">
                <a:solidFill>
                  <a:srgbClr val="627D98"/>
                </a:solidFill>
                <a:latin typeface="Aptos"/>
              </a:rPr>
              <a:t>Further reading: IBM Think, “What is prescriptive analytics?”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02A43"/>
      </a:dk1>
      <a:lt1>
        <a:srgbClr val="FFFFFF"/>
      </a:lt1>
      <a:dk2>
        <a:srgbClr val="243B53"/>
      </a:dk2>
      <a:lt2>
        <a:srgbClr val="F4F8FB"/>
      </a:lt2>
      <a:accent1>
        <a:srgbClr val="145DA0"/>
      </a:accent1>
      <a:accent2>
        <a:srgbClr val="E88936"/>
      </a:accent2>
      <a:accent3>
        <a:srgbClr val="74A9D8"/>
      </a:accent3>
      <a:accent4>
        <a:srgbClr val="627D98"/>
      </a:accent4>
      <a:accent5>
        <a:srgbClr val="EAF3FA"/>
      </a:accent5>
      <a:accent6>
        <a:srgbClr val="D7E3ED"/>
      </a:accent6>
      <a:hlink>
        <a:srgbClr val="145DA0"/>
      </a:hlink>
      <a:folHlink>
        <a:srgbClr val="627D98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