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0" r:id="rId1"/>
    <p:sldMasterId id="2147483661" r:id="rId2"/>
  </p:sldMasterIdLst>
  <p:notesMasterIdLst>
    <p:notesMasterId r:id="rId17"/>
  </p:notesMasterIdLst>
  <p:sldIdLst>
    <p:sldId id="273" r:id="rId3"/>
    <p:sldId id="257" r:id="rId4"/>
    <p:sldId id="258" r:id="rId5"/>
    <p:sldId id="259" r:id="rId6"/>
    <p:sldId id="260" r:id="rId7"/>
    <p:sldId id="261" r:id="rId8"/>
    <p:sldId id="262" r:id="rId9"/>
    <p:sldId id="263" r:id="rId10"/>
    <p:sldId id="264" r:id="rId11"/>
    <p:sldId id="274" r:id="rId12"/>
    <p:sldId id="266" r:id="rId13"/>
    <p:sldId id="267" r:id="rId14"/>
    <p:sldId id="268" r:id="rId15"/>
    <p:sldId id="272" r:id="rId16"/>
  </p:sldIdLst>
  <p:sldSz cx="9144000" cy="5143500" type="screen16x9"/>
  <p:notesSz cx="6858000" cy="9144000"/>
  <p:embeddedFontLst>
    <p:embeddedFont>
      <p:font typeface="Fira Sans Extra Condensed" panose="020B0503050000020004" pitchFamily="34" charset="0"/>
      <p:regular r:id="rId18"/>
      <p:bold r:id="rId19"/>
      <p:italic r:id="rId20"/>
      <p:boldItalic r:id="rId21"/>
    </p:embeddedFont>
    <p:embeddedFont>
      <p:font typeface="Fira Sans Extra Condensed SemiBold" panose="020B0603050000020004" pitchFamily="34" charset="0"/>
      <p:regular r:id="rId22"/>
      <p:bold r:id="rId23"/>
      <p:italic r:id="rId24"/>
      <p:boldItalic r:id="rId25"/>
    </p:embeddedFont>
    <p:embeddedFont>
      <p:font typeface="Proxima Nova" panose="020B0604020202020204" charset="0"/>
      <p:regular r:id="rId26"/>
      <p:bold r:id="rId27"/>
      <p:italic r:id="rId28"/>
      <p:boldItalic r:id="rId29"/>
    </p:embeddedFont>
    <p:embeddedFont>
      <p:font typeface="Proxima Nova Semibold" panose="020B0604020202020204" charset="0"/>
      <p:regular r:id="rId30"/>
      <p:bold r:id="rId31"/>
      <p:boldItalic r:id="rId32"/>
    </p:embeddedFont>
    <p:embeddedFont>
      <p:font typeface="Roboto" panose="02000000000000000000" pitchFamily="2" charset="0"/>
      <p:regular r:id="rId33"/>
      <p:bold r:id="rId34"/>
      <p:italic r:id="rId35"/>
      <p:boldItalic r:id="rId3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3" d="100"/>
          <a:sy n="93" d="100"/>
        </p:scale>
        <p:origin x="520"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font" Target="fonts/font1.fntdata"/><Relationship Id="rId26" Type="http://schemas.openxmlformats.org/officeDocument/2006/relationships/font" Target="fonts/font9.fntdata"/><Relationship Id="rId39" Type="http://schemas.openxmlformats.org/officeDocument/2006/relationships/theme" Target="theme/theme1.xml"/><Relationship Id="rId21" Type="http://schemas.openxmlformats.org/officeDocument/2006/relationships/font" Target="fonts/font4.fntdata"/><Relationship Id="rId34" Type="http://schemas.openxmlformats.org/officeDocument/2006/relationships/font" Target="fonts/font17.fntdata"/><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notesMaster" Target="notesMasters/notesMaster1.xml"/><Relationship Id="rId25" Type="http://schemas.openxmlformats.org/officeDocument/2006/relationships/font" Target="fonts/font8.fntdata"/><Relationship Id="rId33" Type="http://schemas.openxmlformats.org/officeDocument/2006/relationships/font" Target="fonts/font16.fntdata"/><Relationship Id="rId38"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font" Target="fonts/font3.fntdata"/><Relationship Id="rId29" Type="http://schemas.openxmlformats.org/officeDocument/2006/relationships/font" Target="fonts/font12.fntdata"/><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font" Target="fonts/font7.fntdata"/><Relationship Id="rId32" Type="http://schemas.openxmlformats.org/officeDocument/2006/relationships/font" Target="fonts/font15.fntdata"/><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font" Target="fonts/font6.fntdata"/><Relationship Id="rId28" Type="http://schemas.openxmlformats.org/officeDocument/2006/relationships/font" Target="fonts/font11.fntdata"/><Relationship Id="rId36" Type="http://schemas.openxmlformats.org/officeDocument/2006/relationships/font" Target="fonts/font19.fntdata"/><Relationship Id="rId10" Type="http://schemas.openxmlformats.org/officeDocument/2006/relationships/slide" Target="slides/slide8.xml"/><Relationship Id="rId19" Type="http://schemas.openxmlformats.org/officeDocument/2006/relationships/font" Target="fonts/font2.fntdata"/><Relationship Id="rId31" Type="http://schemas.openxmlformats.org/officeDocument/2006/relationships/font" Target="fonts/font14.fntdata"/><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font" Target="fonts/font5.fntdata"/><Relationship Id="rId27" Type="http://schemas.openxmlformats.org/officeDocument/2006/relationships/font" Target="fonts/font10.fntdata"/><Relationship Id="rId30" Type="http://schemas.openxmlformats.org/officeDocument/2006/relationships/font" Target="fonts/font13.fntdata"/><Relationship Id="rId35" Type="http://schemas.openxmlformats.org/officeDocument/2006/relationships/font" Target="fonts/font18.fntdata"/><Relationship Id="rId8" Type="http://schemas.openxmlformats.org/officeDocument/2006/relationships/slide" Target="slides/slide6.xml"/><Relationship Id="rId3" Type="http://schemas.openxmlformats.org/officeDocument/2006/relationships/slide" Target="slides/slid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latin typeface="Roboto"/>
              </a:rPr>
              <a:t>Hello everyone, and thank you for being here. The data science life cycle has several stages: understanding the problem, preparing data, building models, checking results, and using them in practice. Prescriptive analytics helps us use this work to make a decision.</a:t>
            </a:r>
          </a:p>
          <a:p>
            <a:endParaRPr lang="en-US" sz="1200">
              <a:latin typeface="Roboto"/>
            </a:endParaRPr>
          </a:p>
          <a:p>
            <a:r>
              <a:rPr lang="en-US" sz="1200">
                <a:latin typeface="Roboto"/>
              </a:rPr>
              <a:t>--- Full content from the approved Markdown ---</a:t>
            </a:r>
          </a:p>
          <a:p>
            <a:r>
              <a:rPr lang="en-US" sz="1200">
                <a:latin typeface="Roboto"/>
              </a:rPr>
              <a:t># Prescriptive analytics</a:t>
            </a:r>
          </a:p>
          <a:p>
            <a:r>
              <a:rPr lang="en-US" sz="1200">
                <a:latin typeface="Roboto"/>
              </a:rPr>
              <a:t>### Decision-making in the data science life cycle</a:t>
            </a:r>
          </a:p>
          <a:p>
            <a:endParaRPr lang="en-US" sz="1200">
              <a:latin typeface="Roboto"/>
            </a:endParaRPr>
          </a:p>
          <a:p>
            <a:r>
              <a:rPr lang="en-US" sz="1200">
                <a:latin typeface="Roboto"/>
              </a:rPr>
              <a:t>The data science life cycle includes understanding a problem, preparing data, building models, checking results, and using them in practice.</a:t>
            </a:r>
          </a:p>
          <a:p>
            <a:endParaRPr lang="en-US" sz="1200">
              <a:latin typeface="Roboto"/>
            </a:endParaRPr>
          </a:p>
          <a:p>
            <a:r>
              <a:rPr lang="en-US" sz="1200">
                <a:latin typeface="Roboto"/>
              </a:rPr>
              <a:t>**Prescriptive analytics uses data, goals, and limits to suggest what to do.**</a:t>
            </a:r>
          </a:p>
          <a:p>
            <a:endParaRPr lang="en-US" sz="1200">
              <a:latin typeface="Roboto"/>
            </a:endParaRPr>
          </a:p>
          <a:p>
            <a:endParaRPr lang="en-US" sz="1200">
              <a:latin typeface="Roboto"/>
            </a:endParaRPr>
          </a:p>
          <a:p>
            <a:r>
              <a:rPr lang="en-US" sz="1200">
                <a:latin typeface="Roboto"/>
              </a:rPr>
              <a:t>Speaker opening: Hello everyone, and thank you for being here.</a:t>
            </a:r>
          </a:p>
          <a:p>
            <a:endParaRPr lang="en-US" sz="1200">
              <a:latin typeface="Roboto"/>
            </a:endParaRPr>
          </a:p>
          <a:p>
            <a:endParaRPr lang="en-US" sz="1200">
              <a:latin typeface="Roboto"/>
            </a:endParaRPr>
          </a:p>
          <a:p>
            <a:r>
              <a:rPr lang="en-US" sz="1200">
                <a:latin typeface="Roboto"/>
              </a:rPr>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The cycle starts with the business problem. We need to know what decision to make and how we will tell if it worked. We then study and prepare the data, build models, and check whether the results meet the goal. Deployment means using the results in practice.</a:t>
            </a:r>
          </a:p>
          <a:p>
            <a:endParaRPr lang="en-US" sz="1200"/>
          </a:p>
          <a:p>
            <a:r>
              <a:rPr lang="en-US" sz="1200"/>
              <a:t>Prescriptive analytics helps with modeling and decision-making during this cycle. We can go back to earlier stages: if the results show a problem, we may need to change the data, the model, or even the goal.</a:t>
            </a:r>
          </a:p>
          <a:p>
            <a:endParaRPr lang="en-US" sz="1200"/>
          </a:p>
          <a:p>
            <a:r>
              <a:rPr lang="en-US" sz="1200"/>
              <a:t>Source: [IBM CRISP-DM guide](https://www.ibm.com/docs/en/SS3RA7_18.5.0/pdf/ModelerCRISPDM.pdf).</a:t>
            </a:r>
          </a:p>
          <a:p>
            <a:endParaRPr lang="en-US" sz="1200"/>
          </a:p>
          <a:p>
            <a:r>
              <a:rPr lang="en-US" sz="1200"/>
              <a:t>--- Full content from the approved Markdown ---</a:t>
            </a:r>
          </a:p>
          <a:p>
            <a:r>
              <a:rPr lang="en-US" sz="1200"/>
              <a:t>## The data science life cycle</a:t>
            </a:r>
          </a:p>
          <a:p>
            <a:endParaRPr lang="en-US" sz="1200"/>
          </a:p>
          <a:p>
            <a:r>
              <a:rPr lang="en-US" sz="1200"/>
              <a:t>| Stage | Purpose |</a:t>
            </a:r>
          </a:p>
          <a:p>
            <a:r>
              <a:rPr lang="en-US" sz="1200"/>
              <a:t>|:--|:--|</a:t>
            </a:r>
          </a:p>
          <a:p>
            <a:r>
              <a:rPr lang="en-US" sz="1200"/>
              <a:t>| Business understanding | Understand the problem and set the goal |</a:t>
            </a:r>
          </a:p>
          <a:p>
            <a:r>
              <a:rPr lang="en-US" sz="1200"/>
              <a:t>| Data understanding and preparation | Study, clean, and organize the data |</a:t>
            </a:r>
          </a:p>
          <a:p>
            <a:r>
              <a:rPr lang="en-US" sz="1200"/>
              <a:t>| Modeling | Build models to answer the business questions |</a:t>
            </a:r>
          </a:p>
          <a:p>
            <a:r>
              <a:rPr lang="en-US" sz="1200"/>
              <a:t>| Evaluation | Check whether the results meet the goal |</a:t>
            </a:r>
          </a:p>
          <a:p>
            <a:r>
              <a:rPr lang="en-US" sz="1200"/>
              <a:t>| Deployment | Use the results in practice and check how well they work |</a:t>
            </a:r>
          </a:p>
          <a:p>
            <a:endParaRPr lang="en-US" sz="1200"/>
          </a:p>
          <a:p>
            <a:r>
              <a:rPr lang="en-US" sz="1200"/>
              <a:t>Prescriptive analytics helps teams make decisions during this cycle. Teams can return to earlier stages when the data, goals, or results change.</a:t>
            </a:r>
          </a:p>
          <a:p>
            <a:endParaRPr lang="en-US" sz="1200"/>
          </a:p>
          <a:p>
            <a:endParaRPr lang="en-US" sz="1200"/>
          </a:p>
          <a:p>
            <a:r>
              <a:rPr lang="en-US" sz="1200"/>
              <a:t>Source: IBM CRISP-DM guide, https://www.ibm.com/docs/en/SS3RA7_18.5.0/pdf/ModelerCRISPDM.pdf</a:t>
            </a:r>
          </a:p>
          <a:p>
            <a:endParaRPr lang="en-US" sz="1200"/>
          </a:p>
          <a:p>
            <a:endParaRPr lang="en-US" sz="1200"/>
          </a:p>
          <a:p>
            <a:r>
              <a:rPr lang="en-US" sz="1200"/>
              <a:t>---</a:t>
            </a:r>
          </a:p>
          <a:p>
            <a:endParaRPr lang="en-US" sz="1200"/>
          </a:p>
          <a:p>
            <a:r>
              <a:rPr lang="en-US" sz="1200"/>
              <a:t>Design and native vector artwork adapted from Big Data Infographics by Slidesgo.</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Descriptive analytics gives a summary of the data. It tells us what happened, such as how much each store sold last month.</a:t>
            </a:r>
          </a:p>
          <a:p>
            <a:endParaRPr lang="en-US" sz="1200"/>
          </a:p>
          <a:p>
            <a:r>
              <a:rPr lang="en-US" sz="1200"/>
              <a:t>Diagnostic analytics looks for reasons behind a result. If stores sold fewer products, we might check whether they had enough products available. We need evidence to show whether this explains the lower sales.</a:t>
            </a:r>
          </a:p>
          <a:p>
            <a:endParaRPr lang="en-US" sz="1200"/>
          </a:p>
          <a:p>
            <a:r>
              <a:rPr lang="en-US" sz="1200"/>
              <a:t>Predictive analytics estimates what may happen next. For example, it can predict how much each store may sell next month. Demand means how much customers want to buy.</a:t>
            </a:r>
          </a:p>
          <a:p>
            <a:endParaRPr lang="en-US" sz="1200"/>
          </a:p>
          <a:p>
            <a:r>
              <a:rPr lang="en-US" sz="1200"/>
              <a:t>Prescriptive analytics suggests what to do. Stock means the products available. The model can use expected demand and available stock to suggest how much to send to each store. All four types can work together in the same data science project.</a:t>
            </a:r>
          </a:p>
          <a:p>
            <a:endParaRPr lang="en-US" sz="1200"/>
          </a:p>
          <a:p>
            <a:r>
              <a:rPr lang="en-US" sz="1200"/>
              <a:t>Source: [IBM Think: prescriptive analytics](https://www.ibm.com/think/topics/prescriptive-analytics).</a:t>
            </a:r>
          </a:p>
          <a:p>
            <a:endParaRPr lang="en-US" sz="1200"/>
          </a:p>
          <a:p>
            <a:r>
              <a:rPr lang="en-US" sz="1200"/>
              <a:t>--- Full content from the approved Markdown ---</a:t>
            </a:r>
          </a:p>
          <a:p>
            <a:r>
              <a:rPr lang="en-US" sz="1200"/>
              <a:t>## Four types of analytics</a:t>
            </a:r>
          </a:p>
          <a:p>
            <a:endParaRPr lang="en-US" sz="1200"/>
          </a:p>
          <a:p>
            <a:r>
              <a:rPr lang="en-US" sz="1200"/>
              <a:t>| Type | Role in data science | Store example |</a:t>
            </a:r>
          </a:p>
          <a:p>
            <a:r>
              <a:rPr lang="en-US" sz="1200"/>
              <a:t>|:--|:--|:--|</a:t>
            </a:r>
          </a:p>
          <a:p>
            <a:r>
              <a:rPr lang="en-US" sz="1200"/>
              <a:t>| Descriptive | Show what happened | Show last month's sales for each store |</a:t>
            </a:r>
          </a:p>
          <a:p>
            <a:r>
              <a:rPr lang="en-US" sz="1200"/>
              <a:t>| Diagnostic | Explain why it happened | Check whether stores sold less because products were not available |</a:t>
            </a:r>
          </a:p>
          <a:p>
            <a:r>
              <a:rPr lang="en-US" sz="1200"/>
              <a:t>| Predictive | Estimate what may happen | Predict next month's demand |</a:t>
            </a:r>
          </a:p>
          <a:p>
            <a:r>
              <a:rPr lang="en-US" sz="1200"/>
              <a:t>| **Prescriptive** | **Suggest what to do** | **Decide how much stock to send using the available supply** |</a:t>
            </a:r>
          </a:p>
          <a:p>
            <a:endParaRPr lang="en-US" sz="1200"/>
          </a:p>
          <a:p>
            <a:r>
              <a:rPr lang="en-US" sz="1200"/>
              <a:t>These types answer different questions in a project. They can work together, and teams do not always use them in the same order.</a:t>
            </a:r>
          </a:p>
          <a:p>
            <a:endParaRPr lang="en-US" sz="1200"/>
          </a:p>
          <a:p>
            <a:r>
              <a:rPr lang="en-US" sz="1200"/>
              <a:t>*Stock means the products available. Demand means how much customers want to buy.*</a:t>
            </a:r>
          </a:p>
          <a:p>
            <a:endParaRPr lang="en-US" sz="1200"/>
          </a:p>
          <a:p>
            <a:endParaRPr lang="en-US" sz="1200"/>
          </a:p>
          <a:p>
            <a:r>
              <a:rPr lang="en-US" sz="1200"/>
              <a:t>Source: IBM Think, https://www.ibm.com/think/topics/prescriptive-analytics</a:t>
            </a:r>
          </a:p>
          <a:p>
            <a:endParaRPr lang="en-US" sz="1200"/>
          </a:p>
          <a:p>
            <a:endParaRPr lang="en-US" sz="1200"/>
          </a:p>
          <a:p>
            <a:r>
              <a:rPr lang="en-US" sz="1200"/>
              <a:t>---</a:t>
            </a:r>
          </a:p>
          <a:p>
            <a:endParaRPr lang="en-US" sz="1200"/>
          </a:p>
          <a:p>
            <a:r>
              <a:rPr lang="en-US" sz="1200"/>
              <a:t>Design and native vector artwork adapted from Big Data Infographics by Slidesgo.</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Let us focus on prescriptive analytics. A forecast is a prediction, such as how much people may buy. A prescriptive model helps us choose an action using that information. For stores, it may suggest how much stock to send. For deliveries, it can use predicted travel times to choose roads that allow delivery at the agreed time.</a:t>
            </a:r>
          </a:p>
          <a:p>
            <a:endParaRPr lang="en-US" sz="1200"/>
          </a:p>
          <a:p>
            <a:r>
              <a:rPr lang="en-US" sz="1200"/>
              <a:t>The suggestion should show what to do, what result to expect, and which limits affected the choice. This helps the person responsible check the plan.</a:t>
            </a:r>
          </a:p>
          <a:p>
            <a:endParaRPr lang="en-US" sz="1200"/>
          </a:p>
          <a:p>
            <a:r>
              <a:rPr lang="en-US" sz="1200"/>
              <a:t>--- Full content from the approved Markdown ---</a:t>
            </a:r>
          </a:p>
          <a:p>
            <a:r>
              <a:rPr lang="en-US" sz="1200"/>
              <a:t>## The role of prescriptive analytics</a:t>
            </a:r>
          </a:p>
          <a:p>
            <a:endParaRPr lang="en-US" sz="1200"/>
          </a:p>
          <a:p>
            <a:r>
              <a:rPr lang="en-US" sz="1200"/>
              <a:t>A forecast is a prediction, such as how much people may buy. A prescriptive model suggests what to do using that information.</a:t>
            </a:r>
          </a:p>
          <a:p>
            <a:endParaRPr lang="en-US" sz="1200"/>
          </a:p>
          <a:p>
            <a:r>
              <a:rPr lang="en-US" sz="1200"/>
              <a:t>**Stores:** use demand estimates to decide how much stock to send to each store.</a:t>
            </a:r>
          </a:p>
          <a:p>
            <a:endParaRPr lang="en-US" sz="1200"/>
          </a:p>
          <a:p>
            <a:r>
              <a:rPr lang="en-US" sz="1200"/>
              <a:t>**Delivery:** use predicted travel times to choose roads that allow delivery at the agreed time.</a:t>
            </a:r>
          </a:p>
          <a:p>
            <a:endParaRPr lang="en-US" sz="1200"/>
          </a:p>
          <a:p>
            <a:r>
              <a:rPr lang="en-US" sz="1200"/>
              <a:t>A suggestion should explain what to do, what result to expect, and which limits affected the choice.</a:t>
            </a:r>
          </a:p>
          <a:p>
            <a:endParaRPr lang="en-US" sz="1200"/>
          </a:p>
          <a:p>
            <a:r>
              <a:rPr lang="en-US" sz="1200"/>
              <a:t>---</a:t>
            </a:r>
          </a:p>
          <a:p>
            <a:endParaRPr lang="en-US" sz="1200"/>
          </a:p>
          <a:p>
            <a:r>
              <a:rPr lang="en-US" sz="1200"/>
              <a:t>Design and native vector artwork adapted from Big Data Infographics by Slidesgo.</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A decision model has four main parts. Decision variables are what we can change, such as the number of products sent to each store. The objective is the goal we want to improve. Constraints are the rules and limits we must follow. Inputs are the information the model uses.</a:t>
            </a:r>
          </a:p>
          <a:p>
            <a:endParaRPr lang="en-US" sz="1200"/>
          </a:p>
          <a:p>
            <a:r>
              <a:rPr lang="en-US" sz="1200"/>
              <a:t>A feasible plan follows all the rules. An optimal plan gives the best result for the goal among the choices allowed by the model. Assumptions are things the model treats as true, such as the available working hours. We still need to check whether these match the real situation.</a:t>
            </a:r>
          </a:p>
          <a:p>
            <a:endParaRPr lang="en-US" sz="1200"/>
          </a:p>
          <a:p>
            <a:r>
              <a:rPr lang="en-US" sz="1200"/>
              <a:t>--- Full content from the approved Markdown ---</a:t>
            </a:r>
          </a:p>
          <a:p>
            <a:r>
              <a:rPr lang="en-US" sz="1200"/>
              <a:t>## The decision model</a:t>
            </a:r>
          </a:p>
          <a:p>
            <a:endParaRPr lang="en-US" sz="1200"/>
          </a:p>
          <a:p>
            <a:r>
              <a:rPr lang="en-US" sz="1200"/>
              <a:t>| Part | Meaning | Stock example |</a:t>
            </a:r>
          </a:p>
          <a:p>
            <a:r>
              <a:rPr lang="en-US" sz="1200"/>
              <a:t>|:--|:--|:--|</a:t>
            </a:r>
          </a:p>
          <a:p>
            <a:r>
              <a:rPr lang="en-US" sz="1200"/>
              <a:t>| Decision variables | What the model can change | Number of products sent to each store |</a:t>
            </a:r>
          </a:p>
          <a:p>
            <a:r>
              <a:rPr lang="en-US" sz="1200"/>
              <a:t>| Objective | The goal to improve | Meet as much demand as possible |</a:t>
            </a:r>
          </a:p>
          <a:p>
            <a:r>
              <a:rPr lang="en-US" sz="1200"/>
              <a:t>| Constraints | Rules and limits the plan must follow | Available stock and how much each store can use |</a:t>
            </a:r>
          </a:p>
          <a:p>
            <a:r>
              <a:rPr lang="en-US" sz="1200"/>
              <a:t>| Inputs | Information the model uses | Expected demand and current stock |</a:t>
            </a:r>
          </a:p>
          <a:p>
            <a:endParaRPr lang="en-US" sz="1200"/>
          </a:p>
          <a:p>
            <a:r>
              <a:rPr lang="en-US" sz="1200"/>
              <a:t>A feasible plan follows all the rules. An optimal plan gives the best result for the goal within the model.</a:t>
            </a:r>
          </a:p>
          <a:p>
            <a:endParaRPr lang="en-US" sz="1200"/>
          </a:p>
          <a:p>
            <a:r>
              <a:rPr lang="en-US" sz="1200"/>
              <a:t>---</a:t>
            </a:r>
          </a:p>
          <a:p>
            <a:endParaRPr lang="en-US" sz="1200"/>
          </a:p>
          <a:p>
            <a:r>
              <a:rPr lang="en-US" sz="1200"/>
              <a:t>Design and native vector artwork adapted from Big Data Infographics by Slidesgo.</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First, agree on the decision with the person responsible. Prepare the data and estimate what may happen next. Then build a model that connects possible choices to their expected results and limits.</a:t>
            </a:r>
          </a:p>
          <a:p>
            <a:endParaRPr lang="en-US" sz="1200"/>
          </a:p>
          <a:p>
            <a:r>
              <a:rPr lang="en-US" sz="1200"/>
              <a:t>Compare the plans that follow the rules, and check what the model assumes before suggesting a plan. After the team uses the plan, measure what happened. Use these results to improve the next decision.</a:t>
            </a:r>
          </a:p>
          <a:p>
            <a:endParaRPr lang="en-US" sz="1200"/>
          </a:p>
          <a:p>
            <a:r>
              <a:rPr lang="en-US" sz="1200"/>
              <a:t>--- Full content from the approved Markdown ---</a:t>
            </a:r>
          </a:p>
          <a:p>
            <a:r>
              <a:rPr lang="en-US" sz="1200"/>
              <a:t>## The recommendation process</a:t>
            </a:r>
          </a:p>
          <a:p>
            <a:endParaRPr lang="en-US" sz="1200"/>
          </a:p>
          <a:p>
            <a:r>
              <a:rPr lang="en-US" sz="1200"/>
              <a:t>1. Agree on the decision, goal, and rules with the person responsible.</a:t>
            </a:r>
          </a:p>
          <a:p>
            <a:r>
              <a:rPr lang="en-US" sz="1200"/>
              <a:t>2. Prepare the data and estimate what may happen next.</a:t>
            </a:r>
          </a:p>
          <a:p>
            <a:r>
              <a:rPr lang="en-US" sz="1200"/>
              <a:t>3. Build a model that connects choices, results, and limits.</a:t>
            </a:r>
          </a:p>
          <a:p>
            <a:r>
              <a:rPr lang="en-US" sz="1200"/>
              <a:t>4. Compare plans that follow the rules and check what the model assumes.</a:t>
            </a:r>
          </a:p>
          <a:p>
            <a:r>
              <a:rPr lang="en-US" sz="1200"/>
              <a:t>5. Check the suggestion, use the plan, and measure the result.</a:t>
            </a:r>
          </a:p>
          <a:p>
            <a:endParaRPr lang="en-US" sz="1200"/>
          </a:p>
          <a:p>
            <a:r>
              <a:rPr lang="en-US" sz="1200"/>
              <a:t>Use the actual results to improve the next decision.</a:t>
            </a:r>
          </a:p>
          <a:p>
            <a:endParaRPr lang="en-US" sz="1200"/>
          </a:p>
          <a:p>
            <a:r>
              <a:rPr lang="en-US" sz="1200"/>
              <a:t>---</a:t>
            </a:r>
          </a:p>
          <a:p>
            <a:endParaRPr lang="en-US" sz="1200"/>
          </a:p>
          <a:p>
            <a:r>
              <a:rPr lang="en-US" sz="1200"/>
              <a:t>Design and native vector artwork adapted from Big Data Infographics by Slidesgo.</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Different decisions need different methods. Mathematical optimization finds the best result for a goal while following the rules. It can help decide how to share stock. Constraint programming finds plans that follow detailed rules, such as choosing working hours based on workers' skills and availability.</a:t>
            </a:r>
          </a:p>
          <a:p>
            <a:endParaRPr lang="en-US" sz="1200"/>
          </a:p>
          <a:p>
            <a:r>
              <a:rPr lang="en-US" sz="1200"/>
              <a:t>Simulation estimates how plans may work when conditions change, such as when demand rises or falls. We still need a rule or an optimization step to choose which plan to suggest. Teams can use these methods together when needed.</a:t>
            </a:r>
          </a:p>
          <a:p>
            <a:endParaRPr lang="en-US" sz="1200"/>
          </a:p>
          <a:p>
            <a:r>
              <a:rPr lang="en-US" sz="1200"/>
              <a:t>Sources: [Google OR-Tools](https://developers.google.com/optimization/introduction/cpp), [IBM: Monte Carlo simulation](https://www.ibm.com/think/topics/monte-carlo-simulation).</a:t>
            </a:r>
          </a:p>
          <a:p>
            <a:endParaRPr lang="en-US" sz="1200"/>
          </a:p>
          <a:p>
            <a:r>
              <a:rPr lang="en-US" sz="1200"/>
              <a:t>--- Full content from the approved Markdown ---</a:t>
            </a:r>
          </a:p>
          <a:p>
            <a:r>
              <a:rPr lang="en-US" sz="1200"/>
              <a:t>## Methods used in prescriptive analytics</a:t>
            </a:r>
          </a:p>
          <a:p>
            <a:endParaRPr lang="en-US" sz="1200"/>
          </a:p>
          <a:p>
            <a:r>
              <a:rPr lang="en-US" sz="1200"/>
              <a:t>| Method | What it does | Example |</a:t>
            </a:r>
          </a:p>
          <a:p>
            <a:r>
              <a:rPr lang="en-US" sz="1200"/>
              <a:t>|:--|:--|:--|</a:t>
            </a:r>
          </a:p>
          <a:p>
            <a:r>
              <a:rPr lang="en-US" sz="1200"/>
              <a:t>| Mathematical optimization | Finds the best result for a goal while following the rules | Decide how to share limited stock |</a:t>
            </a:r>
          </a:p>
          <a:p>
            <a:r>
              <a:rPr lang="en-US" sz="1200"/>
              <a:t>| Constraint programming | Finds a plan that follows detailed rules | Choose working hours based on workers' skills and availability |</a:t>
            </a:r>
          </a:p>
          <a:p>
            <a:r>
              <a:rPr lang="en-US" sz="1200"/>
              <a:t>| Simulation | Estimates results when conditions change or are uncertain | Compare staff plans for different demand levels |</a:t>
            </a:r>
          </a:p>
          <a:p>
            <a:endParaRPr lang="en-US" sz="1200"/>
          </a:p>
          <a:p>
            <a:r>
              <a:rPr lang="en-US" sz="1200"/>
              <a:t>Simulation helps test a plan. A rule for choosing plans or an optimization method decides which one to suggest.</a:t>
            </a:r>
          </a:p>
          <a:p>
            <a:endParaRPr lang="en-US" sz="1200"/>
          </a:p>
          <a:p>
            <a:endParaRPr lang="en-US" sz="1200"/>
          </a:p>
          <a:p>
            <a:r>
              <a:rPr lang="en-US" sz="1200"/>
              <a:t>Sources: Google OR-Tools, https://developers.google.com/optimization/introduction/cpp; IBM Monte Carlo simulation, https://www.ibm.com/think/topics/monte-carlo-simulation</a:t>
            </a:r>
          </a:p>
          <a:p>
            <a:endParaRPr lang="en-US" sz="1200"/>
          </a:p>
          <a:p>
            <a:endParaRPr lang="en-US" sz="1200"/>
          </a:p>
          <a:p>
            <a:r>
              <a:rPr lang="en-US" sz="1200"/>
              <a:t>---</a:t>
            </a:r>
          </a:p>
          <a:p>
            <a:endParaRPr lang="en-US" sz="1200"/>
          </a:p>
          <a:p>
            <a:r>
              <a:rPr lang="en-US" sz="1200"/>
              <a:t>Design and native vector artwork adapted from Big Data Infographics by Slidesgo.</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The result should be something the team can use. It might be a work plan showing who works and when, an order plan showing what to buy, or a list showing which customer requests to answer first.</a:t>
            </a:r>
          </a:p>
          <a:p>
            <a:endParaRPr lang="en-US" sz="1200"/>
          </a:p>
          <a:p>
            <a:r>
              <a:rPr lang="en-US" sz="1200"/>
              <a:t>Sometimes the model gives several possible plans and their expected results. The team should also see the main reasons behind the suggestion, so people can understand and check it.</a:t>
            </a:r>
          </a:p>
          <a:p>
            <a:endParaRPr lang="en-US" sz="1200"/>
          </a:p>
          <a:p>
            <a:r>
              <a:rPr lang="en-US" sz="1200"/>
              <a:t>--- Full content from the approved Markdown ---</a:t>
            </a:r>
          </a:p>
          <a:p>
            <a:r>
              <a:rPr lang="en-US" sz="1200"/>
              <a:t>## What does the model produce?</a:t>
            </a:r>
          </a:p>
          <a:p>
            <a:endParaRPr lang="en-US" sz="1200"/>
          </a:p>
          <a:p>
            <a:r>
              <a:rPr lang="en-US" sz="1200"/>
              <a:t>The result should tell the team what action to take. It may be:</a:t>
            </a:r>
          </a:p>
          <a:p>
            <a:endParaRPr lang="en-US" sz="1200"/>
          </a:p>
          <a:p>
            <a:r>
              <a:rPr lang="en-US" sz="1200"/>
              <a:t>- A work plan showing who works and when</a:t>
            </a:r>
          </a:p>
          <a:p>
            <a:r>
              <a:rPr lang="en-US" sz="1200"/>
              <a:t>- An order plan showing which products to buy and how much</a:t>
            </a:r>
          </a:p>
          <a:p>
            <a:r>
              <a:rPr lang="en-US" sz="1200"/>
              <a:t>- A list showing which customer requests to answer first</a:t>
            </a:r>
          </a:p>
          <a:p>
            <a:r>
              <a:rPr lang="en-US" sz="1200"/>
              <a:t>- Several possible plans, with the expected result of each</a:t>
            </a:r>
          </a:p>
          <a:p>
            <a:endParaRPr lang="en-US" sz="1200"/>
          </a:p>
          <a:p>
            <a:r>
              <a:rPr lang="en-US" sz="1200"/>
              <a:t>The team should also see the main reasons for the suggestion.</a:t>
            </a:r>
          </a:p>
          <a:p>
            <a:endParaRPr lang="en-US" sz="1200"/>
          </a:p>
          <a:p>
            <a:r>
              <a:rPr lang="en-US" sz="1200"/>
              <a:t>---</a:t>
            </a:r>
          </a:p>
          <a:p>
            <a:endParaRPr lang="en-US" sz="1200"/>
          </a:p>
          <a:p>
            <a:r>
              <a:rPr lang="en-US" sz="1200"/>
              <a:t>Design and native vector artwork adapted from Big Data Infographics by Slidesgo.</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Prescriptive analytics can help answer practical questions. What should we buy? When should work happen? Where should products go? Which request should come first?</a:t>
            </a:r>
          </a:p>
          <a:p>
            <a:endParaRPr lang="en-US" sz="1200"/>
          </a:p>
          <a:p>
            <a:r>
              <a:rPr lang="en-US" sz="1200"/>
              <a:t>Each question leads to an action. For example, deciding when work should happen can produce a plan for tasks or repairs. The important point is that the team can use the answer to do something.</a:t>
            </a:r>
          </a:p>
          <a:p>
            <a:endParaRPr lang="en-US" sz="1200"/>
          </a:p>
          <a:p>
            <a:r>
              <a:rPr lang="en-US" sz="1200"/>
              <a:t>--- Full content from the approved Markdown ---</a:t>
            </a:r>
          </a:p>
          <a:p>
            <a:r>
              <a:rPr lang="en-US" sz="1200"/>
              <a:t>## Decisions prescriptive analytics can support</a:t>
            </a:r>
          </a:p>
          <a:p>
            <a:endParaRPr lang="en-US" sz="1200"/>
          </a:p>
          <a:p>
            <a:r>
              <a:rPr lang="en-US" sz="1200"/>
              <a:t>| Question | Possible action |</a:t>
            </a:r>
          </a:p>
          <a:p>
            <a:r>
              <a:rPr lang="en-US" sz="1200"/>
              <a:t>|:--|:--|</a:t>
            </a:r>
          </a:p>
          <a:p>
            <a:r>
              <a:rPr lang="en-US" sz="1200"/>
              <a:t>| What should we buy? | Choose products and order amounts |</a:t>
            </a:r>
          </a:p>
          <a:p>
            <a:r>
              <a:rPr lang="en-US" sz="1200"/>
              <a:t>| When should work happen? | Choose times for tasks or repairs |</a:t>
            </a:r>
          </a:p>
          <a:p>
            <a:r>
              <a:rPr lang="en-US" sz="1200"/>
              <a:t>| Where should products go? | Decide how much each store receives |</a:t>
            </a:r>
          </a:p>
          <a:p>
            <a:r>
              <a:rPr lang="en-US" sz="1200"/>
              <a:t>| Which request should come first? | Choose the order for answering requests |</a:t>
            </a:r>
          </a:p>
          <a:p>
            <a:endParaRPr lang="en-US" sz="1200"/>
          </a:p>
          <a:p>
            <a:r>
              <a:rPr lang="en-US" sz="1200"/>
              <a:t>Each question leads to a choice the team can act on.</a:t>
            </a:r>
          </a:p>
          <a:p>
            <a:endParaRPr lang="en-US" sz="1200"/>
          </a:p>
          <a:p>
            <a:r>
              <a:rPr lang="en-US" sz="1200"/>
              <a:t>---</a:t>
            </a:r>
          </a:p>
          <a:p>
            <a:endParaRPr lang="en-US" sz="1200"/>
          </a:p>
          <a:p>
            <a:r>
              <a:rPr lang="en-US" sz="1200"/>
              <a:t>Design and native vector artwork adapted from Big Data Infographics by Slidesgo.</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latin typeface="Roboto"/>
              </a:rPr>
              <a:t>The best choice depends on the goal. If we want lower costs, we compare how much each plan costs. If we want faster service, we compare waiting times. Other goals may include less waste or meeting more customer needs.</a:t>
            </a:r>
          </a:p>
          <a:p>
            <a:endParaRPr lang="en-US" sz="1200">
              <a:latin typeface="Roboto"/>
            </a:endParaRPr>
          </a:p>
          <a:p>
            <a:r>
              <a:rPr lang="en-US" sz="1200">
                <a:latin typeface="Roboto"/>
              </a:rPr>
              <a:t>A business can have several goals at once. People must decide how to balance them. The model then compares plans using those priorities and the rules it must follow.</a:t>
            </a:r>
          </a:p>
          <a:p>
            <a:endParaRPr lang="en-US" sz="1200">
              <a:latin typeface="Roboto"/>
            </a:endParaRPr>
          </a:p>
          <a:p>
            <a:r>
              <a:rPr lang="en-US" sz="1200">
                <a:latin typeface="Roboto"/>
              </a:rPr>
              <a:t>--- Full content from the approved Markdown ---</a:t>
            </a:r>
          </a:p>
          <a:p>
            <a:r>
              <a:rPr lang="en-US" sz="1200">
                <a:latin typeface="Roboto"/>
              </a:rPr>
              <a:t>## The meaning of the best choice</a:t>
            </a:r>
          </a:p>
          <a:p>
            <a:endParaRPr lang="en-US" sz="1200">
              <a:latin typeface="Roboto"/>
            </a:endParaRPr>
          </a:p>
          <a:p>
            <a:r>
              <a:rPr lang="en-US" sz="1200">
                <a:latin typeface="Roboto"/>
              </a:rPr>
              <a:t>The best choice depends on the goal.</a:t>
            </a:r>
          </a:p>
          <a:p>
            <a:endParaRPr lang="en-US" sz="1200">
              <a:latin typeface="Roboto"/>
            </a:endParaRPr>
          </a:p>
          <a:p>
            <a:r>
              <a:rPr lang="en-US" sz="1200">
                <a:latin typeface="Roboto"/>
              </a:rPr>
              <a:t>| Main goal | What matters most when comparing plans |</a:t>
            </a:r>
          </a:p>
          <a:p>
            <a:r>
              <a:rPr lang="en-US" sz="1200">
                <a:latin typeface="Roboto"/>
              </a:rPr>
              <a:t>|:--|:--|</a:t>
            </a:r>
          </a:p>
          <a:p>
            <a:r>
              <a:rPr lang="en-US" sz="1200">
                <a:latin typeface="Roboto"/>
              </a:rPr>
              <a:t>| Lower cost | Spending less money |</a:t>
            </a:r>
          </a:p>
          <a:p>
            <a:r>
              <a:rPr lang="en-US" sz="1200">
                <a:latin typeface="Roboto"/>
              </a:rPr>
              <a:t>| Faster service | Reducing waiting time |</a:t>
            </a:r>
          </a:p>
          <a:p>
            <a:r>
              <a:rPr lang="en-US" sz="1200">
                <a:latin typeface="Roboto"/>
              </a:rPr>
              <a:t>| Less waste | Using fewer materials unnecessarily |</a:t>
            </a:r>
          </a:p>
          <a:p>
            <a:r>
              <a:rPr lang="en-US" sz="1200">
                <a:latin typeface="Roboto"/>
              </a:rPr>
              <a:t>| Better customer service | Meeting more customer needs |</a:t>
            </a:r>
          </a:p>
          <a:p>
            <a:endParaRPr lang="en-US" sz="1200">
              <a:latin typeface="Roboto"/>
            </a:endParaRPr>
          </a:p>
          <a:p>
            <a:r>
              <a:rPr lang="en-US" sz="1200">
                <a:latin typeface="Roboto"/>
              </a:rPr>
              <a:t>A business may have several goals. It must decide how to balance them, while keeping the rules the plan must follow.</a:t>
            </a:r>
          </a:p>
          <a:p>
            <a:endParaRPr lang="en-US" sz="1200">
              <a:latin typeface="Roboto"/>
            </a:endParaRPr>
          </a:p>
          <a:p>
            <a:r>
              <a:rPr lang="en-US" sz="1200">
                <a:latin typeface="Roboto"/>
              </a:rPr>
              <a: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Prescriptive analytics can support decisions for today, next week, or further into the future. A daily decision might be choosing which tasks to complete first. A weekly decision might be planning working hours. A longer-term decision might be choosing where to add storage space.</a:t>
            </a:r>
          </a:p>
          <a:p>
            <a:endParaRPr lang="en-US" sz="1200"/>
          </a:p>
          <a:p>
            <a:r>
              <a:rPr lang="en-US" sz="1200"/>
              <a:t>The time period changes the information we need. For a decision about next year, we need estimates about conditions further into the future.</a:t>
            </a:r>
          </a:p>
          <a:p>
            <a:endParaRPr lang="en-US" sz="1200"/>
          </a:p>
          <a:p>
            <a:r>
              <a:rPr lang="en-US" sz="1200"/>
              <a:t>--- Full content from the approved Markdown ---</a:t>
            </a:r>
          </a:p>
          <a:p>
            <a:r>
              <a:rPr lang="en-US" sz="1200"/>
              <a:t>## Short-term and long-term decisions</a:t>
            </a:r>
          </a:p>
          <a:p>
            <a:endParaRPr lang="en-US" sz="1200"/>
          </a:p>
          <a:p>
            <a:r>
              <a:rPr lang="en-US" sz="1200"/>
              <a:t>Prescriptive analytics can support decisions for different periods of time.</a:t>
            </a:r>
          </a:p>
          <a:p>
            <a:endParaRPr lang="en-US" sz="1200"/>
          </a:p>
          <a:p>
            <a:r>
              <a:rPr lang="en-US" sz="1200"/>
              <a:t>| Time period | Example decision |</a:t>
            </a:r>
          </a:p>
          <a:p>
            <a:r>
              <a:rPr lang="en-US" sz="1200"/>
              <a:t>|:--|:--|</a:t>
            </a:r>
          </a:p>
          <a:p>
            <a:r>
              <a:rPr lang="en-US" sz="1200"/>
              <a:t>| Today | Which tasks should the team complete first? |</a:t>
            </a:r>
          </a:p>
          <a:p>
            <a:r>
              <a:rPr lang="en-US" sz="1200"/>
              <a:t>| Next week | How should working hours be planned? |</a:t>
            </a:r>
          </a:p>
          <a:p>
            <a:r>
              <a:rPr lang="en-US" sz="1200"/>
              <a:t>| Next month | How much stock should each store receive? |</a:t>
            </a:r>
          </a:p>
          <a:p>
            <a:r>
              <a:rPr lang="en-US" sz="1200"/>
              <a:t>| Next year | Where should the business add more storage space? |</a:t>
            </a:r>
          </a:p>
          <a:p>
            <a:endParaRPr lang="en-US" sz="1200"/>
          </a:p>
          <a:p>
            <a:r>
              <a:rPr lang="en-US" sz="1200"/>
              <a:t>Long-term decisions need estimates about conditions further into the future.</a:t>
            </a:r>
          </a:p>
          <a:p>
            <a:endParaRPr lang="en-US" sz="1200"/>
          </a:p>
          <a:p>
            <a:r>
              <a:rPr lang="en-US" sz="1200"/>
              <a:t>---</a:t>
            </a:r>
          </a:p>
          <a:p>
            <a:endParaRPr lang="en-US" sz="1200"/>
          </a:p>
          <a:p>
            <a:r>
              <a:rPr lang="en-US" sz="1200"/>
              <a:t>Design and native vector artwork adapted from Big Data Infographics by Slidesgo.</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Decisions often affect each other. If a store orders more products, it needs space to keep them. If it expects more sales, it may need more workers. Faster delivery may also cost more money.</a:t>
            </a:r>
          </a:p>
          <a:p>
            <a:endParaRPr lang="en-US" sz="1200"/>
          </a:p>
          <a:p>
            <a:r>
              <a:rPr lang="en-US" sz="1200"/>
              <a:t>A decision model can consider these connections together. This helps the team avoid solving one problem in a way that creates another.</a:t>
            </a:r>
          </a:p>
          <a:p>
            <a:endParaRPr lang="en-US" sz="1200"/>
          </a:p>
          <a:p>
            <a:r>
              <a:rPr lang="en-US" sz="1200"/>
              <a:t>--- Full content from the approved Markdown ---</a:t>
            </a:r>
          </a:p>
          <a:p>
            <a:r>
              <a:rPr lang="en-US" sz="1200"/>
              <a:t>## Connected decisions</a:t>
            </a:r>
          </a:p>
          <a:p>
            <a:endParaRPr lang="en-US" sz="1200"/>
          </a:p>
          <a:p>
            <a:r>
              <a:rPr lang="en-US" sz="1200"/>
              <a:t>One decision can affect another.</a:t>
            </a:r>
          </a:p>
          <a:p>
            <a:endParaRPr lang="en-US" sz="1200"/>
          </a:p>
          <a:p>
            <a:r>
              <a:rPr lang="en-US" sz="1200"/>
              <a:t>For a store:</a:t>
            </a:r>
          </a:p>
          <a:p>
            <a:endParaRPr lang="en-US" sz="1200"/>
          </a:p>
          <a:p>
            <a:r>
              <a:rPr lang="en-US" sz="1200"/>
              <a:t>- Ordering more products needs more storage space.</a:t>
            </a:r>
          </a:p>
          <a:p>
            <a:r>
              <a:rPr lang="en-US" sz="1200"/>
              <a:t>- Selling more products may need more workers.</a:t>
            </a:r>
          </a:p>
          <a:p>
            <a:r>
              <a:rPr lang="en-US" sz="1200"/>
              <a:t>- Faster delivery may cost more money.</a:t>
            </a:r>
          </a:p>
          <a:p>
            <a:endParaRPr lang="en-US" sz="1200"/>
          </a:p>
          <a:p>
            <a:r>
              <a:rPr lang="en-US" sz="1200"/>
              <a:t>A model can consider these connections together. This helps avoid a plan that solves one problem but creates another.</a:t>
            </a:r>
          </a:p>
          <a:p>
            <a:endParaRPr lang="en-US" sz="1200"/>
          </a:p>
          <a:p>
            <a:r>
              <a:rPr lang="en-US" sz="1200"/>
              <a:t>---</a:t>
            </a:r>
          </a:p>
          <a:p>
            <a:endParaRPr lang="en-US" sz="1200"/>
          </a:p>
          <a:p>
            <a:r>
              <a:rPr lang="en-US" sz="1200"/>
              <a:t>Design and native vector artwork adapted from Big Data Infographics by Slidesgo.</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Machine learning uses patterns in data to make predictions. It may estimate how much customers will buy, when a machine may fail, or how many customer requests will arrive.</a:t>
            </a:r>
          </a:p>
          <a:p>
            <a:endParaRPr lang="en-US" sz="1200"/>
          </a:p>
          <a:p>
            <a:r>
              <a:rPr lang="en-US" sz="1200"/>
              <a:t>A prescriptive model can use those predictions to suggest how much stock to order, when to plan a repair, or how many workers to assign. It can also use estimates from people or other methods. Machine learning is one possible source of information for the decision model.</a:t>
            </a:r>
          </a:p>
          <a:p>
            <a:endParaRPr lang="en-US" sz="1200"/>
          </a:p>
          <a:p>
            <a:r>
              <a:rPr lang="en-US" sz="1200"/>
              <a:t>--- Full content from the approved Markdown ---</a:t>
            </a:r>
          </a:p>
          <a:p>
            <a:r>
              <a:rPr lang="en-US" sz="1200"/>
              <a:t>## How machine learning helps</a:t>
            </a:r>
          </a:p>
          <a:p>
            <a:endParaRPr lang="en-US" sz="1200"/>
          </a:p>
          <a:p>
            <a:r>
              <a:rPr lang="en-US" sz="1200"/>
              <a:t>Machine learning uses patterns in data to make predictions.</a:t>
            </a:r>
          </a:p>
          <a:p>
            <a:endParaRPr lang="en-US" sz="1200"/>
          </a:p>
          <a:p>
            <a:r>
              <a:rPr lang="en-US" sz="1200"/>
              <a:t>| Machine learning may estimate | A prescriptive model may suggest |</a:t>
            </a:r>
          </a:p>
          <a:p>
            <a:r>
              <a:rPr lang="en-US" sz="1200"/>
              <a:t>|:--|:--|</a:t>
            </a:r>
          </a:p>
          <a:p>
            <a:r>
              <a:rPr lang="en-US" sz="1200"/>
              <a:t>| How much customers will buy | How much stock to order |</a:t>
            </a:r>
          </a:p>
          <a:p>
            <a:r>
              <a:rPr lang="en-US" sz="1200"/>
              <a:t>| When a machine may fail | When to plan a repair |</a:t>
            </a:r>
          </a:p>
          <a:p>
            <a:r>
              <a:rPr lang="en-US" sz="1200"/>
              <a:t>| How many requests may arrive | How many workers to assign |</a:t>
            </a:r>
          </a:p>
          <a:p>
            <a:endParaRPr lang="en-US" sz="1200"/>
          </a:p>
          <a:p>
            <a:r>
              <a:rPr lang="en-US" sz="1200"/>
              <a:t>The prediction becomes information for the decision model. Prescriptive analytics can also use estimates from people or other methods.</a:t>
            </a:r>
          </a:p>
          <a:p>
            <a:endParaRPr lang="en-US" sz="1200"/>
          </a:p>
          <a:p>
            <a:r>
              <a:rPr lang="en-US" sz="1200"/>
              <a:t>---</a:t>
            </a:r>
          </a:p>
          <a:p>
            <a:endParaRPr lang="en-US" sz="1200"/>
          </a:p>
          <a:p>
            <a:r>
              <a:rPr lang="en-US" sz="1200"/>
              <a:t>Design and native vector artwork adapted from Big Data Infographics by Slidesgo.</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CB5BB8-6B39-3579-4D0B-F58F75F4BB10}"/>
            </a:ext>
          </a:extLst>
        </p:cNvPr>
        <p:cNvGrpSpPr/>
        <p:nvPr/>
      </p:nvGrpSpPr>
      <p:grpSpPr>
        <a:xfrm>
          <a:off x="0" y="0"/>
          <a:ext cx="0" cy="0"/>
          <a:chOff x="0" y="0"/>
          <a:chExt cx="0" cy="0"/>
        </a:xfrm>
      </p:grpSpPr>
      <p:sp>
        <p:nvSpPr>
          <p:cNvPr id="2" name="Speaker notes">
            <a:extLst>
              <a:ext uri="{FF2B5EF4-FFF2-40B4-BE49-F238E27FC236}">
                <a16:creationId xmlns:a16="http://schemas.microsoft.com/office/drawing/2014/main" id="{A958E97C-2108-3EFD-BA3C-5FDB168CB0C3}"/>
              </a:ext>
            </a:extLst>
          </p:cNvPr>
          <p:cNvSpPr>
            <a:spLocks noGrp="1"/>
          </p:cNvSpPr>
          <p:nvPr>
            <p:ph type="body" idx="1"/>
          </p:nvPr>
        </p:nvSpPr>
        <p:spPr/>
        <p:txBody>
          <a:bodyPr/>
          <a:lstStyle/>
          <a:p>
            <a:r>
              <a:rPr lang="en-US" sz="1200"/>
              <a:t>A plan may meet the business goal but still affect people unfairly. For example, a work plan might give the same workers the busiest hours every week.</a:t>
            </a:r>
          </a:p>
          <a:p>
            <a:endParaRPr lang="en-US" sz="1200"/>
          </a:p>
          <a:p>
            <a:r>
              <a:rPr lang="en-US" sz="1200"/>
              <a:t>The team can include rules for breaks, reasonable working hours, and sharing difficult tasks fairly. People must decide what fairness means in that situation and include it in the model's goals or rules.</a:t>
            </a:r>
          </a:p>
          <a:p>
            <a:endParaRPr lang="en-US" sz="1200"/>
          </a:p>
          <a:p>
            <a:r>
              <a:rPr lang="en-US" sz="1200"/>
              <a:t>--- Full content from the approved Markdown ---</a:t>
            </a:r>
          </a:p>
          <a:p>
            <a:r>
              <a:rPr lang="en-US" sz="1200"/>
              <a:t>## Fairness in decision-making</a:t>
            </a:r>
          </a:p>
          <a:p>
            <a:endParaRPr lang="en-US" sz="1200"/>
          </a:p>
          <a:p>
            <a:r>
              <a:rPr lang="en-US" sz="1200"/>
              <a:t>A plan can meet a business goal and still affect people unfairly.</a:t>
            </a:r>
          </a:p>
          <a:p>
            <a:endParaRPr lang="en-US" sz="1200"/>
          </a:p>
          <a:p>
            <a:r>
              <a:rPr lang="en-US" sz="1200"/>
              <a:t>For example, a work plan might give the same workers the busiest hours every week.</a:t>
            </a:r>
          </a:p>
          <a:p>
            <a:endParaRPr lang="en-US" sz="1200"/>
          </a:p>
          <a:p>
            <a:r>
              <a:rPr lang="en-US" sz="1200"/>
              <a:t>The team can include rules for breaks, reasonable working hours, and sharing difficult tasks fairly.</a:t>
            </a:r>
          </a:p>
          <a:p>
            <a:endParaRPr lang="en-US" sz="1200"/>
          </a:p>
          <a:p>
            <a:r>
              <a:rPr lang="en-US" sz="1200"/>
              <a:t>**People must decide what fairness means for the decision and include it in the goals or rules.**</a:t>
            </a:r>
          </a:p>
          <a:p>
            <a:endParaRPr lang="en-US" sz="1200"/>
          </a:p>
          <a:p>
            <a:r>
              <a:rPr lang="en-US" sz="1200"/>
              <a:t>Design and native vector artwork adapted from Big Data Infographics by Slidesgo.</a:t>
            </a:r>
          </a:p>
        </p:txBody>
      </p:sp>
    </p:spTree>
    <p:extLst>
      <p:ext uri="{BB962C8B-B14F-4D97-AF65-F5344CB8AC3E}">
        <p14:creationId xmlns:p14="http://schemas.microsoft.com/office/powerpoint/2010/main" val="22063211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987356" y="1629550"/>
            <a:ext cx="3422400" cy="1524600"/>
          </a:xfrm>
          <a:prstGeom prst="rect">
            <a:avLst/>
          </a:prstGeom>
        </p:spPr>
        <p:txBody>
          <a:bodyPr spcFirstLastPara="1" wrap="square" lIns="91425" tIns="91425" rIns="91425" bIns="91425" anchor="ctr" anchorCtr="0">
            <a:noAutofit/>
          </a:bodyPr>
          <a:lstStyle>
            <a:lvl1pPr lvl="0">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987356" y="3147050"/>
            <a:ext cx="3607200" cy="366900"/>
          </a:xfrm>
          <a:prstGeom prst="rect">
            <a:avLst/>
          </a:prstGeom>
        </p:spPr>
        <p:txBody>
          <a:bodyPr spcFirstLastPara="1" wrap="square" lIns="91425" tIns="91425" rIns="91425" bIns="91425" anchor="t" anchorCtr="0">
            <a:noAutofit/>
          </a:bodyPr>
          <a:lstStyle>
            <a:lvl1pPr lvl="0" rtl="0">
              <a:spcBef>
                <a:spcPts val="0"/>
              </a:spcBef>
              <a:spcAft>
                <a:spcPts val="0"/>
              </a:spcAft>
              <a:buSzPts val="1800"/>
              <a:buNone/>
              <a:defRPr sz="1600">
                <a:solidFill>
                  <a:schemeClr val="dk1"/>
                </a:solidFill>
                <a:latin typeface="Roboto"/>
                <a:ea typeface="Roboto"/>
                <a:cs typeface="Roboto"/>
                <a:sym typeface="Roboto"/>
              </a:defRPr>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2"/>
        <p:cNvGrpSpPr/>
        <p:nvPr/>
      </p:nvGrpSpPr>
      <p:grpSpPr>
        <a:xfrm>
          <a:off x="0" y="0"/>
          <a:ext cx="0" cy="0"/>
          <a:chOff x="0" y="0"/>
          <a:chExt cx="0" cy="0"/>
        </a:xfrm>
      </p:grpSpPr>
      <p:sp>
        <p:nvSpPr>
          <p:cNvPr id="13" name="Google Shape;13;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4" name="Google Shape;14;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5"/>
        <p:cNvGrpSpPr/>
        <p:nvPr/>
      </p:nvGrpSpPr>
      <p:grpSpPr>
        <a:xfrm>
          <a:off x="0" y="0"/>
          <a:ext cx="0" cy="0"/>
          <a:chOff x="0" y="0"/>
          <a:chExt cx="0" cy="0"/>
        </a:xfrm>
      </p:grpSpPr>
      <p:sp>
        <p:nvSpPr>
          <p:cNvPr id="16" name="Google Shape;16;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7" name="Google Shape;17;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18" name="Google Shape;18;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9"/>
        <p:cNvGrpSpPr/>
        <p:nvPr/>
      </p:nvGrpSpPr>
      <p:grpSpPr>
        <a:xfrm>
          <a:off x="0" y="0"/>
          <a:ext cx="0" cy="0"/>
          <a:chOff x="0" y="0"/>
          <a:chExt cx="0" cy="0"/>
        </a:xfrm>
      </p:grpSpPr>
      <p:sp>
        <p:nvSpPr>
          <p:cNvPr id="20" name="Google Shape;20;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1" name="Google Shape;21;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2" name="Google Shape;22;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3" name="Google Shape;23;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4"/>
        <p:cNvGrpSpPr/>
        <p:nvPr/>
      </p:nvGrpSpPr>
      <p:grpSpPr>
        <a:xfrm>
          <a:off x="0" y="0"/>
          <a:ext cx="0" cy="0"/>
          <a:chOff x="0" y="0"/>
          <a:chExt cx="0" cy="0"/>
        </a:xfrm>
      </p:grpSpPr>
      <p:sp>
        <p:nvSpPr>
          <p:cNvPr id="25" name="Google Shape;25;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26" name="Google Shape;26;p6"/>
          <p:cNvSpPr txBox="1">
            <a:spLocks noGrp="1"/>
          </p:cNvSpPr>
          <p:nvPr>
            <p:ph type="title"/>
          </p:nvPr>
        </p:nvSpPr>
        <p:spPr>
          <a:xfrm>
            <a:off x="457200" y="411475"/>
            <a:ext cx="8229600" cy="4815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000000"/>
              </a:buClr>
              <a:buSzPts val="3000"/>
              <a:buFont typeface="Fira Sans Extra Condensed"/>
              <a:buNone/>
              <a:defRPr sz="3000">
                <a:solidFill>
                  <a:srgbClr val="000000"/>
                </a:solidFill>
                <a:latin typeface="Fira Sans Extra Condensed"/>
                <a:ea typeface="Fira Sans Extra Condensed"/>
                <a:cs typeface="Fira Sans Extra Condensed"/>
                <a:sym typeface="Fira Sans Extra Condensed"/>
              </a:defRPr>
            </a:lvl1pPr>
            <a:lvl2pPr lvl="1" algn="ctr" rtl="0">
              <a:spcBef>
                <a:spcPts val="0"/>
              </a:spcBef>
              <a:spcAft>
                <a:spcPts val="0"/>
              </a:spcAft>
              <a:buClr>
                <a:srgbClr val="000000"/>
              </a:buClr>
              <a:buSzPts val="3000"/>
              <a:buFont typeface="Fira Sans Extra Condensed"/>
              <a:buNone/>
              <a:defRPr sz="3000">
                <a:solidFill>
                  <a:srgbClr val="000000"/>
                </a:solidFill>
                <a:latin typeface="Fira Sans Extra Condensed"/>
                <a:ea typeface="Fira Sans Extra Condensed"/>
                <a:cs typeface="Fira Sans Extra Condensed"/>
                <a:sym typeface="Fira Sans Extra Condensed"/>
              </a:defRPr>
            </a:lvl2pPr>
            <a:lvl3pPr lvl="2" algn="ctr" rtl="0">
              <a:spcBef>
                <a:spcPts val="0"/>
              </a:spcBef>
              <a:spcAft>
                <a:spcPts val="0"/>
              </a:spcAft>
              <a:buClr>
                <a:srgbClr val="000000"/>
              </a:buClr>
              <a:buSzPts val="3000"/>
              <a:buFont typeface="Fira Sans Extra Condensed"/>
              <a:buNone/>
              <a:defRPr sz="3000">
                <a:solidFill>
                  <a:srgbClr val="000000"/>
                </a:solidFill>
                <a:latin typeface="Fira Sans Extra Condensed"/>
                <a:ea typeface="Fira Sans Extra Condensed"/>
                <a:cs typeface="Fira Sans Extra Condensed"/>
                <a:sym typeface="Fira Sans Extra Condensed"/>
              </a:defRPr>
            </a:lvl3pPr>
            <a:lvl4pPr lvl="3" algn="ctr" rtl="0">
              <a:spcBef>
                <a:spcPts val="0"/>
              </a:spcBef>
              <a:spcAft>
                <a:spcPts val="0"/>
              </a:spcAft>
              <a:buClr>
                <a:srgbClr val="000000"/>
              </a:buClr>
              <a:buSzPts val="3000"/>
              <a:buFont typeface="Fira Sans Extra Condensed"/>
              <a:buNone/>
              <a:defRPr sz="3000">
                <a:solidFill>
                  <a:srgbClr val="000000"/>
                </a:solidFill>
                <a:latin typeface="Fira Sans Extra Condensed"/>
                <a:ea typeface="Fira Sans Extra Condensed"/>
                <a:cs typeface="Fira Sans Extra Condensed"/>
                <a:sym typeface="Fira Sans Extra Condensed"/>
              </a:defRPr>
            </a:lvl4pPr>
            <a:lvl5pPr lvl="4" algn="ctr" rtl="0">
              <a:spcBef>
                <a:spcPts val="0"/>
              </a:spcBef>
              <a:spcAft>
                <a:spcPts val="0"/>
              </a:spcAft>
              <a:buClr>
                <a:srgbClr val="000000"/>
              </a:buClr>
              <a:buSzPts val="3000"/>
              <a:buFont typeface="Fira Sans Extra Condensed"/>
              <a:buNone/>
              <a:defRPr sz="3000">
                <a:solidFill>
                  <a:srgbClr val="000000"/>
                </a:solidFill>
                <a:latin typeface="Fira Sans Extra Condensed"/>
                <a:ea typeface="Fira Sans Extra Condensed"/>
                <a:cs typeface="Fira Sans Extra Condensed"/>
                <a:sym typeface="Fira Sans Extra Condensed"/>
              </a:defRPr>
            </a:lvl5pPr>
            <a:lvl6pPr lvl="5" algn="ctr" rtl="0">
              <a:spcBef>
                <a:spcPts val="0"/>
              </a:spcBef>
              <a:spcAft>
                <a:spcPts val="0"/>
              </a:spcAft>
              <a:buClr>
                <a:srgbClr val="000000"/>
              </a:buClr>
              <a:buSzPts val="3000"/>
              <a:buFont typeface="Fira Sans Extra Condensed"/>
              <a:buNone/>
              <a:defRPr sz="3000">
                <a:solidFill>
                  <a:srgbClr val="000000"/>
                </a:solidFill>
                <a:latin typeface="Fira Sans Extra Condensed"/>
                <a:ea typeface="Fira Sans Extra Condensed"/>
                <a:cs typeface="Fira Sans Extra Condensed"/>
                <a:sym typeface="Fira Sans Extra Condensed"/>
              </a:defRPr>
            </a:lvl6pPr>
            <a:lvl7pPr lvl="6" algn="ctr" rtl="0">
              <a:spcBef>
                <a:spcPts val="0"/>
              </a:spcBef>
              <a:spcAft>
                <a:spcPts val="0"/>
              </a:spcAft>
              <a:buClr>
                <a:srgbClr val="000000"/>
              </a:buClr>
              <a:buSzPts val="3000"/>
              <a:buFont typeface="Fira Sans Extra Condensed"/>
              <a:buNone/>
              <a:defRPr sz="3000">
                <a:solidFill>
                  <a:srgbClr val="000000"/>
                </a:solidFill>
                <a:latin typeface="Fira Sans Extra Condensed"/>
                <a:ea typeface="Fira Sans Extra Condensed"/>
                <a:cs typeface="Fira Sans Extra Condensed"/>
                <a:sym typeface="Fira Sans Extra Condensed"/>
              </a:defRPr>
            </a:lvl7pPr>
            <a:lvl8pPr lvl="7" algn="ctr" rtl="0">
              <a:spcBef>
                <a:spcPts val="0"/>
              </a:spcBef>
              <a:spcAft>
                <a:spcPts val="0"/>
              </a:spcAft>
              <a:buClr>
                <a:srgbClr val="000000"/>
              </a:buClr>
              <a:buSzPts val="3000"/>
              <a:buFont typeface="Fira Sans Extra Condensed"/>
              <a:buNone/>
              <a:defRPr sz="3000">
                <a:solidFill>
                  <a:srgbClr val="000000"/>
                </a:solidFill>
                <a:latin typeface="Fira Sans Extra Condensed"/>
                <a:ea typeface="Fira Sans Extra Condensed"/>
                <a:cs typeface="Fira Sans Extra Condensed"/>
                <a:sym typeface="Fira Sans Extra Condensed"/>
              </a:defRPr>
            </a:lvl8pPr>
            <a:lvl9pPr lvl="8" algn="ctr" rtl="0">
              <a:spcBef>
                <a:spcPts val="0"/>
              </a:spcBef>
              <a:spcAft>
                <a:spcPts val="0"/>
              </a:spcAft>
              <a:buClr>
                <a:srgbClr val="000000"/>
              </a:buClr>
              <a:buSzPts val="3000"/>
              <a:buFont typeface="Fira Sans Extra Condensed"/>
              <a:buNone/>
              <a:defRPr sz="3000">
                <a:solidFill>
                  <a:srgbClr val="000000"/>
                </a:solidFill>
                <a:latin typeface="Fira Sans Extra Condensed"/>
                <a:ea typeface="Fira Sans Extra Condensed"/>
                <a:cs typeface="Fira Sans Extra Condensed"/>
                <a:sym typeface="Fira Sans Extra Condensed"/>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7"/>
        <p:cNvGrpSpPr/>
        <p:nvPr/>
      </p:nvGrpSpPr>
      <p:grpSpPr>
        <a:xfrm>
          <a:off x="0" y="0"/>
          <a:ext cx="0" cy="0"/>
          <a:chOff x="0" y="0"/>
          <a:chExt cx="0" cy="0"/>
        </a:xfrm>
      </p:grpSpPr>
      <p:sp>
        <p:nvSpPr>
          <p:cNvPr id="28" name="Google Shape;28;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29" name="Google Shape;29;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30" name="Google Shape;30;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1"/>
        <p:cNvGrpSpPr/>
        <p:nvPr/>
      </p:nvGrpSpPr>
      <p:grpSpPr>
        <a:xfrm>
          <a:off x="0" y="0"/>
          <a:ext cx="0" cy="0"/>
          <a:chOff x="0" y="0"/>
          <a:chExt cx="0" cy="0"/>
        </a:xfrm>
      </p:grpSpPr>
      <p:sp>
        <p:nvSpPr>
          <p:cNvPr id="32" name="Google Shape;32;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3" name="Google Shape;33;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4"/>
        <p:cNvGrpSpPr/>
        <p:nvPr/>
      </p:nvGrpSpPr>
      <p:grpSpPr>
        <a:xfrm>
          <a:off x="0" y="0"/>
          <a:ext cx="0" cy="0"/>
          <a:chOff x="0" y="0"/>
          <a:chExt cx="0" cy="0"/>
        </a:xfrm>
      </p:grpSpPr>
      <p:sp>
        <p:nvSpPr>
          <p:cNvPr id="35" name="Google Shape;35;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7" name="Google Shape;37;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8" name="Google Shape;38;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39" name="Google Shape;39;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0"/>
        <p:cNvGrpSpPr/>
        <p:nvPr/>
      </p:nvGrpSpPr>
      <p:grpSpPr>
        <a:xfrm>
          <a:off x="0" y="0"/>
          <a:ext cx="0" cy="0"/>
          <a:chOff x="0" y="0"/>
          <a:chExt cx="0" cy="0"/>
        </a:xfrm>
      </p:grpSpPr>
      <p:sp>
        <p:nvSpPr>
          <p:cNvPr id="41" name="Google Shape;41;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42" name="Google Shape;42;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3"/>
        <p:cNvGrpSpPr/>
        <p:nvPr/>
      </p:nvGrpSpPr>
      <p:grpSpPr>
        <a:xfrm>
          <a:off x="0" y="0"/>
          <a:ext cx="0" cy="0"/>
          <a:chOff x="0" y="0"/>
          <a:chExt cx="0" cy="0"/>
        </a:xfrm>
      </p:grpSpPr>
      <p:sp>
        <p:nvSpPr>
          <p:cNvPr id="44" name="Google Shape;44;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5" name="Google Shape;45;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46" name="Google Shape;46;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7"/>
        <p:cNvGrpSpPr/>
        <p:nvPr/>
      </p:nvGrpSpPr>
      <p:grpSpPr>
        <a:xfrm>
          <a:off x="0" y="0"/>
          <a:ext cx="0" cy="0"/>
          <a:chOff x="0" y="0"/>
          <a:chExt cx="0" cy="0"/>
        </a:xfrm>
      </p:grpSpPr>
      <p:sp>
        <p:nvSpPr>
          <p:cNvPr id="48" name="Google Shape;48;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52"/>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Font typeface="Fira Sans Extra Condensed SemiBold"/>
              <a:buNone/>
              <a:defRPr sz="2800">
                <a:solidFill>
                  <a:schemeClr val="dk1"/>
                </a:solidFill>
                <a:latin typeface="Fira Sans Extra Condensed SemiBold"/>
                <a:ea typeface="Fira Sans Extra Condensed SemiBold"/>
                <a:cs typeface="Fira Sans Extra Condensed SemiBold"/>
                <a:sym typeface="Fira Sans Extra Condensed SemiBold"/>
              </a:defRPr>
            </a:lvl1pPr>
            <a:lvl2pPr lvl="1">
              <a:spcBef>
                <a:spcPts val="0"/>
              </a:spcBef>
              <a:spcAft>
                <a:spcPts val="0"/>
              </a:spcAft>
              <a:buClr>
                <a:schemeClr val="dk1"/>
              </a:buClr>
              <a:buSzPts val="2800"/>
              <a:buFont typeface="Fira Sans Extra Condensed SemiBold"/>
              <a:buNone/>
              <a:defRPr sz="2800">
                <a:solidFill>
                  <a:schemeClr val="dk1"/>
                </a:solidFill>
                <a:latin typeface="Fira Sans Extra Condensed SemiBold"/>
                <a:ea typeface="Fira Sans Extra Condensed SemiBold"/>
                <a:cs typeface="Fira Sans Extra Condensed SemiBold"/>
                <a:sym typeface="Fira Sans Extra Condensed SemiBold"/>
              </a:defRPr>
            </a:lvl2pPr>
            <a:lvl3pPr lvl="2">
              <a:spcBef>
                <a:spcPts val="0"/>
              </a:spcBef>
              <a:spcAft>
                <a:spcPts val="0"/>
              </a:spcAft>
              <a:buClr>
                <a:schemeClr val="dk1"/>
              </a:buClr>
              <a:buSzPts val="2800"/>
              <a:buFont typeface="Fira Sans Extra Condensed SemiBold"/>
              <a:buNone/>
              <a:defRPr sz="2800">
                <a:solidFill>
                  <a:schemeClr val="dk1"/>
                </a:solidFill>
                <a:latin typeface="Fira Sans Extra Condensed SemiBold"/>
                <a:ea typeface="Fira Sans Extra Condensed SemiBold"/>
                <a:cs typeface="Fira Sans Extra Condensed SemiBold"/>
                <a:sym typeface="Fira Sans Extra Condensed SemiBold"/>
              </a:defRPr>
            </a:lvl3pPr>
            <a:lvl4pPr lvl="3">
              <a:spcBef>
                <a:spcPts val="0"/>
              </a:spcBef>
              <a:spcAft>
                <a:spcPts val="0"/>
              </a:spcAft>
              <a:buClr>
                <a:schemeClr val="dk1"/>
              </a:buClr>
              <a:buSzPts val="2800"/>
              <a:buFont typeface="Fira Sans Extra Condensed SemiBold"/>
              <a:buNone/>
              <a:defRPr sz="2800">
                <a:solidFill>
                  <a:schemeClr val="dk1"/>
                </a:solidFill>
                <a:latin typeface="Fira Sans Extra Condensed SemiBold"/>
                <a:ea typeface="Fira Sans Extra Condensed SemiBold"/>
                <a:cs typeface="Fira Sans Extra Condensed SemiBold"/>
                <a:sym typeface="Fira Sans Extra Condensed SemiBold"/>
              </a:defRPr>
            </a:lvl4pPr>
            <a:lvl5pPr lvl="4">
              <a:spcBef>
                <a:spcPts val="0"/>
              </a:spcBef>
              <a:spcAft>
                <a:spcPts val="0"/>
              </a:spcAft>
              <a:buClr>
                <a:schemeClr val="dk1"/>
              </a:buClr>
              <a:buSzPts val="2800"/>
              <a:buFont typeface="Fira Sans Extra Condensed SemiBold"/>
              <a:buNone/>
              <a:defRPr sz="2800">
                <a:solidFill>
                  <a:schemeClr val="dk1"/>
                </a:solidFill>
                <a:latin typeface="Fira Sans Extra Condensed SemiBold"/>
                <a:ea typeface="Fira Sans Extra Condensed SemiBold"/>
                <a:cs typeface="Fira Sans Extra Condensed SemiBold"/>
                <a:sym typeface="Fira Sans Extra Condensed SemiBold"/>
              </a:defRPr>
            </a:lvl5pPr>
            <a:lvl6pPr lvl="5">
              <a:spcBef>
                <a:spcPts val="0"/>
              </a:spcBef>
              <a:spcAft>
                <a:spcPts val="0"/>
              </a:spcAft>
              <a:buClr>
                <a:schemeClr val="dk1"/>
              </a:buClr>
              <a:buSzPts val="2800"/>
              <a:buFont typeface="Fira Sans Extra Condensed SemiBold"/>
              <a:buNone/>
              <a:defRPr sz="2800">
                <a:solidFill>
                  <a:schemeClr val="dk1"/>
                </a:solidFill>
                <a:latin typeface="Fira Sans Extra Condensed SemiBold"/>
                <a:ea typeface="Fira Sans Extra Condensed SemiBold"/>
                <a:cs typeface="Fira Sans Extra Condensed SemiBold"/>
                <a:sym typeface="Fira Sans Extra Condensed SemiBold"/>
              </a:defRPr>
            </a:lvl6pPr>
            <a:lvl7pPr lvl="6">
              <a:spcBef>
                <a:spcPts val="0"/>
              </a:spcBef>
              <a:spcAft>
                <a:spcPts val="0"/>
              </a:spcAft>
              <a:buClr>
                <a:schemeClr val="dk1"/>
              </a:buClr>
              <a:buSzPts val="2800"/>
              <a:buFont typeface="Fira Sans Extra Condensed SemiBold"/>
              <a:buNone/>
              <a:defRPr sz="2800">
                <a:solidFill>
                  <a:schemeClr val="dk1"/>
                </a:solidFill>
                <a:latin typeface="Fira Sans Extra Condensed SemiBold"/>
                <a:ea typeface="Fira Sans Extra Condensed SemiBold"/>
                <a:cs typeface="Fira Sans Extra Condensed SemiBold"/>
                <a:sym typeface="Fira Sans Extra Condensed SemiBold"/>
              </a:defRPr>
            </a:lvl7pPr>
            <a:lvl8pPr lvl="7">
              <a:spcBef>
                <a:spcPts val="0"/>
              </a:spcBef>
              <a:spcAft>
                <a:spcPts val="0"/>
              </a:spcAft>
              <a:buClr>
                <a:schemeClr val="dk1"/>
              </a:buClr>
              <a:buSzPts val="2800"/>
              <a:buFont typeface="Fira Sans Extra Condensed SemiBold"/>
              <a:buNone/>
              <a:defRPr sz="2800">
                <a:solidFill>
                  <a:schemeClr val="dk1"/>
                </a:solidFill>
                <a:latin typeface="Fira Sans Extra Condensed SemiBold"/>
                <a:ea typeface="Fira Sans Extra Condensed SemiBold"/>
                <a:cs typeface="Fira Sans Extra Condensed SemiBold"/>
                <a:sym typeface="Fira Sans Extra Condensed SemiBold"/>
              </a:defRPr>
            </a:lvl8pPr>
            <a:lvl9pPr lvl="8">
              <a:spcBef>
                <a:spcPts val="0"/>
              </a:spcBef>
              <a:spcAft>
                <a:spcPts val="0"/>
              </a:spcAft>
              <a:buClr>
                <a:schemeClr val="dk1"/>
              </a:buClr>
              <a:buSzPts val="2800"/>
              <a:buFont typeface="Fira Sans Extra Condensed SemiBold"/>
              <a:buNone/>
              <a:defRPr sz="2800">
                <a:solidFill>
                  <a:schemeClr val="dk1"/>
                </a:solidFill>
                <a:latin typeface="Fira Sans Extra Condensed SemiBold"/>
                <a:ea typeface="Fira Sans Extra Condensed SemiBold"/>
                <a:cs typeface="Fira Sans Extra Condensed SemiBold"/>
                <a:sym typeface="Fira Sans Extra Condensed SemiBold"/>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SzPts val="1800"/>
              <a:buFont typeface="Roboto"/>
              <a:buChar char="●"/>
              <a:defRPr sz="1800">
                <a:latin typeface="Roboto"/>
                <a:ea typeface="Roboto"/>
                <a:cs typeface="Roboto"/>
                <a:sym typeface="Roboto"/>
              </a:defRPr>
            </a:lvl1pPr>
            <a:lvl2pPr marL="914400" lvl="1" indent="-317500">
              <a:lnSpc>
                <a:spcPct val="115000"/>
              </a:lnSpc>
              <a:spcBef>
                <a:spcPts val="1600"/>
              </a:spcBef>
              <a:spcAft>
                <a:spcPts val="0"/>
              </a:spcAft>
              <a:buSzPts val="1400"/>
              <a:buFont typeface="Roboto"/>
              <a:buChar char="○"/>
              <a:defRPr>
                <a:latin typeface="Roboto"/>
                <a:ea typeface="Roboto"/>
                <a:cs typeface="Roboto"/>
                <a:sym typeface="Roboto"/>
              </a:defRPr>
            </a:lvl2pPr>
            <a:lvl3pPr marL="1371600" lvl="2" indent="-317500">
              <a:lnSpc>
                <a:spcPct val="115000"/>
              </a:lnSpc>
              <a:spcBef>
                <a:spcPts val="1600"/>
              </a:spcBef>
              <a:spcAft>
                <a:spcPts val="0"/>
              </a:spcAft>
              <a:buSzPts val="1400"/>
              <a:buFont typeface="Roboto"/>
              <a:buChar char="■"/>
              <a:defRPr>
                <a:latin typeface="Roboto"/>
                <a:ea typeface="Roboto"/>
                <a:cs typeface="Roboto"/>
                <a:sym typeface="Roboto"/>
              </a:defRPr>
            </a:lvl3pPr>
            <a:lvl4pPr marL="1828800" lvl="3" indent="-317500">
              <a:lnSpc>
                <a:spcPct val="115000"/>
              </a:lnSpc>
              <a:spcBef>
                <a:spcPts val="1600"/>
              </a:spcBef>
              <a:spcAft>
                <a:spcPts val="0"/>
              </a:spcAft>
              <a:buSzPts val="1400"/>
              <a:buFont typeface="Roboto"/>
              <a:buChar char="●"/>
              <a:defRPr>
                <a:latin typeface="Roboto"/>
                <a:ea typeface="Roboto"/>
                <a:cs typeface="Roboto"/>
                <a:sym typeface="Roboto"/>
              </a:defRPr>
            </a:lvl4pPr>
            <a:lvl5pPr marL="2286000" lvl="4" indent="-317500">
              <a:lnSpc>
                <a:spcPct val="115000"/>
              </a:lnSpc>
              <a:spcBef>
                <a:spcPts val="1600"/>
              </a:spcBef>
              <a:spcAft>
                <a:spcPts val="0"/>
              </a:spcAft>
              <a:buSzPts val="1400"/>
              <a:buFont typeface="Roboto"/>
              <a:buChar char="○"/>
              <a:defRPr>
                <a:latin typeface="Roboto"/>
                <a:ea typeface="Roboto"/>
                <a:cs typeface="Roboto"/>
                <a:sym typeface="Roboto"/>
              </a:defRPr>
            </a:lvl5pPr>
            <a:lvl6pPr marL="2743200" lvl="5" indent="-317500">
              <a:lnSpc>
                <a:spcPct val="115000"/>
              </a:lnSpc>
              <a:spcBef>
                <a:spcPts val="1600"/>
              </a:spcBef>
              <a:spcAft>
                <a:spcPts val="0"/>
              </a:spcAft>
              <a:buSzPts val="1400"/>
              <a:buFont typeface="Roboto"/>
              <a:buChar char="■"/>
              <a:defRPr>
                <a:latin typeface="Roboto"/>
                <a:ea typeface="Roboto"/>
                <a:cs typeface="Roboto"/>
                <a:sym typeface="Roboto"/>
              </a:defRPr>
            </a:lvl6pPr>
            <a:lvl7pPr marL="3200400" lvl="6" indent="-317500">
              <a:lnSpc>
                <a:spcPct val="115000"/>
              </a:lnSpc>
              <a:spcBef>
                <a:spcPts val="1600"/>
              </a:spcBef>
              <a:spcAft>
                <a:spcPts val="0"/>
              </a:spcAft>
              <a:buSzPts val="1400"/>
              <a:buFont typeface="Roboto"/>
              <a:buChar char="●"/>
              <a:defRPr>
                <a:latin typeface="Roboto"/>
                <a:ea typeface="Roboto"/>
                <a:cs typeface="Roboto"/>
                <a:sym typeface="Roboto"/>
              </a:defRPr>
            </a:lvl7pPr>
            <a:lvl8pPr marL="3657600" lvl="7" indent="-317500">
              <a:lnSpc>
                <a:spcPct val="115000"/>
              </a:lnSpc>
              <a:spcBef>
                <a:spcPts val="1600"/>
              </a:spcBef>
              <a:spcAft>
                <a:spcPts val="0"/>
              </a:spcAft>
              <a:buSzPts val="1400"/>
              <a:buFont typeface="Roboto"/>
              <a:buChar char="○"/>
              <a:defRPr>
                <a:latin typeface="Roboto"/>
                <a:ea typeface="Roboto"/>
                <a:cs typeface="Roboto"/>
                <a:sym typeface="Roboto"/>
              </a:defRPr>
            </a:lvl8pPr>
            <a:lvl9pPr marL="4114800" lvl="8" indent="-317500">
              <a:lnSpc>
                <a:spcPct val="115000"/>
              </a:lnSpc>
              <a:spcBef>
                <a:spcPts val="1600"/>
              </a:spcBef>
              <a:spcAft>
                <a:spcPts val="1600"/>
              </a:spcAft>
              <a:buSzPts val="1400"/>
              <a:buFont typeface="Roboto"/>
              <a:buChar char="■"/>
              <a:defRPr>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Shape 49"/>
        <p:cNvGrpSpPr/>
        <p:nvPr/>
      </p:nvGrpSpPr>
      <p:grpSpPr>
        <a:xfrm>
          <a:off x="0" y="0"/>
          <a:ext cx="0" cy="0"/>
          <a:chOff x="0" y="0"/>
          <a:chExt cx="0" cy="0"/>
        </a:xfrm>
      </p:grpSpPr>
      <p:sp>
        <p:nvSpPr>
          <p:cNvPr id="50" name="Google Shape;50;p13"/>
          <p:cNvSpPr txBox="1">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1pPr>
            <a:lvl2pPr lvl="1"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2pPr>
            <a:lvl3pPr lvl="2"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3pPr>
            <a:lvl4pPr lvl="3"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4pPr>
            <a:lvl5pPr lvl="4"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5pPr>
            <a:lvl6pPr lvl="5"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6pPr>
            <a:lvl7pPr lvl="6"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7pPr>
            <a:lvl8pPr lvl="7"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8pPr>
            <a:lvl9pPr lvl="8"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9pPr>
          </a:lstStyle>
          <a:p>
            <a:endParaRPr/>
          </a:p>
        </p:txBody>
      </p:sp>
      <p:sp>
        <p:nvSpPr>
          <p:cNvPr id="51" name="Google Shape;51;p13"/>
          <p:cNvSpPr txBox="1">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marL="914400" lvl="1"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marL="1371600" lvl="2"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marL="1828800" lvl="3"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marL="2286000" lvl="4"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marL="2743200" lvl="5"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marL="3200400" lvl="6"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marL="3657600" lvl="7"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marL="4114800" lvl="8"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659"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Root"/>
        <p:cNvGrpSpPr/>
        <p:nvPr/>
      </p:nvGrpSpPr>
      <p:grpSpPr>
        <a:xfrm>
          <a:off x="0" y="0"/>
          <a:ext cx="0" cy="0"/>
          <a:chOff x="0" y="0"/>
          <a:chExt cx="0" cy="0"/>
        </a:xfrm>
      </p:grpSpPr>
      <p:cxnSp>
        <p:nvCxnSpPr>
          <p:cNvPr id="2" name="Connector"/>
          <p:cNvCxnSpPr/>
          <p:nvPr/>
        </p:nvCxnSpPr>
        <p:spPr>
          <a:xfrm>
            <a:off x="495300" y="4762500"/>
            <a:ext cx="8153400" cy="95"/>
          </a:xfrm>
          <a:prstGeom prst="line">
            <a:avLst/>
          </a:prstGeom>
          <a:ln w="6191">
            <a:solidFill>
              <a:srgbClr val="D8E2E8"/>
            </a:solidFill>
          </a:ln>
        </p:spPr>
      </p:cxnSp>
      <p:sp>
        <p:nvSpPr>
          <p:cNvPr id="3"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4" name="Text"/>
          <p:cNvSpPr txBox="1"/>
          <p:nvPr/>
        </p:nvSpPr>
        <p:spPr>
          <a:xfrm>
            <a:off x="8048625" y="4867275"/>
            <a:ext cx="600075" cy="171450"/>
          </a:xfrm>
          <a:prstGeom prst="rect">
            <a:avLst/>
          </a:prstGeom>
          <a:noFill/>
          <a:ln w="9525">
            <a:noFill/>
          </a:ln>
        </p:spPr>
        <p:txBody>
          <a:bodyPr wrap="none" lIns="0" tIns="0" rIns="0" bIns="0" anchor="t">
            <a:noAutofit/>
          </a:bodyPr>
          <a:lstStyle/>
          <a:p>
            <a:pPr marL="0" indent="0" algn="r">
              <a:lnSpc>
                <a:spcPts val="1031"/>
              </a:lnSpc>
              <a:spcAft>
                <a:spcPts val="0"/>
              </a:spcAft>
              <a:buNone/>
            </a:pPr>
            <a:r>
              <a:rPr lang="en-US" sz="825" b="0">
                <a:solidFill>
                  <a:srgbClr val="6D8495"/>
                </a:solidFill>
                <a:latin typeface="Roboto"/>
                <a:ea typeface="Roboto"/>
                <a:cs typeface="Roboto"/>
              </a:rPr>
              <a:t>01 / 14</a:t>
            </a:r>
            <a:endParaRPr lang="en-US" sz="825"/>
          </a:p>
        </p:txBody>
      </p:sp>
      <p:sp>
        <p:nvSpPr>
          <p:cNvPr id="5" name="Slide title"/>
          <p:cNvSpPr txBox="1"/>
          <p:nvPr/>
        </p:nvSpPr>
        <p:spPr>
          <a:xfrm>
            <a:off x="2764958" y="238116"/>
            <a:ext cx="4556522" cy="714375"/>
          </a:xfrm>
          <a:prstGeom prst="rect">
            <a:avLst/>
          </a:prstGeom>
          <a:noFill/>
          <a:ln w="9525">
            <a:noFill/>
          </a:ln>
        </p:spPr>
        <p:txBody>
          <a:bodyPr wrap="none" lIns="0" tIns="0" rIns="0" bIns="0" anchor="t">
            <a:noAutofit/>
          </a:bodyPr>
          <a:lstStyle/>
          <a:p>
            <a:pPr marL="0" indent="0" algn="l">
              <a:lnSpc>
                <a:spcPts val="5062"/>
              </a:lnSpc>
              <a:spcAft>
                <a:spcPts val="0"/>
              </a:spcAft>
              <a:buNone/>
            </a:pPr>
            <a:r>
              <a:rPr lang="en-US" sz="4050" b="1" dirty="0">
                <a:solidFill>
                  <a:srgbClr val="435D74"/>
                </a:solidFill>
                <a:latin typeface="Fira Sans Extra Condensed"/>
                <a:ea typeface="Fira Sans Extra Condensed"/>
                <a:cs typeface="Fira Sans Extra Condensed"/>
              </a:rPr>
              <a:t>Prescriptive analytics</a:t>
            </a:r>
            <a:endParaRPr lang="en-US" sz="4050" dirty="0"/>
          </a:p>
        </p:txBody>
      </p:sp>
      <p:cxnSp>
        <p:nvCxnSpPr>
          <p:cNvPr id="14" name="Connector"/>
          <p:cNvCxnSpPr>
            <a:cxnSpLocks/>
          </p:cNvCxnSpPr>
          <p:nvPr/>
        </p:nvCxnSpPr>
        <p:spPr>
          <a:xfrm flipV="1">
            <a:off x="3465095" y="2214668"/>
            <a:ext cx="0" cy="594161"/>
          </a:xfrm>
          <a:prstGeom prst="line">
            <a:avLst/>
          </a:prstGeom>
          <a:ln w="19050">
            <a:solidFill>
              <a:srgbClr val="869FB2"/>
            </a:solidFill>
          </a:ln>
        </p:spPr>
      </p:cxnSp>
      <p:cxnSp>
        <p:nvCxnSpPr>
          <p:cNvPr id="27" name="Connector"/>
          <p:cNvCxnSpPr>
            <a:cxnSpLocks/>
          </p:cNvCxnSpPr>
          <p:nvPr/>
        </p:nvCxnSpPr>
        <p:spPr>
          <a:xfrm flipV="1">
            <a:off x="6159145" y="2214668"/>
            <a:ext cx="0" cy="600618"/>
          </a:xfrm>
          <a:prstGeom prst="line">
            <a:avLst/>
          </a:prstGeom>
          <a:ln w="19050">
            <a:solidFill>
              <a:srgbClr val="869FB2"/>
            </a:solidFill>
          </a:ln>
        </p:spPr>
      </p:cxnSp>
      <p:cxnSp>
        <p:nvCxnSpPr>
          <p:cNvPr id="28" name="Connector"/>
          <p:cNvCxnSpPr>
            <a:cxnSpLocks/>
          </p:cNvCxnSpPr>
          <p:nvPr/>
        </p:nvCxnSpPr>
        <p:spPr>
          <a:xfrm flipH="1">
            <a:off x="3465095" y="2815286"/>
            <a:ext cx="2694050" cy="0"/>
          </a:xfrm>
          <a:prstGeom prst="line">
            <a:avLst/>
          </a:prstGeom>
          <a:ln w="19050">
            <a:solidFill>
              <a:srgbClr val="869FB2"/>
            </a:solidFill>
          </a:ln>
        </p:spPr>
      </p:cxnSp>
      <p:grpSp>
        <p:nvGrpSpPr>
          <p:cNvPr id="51" name="Group 50">
            <a:extLst>
              <a:ext uri="{FF2B5EF4-FFF2-40B4-BE49-F238E27FC236}">
                <a16:creationId xmlns:a16="http://schemas.microsoft.com/office/drawing/2014/main" id="{20E8FF80-48AF-6E8D-86E7-41F98FD1B643}"/>
              </a:ext>
            </a:extLst>
          </p:cNvPr>
          <p:cNvGrpSpPr/>
          <p:nvPr/>
        </p:nvGrpSpPr>
        <p:grpSpPr>
          <a:xfrm rot="5400000">
            <a:off x="4325197" y="2758213"/>
            <a:ext cx="1009650" cy="95"/>
            <a:chOff x="5072324" y="2194627"/>
            <a:chExt cx="1009650" cy="95"/>
          </a:xfrm>
        </p:grpSpPr>
        <p:cxnSp>
          <p:nvCxnSpPr>
            <p:cNvPr id="22" name="Connector"/>
            <p:cNvCxnSpPr>
              <a:cxnSpLocks/>
            </p:cNvCxnSpPr>
            <p:nvPr/>
          </p:nvCxnSpPr>
          <p:spPr>
            <a:xfrm>
              <a:off x="5072324" y="2194627"/>
              <a:ext cx="581025" cy="95"/>
            </a:xfrm>
            <a:prstGeom prst="line">
              <a:avLst/>
            </a:prstGeom>
            <a:ln w="19050">
              <a:solidFill>
                <a:srgbClr val="869FB2"/>
              </a:solidFill>
            </a:ln>
          </p:spPr>
        </p:cxnSp>
        <p:cxnSp>
          <p:nvCxnSpPr>
            <p:cNvPr id="29" name="Connector"/>
            <p:cNvCxnSpPr>
              <a:cxnSpLocks/>
            </p:cNvCxnSpPr>
            <p:nvPr/>
          </p:nvCxnSpPr>
          <p:spPr>
            <a:xfrm>
              <a:off x="5653349" y="2194627"/>
              <a:ext cx="428625" cy="95"/>
            </a:xfrm>
            <a:prstGeom prst="line">
              <a:avLst/>
            </a:prstGeom>
            <a:ln w="19050">
              <a:solidFill>
                <a:srgbClr val="007D8B"/>
              </a:solidFill>
              <a:tailEnd type="triangle" w="sm" len="sm"/>
            </a:ln>
          </p:spPr>
        </p:cxnSp>
      </p:grpSp>
      <p:sp>
        <p:nvSpPr>
          <p:cNvPr id="33" name="Text"/>
          <p:cNvSpPr txBox="1"/>
          <p:nvPr/>
        </p:nvSpPr>
        <p:spPr>
          <a:xfrm>
            <a:off x="5276581" y="3732205"/>
            <a:ext cx="1809750" cy="466725"/>
          </a:xfrm>
          <a:prstGeom prst="rect">
            <a:avLst/>
          </a:prstGeom>
          <a:noFill/>
          <a:ln w="9525">
            <a:noFill/>
          </a:ln>
        </p:spPr>
        <p:txBody>
          <a:bodyPr wrap="none" lIns="0" tIns="0" rIns="0" bIns="0" anchor="t">
            <a:noAutofit/>
          </a:bodyPr>
          <a:lstStyle/>
          <a:p>
            <a:pPr marL="0" indent="0" algn="ctr">
              <a:lnSpc>
                <a:spcPts val="2344"/>
              </a:lnSpc>
              <a:spcAft>
                <a:spcPts val="0"/>
              </a:spcAft>
              <a:buNone/>
            </a:pPr>
            <a:r>
              <a:rPr lang="en-US" sz="1875" b="1" dirty="0">
                <a:solidFill>
                  <a:srgbClr val="435D74"/>
                </a:solidFill>
                <a:latin typeface="Fira Sans Extra Condensed"/>
                <a:ea typeface="Fira Sans Extra Condensed"/>
                <a:cs typeface="Fira Sans Extra Condensed"/>
              </a:rPr>
              <a:t>Suggested action</a:t>
            </a:r>
            <a:endParaRPr lang="en-US" sz="1875" dirty="0"/>
          </a:p>
        </p:txBody>
      </p:sp>
      <p:grpSp>
        <p:nvGrpSpPr>
          <p:cNvPr id="40" name="Group 39">
            <a:extLst>
              <a:ext uri="{FF2B5EF4-FFF2-40B4-BE49-F238E27FC236}">
                <a16:creationId xmlns:a16="http://schemas.microsoft.com/office/drawing/2014/main" id="{939B5BBD-A877-6A35-8B74-694742FCBCCE}"/>
              </a:ext>
            </a:extLst>
          </p:cNvPr>
          <p:cNvGrpSpPr/>
          <p:nvPr/>
        </p:nvGrpSpPr>
        <p:grpSpPr>
          <a:xfrm>
            <a:off x="2696324" y="1343372"/>
            <a:ext cx="1333500" cy="676275"/>
            <a:chOff x="2671503" y="2169480"/>
            <a:chExt cx="1333500" cy="676275"/>
          </a:xfrm>
        </p:grpSpPr>
        <p:sp>
          <p:nvSpPr>
            <p:cNvPr id="68" name="Panel">
              <a:extLst>
                <a:ext uri="{FF2B5EF4-FFF2-40B4-BE49-F238E27FC236}">
                  <a16:creationId xmlns:a16="http://schemas.microsoft.com/office/drawing/2014/main" id="{76B64712-1503-6DA9-5F3A-F5BBD4156390}"/>
                </a:ext>
              </a:extLst>
            </p:cNvPr>
            <p:cNvSpPr/>
            <p:nvPr/>
          </p:nvSpPr>
          <p:spPr>
            <a:xfrm>
              <a:off x="2671503" y="2169480"/>
              <a:ext cx="1333500" cy="676275"/>
            </a:xfrm>
            <a:prstGeom prst="roundRect">
              <a:avLst>
                <a:gd name="adj" fmla="val 10000"/>
              </a:avLst>
            </a:prstGeom>
            <a:solidFill>
              <a:srgbClr val="294559"/>
            </a:solidFill>
            <a:ln w="9525">
              <a:noFill/>
            </a:ln>
          </p:spPr>
          <p:txBody>
            <a:bodyPr/>
            <a:lstStyle/>
            <a:p>
              <a:endParaRPr lang="en-US"/>
            </a:p>
          </p:txBody>
        </p:sp>
        <p:grpSp>
          <p:nvGrpSpPr>
            <p:cNvPr id="69" name="Slidesgo vector icon">
              <a:extLst>
                <a:ext uri="{FF2B5EF4-FFF2-40B4-BE49-F238E27FC236}">
                  <a16:creationId xmlns:a16="http://schemas.microsoft.com/office/drawing/2014/main" id="{BAC0D6DB-6BF6-63FE-6D4D-8A93553F8E90}"/>
                </a:ext>
              </a:extLst>
            </p:cNvPr>
            <p:cNvGrpSpPr/>
            <p:nvPr/>
          </p:nvGrpSpPr>
          <p:grpSpPr>
            <a:xfrm>
              <a:off x="2827605" y="2370368"/>
              <a:ext cx="285750" cy="285758"/>
              <a:chOff x="-2571737" y="2403625"/>
              <a:chExt cx="292225" cy="291425"/>
            </a:xfrm>
          </p:grpSpPr>
          <p:sp>
            <p:nvSpPr>
              <p:cNvPr id="70" name="Slidesgo vector icon">
                <a:extLst>
                  <a:ext uri="{FF2B5EF4-FFF2-40B4-BE49-F238E27FC236}">
                    <a16:creationId xmlns:a16="http://schemas.microsoft.com/office/drawing/2014/main" id="{0C83CEB6-43A7-4A15-1385-4CBB301ABE41}"/>
                  </a:ext>
                </a:extLst>
              </p:cNvPr>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 name="Slidesgo vector icon">
                <a:extLst>
                  <a:ext uri="{FF2B5EF4-FFF2-40B4-BE49-F238E27FC236}">
                    <a16:creationId xmlns:a16="http://schemas.microsoft.com/office/drawing/2014/main" id="{EF5E70BC-8F9C-B66D-2D69-DC39DC4869C3}"/>
                  </a:ext>
                </a:extLst>
              </p:cNvPr>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Slidesgo vector icon">
                <a:extLst>
                  <a:ext uri="{FF2B5EF4-FFF2-40B4-BE49-F238E27FC236}">
                    <a16:creationId xmlns:a16="http://schemas.microsoft.com/office/drawing/2014/main" id="{9B725F86-B387-7443-17B5-A7D529D3BA3C}"/>
                  </a:ext>
                </a:extLst>
              </p:cNvPr>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Slidesgo vector icon">
                <a:extLst>
                  <a:ext uri="{FF2B5EF4-FFF2-40B4-BE49-F238E27FC236}">
                    <a16:creationId xmlns:a16="http://schemas.microsoft.com/office/drawing/2014/main" id="{280F64FD-CECA-743A-4D2B-B53067221410}"/>
                  </a:ext>
                </a:extLst>
              </p:cNvPr>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Slidesgo vector icon">
                <a:extLst>
                  <a:ext uri="{FF2B5EF4-FFF2-40B4-BE49-F238E27FC236}">
                    <a16:creationId xmlns:a16="http://schemas.microsoft.com/office/drawing/2014/main" id="{C29E5117-357A-EDB3-B8F0-02609EE375E4}"/>
                  </a:ext>
                </a:extLst>
              </p:cNvPr>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Slidesgo vector icon">
                <a:extLst>
                  <a:ext uri="{FF2B5EF4-FFF2-40B4-BE49-F238E27FC236}">
                    <a16:creationId xmlns:a16="http://schemas.microsoft.com/office/drawing/2014/main" id="{98501499-CC54-F24D-96B8-7ABF9DBBCA89}"/>
                  </a:ext>
                </a:extLst>
              </p:cNvPr>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Slidesgo vector icon">
                <a:extLst>
                  <a:ext uri="{FF2B5EF4-FFF2-40B4-BE49-F238E27FC236}">
                    <a16:creationId xmlns:a16="http://schemas.microsoft.com/office/drawing/2014/main" id="{BF3A17E8-73EE-5DE4-CF82-9FCD3B24C529}"/>
                  </a:ext>
                </a:extLst>
              </p:cNvPr>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7" name="Text">
              <a:extLst>
                <a:ext uri="{FF2B5EF4-FFF2-40B4-BE49-F238E27FC236}">
                  <a16:creationId xmlns:a16="http://schemas.microsoft.com/office/drawing/2014/main" id="{BFA5BE25-2ED1-D903-8E90-F7AAD5B384ED}"/>
                </a:ext>
              </a:extLst>
            </p:cNvPr>
            <p:cNvSpPr txBox="1"/>
            <p:nvPr/>
          </p:nvSpPr>
          <p:spPr>
            <a:xfrm>
              <a:off x="3231058" y="2398359"/>
              <a:ext cx="723900" cy="428625"/>
            </a:xfrm>
            <a:prstGeom prst="rect">
              <a:avLst/>
            </a:prstGeom>
            <a:noFill/>
            <a:ln w="9525">
              <a:noFill/>
            </a:ln>
          </p:spPr>
          <p:txBody>
            <a:bodyPr wrap="none" lIns="0" tIns="0" rIns="0" bIns="0" anchor="t">
              <a:noAutofit/>
            </a:bodyPr>
            <a:lstStyle/>
            <a:p>
              <a:pPr marL="0" indent="0" algn="l">
                <a:lnSpc>
                  <a:spcPts val="2156"/>
                </a:lnSpc>
                <a:spcAft>
                  <a:spcPts val="0"/>
                </a:spcAft>
                <a:buNone/>
              </a:pPr>
              <a:r>
                <a:rPr lang="en-US" sz="1800" b="1" dirty="0">
                  <a:solidFill>
                    <a:srgbClr val="FFFFFF"/>
                  </a:solidFill>
                  <a:latin typeface="Fira Sans Extra Condensed"/>
                  <a:ea typeface="Fira Sans Extra Condensed"/>
                  <a:cs typeface="Fira Sans Extra Condensed"/>
                </a:rPr>
                <a:t>Data</a:t>
              </a:r>
              <a:endParaRPr lang="en-US" sz="1800" dirty="0"/>
            </a:p>
          </p:txBody>
        </p:sp>
      </p:grpSp>
      <p:grpSp>
        <p:nvGrpSpPr>
          <p:cNvPr id="39" name="Group 38">
            <a:extLst>
              <a:ext uri="{FF2B5EF4-FFF2-40B4-BE49-F238E27FC236}">
                <a16:creationId xmlns:a16="http://schemas.microsoft.com/office/drawing/2014/main" id="{FB1F52E7-E646-D736-FBBF-FA6276A0AF49}"/>
              </a:ext>
            </a:extLst>
          </p:cNvPr>
          <p:cNvGrpSpPr/>
          <p:nvPr/>
        </p:nvGrpSpPr>
        <p:grpSpPr>
          <a:xfrm>
            <a:off x="5687820" y="1357250"/>
            <a:ext cx="1341146" cy="676275"/>
            <a:chOff x="2771681" y="3837297"/>
            <a:chExt cx="1341146" cy="676275"/>
          </a:xfrm>
        </p:grpSpPr>
        <p:sp>
          <p:nvSpPr>
            <p:cNvPr id="79" name="Panel">
              <a:extLst>
                <a:ext uri="{FF2B5EF4-FFF2-40B4-BE49-F238E27FC236}">
                  <a16:creationId xmlns:a16="http://schemas.microsoft.com/office/drawing/2014/main" id="{9254CAC6-CECE-E025-5A56-E4F7F1762FE8}"/>
                </a:ext>
              </a:extLst>
            </p:cNvPr>
            <p:cNvSpPr/>
            <p:nvPr/>
          </p:nvSpPr>
          <p:spPr>
            <a:xfrm>
              <a:off x="2771681" y="3837297"/>
              <a:ext cx="1333500" cy="676275"/>
            </a:xfrm>
            <a:prstGeom prst="roundRect">
              <a:avLst>
                <a:gd name="adj" fmla="val 10000"/>
              </a:avLst>
            </a:prstGeom>
            <a:solidFill>
              <a:srgbClr val="294559"/>
            </a:solidFill>
            <a:ln w="9525">
              <a:noFill/>
            </a:ln>
          </p:spPr>
          <p:txBody>
            <a:bodyPr/>
            <a:lstStyle/>
            <a:p>
              <a:endParaRPr lang="en-US"/>
            </a:p>
          </p:txBody>
        </p:sp>
        <p:grpSp>
          <p:nvGrpSpPr>
            <p:cNvPr id="80" name="Slidesgo vector icon">
              <a:extLst>
                <a:ext uri="{FF2B5EF4-FFF2-40B4-BE49-F238E27FC236}">
                  <a16:creationId xmlns:a16="http://schemas.microsoft.com/office/drawing/2014/main" id="{683036B3-E282-2E15-1C58-7F49FBEED0B5}"/>
                </a:ext>
              </a:extLst>
            </p:cNvPr>
            <p:cNvGrpSpPr/>
            <p:nvPr/>
          </p:nvGrpSpPr>
          <p:grpSpPr>
            <a:xfrm>
              <a:off x="2957256" y="4039749"/>
              <a:ext cx="285750" cy="283743"/>
              <a:chOff x="-63250675" y="3744075"/>
              <a:chExt cx="320350" cy="318100"/>
            </a:xfrm>
          </p:grpSpPr>
          <p:sp>
            <p:nvSpPr>
              <p:cNvPr id="81" name="Slidesgo vector icon">
                <a:extLst>
                  <a:ext uri="{FF2B5EF4-FFF2-40B4-BE49-F238E27FC236}">
                    <a16:creationId xmlns:a16="http://schemas.microsoft.com/office/drawing/2014/main" id="{481F657E-33C4-8226-36EA-1CFB6747AE27}"/>
                  </a:ext>
                </a:extLst>
              </p:cNvPr>
              <p:cNvSpPr/>
              <p:nvPr/>
            </p:nvSpPr>
            <p:spPr>
              <a:xfrm>
                <a:off x="-63126250" y="3744075"/>
                <a:ext cx="195925" cy="192875"/>
              </a:xfrm>
              <a:custGeom>
                <a:avLst/>
                <a:gdLst/>
                <a:ahLst/>
                <a:cxnLst/>
                <a:rect l="l" t="t" r="r" b="b"/>
                <a:pathLst>
                  <a:path w="7837" h="7715" extrusionOk="0">
                    <a:moveTo>
                      <a:pt x="6020" y="0"/>
                    </a:moveTo>
                    <a:cubicBezTo>
                      <a:pt x="5921" y="0"/>
                      <a:pt x="5820" y="37"/>
                      <a:pt x="5735" y="122"/>
                    </a:cubicBezTo>
                    <a:lnTo>
                      <a:pt x="4097" y="1760"/>
                    </a:lnTo>
                    <a:cubicBezTo>
                      <a:pt x="4034" y="1854"/>
                      <a:pt x="3971" y="1917"/>
                      <a:pt x="3971" y="2012"/>
                    </a:cubicBezTo>
                    <a:lnTo>
                      <a:pt x="3782" y="3304"/>
                    </a:lnTo>
                    <a:lnTo>
                      <a:pt x="1734" y="5351"/>
                    </a:lnTo>
                    <a:cubicBezTo>
                      <a:pt x="1576" y="5288"/>
                      <a:pt x="1387" y="5225"/>
                      <a:pt x="1230" y="5225"/>
                    </a:cubicBezTo>
                    <a:cubicBezTo>
                      <a:pt x="537" y="5225"/>
                      <a:pt x="1" y="5793"/>
                      <a:pt x="1" y="6486"/>
                    </a:cubicBezTo>
                    <a:cubicBezTo>
                      <a:pt x="1" y="7210"/>
                      <a:pt x="537" y="7714"/>
                      <a:pt x="1230" y="7714"/>
                    </a:cubicBezTo>
                    <a:cubicBezTo>
                      <a:pt x="1891" y="7714"/>
                      <a:pt x="2458" y="7179"/>
                      <a:pt x="2458" y="6486"/>
                    </a:cubicBezTo>
                    <a:cubicBezTo>
                      <a:pt x="2458" y="6297"/>
                      <a:pt x="2395" y="6139"/>
                      <a:pt x="2332" y="5982"/>
                    </a:cubicBezTo>
                    <a:lnTo>
                      <a:pt x="4380" y="3934"/>
                    </a:lnTo>
                    <a:lnTo>
                      <a:pt x="5672" y="3745"/>
                    </a:lnTo>
                    <a:cubicBezTo>
                      <a:pt x="5735" y="3745"/>
                      <a:pt x="5829" y="3713"/>
                      <a:pt x="5924" y="3619"/>
                    </a:cubicBezTo>
                    <a:lnTo>
                      <a:pt x="7562" y="1980"/>
                    </a:lnTo>
                    <a:cubicBezTo>
                      <a:pt x="7837" y="1706"/>
                      <a:pt x="7609" y="1254"/>
                      <a:pt x="7251" y="1254"/>
                    </a:cubicBezTo>
                    <a:cubicBezTo>
                      <a:pt x="7240" y="1254"/>
                      <a:pt x="7228" y="1255"/>
                      <a:pt x="7216" y="1256"/>
                    </a:cubicBezTo>
                    <a:lnTo>
                      <a:pt x="6302" y="1382"/>
                    </a:lnTo>
                    <a:lnTo>
                      <a:pt x="6428" y="468"/>
                    </a:lnTo>
                    <a:cubicBezTo>
                      <a:pt x="6472" y="203"/>
                      <a:pt x="6253" y="0"/>
                      <a:pt x="6020"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Slidesgo vector icon">
                <a:extLst>
                  <a:ext uri="{FF2B5EF4-FFF2-40B4-BE49-F238E27FC236}">
                    <a16:creationId xmlns:a16="http://schemas.microsoft.com/office/drawing/2014/main" id="{86DD95EA-03D3-45CC-709A-A2B3B20AA8E7}"/>
                  </a:ext>
                </a:extLst>
              </p:cNvPr>
              <p:cNvSpPr/>
              <p:nvPr/>
            </p:nvSpPr>
            <p:spPr>
              <a:xfrm>
                <a:off x="-63190025" y="3814050"/>
                <a:ext cx="186675" cy="185900"/>
              </a:xfrm>
              <a:custGeom>
                <a:avLst/>
                <a:gdLst/>
                <a:ahLst/>
                <a:cxnLst/>
                <a:rect l="l" t="t" r="r" b="b"/>
                <a:pathLst>
                  <a:path w="7467" h="7436" extrusionOk="0">
                    <a:moveTo>
                      <a:pt x="3718" y="1"/>
                    </a:moveTo>
                    <a:cubicBezTo>
                      <a:pt x="1670" y="1"/>
                      <a:pt x="0" y="1670"/>
                      <a:pt x="0" y="3750"/>
                    </a:cubicBezTo>
                    <a:cubicBezTo>
                      <a:pt x="0" y="5797"/>
                      <a:pt x="1638" y="7436"/>
                      <a:pt x="3718" y="7436"/>
                    </a:cubicBezTo>
                    <a:cubicBezTo>
                      <a:pt x="5765" y="7436"/>
                      <a:pt x="7467" y="5797"/>
                      <a:pt x="7467" y="3750"/>
                    </a:cubicBezTo>
                    <a:cubicBezTo>
                      <a:pt x="7467" y="3151"/>
                      <a:pt x="7341" y="2647"/>
                      <a:pt x="7120" y="2143"/>
                    </a:cubicBezTo>
                    <a:lnTo>
                      <a:pt x="5828" y="3435"/>
                    </a:lnTo>
                    <a:cubicBezTo>
                      <a:pt x="5828" y="3498"/>
                      <a:pt x="5860" y="3624"/>
                      <a:pt x="5860" y="3718"/>
                    </a:cubicBezTo>
                    <a:cubicBezTo>
                      <a:pt x="5860" y="4852"/>
                      <a:pt x="4915" y="5797"/>
                      <a:pt x="3781" y="5797"/>
                    </a:cubicBezTo>
                    <a:cubicBezTo>
                      <a:pt x="2615" y="5797"/>
                      <a:pt x="1670" y="4852"/>
                      <a:pt x="1670" y="3718"/>
                    </a:cubicBezTo>
                    <a:cubicBezTo>
                      <a:pt x="1733" y="2552"/>
                      <a:pt x="2615" y="1607"/>
                      <a:pt x="3781" y="1607"/>
                    </a:cubicBezTo>
                    <a:cubicBezTo>
                      <a:pt x="3875" y="1607"/>
                      <a:pt x="3970" y="1607"/>
                      <a:pt x="4033" y="1670"/>
                    </a:cubicBezTo>
                    <a:lnTo>
                      <a:pt x="5356" y="347"/>
                    </a:lnTo>
                    <a:cubicBezTo>
                      <a:pt x="4883" y="127"/>
                      <a:pt x="4316" y="1"/>
                      <a:pt x="3718"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 name="Slidesgo vector icon">
                <a:extLst>
                  <a:ext uri="{FF2B5EF4-FFF2-40B4-BE49-F238E27FC236}">
                    <a16:creationId xmlns:a16="http://schemas.microsoft.com/office/drawing/2014/main" id="{B387EEB1-EAD0-6F59-B9C3-10AC3F717BE3}"/>
                  </a:ext>
                </a:extLst>
              </p:cNvPr>
              <p:cNvSpPr/>
              <p:nvPr/>
            </p:nvSpPr>
            <p:spPr>
              <a:xfrm>
                <a:off x="-63250675" y="3751050"/>
                <a:ext cx="311125" cy="311125"/>
              </a:xfrm>
              <a:custGeom>
                <a:avLst/>
                <a:gdLst/>
                <a:ahLst/>
                <a:cxnLst/>
                <a:rect l="l" t="t" r="r" b="b"/>
                <a:pathLst>
                  <a:path w="12445" h="12445" extrusionOk="0">
                    <a:moveTo>
                      <a:pt x="6270" y="0"/>
                    </a:moveTo>
                    <a:cubicBezTo>
                      <a:pt x="2773" y="0"/>
                      <a:pt x="0" y="2804"/>
                      <a:pt x="0" y="6238"/>
                    </a:cubicBezTo>
                    <a:cubicBezTo>
                      <a:pt x="0" y="9641"/>
                      <a:pt x="2804" y="12445"/>
                      <a:pt x="6238" y="12445"/>
                    </a:cubicBezTo>
                    <a:cubicBezTo>
                      <a:pt x="9672" y="12445"/>
                      <a:pt x="12445" y="9641"/>
                      <a:pt x="12445" y="6238"/>
                    </a:cubicBezTo>
                    <a:cubicBezTo>
                      <a:pt x="12445" y="5325"/>
                      <a:pt x="12256" y="4411"/>
                      <a:pt x="11878" y="3592"/>
                    </a:cubicBezTo>
                    <a:lnTo>
                      <a:pt x="11563" y="3907"/>
                    </a:lnTo>
                    <a:cubicBezTo>
                      <a:pt x="11342" y="4096"/>
                      <a:pt x="11121" y="4222"/>
                      <a:pt x="10838" y="4253"/>
                    </a:cubicBezTo>
                    <a:lnTo>
                      <a:pt x="10397" y="4348"/>
                    </a:lnTo>
                    <a:cubicBezTo>
                      <a:pt x="10680" y="4915"/>
                      <a:pt x="10806" y="5545"/>
                      <a:pt x="10806" y="6238"/>
                    </a:cubicBezTo>
                    <a:cubicBezTo>
                      <a:pt x="10806" y="8759"/>
                      <a:pt x="8759" y="10743"/>
                      <a:pt x="6270" y="10743"/>
                    </a:cubicBezTo>
                    <a:cubicBezTo>
                      <a:pt x="3781" y="10743"/>
                      <a:pt x="1733" y="8696"/>
                      <a:pt x="1733" y="6238"/>
                    </a:cubicBezTo>
                    <a:cubicBezTo>
                      <a:pt x="1733" y="3718"/>
                      <a:pt x="3781" y="1670"/>
                      <a:pt x="6270" y="1670"/>
                    </a:cubicBezTo>
                    <a:cubicBezTo>
                      <a:pt x="6931" y="1670"/>
                      <a:pt x="7561" y="1796"/>
                      <a:pt x="8160" y="2048"/>
                    </a:cubicBezTo>
                    <a:lnTo>
                      <a:pt x="8254" y="1607"/>
                    </a:lnTo>
                    <a:cubicBezTo>
                      <a:pt x="8286" y="1355"/>
                      <a:pt x="8412" y="1103"/>
                      <a:pt x="8601" y="914"/>
                    </a:cubicBezTo>
                    <a:lnTo>
                      <a:pt x="8916" y="599"/>
                    </a:lnTo>
                    <a:cubicBezTo>
                      <a:pt x="8097" y="189"/>
                      <a:pt x="7215" y="0"/>
                      <a:pt x="6270"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4" name="Text">
              <a:extLst>
                <a:ext uri="{FF2B5EF4-FFF2-40B4-BE49-F238E27FC236}">
                  <a16:creationId xmlns:a16="http://schemas.microsoft.com/office/drawing/2014/main" id="{5E20359A-8CB1-DEBA-D453-0909D1EDED68}"/>
                </a:ext>
              </a:extLst>
            </p:cNvPr>
            <p:cNvSpPr txBox="1"/>
            <p:nvPr/>
          </p:nvSpPr>
          <p:spPr>
            <a:xfrm>
              <a:off x="3388927" y="4071069"/>
              <a:ext cx="723900" cy="428625"/>
            </a:xfrm>
            <a:prstGeom prst="rect">
              <a:avLst/>
            </a:prstGeom>
            <a:noFill/>
            <a:ln w="9525">
              <a:noFill/>
            </a:ln>
          </p:spPr>
          <p:txBody>
            <a:bodyPr wrap="none" lIns="0" tIns="0" rIns="0" bIns="0" anchor="t">
              <a:noAutofit/>
            </a:bodyPr>
            <a:lstStyle/>
            <a:p>
              <a:pPr marL="0" indent="0" algn="l">
                <a:lnSpc>
                  <a:spcPts val="2156"/>
                </a:lnSpc>
                <a:spcAft>
                  <a:spcPts val="0"/>
                </a:spcAft>
                <a:buNone/>
              </a:pPr>
              <a:r>
                <a:rPr lang="en-US" sz="1800" b="1" dirty="0">
                  <a:solidFill>
                    <a:srgbClr val="FFFFFF"/>
                  </a:solidFill>
                  <a:latin typeface="Fira Sans Extra Condensed"/>
                  <a:ea typeface="Fira Sans Extra Condensed"/>
                  <a:cs typeface="Fira Sans Extra Condensed"/>
                </a:rPr>
                <a:t>Goals</a:t>
              </a:r>
              <a:endParaRPr lang="en-US" sz="1800" dirty="0"/>
            </a:p>
          </p:txBody>
        </p:sp>
      </p:grpSp>
      <p:grpSp>
        <p:nvGrpSpPr>
          <p:cNvPr id="38" name="Group 37">
            <a:extLst>
              <a:ext uri="{FF2B5EF4-FFF2-40B4-BE49-F238E27FC236}">
                <a16:creationId xmlns:a16="http://schemas.microsoft.com/office/drawing/2014/main" id="{9070D538-8DE9-3F8B-AD9D-4E5621EFC16F}"/>
              </a:ext>
            </a:extLst>
          </p:cNvPr>
          <p:cNvGrpSpPr/>
          <p:nvPr/>
        </p:nvGrpSpPr>
        <p:grpSpPr>
          <a:xfrm>
            <a:off x="4176482" y="1333197"/>
            <a:ext cx="1333500" cy="676275"/>
            <a:chOff x="3515333" y="3147144"/>
            <a:chExt cx="1333500" cy="676275"/>
          </a:xfrm>
        </p:grpSpPr>
        <p:sp>
          <p:nvSpPr>
            <p:cNvPr id="86" name="Panel">
              <a:extLst>
                <a:ext uri="{FF2B5EF4-FFF2-40B4-BE49-F238E27FC236}">
                  <a16:creationId xmlns:a16="http://schemas.microsoft.com/office/drawing/2014/main" id="{EDC22F6E-0F73-CF49-F5FB-B3BCD31CB6A2}"/>
                </a:ext>
              </a:extLst>
            </p:cNvPr>
            <p:cNvSpPr/>
            <p:nvPr/>
          </p:nvSpPr>
          <p:spPr>
            <a:xfrm>
              <a:off x="3515333" y="3147144"/>
              <a:ext cx="1333500" cy="676275"/>
            </a:xfrm>
            <a:prstGeom prst="roundRect">
              <a:avLst>
                <a:gd name="adj" fmla="val 10000"/>
              </a:avLst>
            </a:prstGeom>
            <a:solidFill>
              <a:srgbClr val="294559"/>
            </a:solidFill>
            <a:ln w="9525">
              <a:noFill/>
            </a:ln>
          </p:spPr>
          <p:txBody>
            <a:bodyPr/>
            <a:lstStyle/>
            <a:p>
              <a:endParaRPr lang="en-US"/>
            </a:p>
          </p:txBody>
        </p:sp>
        <p:grpSp>
          <p:nvGrpSpPr>
            <p:cNvPr id="87" name="Slidesgo vector icon">
              <a:extLst>
                <a:ext uri="{FF2B5EF4-FFF2-40B4-BE49-F238E27FC236}">
                  <a16:creationId xmlns:a16="http://schemas.microsoft.com/office/drawing/2014/main" id="{CA399CEB-AC7D-BFED-D5B2-A7F8F56112B7}"/>
                </a:ext>
              </a:extLst>
            </p:cNvPr>
            <p:cNvGrpSpPr/>
            <p:nvPr/>
          </p:nvGrpSpPr>
          <p:grpSpPr>
            <a:xfrm>
              <a:off x="3615361" y="3350640"/>
              <a:ext cx="285750" cy="285750"/>
              <a:chOff x="-3137650" y="2408950"/>
              <a:chExt cx="291450" cy="292125"/>
            </a:xfrm>
          </p:grpSpPr>
          <p:sp>
            <p:nvSpPr>
              <p:cNvPr id="88" name="Slidesgo vector icon">
                <a:extLst>
                  <a:ext uri="{FF2B5EF4-FFF2-40B4-BE49-F238E27FC236}">
                    <a16:creationId xmlns:a16="http://schemas.microsoft.com/office/drawing/2014/main" id="{D82A9435-015D-48B2-04C9-F01CD559F540}"/>
                  </a:ext>
                </a:extLst>
              </p:cNvPr>
              <p:cNvSpPr/>
              <p:nvPr/>
            </p:nvSpPr>
            <p:spPr>
              <a:xfrm>
                <a:off x="-3137650" y="2408950"/>
                <a:ext cx="291450" cy="292125"/>
              </a:xfrm>
              <a:custGeom>
                <a:avLst/>
                <a:gdLst/>
                <a:ahLst/>
                <a:cxnLst/>
                <a:rect l="l" t="t" r="r" b="b"/>
                <a:pathLst>
                  <a:path w="11658" h="11685" extrusionOk="0">
                    <a:moveTo>
                      <a:pt x="10618" y="662"/>
                    </a:moveTo>
                    <a:cubicBezTo>
                      <a:pt x="10807" y="662"/>
                      <a:pt x="10964" y="851"/>
                      <a:pt x="10964" y="1040"/>
                    </a:cubicBezTo>
                    <a:lnTo>
                      <a:pt x="10964" y="2741"/>
                    </a:lnTo>
                    <a:lnTo>
                      <a:pt x="662" y="2741"/>
                    </a:lnTo>
                    <a:lnTo>
                      <a:pt x="662" y="1040"/>
                    </a:lnTo>
                    <a:cubicBezTo>
                      <a:pt x="662" y="851"/>
                      <a:pt x="820" y="662"/>
                      <a:pt x="1009" y="662"/>
                    </a:cubicBezTo>
                    <a:close/>
                    <a:moveTo>
                      <a:pt x="10964" y="3403"/>
                    </a:moveTo>
                    <a:lnTo>
                      <a:pt x="10964" y="8601"/>
                    </a:lnTo>
                    <a:cubicBezTo>
                      <a:pt x="10964" y="8790"/>
                      <a:pt x="10838" y="8947"/>
                      <a:pt x="10618" y="8947"/>
                    </a:cubicBezTo>
                    <a:lnTo>
                      <a:pt x="10145" y="8947"/>
                    </a:lnTo>
                    <a:cubicBezTo>
                      <a:pt x="10208" y="8727"/>
                      <a:pt x="10240" y="8443"/>
                      <a:pt x="10240" y="8160"/>
                    </a:cubicBezTo>
                    <a:lnTo>
                      <a:pt x="10240" y="5860"/>
                    </a:lnTo>
                    <a:cubicBezTo>
                      <a:pt x="10240" y="5673"/>
                      <a:pt x="10058" y="5531"/>
                      <a:pt x="9868" y="5531"/>
                    </a:cubicBezTo>
                    <a:cubicBezTo>
                      <a:pt x="9835" y="5531"/>
                      <a:pt x="9801" y="5535"/>
                      <a:pt x="9767" y="5545"/>
                    </a:cubicBezTo>
                    <a:cubicBezTo>
                      <a:pt x="9545" y="5641"/>
                      <a:pt x="9341" y="5691"/>
                      <a:pt x="9142" y="5691"/>
                    </a:cubicBezTo>
                    <a:cubicBezTo>
                      <a:pt x="8693" y="5691"/>
                      <a:pt x="8275" y="5439"/>
                      <a:pt x="7751" y="4915"/>
                    </a:cubicBezTo>
                    <a:cubicBezTo>
                      <a:pt x="7688" y="4868"/>
                      <a:pt x="7601" y="4844"/>
                      <a:pt x="7515" y="4844"/>
                    </a:cubicBezTo>
                    <a:cubicBezTo>
                      <a:pt x="7428" y="4844"/>
                      <a:pt x="7341" y="4868"/>
                      <a:pt x="7278" y="4915"/>
                    </a:cubicBezTo>
                    <a:cubicBezTo>
                      <a:pt x="6753" y="5440"/>
                      <a:pt x="6334" y="5677"/>
                      <a:pt x="5884" y="5677"/>
                    </a:cubicBezTo>
                    <a:cubicBezTo>
                      <a:pt x="5686" y="5677"/>
                      <a:pt x="5483" y="5631"/>
                      <a:pt x="5262" y="5545"/>
                    </a:cubicBezTo>
                    <a:cubicBezTo>
                      <a:pt x="5229" y="5535"/>
                      <a:pt x="5195" y="5531"/>
                      <a:pt x="5161" y="5531"/>
                    </a:cubicBezTo>
                    <a:cubicBezTo>
                      <a:pt x="4971" y="5531"/>
                      <a:pt x="4789" y="5673"/>
                      <a:pt x="4789" y="5860"/>
                    </a:cubicBezTo>
                    <a:lnTo>
                      <a:pt x="4789" y="8160"/>
                    </a:lnTo>
                    <a:cubicBezTo>
                      <a:pt x="4789" y="8443"/>
                      <a:pt x="4821" y="8664"/>
                      <a:pt x="4884" y="8947"/>
                    </a:cubicBezTo>
                    <a:lnTo>
                      <a:pt x="1009" y="8947"/>
                    </a:lnTo>
                    <a:cubicBezTo>
                      <a:pt x="820" y="8947"/>
                      <a:pt x="662" y="8790"/>
                      <a:pt x="662" y="8601"/>
                    </a:cubicBezTo>
                    <a:lnTo>
                      <a:pt x="662" y="3403"/>
                    </a:lnTo>
                    <a:close/>
                    <a:moveTo>
                      <a:pt x="7152" y="5923"/>
                    </a:moveTo>
                    <a:lnTo>
                      <a:pt x="7152" y="10838"/>
                    </a:lnTo>
                    <a:cubicBezTo>
                      <a:pt x="6144" y="10365"/>
                      <a:pt x="5451" y="9357"/>
                      <a:pt x="5451" y="8160"/>
                    </a:cubicBezTo>
                    <a:lnTo>
                      <a:pt x="5451" y="6301"/>
                    </a:lnTo>
                    <a:cubicBezTo>
                      <a:pt x="5604" y="6330"/>
                      <a:pt x="5750" y="6344"/>
                      <a:pt x="5891" y="6344"/>
                    </a:cubicBezTo>
                    <a:cubicBezTo>
                      <a:pt x="6359" y="6344"/>
                      <a:pt x="6765" y="6189"/>
                      <a:pt x="7152" y="5923"/>
                    </a:cubicBezTo>
                    <a:close/>
                    <a:moveTo>
                      <a:pt x="7877" y="5923"/>
                    </a:moveTo>
                    <a:cubicBezTo>
                      <a:pt x="8242" y="6166"/>
                      <a:pt x="8644" y="6353"/>
                      <a:pt x="9128" y="6353"/>
                    </a:cubicBezTo>
                    <a:cubicBezTo>
                      <a:pt x="9271" y="6353"/>
                      <a:pt x="9420" y="6337"/>
                      <a:pt x="9578" y="6301"/>
                    </a:cubicBezTo>
                    <a:lnTo>
                      <a:pt x="9578" y="8160"/>
                    </a:lnTo>
                    <a:cubicBezTo>
                      <a:pt x="9547" y="9357"/>
                      <a:pt x="8885" y="10365"/>
                      <a:pt x="7877" y="10838"/>
                    </a:cubicBezTo>
                    <a:lnTo>
                      <a:pt x="7877" y="5923"/>
                    </a:lnTo>
                    <a:close/>
                    <a:moveTo>
                      <a:pt x="1009" y="0"/>
                    </a:moveTo>
                    <a:cubicBezTo>
                      <a:pt x="473" y="0"/>
                      <a:pt x="1" y="473"/>
                      <a:pt x="1" y="1040"/>
                    </a:cubicBezTo>
                    <a:lnTo>
                      <a:pt x="1" y="8601"/>
                    </a:lnTo>
                    <a:cubicBezTo>
                      <a:pt x="1" y="9136"/>
                      <a:pt x="473" y="9609"/>
                      <a:pt x="1009" y="9609"/>
                    </a:cubicBezTo>
                    <a:lnTo>
                      <a:pt x="5073" y="9609"/>
                    </a:lnTo>
                    <a:cubicBezTo>
                      <a:pt x="5199" y="9893"/>
                      <a:pt x="5357" y="10145"/>
                      <a:pt x="5514" y="10365"/>
                    </a:cubicBezTo>
                    <a:cubicBezTo>
                      <a:pt x="5987" y="10995"/>
                      <a:pt x="6617" y="11436"/>
                      <a:pt x="7404" y="11657"/>
                    </a:cubicBezTo>
                    <a:cubicBezTo>
                      <a:pt x="7446" y="11657"/>
                      <a:pt x="7488" y="11685"/>
                      <a:pt x="7530" y="11685"/>
                    </a:cubicBezTo>
                    <a:cubicBezTo>
                      <a:pt x="7551" y="11685"/>
                      <a:pt x="7572" y="11678"/>
                      <a:pt x="7593" y="11657"/>
                    </a:cubicBezTo>
                    <a:cubicBezTo>
                      <a:pt x="8350" y="11436"/>
                      <a:pt x="9011" y="10995"/>
                      <a:pt x="9484" y="10365"/>
                    </a:cubicBezTo>
                    <a:cubicBezTo>
                      <a:pt x="9641" y="10145"/>
                      <a:pt x="9799" y="9893"/>
                      <a:pt x="9925" y="9609"/>
                    </a:cubicBezTo>
                    <a:lnTo>
                      <a:pt x="10618" y="9609"/>
                    </a:lnTo>
                    <a:cubicBezTo>
                      <a:pt x="11185" y="9609"/>
                      <a:pt x="11658" y="9136"/>
                      <a:pt x="11658" y="8601"/>
                    </a:cubicBezTo>
                    <a:lnTo>
                      <a:pt x="11658" y="1040"/>
                    </a:lnTo>
                    <a:cubicBezTo>
                      <a:pt x="11658" y="473"/>
                      <a:pt x="11217" y="0"/>
                      <a:pt x="10618"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Slidesgo vector icon">
                <a:extLst>
                  <a:ext uri="{FF2B5EF4-FFF2-40B4-BE49-F238E27FC236}">
                    <a16:creationId xmlns:a16="http://schemas.microsoft.com/office/drawing/2014/main" id="{1C75B90E-3124-8621-E69F-F9541526FC9D}"/>
                  </a:ext>
                </a:extLst>
              </p:cNvPr>
              <p:cNvSpPr/>
              <p:nvPr/>
            </p:nvSpPr>
            <p:spPr>
              <a:xfrm>
                <a:off x="-3104575" y="2442800"/>
                <a:ext cx="18150" cy="17350"/>
              </a:xfrm>
              <a:custGeom>
                <a:avLst/>
                <a:gdLst/>
                <a:ahLst/>
                <a:cxnLst/>
                <a:rect l="l" t="t" r="r" b="b"/>
                <a:pathLst>
                  <a:path w="726" h="694" extrusionOk="0">
                    <a:moveTo>
                      <a:pt x="348" y="1"/>
                    </a:moveTo>
                    <a:cubicBezTo>
                      <a:pt x="158" y="1"/>
                      <a:pt x="1" y="158"/>
                      <a:pt x="1" y="347"/>
                    </a:cubicBezTo>
                    <a:cubicBezTo>
                      <a:pt x="1" y="536"/>
                      <a:pt x="158" y="694"/>
                      <a:pt x="348" y="694"/>
                    </a:cubicBezTo>
                    <a:cubicBezTo>
                      <a:pt x="568" y="694"/>
                      <a:pt x="726" y="536"/>
                      <a:pt x="726" y="347"/>
                    </a:cubicBezTo>
                    <a:cubicBezTo>
                      <a:pt x="726" y="158"/>
                      <a:pt x="568" y="1"/>
                      <a:pt x="348"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Slidesgo vector icon">
                <a:extLst>
                  <a:ext uri="{FF2B5EF4-FFF2-40B4-BE49-F238E27FC236}">
                    <a16:creationId xmlns:a16="http://schemas.microsoft.com/office/drawing/2014/main" id="{599352D1-9182-F916-21D5-35147D526488}"/>
                  </a:ext>
                </a:extLst>
              </p:cNvPr>
              <p:cNvSpPr/>
              <p:nvPr/>
            </p:nvSpPr>
            <p:spPr>
              <a:xfrm>
                <a:off x="-306990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Slidesgo vector icon">
                <a:extLst>
                  <a:ext uri="{FF2B5EF4-FFF2-40B4-BE49-F238E27FC236}">
                    <a16:creationId xmlns:a16="http://schemas.microsoft.com/office/drawing/2014/main" id="{D101E69A-3DB1-54E5-3902-FA79BC9FE66D}"/>
                  </a:ext>
                </a:extLst>
              </p:cNvPr>
              <p:cNvSpPr/>
              <p:nvPr/>
            </p:nvSpPr>
            <p:spPr>
              <a:xfrm>
                <a:off x="-303525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 name="Slidesgo vector icon">
                <a:extLst>
                  <a:ext uri="{FF2B5EF4-FFF2-40B4-BE49-F238E27FC236}">
                    <a16:creationId xmlns:a16="http://schemas.microsoft.com/office/drawing/2014/main" id="{09BA3F6E-7158-4D9D-166E-5B65520AAFE5}"/>
                  </a:ext>
                </a:extLst>
              </p:cNvPr>
              <p:cNvSpPr/>
              <p:nvPr/>
            </p:nvSpPr>
            <p:spPr>
              <a:xfrm>
                <a:off x="-3002175" y="2442800"/>
                <a:ext cx="120525" cy="17350"/>
              </a:xfrm>
              <a:custGeom>
                <a:avLst/>
                <a:gdLst/>
                <a:ahLst/>
                <a:cxnLst/>
                <a:rect l="l" t="t" r="r" b="b"/>
                <a:pathLst>
                  <a:path w="4821" h="694" extrusionOk="0">
                    <a:moveTo>
                      <a:pt x="347" y="1"/>
                    </a:moveTo>
                    <a:cubicBezTo>
                      <a:pt x="158" y="1"/>
                      <a:pt x="1" y="158"/>
                      <a:pt x="1" y="347"/>
                    </a:cubicBezTo>
                    <a:cubicBezTo>
                      <a:pt x="32" y="536"/>
                      <a:pt x="190" y="694"/>
                      <a:pt x="347" y="694"/>
                    </a:cubicBezTo>
                    <a:lnTo>
                      <a:pt x="4443" y="694"/>
                    </a:lnTo>
                    <a:cubicBezTo>
                      <a:pt x="4663" y="694"/>
                      <a:pt x="4821" y="536"/>
                      <a:pt x="4821" y="347"/>
                    </a:cubicBezTo>
                    <a:cubicBezTo>
                      <a:pt x="4821" y="158"/>
                      <a:pt x="4663" y="1"/>
                      <a:pt x="4443"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3" name="Text">
              <a:extLst>
                <a:ext uri="{FF2B5EF4-FFF2-40B4-BE49-F238E27FC236}">
                  <a16:creationId xmlns:a16="http://schemas.microsoft.com/office/drawing/2014/main" id="{460C0600-9A45-FAED-3473-507E0964F0BD}"/>
                </a:ext>
              </a:extLst>
            </p:cNvPr>
            <p:cNvSpPr txBox="1"/>
            <p:nvPr/>
          </p:nvSpPr>
          <p:spPr>
            <a:xfrm>
              <a:off x="4038401" y="3368677"/>
              <a:ext cx="723900" cy="428625"/>
            </a:xfrm>
            <a:prstGeom prst="rect">
              <a:avLst/>
            </a:prstGeom>
            <a:noFill/>
            <a:ln w="9525">
              <a:noFill/>
            </a:ln>
          </p:spPr>
          <p:txBody>
            <a:bodyPr wrap="none" lIns="0" tIns="0" rIns="0" bIns="0" anchor="t">
              <a:noAutofit/>
            </a:bodyPr>
            <a:lstStyle/>
            <a:p>
              <a:pPr marL="0" indent="0" algn="l">
                <a:lnSpc>
                  <a:spcPts val="2156"/>
                </a:lnSpc>
                <a:spcAft>
                  <a:spcPts val="0"/>
                </a:spcAft>
                <a:buNone/>
              </a:pPr>
              <a:r>
                <a:rPr lang="en-US" sz="1800" b="1" dirty="0">
                  <a:solidFill>
                    <a:srgbClr val="FFFFFF"/>
                  </a:solidFill>
                  <a:latin typeface="Fira Sans Extra Condensed"/>
                  <a:ea typeface="Fira Sans Extra Condensed"/>
                  <a:cs typeface="Fira Sans Extra Condensed"/>
                </a:rPr>
                <a:t>Limits</a:t>
              </a:r>
              <a:endParaRPr lang="en-US" sz="1800" dirty="0"/>
            </a:p>
          </p:txBody>
        </p:sp>
      </p:grpSp>
      <p:grpSp>
        <p:nvGrpSpPr>
          <p:cNvPr id="47" name="Group 46">
            <a:extLst>
              <a:ext uri="{FF2B5EF4-FFF2-40B4-BE49-F238E27FC236}">
                <a16:creationId xmlns:a16="http://schemas.microsoft.com/office/drawing/2014/main" id="{2D0D158D-A6B3-6592-332E-F3CD1F03E56C}"/>
              </a:ext>
            </a:extLst>
          </p:cNvPr>
          <p:cNvGrpSpPr/>
          <p:nvPr/>
        </p:nvGrpSpPr>
        <p:grpSpPr>
          <a:xfrm>
            <a:off x="4400282" y="3506308"/>
            <a:ext cx="876300" cy="876300"/>
            <a:chOff x="3850889" y="968065"/>
            <a:chExt cx="876300" cy="876300"/>
          </a:xfrm>
        </p:grpSpPr>
        <p:sp>
          <p:nvSpPr>
            <p:cNvPr id="97" name="Circle">
              <a:extLst>
                <a:ext uri="{FF2B5EF4-FFF2-40B4-BE49-F238E27FC236}">
                  <a16:creationId xmlns:a16="http://schemas.microsoft.com/office/drawing/2014/main" id="{0E68E301-BAC8-7A1E-1973-399100DE1A80}"/>
                </a:ext>
              </a:extLst>
            </p:cNvPr>
            <p:cNvSpPr/>
            <p:nvPr/>
          </p:nvSpPr>
          <p:spPr>
            <a:xfrm>
              <a:off x="3850889" y="968065"/>
              <a:ext cx="876300" cy="876300"/>
            </a:xfrm>
            <a:prstGeom prst="ellipse">
              <a:avLst/>
            </a:prstGeom>
            <a:solidFill>
              <a:srgbClr val="5FD0DB"/>
            </a:solidFill>
            <a:ln w="9525">
              <a:noFill/>
            </a:ln>
          </p:spPr>
          <p:txBody>
            <a:bodyPr/>
            <a:lstStyle/>
            <a:p>
              <a:endParaRPr lang="en-US"/>
            </a:p>
          </p:txBody>
        </p:sp>
        <p:grpSp>
          <p:nvGrpSpPr>
            <p:cNvPr id="98" name="Slidesgo vector icon">
              <a:extLst>
                <a:ext uri="{FF2B5EF4-FFF2-40B4-BE49-F238E27FC236}">
                  <a16:creationId xmlns:a16="http://schemas.microsoft.com/office/drawing/2014/main" id="{3A6B9F7E-57C1-5DF1-1694-00186F6D3725}"/>
                </a:ext>
              </a:extLst>
            </p:cNvPr>
            <p:cNvGrpSpPr/>
            <p:nvPr/>
          </p:nvGrpSpPr>
          <p:grpSpPr>
            <a:xfrm>
              <a:off x="4084251" y="1193962"/>
              <a:ext cx="409575" cy="409575"/>
              <a:chOff x="1487200" y="4993750"/>
              <a:chExt cx="483125" cy="483125"/>
            </a:xfrm>
          </p:grpSpPr>
          <p:sp>
            <p:nvSpPr>
              <p:cNvPr id="99" name="Slidesgo vector icon">
                <a:extLst>
                  <a:ext uri="{FF2B5EF4-FFF2-40B4-BE49-F238E27FC236}">
                    <a16:creationId xmlns:a16="http://schemas.microsoft.com/office/drawing/2014/main" id="{B88D9B61-E981-5903-3A80-F417EF3CF825}"/>
                  </a:ext>
                </a:extLst>
              </p:cNvPr>
              <p:cNvSpPr/>
              <p:nvPr/>
            </p:nvSpPr>
            <p:spPr>
              <a:xfrm>
                <a:off x="1487200" y="4993750"/>
                <a:ext cx="483125" cy="483125"/>
              </a:xfrm>
              <a:custGeom>
                <a:avLst/>
                <a:gdLst/>
                <a:ahLst/>
                <a:cxnLst/>
                <a:rect l="l" t="t" r="r" b="b"/>
                <a:pathLst>
                  <a:path w="19325" h="19325" extrusionOk="0">
                    <a:moveTo>
                      <a:pt x="9662" y="1133"/>
                    </a:moveTo>
                    <a:cubicBezTo>
                      <a:pt x="11824" y="1133"/>
                      <a:pt x="13983" y="1975"/>
                      <a:pt x="15668" y="3657"/>
                    </a:cubicBezTo>
                    <a:cubicBezTo>
                      <a:pt x="19035" y="7027"/>
                      <a:pt x="19035" y="12302"/>
                      <a:pt x="15668" y="15668"/>
                    </a:cubicBezTo>
                    <a:cubicBezTo>
                      <a:pt x="13983" y="17352"/>
                      <a:pt x="11822" y="18193"/>
                      <a:pt x="9661" y="18193"/>
                    </a:cubicBezTo>
                    <a:cubicBezTo>
                      <a:pt x="7500" y="18193"/>
                      <a:pt x="5340" y="17352"/>
                      <a:pt x="3657" y="15668"/>
                    </a:cubicBezTo>
                    <a:cubicBezTo>
                      <a:pt x="290" y="12302"/>
                      <a:pt x="290" y="7024"/>
                      <a:pt x="3657" y="3657"/>
                    </a:cubicBezTo>
                    <a:cubicBezTo>
                      <a:pt x="5342" y="1975"/>
                      <a:pt x="7500" y="1133"/>
                      <a:pt x="9662" y="1133"/>
                    </a:cubicBezTo>
                    <a:close/>
                    <a:moveTo>
                      <a:pt x="9662" y="1"/>
                    </a:moveTo>
                    <a:cubicBezTo>
                      <a:pt x="7117" y="1"/>
                      <a:pt x="4698" y="1015"/>
                      <a:pt x="2857" y="2857"/>
                    </a:cubicBezTo>
                    <a:cubicBezTo>
                      <a:pt x="1015" y="4699"/>
                      <a:pt x="0" y="7117"/>
                      <a:pt x="0" y="9663"/>
                    </a:cubicBezTo>
                    <a:cubicBezTo>
                      <a:pt x="0" y="12208"/>
                      <a:pt x="1015" y="14627"/>
                      <a:pt x="2857" y="16469"/>
                    </a:cubicBezTo>
                    <a:cubicBezTo>
                      <a:pt x="4698" y="18310"/>
                      <a:pt x="7117" y="19325"/>
                      <a:pt x="9662" y="19325"/>
                    </a:cubicBezTo>
                    <a:cubicBezTo>
                      <a:pt x="12208" y="19325"/>
                      <a:pt x="14626" y="18310"/>
                      <a:pt x="16468" y="16469"/>
                    </a:cubicBezTo>
                    <a:cubicBezTo>
                      <a:pt x="18310" y="14627"/>
                      <a:pt x="19325" y="12208"/>
                      <a:pt x="19325" y="9663"/>
                    </a:cubicBezTo>
                    <a:cubicBezTo>
                      <a:pt x="19325" y="7117"/>
                      <a:pt x="18310" y="4699"/>
                      <a:pt x="16468" y="2857"/>
                    </a:cubicBezTo>
                    <a:cubicBezTo>
                      <a:pt x="14626" y="1015"/>
                      <a:pt x="12208" y="1"/>
                      <a:pt x="9662"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0" name="Slidesgo vector icon">
                <a:extLst>
                  <a:ext uri="{FF2B5EF4-FFF2-40B4-BE49-F238E27FC236}">
                    <a16:creationId xmlns:a16="http://schemas.microsoft.com/office/drawing/2014/main" id="{222C4658-8484-0EC8-9E6C-9AAA9356D16E}"/>
                  </a:ext>
                </a:extLst>
              </p:cNvPr>
              <p:cNvSpPr/>
              <p:nvPr/>
            </p:nvSpPr>
            <p:spPr>
              <a:xfrm>
                <a:off x="1602600" y="5143950"/>
                <a:ext cx="250350" cy="182725"/>
              </a:xfrm>
              <a:custGeom>
                <a:avLst/>
                <a:gdLst/>
                <a:ahLst/>
                <a:cxnLst/>
                <a:rect l="l" t="t" r="r" b="b"/>
                <a:pathLst>
                  <a:path w="10014" h="7309" extrusionOk="0">
                    <a:moveTo>
                      <a:pt x="8149" y="1134"/>
                    </a:moveTo>
                    <a:cubicBezTo>
                      <a:pt x="8294" y="1134"/>
                      <a:pt x="8439" y="1189"/>
                      <a:pt x="8549" y="1300"/>
                    </a:cubicBezTo>
                    <a:cubicBezTo>
                      <a:pt x="8769" y="1520"/>
                      <a:pt x="8769" y="1879"/>
                      <a:pt x="8549" y="2100"/>
                    </a:cubicBezTo>
                    <a:lnTo>
                      <a:pt x="4639" y="6007"/>
                    </a:lnTo>
                    <a:cubicBezTo>
                      <a:pt x="4527" y="6120"/>
                      <a:pt x="4377" y="6177"/>
                      <a:pt x="4227" y="6177"/>
                    </a:cubicBezTo>
                    <a:cubicBezTo>
                      <a:pt x="4081" y="6177"/>
                      <a:pt x="3937" y="6123"/>
                      <a:pt x="3830" y="6016"/>
                    </a:cubicBezTo>
                    <a:lnTo>
                      <a:pt x="1547" y="3748"/>
                    </a:lnTo>
                    <a:cubicBezTo>
                      <a:pt x="1296" y="3534"/>
                      <a:pt x="1281" y="3151"/>
                      <a:pt x="1514" y="2918"/>
                    </a:cubicBezTo>
                    <a:cubicBezTo>
                      <a:pt x="1626" y="2806"/>
                      <a:pt x="1771" y="2750"/>
                      <a:pt x="1916" y="2750"/>
                    </a:cubicBezTo>
                    <a:cubicBezTo>
                      <a:pt x="2074" y="2750"/>
                      <a:pt x="2232" y="2817"/>
                      <a:pt x="2344" y="2948"/>
                    </a:cubicBezTo>
                    <a:lnTo>
                      <a:pt x="3784" y="4388"/>
                    </a:lnTo>
                    <a:cubicBezTo>
                      <a:pt x="3793" y="4401"/>
                      <a:pt x="3805" y="4410"/>
                      <a:pt x="3817" y="4419"/>
                    </a:cubicBezTo>
                    <a:cubicBezTo>
                      <a:pt x="3817" y="4422"/>
                      <a:pt x="3820" y="4422"/>
                      <a:pt x="3823" y="4425"/>
                    </a:cubicBezTo>
                    <a:cubicBezTo>
                      <a:pt x="3934" y="4535"/>
                      <a:pt x="4078" y="4590"/>
                      <a:pt x="4222" y="4590"/>
                    </a:cubicBezTo>
                    <a:cubicBezTo>
                      <a:pt x="4367" y="4590"/>
                      <a:pt x="4512" y="4535"/>
                      <a:pt x="4624" y="4425"/>
                    </a:cubicBezTo>
                    <a:lnTo>
                      <a:pt x="7749" y="1300"/>
                    </a:lnTo>
                    <a:cubicBezTo>
                      <a:pt x="7859" y="1189"/>
                      <a:pt x="8004" y="1134"/>
                      <a:pt x="8149" y="1134"/>
                    </a:cubicBezTo>
                    <a:close/>
                    <a:moveTo>
                      <a:pt x="8146" y="1"/>
                    </a:moveTo>
                    <a:cubicBezTo>
                      <a:pt x="7712" y="1"/>
                      <a:pt x="7279" y="166"/>
                      <a:pt x="6949" y="496"/>
                    </a:cubicBezTo>
                    <a:lnTo>
                      <a:pt x="6946" y="496"/>
                    </a:lnTo>
                    <a:lnTo>
                      <a:pt x="4219" y="3223"/>
                    </a:lnTo>
                    <a:lnTo>
                      <a:pt x="3144" y="2148"/>
                    </a:lnTo>
                    <a:cubicBezTo>
                      <a:pt x="2808" y="1779"/>
                      <a:pt x="2348" y="1594"/>
                      <a:pt x="1887" y="1594"/>
                    </a:cubicBezTo>
                    <a:cubicBezTo>
                      <a:pt x="1453" y="1594"/>
                      <a:pt x="1019" y="1758"/>
                      <a:pt x="686" y="2091"/>
                    </a:cubicBezTo>
                    <a:cubicBezTo>
                      <a:pt x="1" y="2776"/>
                      <a:pt x="28" y="3896"/>
                      <a:pt x="747" y="4549"/>
                    </a:cubicBezTo>
                    <a:lnTo>
                      <a:pt x="3029" y="6819"/>
                    </a:lnTo>
                    <a:cubicBezTo>
                      <a:pt x="3344" y="7131"/>
                      <a:pt x="3768" y="7308"/>
                      <a:pt x="4214" y="7308"/>
                    </a:cubicBezTo>
                    <a:cubicBezTo>
                      <a:pt x="4218" y="7308"/>
                      <a:pt x="4221" y="7308"/>
                      <a:pt x="4225" y="7308"/>
                    </a:cubicBezTo>
                    <a:cubicBezTo>
                      <a:pt x="4678" y="7308"/>
                      <a:pt x="5116" y="7127"/>
                      <a:pt x="5439" y="6807"/>
                    </a:cubicBezTo>
                    <a:lnTo>
                      <a:pt x="9349" y="2900"/>
                    </a:lnTo>
                    <a:cubicBezTo>
                      <a:pt x="10013" y="2236"/>
                      <a:pt x="10013" y="1161"/>
                      <a:pt x="9349" y="499"/>
                    </a:cubicBezTo>
                    <a:cubicBezTo>
                      <a:pt x="9017" y="167"/>
                      <a:pt x="8581" y="1"/>
                      <a:pt x="8146"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solidFill>
                    <a:srgbClr val="435D74"/>
                  </a:solidFill>
                </a:endParaRPr>
              </a:p>
            </p:txBody>
          </p:sp>
        </p:grpSp>
      </p:grpSp>
      <p:sp>
        <p:nvSpPr>
          <p:cNvPr id="34" name="Panel">
            <a:extLst>
              <a:ext uri="{FF2B5EF4-FFF2-40B4-BE49-F238E27FC236}">
                <a16:creationId xmlns:a16="http://schemas.microsoft.com/office/drawing/2014/main" id="{9F734626-9B71-0A53-F9EC-E23AAB6032C3}"/>
              </a:ext>
            </a:extLst>
          </p:cNvPr>
          <p:cNvSpPr/>
          <p:nvPr/>
        </p:nvSpPr>
        <p:spPr>
          <a:xfrm>
            <a:off x="212223" y="2590978"/>
            <a:ext cx="1691408" cy="821188"/>
          </a:xfrm>
          <a:prstGeom prst="roundRect">
            <a:avLst>
              <a:gd name="adj" fmla="val 10000"/>
            </a:avLst>
          </a:prstGeom>
          <a:solidFill>
            <a:srgbClr val="F3F6F8"/>
          </a:solidFill>
          <a:ln w="9525">
            <a:noFill/>
          </a:ln>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a:lstStyle>
          <a:p>
            <a:pPr>
              <a:lnSpc>
                <a:spcPts val="2062"/>
              </a:lnSpc>
            </a:pPr>
            <a:r>
              <a:rPr lang="en-US" b="1" dirty="0">
                <a:solidFill>
                  <a:srgbClr val="435D74"/>
                </a:solidFill>
                <a:latin typeface="Roboto"/>
                <a:ea typeface="Roboto"/>
                <a:cs typeface="Roboto"/>
              </a:rPr>
              <a:t>Presented By:</a:t>
            </a:r>
          </a:p>
          <a:p>
            <a:pPr>
              <a:lnSpc>
                <a:spcPts val="2062"/>
              </a:lnSpc>
            </a:pPr>
            <a:r>
              <a:rPr lang="en-US" b="1" dirty="0">
                <a:solidFill>
                  <a:srgbClr val="435D74"/>
                </a:solidFill>
                <a:latin typeface="Roboto"/>
                <a:ea typeface="Roboto"/>
                <a:cs typeface="Roboto"/>
              </a:rPr>
              <a:t>Ali Omar</a:t>
            </a:r>
          </a:p>
          <a:p>
            <a:pPr>
              <a:lnSpc>
                <a:spcPts val="2062"/>
              </a:lnSpc>
            </a:pPr>
            <a:r>
              <a:rPr lang="en-US" b="1" dirty="0">
                <a:solidFill>
                  <a:srgbClr val="435D74"/>
                </a:solidFill>
                <a:latin typeface="Roboto"/>
                <a:ea typeface="Roboto"/>
                <a:cs typeface="Roboto"/>
              </a:rPr>
              <a:t>Abdallah </a:t>
            </a:r>
            <a:r>
              <a:rPr lang="en-US" b="1" dirty="0" err="1">
                <a:solidFill>
                  <a:srgbClr val="435D74"/>
                </a:solidFill>
                <a:latin typeface="Roboto"/>
                <a:ea typeface="Roboto"/>
                <a:cs typeface="Roboto"/>
              </a:rPr>
              <a:t>Mestrah</a:t>
            </a:r>
            <a:endParaRPr lang="en-US" dirty="0"/>
          </a:p>
        </p:txBody>
      </p:sp>
      <p:sp>
        <p:nvSpPr>
          <p:cNvPr id="35" name="Panel">
            <a:extLst>
              <a:ext uri="{FF2B5EF4-FFF2-40B4-BE49-F238E27FC236}">
                <a16:creationId xmlns:a16="http://schemas.microsoft.com/office/drawing/2014/main" id="{A08C94ED-0C92-6B83-8183-682E3C7A682D}"/>
              </a:ext>
            </a:extLst>
          </p:cNvPr>
          <p:cNvSpPr/>
          <p:nvPr/>
        </p:nvSpPr>
        <p:spPr>
          <a:xfrm>
            <a:off x="212222" y="3632894"/>
            <a:ext cx="1691503" cy="749714"/>
          </a:xfrm>
          <a:prstGeom prst="roundRect">
            <a:avLst>
              <a:gd name="adj" fmla="val 10000"/>
            </a:avLst>
          </a:prstGeom>
          <a:solidFill>
            <a:srgbClr val="F3F6F8"/>
          </a:solidFill>
          <a:ln w="9525">
            <a:noFill/>
          </a:ln>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a:lstStyle>
          <a:p>
            <a:pPr>
              <a:lnSpc>
                <a:spcPts val="2062"/>
              </a:lnSpc>
            </a:pPr>
            <a:r>
              <a:rPr lang="en-US" b="1" dirty="0">
                <a:solidFill>
                  <a:srgbClr val="435D74"/>
                </a:solidFill>
                <a:latin typeface="Roboto"/>
                <a:ea typeface="Roboto"/>
                <a:cs typeface="Roboto"/>
              </a:rPr>
              <a:t>Supervisor: </a:t>
            </a:r>
            <a:br>
              <a:rPr lang="en-US" b="1" dirty="0">
                <a:solidFill>
                  <a:srgbClr val="435D74"/>
                </a:solidFill>
                <a:latin typeface="Roboto"/>
                <a:ea typeface="Roboto"/>
                <a:cs typeface="Roboto"/>
              </a:rPr>
            </a:br>
            <a:r>
              <a:rPr lang="en-US" b="1" dirty="0">
                <a:solidFill>
                  <a:srgbClr val="435D74"/>
                </a:solidFill>
                <a:latin typeface="Roboto"/>
                <a:ea typeface="Roboto"/>
                <a:cs typeface="Roboto"/>
              </a:rPr>
              <a:t>Dr. Ali Jaber</a:t>
            </a:r>
            <a:endParaRPr lang="en-US" dirty="0"/>
          </a:p>
        </p:txBody>
      </p:sp>
      <p:pic>
        <p:nvPicPr>
          <p:cNvPr id="37" name="Picture 36">
            <a:extLst>
              <a:ext uri="{FF2B5EF4-FFF2-40B4-BE49-F238E27FC236}">
                <a16:creationId xmlns:a16="http://schemas.microsoft.com/office/drawing/2014/main" id="{FDDF18D1-394C-9D32-9BDE-7DFEFB2BDB59}"/>
              </a:ext>
            </a:extLst>
          </p:cNvPr>
          <p:cNvPicPr>
            <a:picLocks noChangeAspect="1"/>
          </p:cNvPicPr>
          <p:nvPr/>
        </p:nvPicPr>
        <p:blipFill>
          <a:blip r:embed="rId3"/>
          <a:stretch>
            <a:fillRect/>
          </a:stretch>
        </p:blipFill>
        <p:spPr>
          <a:xfrm>
            <a:off x="-1" y="141634"/>
            <a:ext cx="1378821" cy="136897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name="The data science life cycle">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The data science life cycle</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algn="r">
              <a:lnSpc>
                <a:spcPts val="1031"/>
              </a:lnSpc>
            </a:pPr>
            <a:r>
              <a:rPr lang="en-US" sz="825" b="0" dirty="0">
                <a:solidFill>
                  <a:srgbClr val="6D8495"/>
                </a:solidFill>
                <a:latin typeface="Roboto"/>
                <a:ea typeface="Roboto"/>
                <a:cs typeface="Roboto"/>
              </a:rPr>
              <a:t>02 </a:t>
            </a:r>
            <a:r>
              <a:rPr lang="en-US" sz="825" dirty="0">
                <a:solidFill>
                  <a:srgbClr val="6D8495"/>
                </a:solidFill>
                <a:latin typeface="Roboto"/>
                <a:ea typeface="Roboto"/>
                <a:cs typeface="Roboto"/>
              </a:rPr>
              <a:t>/ 14</a:t>
            </a:r>
            <a:endParaRPr lang="en-US" sz="825" dirty="0"/>
          </a:p>
        </p:txBody>
      </p:sp>
      <p:cxnSp>
        <p:nvCxnSpPr>
          <p:cNvPr id="7" name="Connector"/>
          <p:cNvCxnSpPr/>
          <p:nvPr/>
        </p:nvCxnSpPr>
        <p:spPr>
          <a:xfrm>
            <a:off x="2000250" y="1876425"/>
            <a:ext cx="2047875" cy="95"/>
          </a:xfrm>
          <a:prstGeom prst="line">
            <a:avLst/>
          </a:prstGeom>
          <a:ln w="19050">
            <a:solidFill>
              <a:srgbClr val="869FB2"/>
            </a:solidFill>
            <a:tailEnd type="triangle" w="sm" len="sm"/>
          </a:ln>
        </p:spPr>
      </p:cxnSp>
      <p:cxnSp>
        <p:nvCxnSpPr>
          <p:cNvPr id="8" name="Connector"/>
          <p:cNvCxnSpPr/>
          <p:nvPr/>
        </p:nvCxnSpPr>
        <p:spPr>
          <a:xfrm>
            <a:off x="5000625" y="1876425"/>
            <a:ext cx="2047875" cy="95"/>
          </a:xfrm>
          <a:prstGeom prst="line">
            <a:avLst/>
          </a:prstGeom>
          <a:ln w="19050">
            <a:solidFill>
              <a:srgbClr val="869FB2"/>
            </a:solidFill>
            <a:tailEnd type="triangle" w="sm" len="sm"/>
          </a:ln>
        </p:spPr>
      </p:cxnSp>
      <p:sp>
        <p:nvSpPr>
          <p:cNvPr id="9" name="Vector"/>
          <p:cNvSpPr/>
          <p:nvPr/>
        </p:nvSpPr>
        <p:spPr>
          <a:xfrm>
            <a:off x="6477000" y="1876425"/>
            <a:ext cx="2333625" cy="1123950"/>
          </a:xfrm>
          <a:custGeom>
            <a:avLst/>
            <a:gdLst/>
            <a:ahLst/>
            <a:cxnLst/>
            <a:rect l="l" t="t" r="r" b="b"/>
            <a:pathLst>
              <a:path w="2333625" h="1123950">
                <a:moveTo>
                  <a:pt x="1524000" y="0"/>
                </a:moveTo>
                <a:lnTo>
                  <a:pt x="2333625" y="0"/>
                </a:lnTo>
                <a:lnTo>
                  <a:pt x="2333625" y="1123950"/>
                </a:lnTo>
                <a:lnTo>
                  <a:pt x="0" y="1123950"/>
                </a:lnTo>
              </a:path>
            </a:pathLst>
          </a:custGeom>
          <a:noFill/>
          <a:ln w="19050" cap="rnd">
            <a:solidFill>
              <a:srgbClr val="869FB2"/>
            </a:solidFill>
            <a:round/>
          </a:ln>
        </p:spPr>
        <p:txBody>
          <a:bodyPr/>
          <a:lstStyle/>
          <a:p>
            <a:endParaRPr lang="en-US"/>
          </a:p>
        </p:txBody>
      </p:sp>
      <p:cxnSp>
        <p:nvCxnSpPr>
          <p:cNvPr id="10" name="Connector"/>
          <p:cNvCxnSpPr/>
          <p:nvPr/>
        </p:nvCxnSpPr>
        <p:spPr>
          <a:xfrm flipH="1">
            <a:off x="6477000" y="3000375"/>
            <a:ext cx="190500" cy="95"/>
          </a:xfrm>
          <a:prstGeom prst="line">
            <a:avLst/>
          </a:prstGeom>
          <a:ln w="19050">
            <a:solidFill>
              <a:srgbClr val="869FB2"/>
            </a:solidFill>
            <a:tailEnd type="triangle" w="sm" len="sm"/>
          </a:ln>
        </p:spPr>
      </p:cxnSp>
      <p:cxnSp>
        <p:nvCxnSpPr>
          <p:cNvPr id="11" name="Connector"/>
          <p:cNvCxnSpPr/>
          <p:nvPr/>
        </p:nvCxnSpPr>
        <p:spPr>
          <a:xfrm flipH="1">
            <a:off x="3524250" y="3000375"/>
            <a:ext cx="2000250" cy="95"/>
          </a:xfrm>
          <a:prstGeom prst="line">
            <a:avLst/>
          </a:prstGeom>
          <a:ln w="19050">
            <a:solidFill>
              <a:srgbClr val="869FB2"/>
            </a:solidFill>
            <a:tailEnd type="triangle" w="sm" len="sm"/>
          </a:ln>
        </p:spPr>
      </p:cxnSp>
      <p:sp>
        <p:nvSpPr>
          <p:cNvPr id="12" name="Vector"/>
          <p:cNvSpPr/>
          <p:nvPr/>
        </p:nvSpPr>
        <p:spPr>
          <a:xfrm>
            <a:off x="285750" y="1876425"/>
            <a:ext cx="2286000" cy="1123950"/>
          </a:xfrm>
          <a:custGeom>
            <a:avLst/>
            <a:gdLst/>
            <a:ahLst/>
            <a:cxnLst/>
            <a:rect l="l" t="t" r="r" b="b"/>
            <a:pathLst>
              <a:path w="2286000" h="1123950">
                <a:moveTo>
                  <a:pt x="2286000" y="1123950"/>
                </a:moveTo>
                <a:lnTo>
                  <a:pt x="0" y="1123950"/>
                </a:lnTo>
                <a:lnTo>
                  <a:pt x="0" y="0"/>
                </a:lnTo>
                <a:lnTo>
                  <a:pt x="762000" y="0"/>
                </a:lnTo>
              </a:path>
            </a:pathLst>
          </a:custGeom>
          <a:noFill/>
          <a:ln w="19050" cap="rnd">
            <a:solidFill>
              <a:srgbClr val="869FB2"/>
            </a:solidFill>
            <a:round/>
          </a:ln>
        </p:spPr>
        <p:txBody>
          <a:bodyPr/>
          <a:lstStyle/>
          <a:p>
            <a:endParaRPr lang="en-US"/>
          </a:p>
        </p:txBody>
      </p:sp>
      <p:cxnSp>
        <p:nvCxnSpPr>
          <p:cNvPr id="13" name="Connector"/>
          <p:cNvCxnSpPr/>
          <p:nvPr/>
        </p:nvCxnSpPr>
        <p:spPr>
          <a:xfrm>
            <a:off x="857250" y="1876425"/>
            <a:ext cx="190500" cy="95"/>
          </a:xfrm>
          <a:prstGeom prst="line">
            <a:avLst/>
          </a:prstGeom>
          <a:ln w="19050">
            <a:solidFill>
              <a:srgbClr val="869FB2"/>
            </a:solidFill>
            <a:tailEnd type="triangle" w="sm" len="sm"/>
          </a:ln>
        </p:spPr>
      </p:cxnSp>
      <p:sp>
        <p:nvSpPr>
          <p:cNvPr id="14" name="Circle"/>
          <p:cNvSpPr/>
          <p:nvPr/>
        </p:nvSpPr>
        <p:spPr>
          <a:xfrm>
            <a:off x="1114425" y="1466850"/>
            <a:ext cx="819150" cy="819150"/>
          </a:xfrm>
          <a:prstGeom prst="ellipse">
            <a:avLst/>
          </a:prstGeom>
          <a:solidFill>
            <a:srgbClr val="F3F6F8"/>
          </a:solidFill>
          <a:ln w="9525">
            <a:noFill/>
          </a:ln>
        </p:spPr>
        <p:txBody>
          <a:bodyPr/>
          <a:lstStyle/>
          <a:p>
            <a:endParaRPr lang="en-US"/>
          </a:p>
        </p:txBody>
      </p:sp>
      <p:grpSp>
        <p:nvGrpSpPr>
          <p:cNvPr id="15" name="Slidesgo vector icon"/>
          <p:cNvGrpSpPr/>
          <p:nvPr/>
        </p:nvGrpSpPr>
        <p:grpSpPr>
          <a:xfrm>
            <a:off x="1323975" y="1676400"/>
            <a:ext cx="400050" cy="398070"/>
            <a:chOff x="-63679950" y="3360375"/>
            <a:chExt cx="318225" cy="316650"/>
          </a:xfrm>
        </p:grpSpPr>
        <p:sp>
          <p:nvSpPr>
            <p:cNvPr id="16" name="Slidesgo vector icon"/>
            <p:cNvSpPr/>
            <p:nvPr/>
          </p:nvSpPr>
          <p:spPr>
            <a:xfrm>
              <a:off x="-63497200" y="3423400"/>
              <a:ext cx="40975" cy="40975"/>
            </a:xfrm>
            <a:custGeom>
              <a:avLst/>
              <a:gdLst/>
              <a:ahLst/>
              <a:cxnLst/>
              <a:rect l="l" t="t" r="r" b="b"/>
              <a:pathLst>
                <a:path w="1639" h="1639" extrusionOk="0">
                  <a:moveTo>
                    <a:pt x="819" y="0"/>
                  </a:moveTo>
                  <a:cubicBezTo>
                    <a:pt x="378" y="0"/>
                    <a:pt x="0" y="378"/>
                    <a:pt x="0" y="819"/>
                  </a:cubicBezTo>
                  <a:cubicBezTo>
                    <a:pt x="0" y="1260"/>
                    <a:pt x="378" y="1638"/>
                    <a:pt x="819" y="1638"/>
                  </a:cubicBezTo>
                  <a:cubicBezTo>
                    <a:pt x="1260" y="1638"/>
                    <a:pt x="1638" y="1260"/>
                    <a:pt x="1638" y="819"/>
                  </a:cubicBezTo>
                  <a:cubicBezTo>
                    <a:pt x="1638" y="378"/>
                    <a:pt x="1260" y="0"/>
                    <a:pt x="819"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Slidesgo vector icon"/>
            <p:cNvSpPr/>
            <p:nvPr/>
          </p:nvSpPr>
          <p:spPr>
            <a:xfrm>
              <a:off x="-63516900" y="3485625"/>
              <a:ext cx="79575" cy="29950"/>
            </a:xfrm>
            <a:custGeom>
              <a:avLst/>
              <a:gdLst/>
              <a:ahLst/>
              <a:cxnLst/>
              <a:rect l="l" t="t" r="r" b="b"/>
              <a:pathLst>
                <a:path w="3183" h="1198" extrusionOk="0">
                  <a:moveTo>
                    <a:pt x="1607" y="0"/>
                  </a:moveTo>
                  <a:cubicBezTo>
                    <a:pt x="820" y="0"/>
                    <a:pt x="190" y="504"/>
                    <a:pt x="1" y="1197"/>
                  </a:cubicBezTo>
                  <a:lnTo>
                    <a:pt x="3183" y="1197"/>
                  </a:lnTo>
                  <a:cubicBezTo>
                    <a:pt x="3025" y="504"/>
                    <a:pt x="2395" y="0"/>
                    <a:pt x="160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Slidesgo vector icon"/>
            <p:cNvSpPr/>
            <p:nvPr/>
          </p:nvSpPr>
          <p:spPr>
            <a:xfrm>
              <a:off x="-63618500" y="3360375"/>
              <a:ext cx="256775" cy="256600"/>
            </a:xfrm>
            <a:custGeom>
              <a:avLst/>
              <a:gdLst/>
              <a:ahLst/>
              <a:cxnLst/>
              <a:rect l="l" t="t" r="r" b="b"/>
              <a:pathLst>
                <a:path w="10271" h="10264" extrusionOk="0">
                  <a:moveTo>
                    <a:pt x="5703" y="1639"/>
                  </a:moveTo>
                  <a:cubicBezTo>
                    <a:pt x="6616" y="1639"/>
                    <a:pt x="7373" y="2395"/>
                    <a:pt x="7373" y="3309"/>
                  </a:cubicBezTo>
                  <a:cubicBezTo>
                    <a:pt x="7373" y="3750"/>
                    <a:pt x="7215" y="4128"/>
                    <a:pt x="6900" y="4443"/>
                  </a:cubicBezTo>
                  <a:cubicBezTo>
                    <a:pt x="7625" y="4884"/>
                    <a:pt x="8192" y="5672"/>
                    <a:pt x="8192" y="6617"/>
                  </a:cubicBezTo>
                  <a:cubicBezTo>
                    <a:pt x="8160" y="6900"/>
                    <a:pt x="8003" y="7058"/>
                    <a:pt x="7751" y="7058"/>
                  </a:cubicBezTo>
                  <a:lnTo>
                    <a:pt x="3623" y="7058"/>
                  </a:lnTo>
                  <a:cubicBezTo>
                    <a:pt x="3371" y="7058"/>
                    <a:pt x="3214" y="6837"/>
                    <a:pt x="3214" y="6617"/>
                  </a:cubicBezTo>
                  <a:cubicBezTo>
                    <a:pt x="3214" y="5672"/>
                    <a:pt x="3749" y="4884"/>
                    <a:pt x="4537" y="4443"/>
                  </a:cubicBezTo>
                  <a:cubicBezTo>
                    <a:pt x="4254" y="4128"/>
                    <a:pt x="4065" y="3718"/>
                    <a:pt x="4065" y="3309"/>
                  </a:cubicBezTo>
                  <a:cubicBezTo>
                    <a:pt x="4065" y="2395"/>
                    <a:pt x="4789" y="1639"/>
                    <a:pt x="5703" y="1639"/>
                  </a:cubicBezTo>
                  <a:close/>
                  <a:moveTo>
                    <a:pt x="5703" y="1"/>
                  </a:moveTo>
                  <a:cubicBezTo>
                    <a:pt x="3182" y="1"/>
                    <a:pt x="1135" y="2049"/>
                    <a:pt x="1135" y="4569"/>
                  </a:cubicBezTo>
                  <a:cubicBezTo>
                    <a:pt x="1135" y="5609"/>
                    <a:pt x="1481" y="6648"/>
                    <a:pt x="2206" y="7467"/>
                  </a:cubicBezTo>
                  <a:lnTo>
                    <a:pt x="1607" y="8066"/>
                  </a:lnTo>
                  <a:lnTo>
                    <a:pt x="756" y="7184"/>
                  </a:lnTo>
                  <a:cubicBezTo>
                    <a:pt x="678" y="7121"/>
                    <a:pt x="567" y="7089"/>
                    <a:pt x="457" y="7089"/>
                  </a:cubicBezTo>
                  <a:cubicBezTo>
                    <a:pt x="347" y="7089"/>
                    <a:pt x="237" y="7121"/>
                    <a:pt x="158" y="7184"/>
                  </a:cubicBezTo>
                  <a:cubicBezTo>
                    <a:pt x="0" y="7341"/>
                    <a:pt x="0" y="7625"/>
                    <a:pt x="158" y="7783"/>
                  </a:cubicBezTo>
                  <a:lnTo>
                    <a:pt x="1324" y="8980"/>
                  </a:lnTo>
                  <a:lnTo>
                    <a:pt x="2521" y="10145"/>
                  </a:lnTo>
                  <a:cubicBezTo>
                    <a:pt x="2600" y="10224"/>
                    <a:pt x="2710" y="10264"/>
                    <a:pt x="2820" y="10264"/>
                  </a:cubicBezTo>
                  <a:cubicBezTo>
                    <a:pt x="2930" y="10264"/>
                    <a:pt x="3041" y="10224"/>
                    <a:pt x="3119" y="10145"/>
                  </a:cubicBezTo>
                  <a:cubicBezTo>
                    <a:pt x="3277" y="9988"/>
                    <a:pt x="3277" y="9704"/>
                    <a:pt x="3119" y="9547"/>
                  </a:cubicBezTo>
                  <a:lnTo>
                    <a:pt x="2237" y="8696"/>
                  </a:lnTo>
                  <a:lnTo>
                    <a:pt x="2836" y="8098"/>
                  </a:lnTo>
                  <a:cubicBezTo>
                    <a:pt x="3655" y="8759"/>
                    <a:pt x="4695" y="9169"/>
                    <a:pt x="5734" y="9169"/>
                  </a:cubicBezTo>
                  <a:cubicBezTo>
                    <a:pt x="8255" y="9169"/>
                    <a:pt x="10271" y="7121"/>
                    <a:pt x="10271" y="4632"/>
                  </a:cubicBezTo>
                  <a:cubicBezTo>
                    <a:pt x="10239" y="2049"/>
                    <a:pt x="8223" y="1"/>
                    <a:pt x="570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Slidesgo vector icon"/>
            <p:cNvSpPr/>
            <p:nvPr/>
          </p:nvSpPr>
          <p:spPr>
            <a:xfrm>
              <a:off x="-63679950" y="3576200"/>
              <a:ext cx="102425" cy="100825"/>
            </a:xfrm>
            <a:custGeom>
              <a:avLst/>
              <a:gdLst/>
              <a:ahLst/>
              <a:cxnLst/>
              <a:rect l="l" t="t" r="r" b="b"/>
              <a:pathLst>
                <a:path w="4097" h="4033" extrusionOk="0">
                  <a:moveTo>
                    <a:pt x="2332" y="0"/>
                  </a:moveTo>
                  <a:lnTo>
                    <a:pt x="159" y="2142"/>
                  </a:lnTo>
                  <a:cubicBezTo>
                    <a:pt x="1" y="2300"/>
                    <a:pt x="1" y="2584"/>
                    <a:pt x="159" y="2741"/>
                  </a:cubicBezTo>
                  <a:lnTo>
                    <a:pt x="1356" y="3938"/>
                  </a:lnTo>
                  <a:cubicBezTo>
                    <a:pt x="1434" y="4001"/>
                    <a:pt x="1545" y="4033"/>
                    <a:pt x="1655" y="4033"/>
                  </a:cubicBezTo>
                  <a:cubicBezTo>
                    <a:pt x="1765" y="4033"/>
                    <a:pt x="1876" y="4001"/>
                    <a:pt x="1954" y="3938"/>
                  </a:cubicBezTo>
                  <a:lnTo>
                    <a:pt x="4097" y="1764"/>
                  </a:lnTo>
                  <a:lnTo>
                    <a:pt x="2332"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0" name="Text"/>
          <p:cNvSpPr txBox="1"/>
          <p:nvPr/>
        </p:nvSpPr>
        <p:spPr>
          <a:xfrm>
            <a:off x="495300" y="2381250"/>
            <a:ext cx="2057400" cy="638175"/>
          </a:xfrm>
          <a:prstGeom prst="rect">
            <a:avLst/>
          </a:prstGeom>
          <a:noFill/>
          <a:ln w="9525">
            <a:noFill/>
          </a:ln>
        </p:spPr>
        <p:txBody>
          <a:bodyPr wrap="none" lIns="0" tIns="0" rIns="0" bIns="0" anchor="t">
            <a:noAutofit/>
          </a:bodyPr>
          <a:lstStyle/>
          <a:p>
            <a:pPr marL="0" indent="0" algn="ctr">
              <a:lnSpc>
                <a:spcPts val="2438"/>
              </a:lnSpc>
              <a:spcAft>
                <a:spcPts val="0"/>
              </a:spcAft>
              <a:buNone/>
            </a:pPr>
            <a:r>
              <a:rPr lang="en-US" sz="1950" b="1">
                <a:solidFill>
                  <a:srgbClr val="435D74"/>
                </a:solidFill>
                <a:latin typeface="Fira Sans Extra Condensed"/>
                <a:ea typeface="Fira Sans Extra Condensed"/>
                <a:cs typeface="Fira Sans Extra Condensed"/>
              </a:rPr>
              <a:t>Understand</a:t>
            </a:r>
            <a:endParaRPr lang="en-US" sz="1950"/>
          </a:p>
          <a:p>
            <a:pPr marL="0" indent="0" algn="ctr">
              <a:lnSpc>
                <a:spcPts val="2438"/>
              </a:lnSpc>
              <a:spcAft>
                <a:spcPts val="0"/>
              </a:spcAft>
              <a:buNone/>
            </a:pPr>
            <a:r>
              <a:rPr lang="en-US" sz="1950" b="1">
                <a:solidFill>
                  <a:srgbClr val="435D74"/>
                </a:solidFill>
                <a:latin typeface="Fira Sans Extra Condensed"/>
                <a:ea typeface="Fira Sans Extra Condensed"/>
                <a:cs typeface="Fira Sans Extra Condensed"/>
              </a:rPr>
              <a:t>the problem</a:t>
            </a:r>
            <a:endParaRPr lang="en-US" sz="1950"/>
          </a:p>
        </p:txBody>
      </p:sp>
      <p:sp>
        <p:nvSpPr>
          <p:cNvPr id="21" name="Circle"/>
          <p:cNvSpPr/>
          <p:nvPr/>
        </p:nvSpPr>
        <p:spPr>
          <a:xfrm>
            <a:off x="4114800" y="1466850"/>
            <a:ext cx="819150" cy="819150"/>
          </a:xfrm>
          <a:prstGeom prst="ellipse">
            <a:avLst/>
          </a:prstGeom>
          <a:solidFill>
            <a:srgbClr val="F3F6F8"/>
          </a:solidFill>
          <a:ln w="9525">
            <a:noFill/>
          </a:ln>
        </p:spPr>
        <p:txBody>
          <a:bodyPr/>
          <a:lstStyle/>
          <a:p>
            <a:endParaRPr lang="en-US"/>
          </a:p>
        </p:txBody>
      </p:sp>
      <p:grpSp>
        <p:nvGrpSpPr>
          <p:cNvPr id="22" name="Slidesgo vector icon"/>
          <p:cNvGrpSpPr/>
          <p:nvPr/>
        </p:nvGrpSpPr>
        <p:grpSpPr>
          <a:xfrm>
            <a:off x="4324350" y="1676400"/>
            <a:ext cx="400050" cy="400061"/>
            <a:chOff x="-2571737" y="2403625"/>
            <a:chExt cx="292225" cy="291425"/>
          </a:xfrm>
        </p:grpSpPr>
        <p:sp>
          <p:nvSpPr>
            <p:cNvPr id="23" name="Slidesgo vector icon"/>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Slidesgo vector icon"/>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Slidesgo vector icon"/>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Slidesgo vector icon"/>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Slidesgo vector icon"/>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Slidesgo vector icon"/>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Slidesgo vector icon"/>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0" name="Text"/>
          <p:cNvSpPr txBox="1"/>
          <p:nvPr/>
        </p:nvSpPr>
        <p:spPr>
          <a:xfrm>
            <a:off x="3495675" y="2381250"/>
            <a:ext cx="2057400" cy="638175"/>
          </a:xfrm>
          <a:prstGeom prst="rect">
            <a:avLst/>
          </a:prstGeom>
          <a:noFill/>
          <a:ln w="9525">
            <a:noFill/>
          </a:ln>
        </p:spPr>
        <p:txBody>
          <a:bodyPr wrap="none" lIns="0" tIns="0" rIns="0" bIns="0" anchor="t">
            <a:noAutofit/>
          </a:bodyPr>
          <a:lstStyle/>
          <a:p>
            <a:pPr marL="0" indent="0" algn="ctr">
              <a:lnSpc>
                <a:spcPts val="2438"/>
              </a:lnSpc>
              <a:spcAft>
                <a:spcPts val="0"/>
              </a:spcAft>
              <a:buNone/>
            </a:pPr>
            <a:r>
              <a:rPr lang="en-US" sz="1950" b="1">
                <a:solidFill>
                  <a:srgbClr val="435D74"/>
                </a:solidFill>
                <a:latin typeface="Fira Sans Extra Condensed"/>
                <a:ea typeface="Fira Sans Extra Condensed"/>
                <a:cs typeface="Fira Sans Extra Condensed"/>
              </a:rPr>
              <a:t>Prepare</a:t>
            </a:r>
            <a:endParaRPr lang="en-US" sz="1950"/>
          </a:p>
          <a:p>
            <a:pPr marL="0" indent="0" algn="ctr">
              <a:lnSpc>
                <a:spcPts val="2438"/>
              </a:lnSpc>
              <a:spcAft>
                <a:spcPts val="0"/>
              </a:spcAft>
              <a:buNone/>
            </a:pPr>
            <a:r>
              <a:rPr lang="en-US" sz="1950" b="1">
                <a:solidFill>
                  <a:srgbClr val="435D74"/>
                </a:solidFill>
                <a:latin typeface="Fira Sans Extra Condensed"/>
                <a:ea typeface="Fira Sans Extra Condensed"/>
                <a:cs typeface="Fira Sans Extra Condensed"/>
              </a:rPr>
              <a:t>the data</a:t>
            </a:r>
            <a:endParaRPr lang="en-US" sz="1950"/>
          </a:p>
        </p:txBody>
      </p:sp>
      <p:sp>
        <p:nvSpPr>
          <p:cNvPr id="31" name="Circle"/>
          <p:cNvSpPr/>
          <p:nvPr/>
        </p:nvSpPr>
        <p:spPr>
          <a:xfrm>
            <a:off x="7115175" y="1466850"/>
            <a:ext cx="819150" cy="819150"/>
          </a:xfrm>
          <a:prstGeom prst="ellipse">
            <a:avLst/>
          </a:prstGeom>
          <a:solidFill>
            <a:srgbClr val="F3F6F8"/>
          </a:solidFill>
          <a:ln w="9525">
            <a:noFill/>
          </a:ln>
        </p:spPr>
        <p:txBody>
          <a:bodyPr/>
          <a:lstStyle/>
          <a:p>
            <a:endParaRPr lang="en-US"/>
          </a:p>
        </p:txBody>
      </p:sp>
      <p:grpSp>
        <p:nvGrpSpPr>
          <p:cNvPr id="32" name="Slidesgo vector icon"/>
          <p:cNvGrpSpPr/>
          <p:nvPr/>
        </p:nvGrpSpPr>
        <p:grpSpPr>
          <a:xfrm>
            <a:off x="7324725" y="1676400"/>
            <a:ext cx="400050" cy="400040"/>
            <a:chOff x="1412450" y="1954475"/>
            <a:chExt cx="297750" cy="296175"/>
          </a:xfrm>
        </p:grpSpPr>
        <p:sp>
          <p:nvSpPr>
            <p:cNvPr id="33" name="Slidesgo vector icon"/>
            <p:cNvSpPr/>
            <p:nvPr/>
          </p:nvSpPr>
          <p:spPr>
            <a:xfrm>
              <a:off x="1483350" y="2023800"/>
              <a:ext cx="155975" cy="155975"/>
            </a:xfrm>
            <a:custGeom>
              <a:avLst/>
              <a:gdLst/>
              <a:ahLst/>
              <a:cxnLst/>
              <a:rect l="l" t="t" r="r" b="b"/>
              <a:pathLst>
                <a:path w="6239" h="6239" extrusionOk="0">
                  <a:moveTo>
                    <a:pt x="3119" y="2079"/>
                  </a:moveTo>
                  <a:cubicBezTo>
                    <a:pt x="3529" y="2079"/>
                    <a:pt x="3844" y="2395"/>
                    <a:pt x="3844" y="2773"/>
                  </a:cubicBezTo>
                  <a:cubicBezTo>
                    <a:pt x="3844" y="3182"/>
                    <a:pt x="3529" y="3497"/>
                    <a:pt x="3119" y="3497"/>
                  </a:cubicBezTo>
                  <a:cubicBezTo>
                    <a:pt x="2741" y="3497"/>
                    <a:pt x="2426" y="3182"/>
                    <a:pt x="2426" y="2773"/>
                  </a:cubicBezTo>
                  <a:cubicBezTo>
                    <a:pt x="2426" y="2395"/>
                    <a:pt x="2741" y="2079"/>
                    <a:pt x="3119" y="2079"/>
                  </a:cubicBezTo>
                  <a:close/>
                  <a:moveTo>
                    <a:pt x="3119" y="725"/>
                  </a:moveTo>
                  <a:cubicBezTo>
                    <a:pt x="4474" y="725"/>
                    <a:pt x="5577" y="1827"/>
                    <a:pt x="5577" y="3182"/>
                  </a:cubicBezTo>
                  <a:cubicBezTo>
                    <a:pt x="5577" y="3686"/>
                    <a:pt x="5388" y="4159"/>
                    <a:pt x="5136" y="4537"/>
                  </a:cubicBezTo>
                  <a:cubicBezTo>
                    <a:pt x="4884" y="4190"/>
                    <a:pt x="4537" y="3907"/>
                    <a:pt x="4191" y="3718"/>
                  </a:cubicBezTo>
                  <a:cubicBezTo>
                    <a:pt x="4411" y="3497"/>
                    <a:pt x="4537" y="3182"/>
                    <a:pt x="4537" y="2804"/>
                  </a:cubicBezTo>
                  <a:cubicBezTo>
                    <a:pt x="4537" y="2079"/>
                    <a:pt x="3907" y="1449"/>
                    <a:pt x="3151" y="1449"/>
                  </a:cubicBezTo>
                  <a:cubicBezTo>
                    <a:pt x="2426" y="1449"/>
                    <a:pt x="1796" y="2079"/>
                    <a:pt x="1796" y="2804"/>
                  </a:cubicBezTo>
                  <a:cubicBezTo>
                    <a:pt x="1796" y="3182"/>
                    <a:pt x="1891" y="3497"/>
                    <a:pt x="2143" y="3718"/>
                  </a:cubicBezTo>
                  <a:cubicBezTo>
                    <a:pt x="1733" y="3907"/>
                    <a:pt x="1418" y="4190"/>
                    <a:pt x="1198" y="4537"/>
                  </a:cubicBezTo>
                  <a:cubicBezTo>
                    <a:pt x="914" y="4159"/>
                    <a:pt x="756" y="3686"/>
                    <a:pt x="756" y="3182"/>
                  </a:cubicBezTo>
                  <a:cubicBezTo>
                    <a:pt x="662" y="1796"/>
                    <a:pt x="1796" y="725"/>
                    <a:pt x="3119" y="725"/>
                  </a:cubicBezTo>
                  <a:close/>
                  <a:moveTo>
                    <a:pt x="3119" y="4190"/>
                  </a:moveTo>
                  <a:cubicBezTo>
                    <a:pt x="3749" y="4190"/>
                    <a:pt x="4317" y="4505"/>
                    <a:pt x="4632" y="5041"/>
                  </a:cubicBezTo>
                  <a:cubicBezTo>
                    <a:pt x="4222" y="5387"/>
                    <a:pt x="3686" y="5577"/>
                    <a:pt x="3119" y="5577"/>
                  </a:cubicBezTo>
                  <a:cubicBezTo>
                    <a:pt x="2584" y="5577"/>
                    <a:pt x="2017" y="5387"/>
                    <a:pt x="1639" y="5041"/>
                  </a:cubicBezTo>
                  <a:cubicBezTo>
                    <a:pt x="1954" y="4505"/>
                    <a:pt x="2489" y="4190"/>
                    <a:pt x="3119" y="4190"/>
                  </a:cubicBezTo>
                  <a:close/>
                  <a:moveTo>
                    <a:pt x="3119" y="0"/>
                  </a:moveTo>
                  <a:cubicBezTo>
                    <a:pt x="1387" y="0"/>
                    <a:pt x="0" y="1418"/>
                    <a:pt x="0" y="3119"/>
                  </a:cubicBezTo>
                  <a:cubicBezTo>
                    <a:pt x="0" y="4852"/>
                    <a:pt x="1387" y="6238"/>
                    <a:pt x="3119" y="6238"/>
                  </a:cubicBezTo>
                  <a:cubicBezTo>
                    <a:pt x="4852" y="6238"/>
                    <a:pt x="6238" y="4820"/>
                    <a:pt x="6238" y="3119"/>
                  </a:cubicBezTo>
                  <a:cubicBezTo>
                    <a:pt x="6238" y="1386"/>
                    <a:pt x="4821" y="0"/>
                    <a:pt x="3119"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Slidesgo vector icon"/>
            <p:cNvSpPr/>
            <p:nvPr/>
          </p:nvSpPr>
          <p:spPr>
            <a:xfrm>
              <a:off x="1412450" y="1954475"/>
              <a:ext cx="297750" cy="296175"/>
            </a:xfrm>
            <a:custGeom>
              <a:avLst/>
              <a:gdLst/>
              <a:ahLst/>
              <a:cxnLst/>
              <a:rect l="l" t="t" r="r" b="b"/>
              <a:pathLst>
                <a:path w="11910" h="11847" extrusionOk="0">
                  <a:moveTo>
                    <a:pt x="6365" y="662"/>
                  </a:moveTo>
                  <a:lnTo>
                    <a:pt x="6522" y="1513"/>
                  </a:lnTo>
                  <a:cubicBezTo>
                    <a:pt x="6554" y="1702"/>
                    <a:pt x="6617" y="1765"/>
                    <a:pt x="6774" y="1797"/>
                  </a:cubicBezTo>
                  <a:cubicBezTo>
                    <a:pt x="7342" y="1923"/>
                    <a:pt x="7814" y="2112"/>
                    <a:pt x="8287" y="2427"/>
                  </a:cubicBezTo>
                  <a:cubicBezTo>
                    <a:pt x="8350" y="2474"/>
                    <a:pt x="8421" y="2498"/>
                    <a:pt x="8488" y="2498"/>
                  </a:cubicBezTo>
                  <a:cubicBezTo>
                    <a:pt x="8554" y="2498"/>
                    <a:pt x="8618" y="2474"/>
                    <a:pt x="8665" y="2427"/>
                  </a:cubicBezTo>
                  <a:lnTo>
                    <a:pt x="9389" y="1923"/>
                  </a:lnTo>
                  <a:lnTo>
                    <a:pt x="9925" y="2490"/>
                  </a:lnTo>
                  <a:lnTo>
                    <a:pt x="9421" y="3183"/>
                  </a:lnTo>
                  <a:cubicBezTo>
                    <a:pt x="9358" y="3309"/>
                    <a:pt x="9358" y="3466"/>
                    <a:pt x="9421" y="3592"/>
                  </a:cubicBezTo>
                  <a:cubicBezTo>
                    <a:pt x="9736" y="4065"/>
                    <a:pt x="9925" y="4537"/>
                    <a:pt x="10051" y="5073"/>
                  </a:cubicBezTo>
                  <a:cubicBezTo>
                    <a:pt x="10082" y="5231"/>
                    <a:pt x="10209" y="5294"/>
                    <a:pt x="10335" y="5357"/>
                  </a:cubicBezTo>
                  <a:lnTo>
                    <a:pt x="11185" y="5514"/>
                  </a:lnTo>
                  <a:lnTo>
                    <a:pt x="11185" y="6302"/>
                  </a:lnTo>
                  <a:lnTo>
                    <a:pt x="10335" y="6459"/>
                  </a:lnTo>
                  <a:cubicBezTo>
                    <a:pt x="10177" y="6491"/>
                    <a:pt x="10082" y="6585"/>
                    <a:pt x="10051" y="6743"/>
                  </a:cubicBezTo>
                  <a:cubicBezTo>
                    <a:pt x="9925" y="7278"/>
                    <a:pt x="9736" y="7751"/>
                    <a:pt x="9421" y="8224"/>
                  </a:cubicBezTo>
                  <a:cubicBezTo>
                    <a:pt x="9358" y="8350"/>
                    <a:pt x="9358" y="8507"/>
                    <a:pt x="9421" y="8633"/>
                  </a:cubicBezTo>
                  <a:lnTo>
                    <a:pt x="9925" y="9326"/>
                  </a:lnTo>
                  <a:lnTo>
                    <a:pt x="9389" y="9893"/>
                  </a:lnTo>
                  <a:lnTo>
                    <a:pt x="8665" y="9358"/>
                  </a:lnTo>
                  <a:cubicBezTo>
                    <a:pt x="8618" y="9326"/>
                    <a:pt x="8554" y="9310"/>
                    <a:pt x="8488" y="9310"/>
                  </a:cubicBezTo>
                  <a:cubicBezTo>
                    <a:pt x="8421" y="9310"/>
                    <a:pt x="8350" y="9326"/>
                    <a:pt x="8287" y="9358"/>
                  </a:cubicBezTo>
                  <a:cubicBezTo>
                    <a:pt x="7814" y="9673"/>
                    <a:pt x="7342" y="9893"/>
                    <a:pt x="6774" y="9988"/>
                  </a:cubicBezTo>
                  <a:cubicBezTo>
                    <a:pt x="6617" y="10051"/>
                    <a:pt x="6554" y="10145"/>
                    <a:pt x="6522" y="10271"/>
                  </a:cubicBezTo>
                  <a:lnTo>
                    <a:pt x="6365" y="11153"/>
                  </a:lnTo>
                  <a:lnTo>
                    <a:pt x="5577" y="11153"/>
                  </a:lnTo>
                  <a:lnTo>
                    <a:pt x="5420" y="10271"/>
                  </a:lnTo>
                  <a:cubicBezTo>
                    <a:pt x="5357" y="10114"/>
                    <a:pt x="5294" y="10051"/>
                    <a:pt x="5136" y="9988"/>
                  </a:cubicBezTo>
                  <a:cubicBezTo>
                    <a:pt x="4569" y="9893"/>
                    <a:pt x="4097" y="9673"/>
                    <a:pt x="3624" y="9358"/>
                  </a:cubicBezTo>
                  <a:cubicBezTo>
                    <a:pt x="3561" y="9326"/>
                    <a:pt x="3498" y="9310"/>
                    <a:pt x="3435" y="9310"/>
                  </a:cubicBezTo>
                  <a:cubicBezTo>
                    <a:pt x="3372" y="9310"/>
                    <a:pt x="3309" y="9326"/>
                    <a:pt x="3246" y="9358"/>
                  </a:cubicBezTo>
                  <a:lnTo>
                    <a:pt x="2521" y="9893"/>
                  </a:lnTo>
                  <a:lnTo>
                    <a:pt x="1986" y="9326"/>
                  </a:lnTo>
                  <a:lnTo>
                    <a:pt x="2490" y="8633"/>
                  </a:lnTo>
                  <a:cubicBezTo>
                    <a:pt x="2584" y="8507"/>
                    <a:pt x="2584" y="8350"/>
                    <a:pt x="2490" y="8224"/>
                  </a:cubicBezTo>
                  <a:cubicBezTo>
                    <a:pt x="2175" y="7751"/>
                    <a:pt x="1986" y="7278"/>
                    <a:pt x="1860" y="6743"/>
                  </a:cubicBezTo>
                  <a:cubicBezTo>
                    <a:pt x="1828" y="6585"/>
                    <a:pt x="1702" y="6491"/>
                    <a:pt x="1576" y="6459"/>
                  </a:cubicBezTo>
                  <a:lnTo>
                    <a:pt x="726" y="6302"/>
                  </a:lnTo>
                  <a:lnTo>
                    <a:pt x="726" y="5514"/>
                  </a:lnTo>
                  <a:lnTo>
                    <a:pt x="1576" y="5357"/>
                  </a:lnTo>
                  <a:cubicBezTo>
                    <a:pt x="1734" y="5325"/>
                    <a:pt x="1828" y="5231"/>
                    <a:pt x="1860" y="5073"/>
                  </a:cubicBezTo>
                  <a:cubicBezTo>
                    <a:pt x="1986" y="4506"/>
                    <a:pt x="2175" y="4065"/>
                    <a:pt x="2490" y="3592"/>
                  </a:cubicBezTo>
                  <a:cubicBezTo>
                    <a:pt x="2584" y="3466"/>
                    <a:pt x="2584" y="3309"/>
                    <a:pt x="2490" y="3183"/>
                  </a:cubicBezTo>
                  <a:lnTo>
                    <a:pt x="1986" y="2490"/>
                  </a:lnTo>
                  <a:lnTo>
                    <a:pt x="2521" y="1923"/>
                  </a:lnTo>
                  <a:lnTo>
                    <a:pt x="3246" y="2427"/>
                  </a:lnTo>
                  <a:cubicBezTo>
                    <a:pt x="3309" y="2474"/>
                    <a:pt x="3372" y="2498"/>
                    <a:pt x="3435" y="2498"/>
                  </a:cubicBezTo>
                  <a:cubicBezTo>
                    <a:pt x="3498" y="2498"/>
                    <a:pt x="3561" y="2474"/>
                    <a:pt x="3624" y="2427"/>
                  </a:cubicBezTo>
                  <a:cubicBezTo>
                    <a:pt x="4097" y="2112"/>
                    <a:pt x="4569" y="1923"/>
                    <a:pt x="5136" y="1797"/>
                  </a:cubicBezTo>
                  <a:cubicBezTo>
                    <a:pt x="5294" y="1765"/>
                    <a:pt x="5357" y="1639"/>
                    <a:pt x="5420" y="1513"/>
                  </a:cubicBezTo>
                  <a:lnTo>
                    <a:pt x="5577" y="662"/>
                  </a:lnTo>
                  <a:close/>
                  <a:moveTo>
                    <a:pt x="5262" y="1"/>
                  </a:moveTo>
                  <a:cubicBezTo>
                    <a:pt x="5073" y="1"/>
                    <a:pt x="4916" y="127"/>
                    <a:pt x="4884" y="284"/>
                  </a:cubicBezTo>
                  <a:lnTo>
                    <a:pt x="4727" y="1166"/>
                  </a:lnTo>
                  <a:cubicBezTo>
                    <a:pt x="4254" y="1292"/>
                    <a:pt x="3813" y="1481"/>
                    <a:pt x="3435" y="1734"/>
                  </a:cubicBezTo>
                  <a:lnTo>
                    <a:pt x="2679" y="1229"/>
                  </a:lnTo>
                  <a:cubicBezTo>
                    <a:pt x="2610" y="1174"/>
                    <a:pt x="2541" y="1149"/>
                    <a:pt x="2474" y="1149"/>
                  </a:cubicBezTo>
                  <a:cubicBezTo>
                    <a:pt x="2389" y="1149"/>
                    <a:pt x="2309" y="1190"/>
                    <a:pt x="2238" y="1261"/>
                  </a:cubicBezTo>
                  <a:lnTo>
                    <a:pt x="1261" y="2238"/>
                  </a:lnTo>
                  <a:cubicBezTo>
                    <a:pt x="1135" y="2364"/>
                    <a:pt x="1135" y="2553"/>
                    <a:pt x="1230" y="2679"/>
                  </a:cubicBezTo>
                  <a:lnTo>
                    <a:pt x="1734" y="3435"/>
                  </a:lnTo>
                  <a:cubicBezTo>
                    <a:pt x="1513" y="3813"/>
                    <a:pt x="1324" y="4254"/>
                    <a:pt x="1198" y="4726"/>
                  </a:cubicBezTo>
                  <a:lnTo>
                    <a:pt x="284" y="4884"/>
                  </a:lnTo>
                  <a:cubicBezTo>
                    <a:pt x="127" y="4915"/>
                    <a:pt x="1" y="5042"/>
                    <a:pt x="1" y="5231"/>
                  </a:cubicBezTo>
                  <a:lnTo>
                    <a:pt x="1" y="6617"/>
                  </a:lnTo>
                  <a:cubicBezTo>
                    <a:pt x="64" y="6774"/>
                    <a:pt x="158" y="6932"/>
                    <a:pt x="316" y="6963"/>
                  </a:cubicBezTo>
                  <a:lnTo>
                    <a:pt x="1230" y="7121"/>
                  </a:lnTo>
                  <a:cubicBezTo>
                    <a:pt x="1356" y="7593"/>
                    <a:pt x="1545" y="8034"/>
                    <a:pt x="1797" y="8413"/>
                  </a:cubicBezTo>
                  <a:lnTo>
                    <a:pt x="1261" y="9169"/>
                  </a:lnTo>
                  <a:cubicBezTo>
                    <a:pt x="1167" y="9295"/>
                    <a:pt x="1198" y="9484"/>
                    <a:pt x="1324" y="9610"/>
                  </a:cubicBezTo>
                  <a:lnTo>
                    <a:pt x="2301" y="10586"/>
                  </a:lnTo>
                  <a:cubicBezTo>
                    <a:pt x="2368" y="10654"/>
                    <a:pt x="2454" y="10685"/>
                    <a:pt x="2533" y="10685"/>
                  </a:cubicBezTo>
                  <a:cubicBezTo>
                    <a:pt x="2602" y="10685"/>
                    <a:pt x="2666" y="10662"/>
                    <a:pt x="2710" y="10618"/>
                  </a:cubicBezTo>
                  <a:lnTo>
                    <a:pt x="3466" y="10114"/>
                  </a:lnTo>
                  <a:cubicBezTo>
                    <a:pt x="3876" y="10366"/>
                    <a:pt x="4286" y="10555"/>
                    <a:pt x="4790" y="10681"/>
                  </a:cubicBezTo>
                  <a:lnTo>
                    <a:pt x="4947" y="11563"/>
                  </a:lnTo>
                  <a:cubicBezTo>
                    <a:pt x="4979" y="11721"/>
                    <a:pt x="5105" y="11847"/>
                    <a:pt x="5294" y="11847"/>
                  </a:cubicBezTo>
                  <a:lnTo>
                    <a:pt x="6680" y="11847"/>
                  </a:lnTo>
                  <a:cubicBezTo>
                    <a:pt x="6837" y="11847"/>
                    <a:pt x="6995" y="11721"/>
                    <a:pt x="7027" y="11563"/>
                  </a:cubicBezTo>
                  <a:lnTo>
                    <a:pt x="7184" y="10681"/>
                  </a:lnTo>
                  <a:cubicBezTo>
                    <a:pt x="7657" y="10555"/>
                    <a:pt x="8098" y="10366"/>
                    <a:pt x="8476" y="10114"/>
                  </a:cubicBezTo>
                  <a:lnTo>
                    <a:pt x="9232" y="10618"/>
                  </a:lnTo>
                  <a:cubicBezTo>
                    <a:pt x="9301" y="10673"/>
                    <a:pt x="9370" y="10698"/>
                    <a:pt x="9436" y="10698"/>
                  </a:cubicBezTo>
                  <a:cubicBezTo>
                    <a:pt x="9521" y="10698"/>
                    <a:pt x="9602" y="10657"/>
                    <a:pt x="9673" y="10586"/>
                  </a:cubicBezTo>
                  <a:lnTo>
                    <a:pt x="10650" y="9610"/>
                  </a:lnTo>
                  <a:cubicBezTo>
                    <a:pt x="10776" y="9484"/>
                    <a:pt x="10776" y="9295"/>
                    <a:pt x="10681" y="9169"/>
                  </a:cubicBezTo>
                  <a:lnTo>
                    <a:pt x="10177" y="8413"/>
                  </a:lnTo>
                  <a:cubicBezTo>
                    <a:pt x="10398" y="8034"/>
                    <a:pt x="10618" y="7593"/>
                    <a:pt x="10713" y="7121"/>
                  </a:cubicBezTo>
                  <a:lnTo>
                    <a:pt x="11626" y="6963"/>
                  </a:lnTo>
                  <a:cubicBezTo>
                    <a:pt x="11784" y="6932"/>
                    <a:pt x="11910" y="6806"/>
                    <a:pt x="11910" y="6617"/>
                  </a:cubicBezTo>
                  <a:lnTo>
                    <a:pt x="11910" y="5231"/>
                  </a:lnTo>
                  <a:cubicBezTo>
                    <a:pt x="11910" y="5073"/>
                    <a:pt x="11784" y="4915"/>
                    <a:pt x="11626" y="4884"/>
                  </a:cubicBezTo>
                  <a:lnTo>
                    <a:pt x="10713" y="4726"/>
                  </a:lnTo>
                  <a:cubicBezTo>
                    <a:pt x="10618" y="4254"/>
                    <a:pt x="10398" y="3813"/>
                    <a:pt x="10177" y="3403"/>
                  </a:cubicBezTo>
                  <a:lnTo>
                    <a:pt x="10681" y="2679"/>
                  </a:lnTo>
                  <a:cubicBezTo>
                    <a:pt x="10807" y="2553"/>
                    <a:pt x="10776" y="2364"/>
                    <a:pt x="10650" y="2238"/>
                  </a:cubicBezTo>
                  <a:lnTo>
                    <a:pt x="9673" y="1261"/>
                  </a:lnTo>
                  <a:cubicBezTo>
                    <a:pt x="9605" y="1193"/>
                    <a:pt x="9520" y="1162"/>
                    <a:pt x="9435" y="1162"/>
                  </a:cubicBezTo>
                  <a:cubicBezTo>
                    <a:pt x="9362" y="1162"/>
                    <a:pt x="9290" y="1186"/>
                    <a:pt x="9232" y="1229"/>
                  </a:cubicBezTo>
                  <a:lnTo>
                    <a:pt x="8476" y="1734"/>
                  </a:lnTo>
                  <a:cubicBezTo>
                    <a:pt x="8098" y="1481"/>
                    <a:pt x="7657" y="1292"/>
                    <a:pt x="7184" y="1166"/>
                  </a:cubicBezTo>
                  <a:lnTo>
                    <a:pt x="6995" y="284"/>
                  </a:lnTo>
                  <a:cubicBezTo>
                    <a:pt x="6932" y="127"/>
                    <a:pt x="6837" y="1"/>
                    <a:pt x="6617"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5" name="Text"/>
          <p:cNvSpPr txBox="1"/>
          <p:nvPr/>
        </p:nvSpPr>
        <p:spPr>
          <a:xfrm>
            <a:off x="6496050" y="2381250"/>
            <a:ext cx="2057400" cy="638175"/>
          </a:xfrm>
          <a:prstGeom prst="rect">
            <a:avLst/>
          </a:prstGeom>
          <a:noFill/>
          <a:ln w="9525">
            <a:noFill/>
          </a:ln>
        </p:spPr>
        <p:txBody>
          <a:bodyPr wrap="none" lIns="0" tIns="0" rIns="0" bIns="0" anchor="t">
            <a:noAutofit/>
          </a:bodyPr>
          <a:lstStyle/>
          <a:p>
            <a:pPr marL="0" indent="0" algn="ctr">
              <a:lnSpc>
                <a:spcPts val="2438"/>
              </a:lnSpc>
              <a:spcAft>
                <a:spcPts val="0"/>
              </a:spcAft>
              <a:buNone/>
            </a:pPr>
            <a:r>
              <a:rPr lang="en-US" sz="1950" b="1">
                <a:solidFill>
                  <a:srgbClr val="435D74"/>
                </a:solidFill>
                <a:latin typeface="Fira Sans Extra Condensed"/>
                <a:ea typeface="Fira Sans Extra Condensed"/>
                <a:cs typeface="Fira Sans Extra Condensed"/>
              </a:rPr>
              <a:t>Build</a:t>
            </a:r>
            <a:endParaRPr lang="en-US" sz="1950"/>
          </a:p>
          <a:p>
            <a:pPr marL="0" indent="0" algn="ctr">
              <a:lnSpc>
                <a:spcPts val="2438"/>
              </a:lnSpc>
              <a:spcAft>
                <a:spcPts val="0"/>
              </a:spcAft>
              <a:buNone/>
            </a:pPr>
            <a:r>
              <a:rPr lang="en-US" sz="1950" b="1">
                <a:solidFill>
                  <a:srgbClr val="435D74"/>
                </a:solidFill>
                <a:latin typeface="Fira Sans Extra Condensed"/>
                <a:ea typeface="Fira Sans Extra Condensed"/>
                <a:cs typeface="Fira Sans Extra Condensed"/>
              </a:rPr>
              <a:t>a model</a:t>
            </a:r>
            <a:endParaRPr lang="en-US" sz="1950"/>
          </a:p>
        </p:txBody>
      </p:sp>
      <p:sp>
        <p:nvSpPr>
          <p:cNvPr id="36" name="Circle"/>
          <p:cNvSpPr/>
          <p:nvPr/>
        </p:nvSpPr>
        <p:spPr>
          <a:xfrm>
            <a:off x="5591175" y="2590800"/>
            <a:ext cx="819150" cy="819150"/>
          </a:xfrm>
          <a:prstGeom prst="ellipse">
            <a:avLst/>
          </a:prstGeom>
          <a:solidFill>
            <a:srgbClr val="F3F6F8"/>
          </a:solidFill>
          <a:ln w="9525">
            <a:noFill/>
          </a:ln>
        </p:spPr>
        <p:txBody>
          <a:bodyPr/>
          <a:lstStyle/>
          <a:p>
            <a:endParaRPr lang="en-US"/>
          </a:p>
        </p:txBody>
      </p:sp>
      <p:grpSp>
        <p:nvGrpSpPr>
          <p:cNvPr id="37" name="Slidesgo vector icon"/>
          <p:cNvGrpSpPr/>
          <p:nvPr/>
        </p:nvGrpSpPr>
        <p:grpSpPr>
          <a:xfrm>
            <a:off x="5800725" y="2800350"/>
            <a:ext cx="400050" cy="400050"/>
            <a:chOff x="1487200" y="4993750"/>
            <a:chExt cx="483125" cy="483125"/>
          </a:xfrm>
        </p:grpSpPr>
        <p:sp>
          <p:nvSpPr>
            <p:cNvPr id="38" name="Slidesgo vector icon"/>
            <p:cNvSpPr/>
            <p:nvPr/>
          </p:nvSpPr>
          <p:spPr>
            <a:xfrm>
              <a:off x="1487200" y="4993750"/>
              <a:ext cx="483125" cy="483125"/>
            </a:xfrm>
            <a:custGeom>
              <a:avLst/>
              <a:gdLst/>
              <a:ahLst/>
              <a:cxnLst/>
              <a:rect l="l" t="t" r="r" b="b"/>
              <a:pathLst>
                <a:path w="19325" h="19325" extrusionOk="0">
                  <a:moveTo>
                    <a:pt x="9662" y="1133"/>
                  </a:moveTo>
                  <a:cubicBezTo>
                    <a:pt x="11824" y="1133"/>
                    <a:pt x="13983" y="1975"/>
                    <a:pt x="15668" y="3657"/>
                  </a:cubicBezTo>
                  <a:cubicBezTo>
                    <a:pt x="19035" y="7027"/>
                    <a:pt x="19035" y="12302"/>
                    <a:pt x="15668" y="15668"/>
                  </a:cubicBezTo>
                  <a:cubicBezTo>
                    <a:pt x="13983" y="17352"/>
                    <a:pt x="11822" y="18193"/>
                    <a:pt x="9661" y="18193"/>
                  </a:cubicBezTo>
                  <a:cubicBezTo>
                    <a:pt x="7500" y="18193"/>
                    <a:pt x="5340" y="17352"/>
                    <a:pt x="3657" y="15668"/>
                  </a:cubicBezTo>
                  <a:cubicBezTo>
                    <a:pt x="290" y="12302"/>
                    <a:pt x="290" y="7024"/>
                    <a:pt x="3657" y="3657"/>
                  </a:cubicBezTo>
                  <a:cubicBezTo>
                    <a:pt x="5342" y="1975"/>
                    <a:pt x="7500" y="1133"/>
                    <a:pt x="9662" y="1133"/>
                  </a:cubicBezTo>
                  <a:close/>
                  <a:moveTo>
                    <a:pt x="9662" y="1"/>
                  </a:moveTo>
                  <a:cubicBezTo>
                    <a:pt x="7117" y="1"/>
                    <a:pt x="4698" y="1015"/>
                    <a:pt x="2857" y="2857"/>
                  </a:cubicBezTo>
                  <a:cubicBezTo>
                    <a:pt x="1015" y="4699"/>
                    <a:pt x="0" y="7117"/>
                    <a:pt x="0" y="9663"/>
                  </a:cubicBezTo>
                  <a:cubicBezTo>
                    <a:pt x="0" y="12208"/>
                    <a:pt x="1015" y="14627"/>
                    <a:pt x="2857" y="16469"/>
                  </a:cubicBezTo>
                  <a:cubicBezTo>
                    <a:pt x="4698" y="18310"/>
                    <a:pt x="7117" y="19325"/>
                    <a:pt x="9662" y="19325"/>
                  </a:cubicBezTo>
                  <a:cubicBezTo>
                    <a:pt x="12208" y="19325"/>
                    <a:pt x="14626" y="18310"/>
                    <a:pt x="16468" y="16469"/>
                  </a:cubicBezTo>
                  <a:cubicBezTo>
                    <a:pt x="18310" y="14627"/>
                    <a:pt x="19325" y="12208"/>
                    <a:pt x="19325" y="9663"/>
                  </a:cubicBezTo>
                  <a:cubicBezTo>
                    <a:pt x="19325" y="7117"/>
                    <a:pt x="18310" y="4699"/>
                    <a:pt x="16468" y="2857"/>
                  </a:cubicBezTo>
                  <a:cubicBezTo>
                    <a:pt x="14626" y="1015"/>
                    <a:pt x="12208" y="1"/>
                    <a:pt x="9662"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39" name="Slidesgo vector icon"/>
            <p:cNvSpPr/>
            <p:nvPr/>
          </p:nvSpPr>
          <p:spPr>
            <a:xfrm>
              <a:off x="1602600" y="5143950"/>
              <a:ext cx="250350" cy="182725"/>
            </a:xfrm>
            <a:custGeom>
              <a:avLst/>
              <a:gdLst/>
              <a:ahLst/>
              <a:cxnLst/>
              <a:rect l="l" t="t" r="r" b="b"/>
              <a:pathLst>
                <a:path w="10014" h="7309" extrusionOk="0">
                  <a:moveTo>
                    <a:pt x="8149" y="1134"/>
                  </a:moveTo>
                  <a:cubicBezTo>
                    <a:pt x="8294" y="1134"/>
                    <a:pt x="8439" y="1189"/>
                    <a:pt x="8549" y="1300"/>
                  </a:cubicBezTo>
                  <a:cubicBezTo>
                    <a:pt x="8769" y="1520"/>
                    <a:pt x="8769" y="1879"/>
                    <a:pt x="8549" y="2100"/>
                  </a:cubicBezTo>
                  <a:lnTo>
                    <a:pt x="4639" y="6007"/>
                  </a:lnTo>
                  <a:cubicBezTo>
                    <a:pt x="4527" y="6120"/>
                    <a:pt x="4377" y="6177"/>
                    <a:pt x="4227" y="6177"/>
                  </a:cubicBezTo>
                  <a:cubicBezTo>
                    <a:pt x="4081" y="6177"/>
                    <a:pt x="3937" y="6123"/>
                    <a:pt x="3830" y="6016"/>
                  </a:cubicBezTo>
                  <a:lnTo>
                    <a:pt x="1547" y="3748"/>
                  </a:lnTo>
                  <a:cubicBezTo>
                    <a:pt x="1296" y="3534"/>
                    <a:pt x="1281" y="3151"/>
                    <a:pt x="1514" y="2918"/>
                  </a:cubicBezTo>
                  <a:cubicBezTo>
                    <a:pt x="1626" y="2806"/>
                    <a:pt x="1771" y="2750"/>
                    <a:pt x="1916" y="2750"/>
                  </a:cubicBezTo>
                  <a:cubicBezTo>
                    <a:pt x="2074" y="2750"/>
                    <a:pt x="2232" y="2817"/>
                    <a:pt x="2344" y="2948"/>
                  </a:cubicBezTo>
                  <a:lnTo>
                    <a:pt x="3784" y="4388"/>
                  </a:lnTo>
                  <a:cubicBezTo>
                    <a:pt x="3793" y="4401"/>
                    <a:pt x="3805" y="4410"/>
                    <a:pt x="3817" y="4419"/>
                  </a:cubicBezTo>
                  <a:cubicBezTo>
                    <a:pt x="3817" y="4422"/>
                    <a:pt x="3820" y="4422"/>
                    <a:pt x="3823" y="4425"/>
                  </a:cubicBezTo>
                  <a:cubicBezTo>
                    <a:pt x="3934" y="4535"/>
                    <a:pt x="4078" y="4590"/>
                    <a:pt x="4222" y="4590"/>
                  </a:cubicBezTo>
                  <a:cubicBezTo>
                    <a:pt x="4367" y="4590"/>
                    <a:pt x="4512" y="4535"/>
                    <a:pt x="4624" y="4425"/>
                  </a:cubicBezTo>
                  <a:lnTo>
                    <a:pt x="7749" y="1300"/>
                  </a:lnTo>
                  <a:cubicBezTo>
                    <a:pt x="7859" y="1189"/>
                    <a:pt x="8004" y="1134"/>
                    <a:pt x="8149" y="1134"/>
                  </a:cubicBezTo>
                  <a:close/>
                  <a:moveTo>
                    <a:pt x="8146" y="1"/>
                  </a:moveTo>
                  <a:cubicBezTo>
                    <a:pt x="7712" y="1"/>
                    <a:pt x="7279" y="166"/>
                    <a:pt x="6949" y="496"/>
                  </a:cubicBezTo>
                  <a:lnTo>
                    <a:pt x="6946" y="496"/>
                  </a:lnTo>
                  <a:lnTo>
                    <a:pt x="4219" y="3223"/>
                  </a:lnTo>
                  <a:lnTo>
                    <a:pt x="3144" y="2148"/>
                  </a:lnTo>
                  <a:cubicBezTo>
                    <a:pt x="2808" y="1779"/>
                    <a:pt x="2348" y="1594"/>
                    <a:pt x="1887" y="1594"/>
                  </a:cubicBezTo>
                  <a:cubicBezTo>
                    <a:pt x="1453" y="1594"/>
                    <a:pt x="1019" y="1758"/>
                    <a:pt x="686" y="2091"/>
                  </a:cubicBezTo>
                  <a:cubicBezTo>
                    <a:pt x="1" y="2776"/>
                    <a:pt x="28" y="3896"/>
                    <a:pt x="747" y="4549"/>
                  </a:cubicBezTo>
                  <a:lnTo>
                    <a:pt x="3029" y="6819"/>
                  </a:lnTo>
                  <a:cubicBezTo>
                    <a:pt x="3344" y="7131"/>
                    <a:pt x="3768" y="7308"/>
                    <a:pt x="4214" y="7308"/>
                  </a:cubicBezTo>
                  <a:cubicBezTo>
                    <a:pt x="4218" y="7308"/>
                    <a:pt x="4221" y="7308"/>
                    <a:pt x="4225" y="7308"/>
                  </a:cubicBezTo>
                  <a:cubicBezTo>
                    <a:pt x="4678" y="7308"/>
                    <a:pt x="5116" y="7127"/>
                    <a:pt x="5439" y="6807"/>
                  </a:cubicBezTo>
                  <a:lnTo>
                    <a:pt x="9349" y="2900"/>
                  </a:lnTo>
                  <a:cubicBezTo>
                    <a:pt x="10013" y="2236"/>
                    <a:pt x="10013" y="1161"/>
                    <a:pt x="9349" y="499"/>
                  </a:cubicBezTo>
                  <a:cubicBezTo>
                    <a:pt x="9017" y="167"/>
                    <a:pt x="8581" y="1"/>
                    <a:pt x="8146"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40" name="Text"/>
          <p:cNvSpPr txBox="1"/>
          <p:nvPr/>
        </p:nvSpPr>
        <p:spPr>
          <a:xfrm>
            <a:off x="4972050" y="3505200"/>
            <a:ext cx="2057400" cy="638175"/>
          </a:xfrm>
          <a:prstGeom prst="rect">
            <a:avLst/>
          </a:prstGeom>
          <a:noFill/>
          <a:ln w="9525">
            <a:noFill/>
          </a:ln>
        </p:spPr>
        <p:txBody>
          <a:bodyPr wrap="none" lIns="0" tIns="0" rIns="0" bIns="0" anchor="t">
            <a:noAutofit/>
          </a:bodyPr>
          <a:lstStyle/>
          <a:p>
            <a:pPr marL="0" indent="0" algn="ctr">
              <a:lnSpc>
                <a:spcPts val="2438"/>
              </a:lnSpc>
              <a:spcAft>
                <a:spcPts val="0"/>
              </a:spcAft>
              <a:buNone/>
            </a:pPr>
            <a:r>
              <a:rPr lang="en-US" sz="1950" b="1">
                <a:solidFill>
                  <a:srgbClr val="435D74"/>
                </a:solidFill>
                <a:latin typeface="Fira Sans Extra Condensed"/>
                <a:ea typeface="Fira Sans Extra Condensed"/>
                <a:cs typeface="Fira Sans Extra Condensed"/>
              </a:rPr>
              <a:t>Check</a:t>
            </a:r>
            <a:endParaRPr lang="en-US" sz="1950"/>
          </a:p>
          <a:p>
            <a:pPr marL="0" indent="0" algn="ctr">
              <a:lnSpc>
                <a:spcPts val="2438"/>
              </a:lnSpc>
              <a:spcAft>
                <a:spcPts val="0"/>
              </a:spcAft>
              <a:buNone/>
            </a:pPr>
            <a:r>
              <a:rPr lang="en-US" sz="1950" b="1">
                <a:solidFill>
                  <a:srgbClr val="435D74"/>
                </a:solidFill>
                <a:latin typeface="Fira Sans Extra Condensed"/>
                <a:ea typeface="Fira Sans Extra Condensed"/>
                <a:cs typeface="Fira Sans Extra Condensed"/>
              </a:rPr>
              <a:t>the results</a:t>
            </a:r>
            <a:endParaRPr lang="en-US" sz="1950"/>
          </a:p>
        </p:txBody>
      </p:sp>
      <p:sp>
        <p:nvSpPr>
          <p:cNvPr id="41" name="Circle"/>
          <p:cNvSpPr/>
          <p:nvPr/>
        </p:nvSpPr>
        <p:spPr>
          <a:xfrm>
            <a:off x="2638425" y="2590800"/>
            <a:ext cx="819150" cy="819150"/>
          </a:xfrm>
          <a:prstGeom prst="ellipse">
            <a:avLst/>
          </a:prstGeom>
          <a:solidFill>
            <a:srgbClr val="F3F6F8"/>
          </a:solidFill>
          <a:ln w="9525">
            <a:noFill/>
          </a:ln>
        </p:spPr>
        <p:txBody>
          <a:bodyPr/>
          <a:lstStyle/>
          <a:p>
            <a:endParaRPr lang="en-US"/>
          </a:p>
        </p:txBody>
      </p:sp>
      <p:grpSp>
        <p:nvGrpSpPr>
          <p:cNvPr id="42" name="Slidesgo vector icon"/>
          <p:cNvGrpSpPr/>
          <p:nvPr/>
        </p:nvGrpSpPr>
        <p:grpSpPr>
          <a:xfrm>
            <a:off x="2847975" y="2800350"/>
            <a:ext cx="400050" cy="400027"/>
            <a:chOff x="-2060175" y="2768875"/>
            <a:chExt cx="291450" cy="292225"/>
          </a:xfrm>
        </p:grpSpPr>
        <p:sp>
          <p:nvSpPr>
            <p:cNvPr id="43" name="Slidesgo vector icon"/>
            <p:cNvSpPr/>
            <p:nvPr/>
          </p:nvSpPr>
          <p:spPr>
            <a:xfrm>
              <a:off x="-2060175" y="2768875"/>
              <a:ext cx="291450" cy="292225"/>
            </a:xfrm>
            <a:custGeom>
              <a:avLst/>
              <a:gdLst/>
              <a:ahLst/>
              <a:cxnLst/>
              <a:rect l="l" t="t" r="r" b="b"/>
              <a:pathLst>
                <a:path w="11658" h="11689" extrusionOk="0">
                  <a:moveTo>
                    <a:pt x="10649" y="662"/>
                  </a:moveTo>
                  <a:cubicBezTo>
                    <a:pt x="10838" y="662"/>
                    <a:pt x="10996" y="820"/>
                    <a:pt x="10996" y="1009"/>
                  </a:cubicBezTo>
                  <a:cubicBezTo>
                    <a:pt x="10996" y="1198"/>
                    <a:pt x="10838" y="1355"/>
                    <a:pt x="10649" y="1355"/>
                  </a:cubicBezTo>
                  <a:lnTo>
                    <a:pt x="1040" y="1355"/>
                  </a:lnTo>
                  <a:cubicBezTo>
                    <a:pt x="851" y="1355"/>
                    <a:pt x="694" y="1198"/>
                    <a:pt x="694" y="1009"/>
                  </a:cubicBezTo>
                  <a:cubicBezTo>
                    <a:pt x="694" y="820"/>
                    <a:pt x="851" y="662"/>
                    <a:pt x="1040" y="662"/>
                  </a:cubicBezTo>
                  <a:close/>
                  <a:moveTo>
                    <a:pt x="10303" y="2049"/>
                  </a:moveTo>
                  <a:lnTo>
                    <a:pt x="10303" y="7908"/>
                  </a:lnTo>
                  <a:cubicBezTo>
                    <a:pt x="10334" y="8097"/>
                    <a:pt x="10177" y="8255"/>
                    <a:pt x="9988" y="8255"/>
                  </a:cubicBezTo>
                  <a:lnTo>
                    <a:pt x="1702" y="8255"/>
                  </a:lnTo>
                  <a:cubicBezTo>
                    <a:pt x="1513" y="8255"/>
                    <a:pt x="1355" y="8097"/>
                    <a:pt x="1355" y="7908"/>
                  </a:cubicBezTo>
                  <a:lnTo>
                    <a:pt x="1355" y="2049"/>
                  </a:lnTo>
                  <a:close/>
                  <a:moveTo>
                    <a:pt x="5797" y="10271"/>
                  </a:moveTo>
                  <a:cubicBezTo>
                    <a:pt x="5986" y="10271"/>
                    <a:pt x="6144" y="10429"/>
                    <a:pt x="6144" y="10618"/>
                  </a:cubicBezTo>
                  <a:cubicBezTo>
                    <a:pt x="6144" y="10807"/>
                    <a:pt x="5986" y="10964"/>
                    <a:pt x="5797" y="10964"/>
                  </a:cubicBezTo>
                  <a:cubicBezTo>
                    <a:pt x="5608" y="10964"/>
                    <a:pt x="5451" y="10807"/>
                    <a:pt x="5451" y="10618"/>
                  </a:cubicBezTo>
                  <a:cubicBezTo>
                    <a:pt x="5451" y="10429"/>
                    <a:pt x="5608" y="10271"/>
                    <a:pt x="5797" y="10271"/>
                  </a:cubicBezTo>
                  <a:close/>
                  <a:moveTo>
                    <a:pt x="1040" y="1"/>
                  </a:moveTo>
                  <a:cubicBezTo>
                    <a:pt x="473" y="1"/>
                    <a:pt x="1" y="473"/>
                    <a:pt x="1" y="1009"/>
                  </a:cubicBezTo>
                  <a:cubicBezTo>
                    <a:pt x="1" y="1450"/>
                    <a:pt x="284" y="1828"/>
                    <a:pt x="694" y="1986"/>
                  </a:cubicBezTo>
                  <a:lnTo>
                    <a:pt x="694" y="7908"/>
                  </a:lnTo>
                  <a:cubicBezTo>
                    <a:pt x="694" y="8444"/>
                    <a:pt x="1166" y="8917"/>
                    <a:pt x="1702" y="8917"/>
                  </a:cubicBezTo>
                  <a:lnTo>
                    <a:pt x="5482" y="8917"/>
                  </a:lnTo>
                  <a:lnTo>
                    <a:pt x="5482" y="9673"/>
                  </a:lnTo>
                  <a:cubicBezTo>
                    <a:pt x="5104" y="9830"/>
                    <a:pt x="4821" y="10177"/>
                    <a:pt x="4821" y="10649"/>
                  </a:cubicBezTo>
                  <a:cubicBezTo>
                    <a:pt x="4821" y="11216"/>
                    <a:pt x="5293" y="11689"/>
                    <a:pt x="5829" y="11689"/>
                  </a:cubicBezTo>
                  <a:cubicBezTo>
                    <a:pt x="6396" y="11689"/>
                    <a:pt x="6869" y="11216"/>
                    <a:pt x="6869" y="10649"/>
                  </a:cubicBezTo>
                  <a:cubicBezTo>
                    <a:pt x="6869" y="10240"/>
                    <a:pt x="6585" y="9830"/>
                    <a:pt x="6207" y="9673"/>
                  </a:cubicBezTo>
                  <a:lnTo>
                    <a:pt x="6207" y="8917"/>
                  </a:lnTo>
                  <a:lnTo>
                    <a:pt x="10019" y="8917"/>
                  </a:lnTo>
                  <a:cubicBezTo>
                    <a:pt x="10555" y="8917"/>
                    <a:pt x="11027" y="8444"/>
                    <a:pt x="11027" y="7908"/>
                  </a:cubicBezTo>
                  <a:lnTo>
                    <a:pt x="11027" y="1986"/>
                  </a:lnTo>
                  <a:cubicBezTo>
                    <a:pt x="11405" y="1828"/>
                    <a:pt x="11657" y="1450"/>
                    <a:pt x="11657" y="1009"/>
                  </a:cubicBezTo>
                  <a:cubicBezTo>
                    <a:pt x="11657" y="473"/>
                    <a:pt x="11185" y="1"/>
                    <a:pt x="10649"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Slidesgo vector icon"/>
            <p:cNvSpPr/>
            <p:nvPr/>
          </p:nvSpPr>
          <p:spPr>
            <a:xfrm>
              <a:off x="-2008975" y="2855525"/>
              <a:ext cx="189050" cy="84500"/>
            </a:xfrm>
            <a:custGeom>
              <a:avLst/>
              <a:gdLst/>
              <a:ahLst/>
              <a:cxnLst/>
              <a:rect l="l" t="t" r="r" b="b"/>
              <a:pathLst>
                <a:path w="7562" h="3380" extrusionOk="0">
                  <a:moveTo>
                    <a:pt x="6553" y="0"/>
                  </a:moveTo>
                  <a:cubicBezTo>
                    <a:pt x="6144" y="0"/>
                    <a:pt x="6081" y="504"/>
                    <a:pt x="6427" y="662"/>
                  </a:cubicBezTo>
                  <a:lnTo>
                    <a:pt x="4474" y="2584"/>
                  </a:lnTo>
                  <a:lnTo>
                    <a:pt x="2647" y="788"/>
                  </a:lnTo>
                  <a:cubicBezTo>
                    <a:pt x="2584" y="725"/>
                    <a:pt x="2497" y="693"/>
                    <a:pt x="2410" y="693"/>
                  </a:cubicBezTo>
                  <a:cubicBezTo>
                    <a:pt x="2324" y="693"/>
                    <a:pt x="2237" y="725"/>
                    <a:pt x="2174" y="788"/>
                  </a:cubicBezTo>
                  <a:lnTo>
                    <a:pt x="126" y="2836"/>
                  </a:lnTo>
                  <a:cubicBezTo>
                    <a:pt x="0" y="2930"/>
                    <a:pt x="0" y="3182"/>
                    <a:pt x="126" y="3308"/>
                  </a:cubicBezTo>
                  <a:cubicBezTo>
                    <a:pt x="189" y="3356"/>
                    <a:pt x="276" y="3379"/>
                    <a:pt x="363" y="3379"/>
                  </a:cubicBezTo>
                  <a:cubicBezTo>
                    <a:pt x="449" y="3379"/>
                    <a:pt x="536" y="3356"/>
                    <a:pt x="599" y="3308"/>
                  </a:cubicBezTo>
                  <a:lnTo>
                    <a:pt x="2426" y="1481"/>
                  </a:lnTo>
                  <a:lnTo>
                    <a:pt x="4222" y="3308"/>
                  </a:lnTo>
                  <a:cubicBezTo>
                    <a:pt x="4285" y="3356"/>
                    <a:pt x="4372" y="3379"/>
                    <a:pt x="4458" y="3379"/>
                  </a:cubicBezTo>
                  <a:cubicBezTo>
                    <a:pt x="4545" y="3379"/>
                    <a:pt x="4632" y="3356"/>
                    <a:pt x="4695" y="3308"/>
                  </a:cubicBezTo>
                  <a:lnTo>
                    <a:pt x="6900" y="1134"/>
                  </a:lnTo>
                  <a:cubicBezTo>
                    <a:pt x="6931" y="1260"/>
                    <a:pt x="7057" y="1355"/>
                    <a:pt x="7215" y="1355"/>
                  </a:cubicBezTo>
                  <a:cubicBezTo>
                    <a:pt x="7404" y="1355"/>
                    <a:pt x="7562" y="1197"/>
                    <a:pt x="7562" y="1008"/>
                  </a:cubicBezTo>
                  <a:lnTo>
                    <a:pt x="7562" y="347"/>
                  </a:lnTo>
                  <a:cubicBezTo>
                    <a:pt x="7562" y="158"/>
                    <a:pt x="7467" y="0"/>
                    <a:pt x="7246"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5" name="Text"/>
          <p:cNvSpPr txBox="1"/>
          <p:nvPr/>
        </p:nvSpPr>
        <p:spPr>
          <a:xfrm>
            <a:off x="2019300" y="3505200"/>
            <a:ext cx="2057400" cy="638175"/>
          </a:xfrm>
          <a:prstGeom prst="rect">
            <a:avLst/>
          </a:prstGeom>
          <a:noFill/>
          <a:ln w="9525">
            <a:noFill/>
          </a:ln>
        </p:spPr>
        <p:txBody>
          <a:bodyPr wrap="none" lIns="0" tIns="0" rIns="0" bIns="0" anchor="t">
            <a:noAutofit/>
          </a:bodyPr>
          <a:lstStyle/>
          <a:p>
            <a:pPr marL="0" indent="0" algn="ctr">
              <a:lnSpc>
                <a:spcPts val="2438"/>
              </a:lnSpc>
              <a:spcAft>
                <a:spcPts val="0"/>
              </a:spcAft>
              <a:buNone/>
            </a:pPr>
            <a:r>
              <a:rPr lang="en-US" sz="1950" b="1">
                <a:solidFill>
                  <a:srgbClr val="435D74"/>
                </a:solidFill>
                <a:latin typeface="Fira Sans Extra Condensed"/>
                <a:ea typeface="Fira Sans Extra Condensed"/>
                <a:cs typeface="Fira Sans Extra Condensed"/>
              </a:rPr>
              <a:t>Use results</a:t>
            </a:r>
            <a:endParaRPr lang="en-US" sz="1950"/>
          </a:p>
          <a:p>
            <a:pPr marL="0" indent="0" algn="ctr">
              <a:lnSpc>
                <a:spcPts val="2438"/>
              </a:lnSpc>
              <a:spcAft>
                <a:spcPts val="0"/>
              </a:spcAft>
              <a:buNone/>
            </a:pPr>
            <a:r>
              <a:rPr lang="en-US" sz="1950" b="1">
                <a:solidFill>
                  <a:srgbClr val="435D74"/>
                </a:solidFill>
                <a:latin typeface="Fira Sans Extra Condensed"/>
                <a:ea typeface="Fira Sans Extra Condensed"/>
                <a:cs typeface="Fira Sans Extra Condensed"/>
              </a:rPr>
              <a:t>in practice</a:t>
            </a:r>
            <a:endParaRPr lang="en-US" sz="1950"/>
          </a:p>
        </p:txBody>
      </p:sp>
      <p:sp>
        <p:nvSpPr>
          <p:cNvPr id="46" name="Panel"/>
          <p:cNvSpPr/>
          <p:nvPr/>
        </p:nvSpPr>
        <p:spPr>
          <a:xfrm>
            <a:off x="495300" y="4219575"/>
            <a:ext cx="8153400" cy="400050"/>
          </a:xfrm>
          <a:prstGeom prst="roundRect">
            <a:avLst>
              <a:gd name="adj" fmla="val 10000"/>
            </a:avLst>
          </a:prstGeom>
          <a:solidFill>
            <a:srgbClr val="F3F6F8"/>
          </a:solidFill>
          <a:ln w="9525">
            <a:noFill/>
          </a:ln>
        </p:spPr>
        <p:txBody>
          <a:bodyPr/>
          <a:lstStyle/>
          <a:p>
            <a:endParaRPr lang="en-US"/>
          </a:p>
        </p:txBody>
      </p:sp>
      <p:sp>
        <p:nvSpPr>
          <p:cNvPr id="47" name="Text"/>
          <p:cNvSpPr txBox="1"/>
          <p:nvPr/>
        </p:nvSpPr>
        <p:spPr>
          <a:xfrm>
            <a:off x="666750" y="4295775"/>
            <a:ext cx="7810500" cy="2952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a:solidFill>
                  <a:srgbClr val="435D74"/>
                </a:solidFill>
                <a:latin typeface="Roboto"/>
                <a:ea typeface="Roboto"/>
                <a:cs typeface="Roboto"/>
              </a:rPr>
              <a:t>Teams can return to earlier stages when data, goals, or results change.</a:t>
            </a:r>
            <a:endParaRPr lang="en-US" sz="135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name="Four types of analytics">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Four types of analytics</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algn="r">
              <a:lnSpc>
                <a:spcPts val="1031"/>
              </a:lnSpc>
            </a:pPr>
            <a:r>
              <a:rPr lang="en-US" sz="825" dirty="0">
                <a:solidFill>
                  <a:srgbClr val="6D8495"/>
                </a:solidFill>
                <a:latin typeface="Roboto"/>
                <a:ea typeface="Roboto"/>
                <a:cs typeface="Roboto"/>
              </a:rPr>
              <a:t>03 / 14</a:t>
            </a:r>
            <a:endParaRPr lang="en-US" sz="825" dirty="0"/>
          </a:p>
        </p:txBody>
      </p:sp>
      <p:grpSp>
        <p:nvGrpSpPr>
          <p:cNvPr id="7" name="Slidesgo vector icon"/>
          <p:cNvGrpSpPr/>
          <p:nvPr/>
        </p:nvGrpSpPr>
        <p:grpSpPr>
          <a:xfrm>
            <a:off x="647700" y="1181100"/>
            <a:ext cx="361950" cy="359999"/>
            <a:chOff x="-4211975" y="2046625"/>
            <a:chExt cx="292250" cy="290675"/>
          </a:xfrm>
        </p:grpSpPr>
        <p:sp>
          <p:nvSpPr>
            <p:cNvPr id="8" name="Slidesgo vector icon"/>
            <p:cNvSpPr/>
            <p:nvPr/>
          </p:nvSpPr>
          <p:spPr>
            <a:xfrm>
              <a:off x="-4211975" y="2081300"/>
              <a:ext cx="256025" cy="256000"/>
            </a:xfrm>
            <a:custGeom>
              <a:avLst/>
              <a:gdLst/>
              <a:ahLst/>
              <a:cxnLst/>
              <a:rect l="l" t="t" r="r" b="b"/>
              <a:pathLst>
                <a:path w="10241" h="10240" extrusionOk="0">
                  <a:moveTo>
                    <a:pt x="4758" y="693"/>
                  </a:moveTo>
                  <a:lnTo>
                    <a:pt x="4758" y="5167"/>
                  </a:lnTo>
                  <a:cubicBezTo>
                    <a:pt x="4758" y="5356"/>
                    <a:pt x="4916" y="5513"/>
                    <a:pt x="5105" y="5513"/>
                  </a:cubicBezTo>
                  <a:lnTo>
                    <a:pt x="9578" y="5513"/>
                  </a:lnTo>
                  <a:cubicBezTo>
                    <a:pt x="9358" y="7813"/>
                    <a:pt x="7436" y="9609"/>
                    <a:pt x="5105" y="9609"/>
                  </a:cubicBezTo>
                  <a:cubicBezTo>
                    <a:pt x="2679" y="9609"/>
                    <a:pt x="663" y="7593"/>
                    <a:pt x="663" y="5167"/>
                  </a:cubicBezTo>
                  <a:cubicBezTo>
                    <a:pt x="663" y="2835"/>
                    <a:pt x="2490" y="914"/>
                    <a:pt x="4758" y="693"/>
                  </a:cubicBezTo>
                  <a:close/>
                  <a:moveTo>
                    <a:pt x="5105" y="0"/>
                  </a:moveTo>
                  <a:cubicBezTo>
                    <a:pt x="2269" y="0"/>
                    <a:pt x="1" y="2300"/>
                    <a:pt x="1" y="5104"/>
                  </a:cubicBezTo>
                  <a:cubicBezTo>
                    <a:pt x="1" y="7939"/>
                    <a:pt x="2269" y="10239"/>
                    <a:pt x="5105" y="10239"/>
                  </a:cubicBezTo>
                  <a:cubicBezTo>
                    <a:pt x="7940" y="10239"/>
                    <a:pt x="10240" y="7939"/>
                    <a:pt x="10240" y="5104"/>
                  </a:cubicBezTo>
                  <a:cubicBezTo>
                    <a:pt x="10240" y="4978"/>
                    <a:pt x="10083" y="4820"/>
                    <a:pt x="9925" y="4820"/>
                  </a:cubicBezTo>
                  <a:lnTo>
                    <a:pt x="5483" y="4820"/>
                  </a:lnTo>
                  <a:lnTo>
                    <a:pt x="5483" y="347"/>
                  </a:lnTo>
                  <a:cubicBezTo>
                    <a:pt x="5483" y="158"/>
                    <a:pt x="5325" y="0"/>
                    <a:pt x="5105"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Slidesgo vector icon"/>
            <p:cNvSpPr/>
            <p:nvPr/>
          </p:nvSpPr>
          <p:spPr>
            <a:xfrm>
              <a:off x="-4057600" y="2046625"/>
              <a:ext cx="137875" cy="137875"/>
            </a:xfrm>
            <a:custGeom>
              <a:avLst/>
              <a:gdLst/>
              <a:ahLst/>
              <a:cxnLst/>
              <a:rect l="l" t="t" r="r" b="b"/>
              <a:pathLst>
                <a:path w="5515" h="5515" extrusionOk="0">
                  <a:moveTo>
                    <a:pt x="663" y="694"/>
                  </a:moveTo>
                  <a:cubicBezTo>
                    <a:pt x="2836" y="851"/>
                    <a:pt x="4601" y="2616"/>
                    <a:pt x="4758" y="4790"/>
                  </a:cubicBezTo>
                  <a:lnTo>
                    <a:pt x="663" y="4790"/>
                  </a:lnTo>
                  <a:lnTo>
                    <a:pt x="663" y="694"/>
                  </a:lnTo>
                  <a:close/>
                  <a:moveTo>
                    <a:pt x="348" y="1"/>
                  </a:moveTo>
                  <a:cubicBezTo>
                    <a:pt x="158" y="1"/>
                    <a:pt x="1" y="158"/>
                    <a:pt x="1" y="379"/>
                  </a:cubicBezTo>
                  <a:lnTo>
                    <a:pt x="1" y="5168"/>
                  </a:lnTo>
                  <a:cubicBezTo>
                    <a:pt x="1" y="5357"/>
                    <a:pt x="158" y="5514"/>
                    <a:pt x="348" y="5514"/>
                  </a:cubicBezTo>
                  <a:lnTo>
                    <a:pt x="5168" y="5514"/>
                  </a:lnTo>
                  <a:cubicBezTo>
                    <a:pt x="5357" y="5514"/>
                    <a:pt x="5514" y="5357"/>
                    <a:pt x="5514" y="5168"/>
                  </a:cubicBezTo>
                  <a:cubicBezTo>
                    <a:pt x="5483" y="3750"/>
                    <a:pt x="4979" y="2490"/>
                    <a:pt x="3971" y="1513"/>
                  </a:cubicBezTo>
                  <a:cubicBezTo>
                    <a:pt x="2994" y="536"/>
                    <a:pt x="1734" y="1"/>
                    <a:pt x="34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 name="Text"/>
          <p:cNvSpPr txBox="1"/>
          <p:nvPr/>
        </p:nvSpPr>
        <p:spPr>
          <a:xfrm>
            <a:off x="1228725" y="1104900"/>
            <a:ext cx="1866900" cy="400050"/>
          </a:xfrm>
          <a:prstGeom prst="rect">
            <a:avLst/>
          </a:prstGeom>
          <a:noFill/>
          <a:ln w="9525">
            <a:noFill/>
          </a:ln>
        </p:spPr>
        <p:txBody>
          <a:bodyPr wrap="none" lIns="0" tIns="0" rIns="0" bIns="0" anchor="t">
            <a:noAutofit/>
          </a:bodyPr>
          <a:lstStyle/>
          <a:p>
            <a:pPr marL="0" indent="0" algn="l">
              <a:lnSpc>
                <a:spcPts val="2719"/>
              </a:lnSpc>
              <a:spcAft>
                <a:spcPts val="0"/>
              </a:spcAft>
              <a:buNone/>
            </a:pPr>
            <a:r>
              <a:rPr lang="en-US" sz="2175" b="1">
                <a:solidFill>
                  <a:srgbClr val="435D74"/>
                </a:solidFill>
                <a:latin typeface="Fira Sans Extra Condensed"/>
                <a:ea typeface="Fira Sans Extra Condensed"/>
                <a:cs typeface="Fira Sans Extra Condensed"/>
              </a:rPr>
              <a:t>Descriptive</a:t>
            </a:r>
            <a:endParaRPr lang="en-US" sz="2175"/>
          </a:p>
        </p:txBody>
      </p:sp>
      <p:sp>
        <p:nvSpPr>
          <p:cNvPr id="11" name="Text"/>
          <p:cNvSpPr txBox="1"/>
          <p:nvPr/>
        </p:nvSpPr>
        <p:spPr>
          <a:xfrm>
            <a:off x="3095625" y="1114425"/>
            <a:ext cx="2209800" cy="371475"/>
          </a:xfrm>
          <a:prstGeom prst="rect">
            <a:avLst/>
          </a:prstGeom>
          <a:noFill/>
          <a:ln w="9525">
            <a:noFill/>
          </a:ln>
        </p:spPr>
        <p:txBody>
          <a:bodyPr wrap="none" lIns="0" tIns="0" rIns="0" bIns="0" anchor="t">
            <a:noAutofit/>
          </a:bodyPr>
          <a:lstStyle/>
          <a:p>
            <a:pPr marL="0" indent="0" algn="l">
              <a:lnSpc>
                <a:spcPts val="2062"/>
              </a:lnSpc>
              <a:spcAft>
                <a:spcPts val="0"/>
              </a:spcAft>
              <a:buNone/>
            </a:pPr>
            <a:r>
              <a:rPr lang="en-US" sz="1650" b="1">
                <a:solidFill>
                  <a:srgbClr val="435D74"/>
                </a:solidFill>
                <a:latin typeface="Roboto"/>
                <a:ea typeface="Roboto"/>
                <a:cs typeface="Roboto"/>
              </a:rPr>
              <a:t>What happened?</a:t>
            </a:r>
            <a:endParaRPr lang="en-US" sz="1650"/>
          </a:p>
        </p:txBody>
      </p:sp>
      <p:sp>
        <p:nvSpPr>
          <p:cNvPr id="12" name="Text"/>
          <p:cNvSpPr txBox="1"/>
          <p:nvPr/>
        </p:nvSpPr>
        <p:spPr>
          <a:xfrm>
            <a:off x="5410200" y="1104900"/>
            <a:ext cx="3067050" cy="5619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a:solidFill>
                  <a:srgbClr val="435D74"/>
                </a:solidFill>
                <a:latin typeface="Roboto"/>
                <a:ea typeface="Roboto"/>
                <a:cs typeface="Roboto"/>
              </a:rPr>
              <a:t>Show last month's sales for each store.</a:t>
            </a:r>
            <a:endParaRPr lang="en-US" sz="1350"/>
          </a:p>
        </p:txBody>
      </p:sp>
      <p:cxnSp>
        <p:nvCxnSpPr>
          <p:cNvPr id="13" name="Connector"/>
          <p:cNvCxnSpPr/>
          <p:nvPr/>
        </p:nvCxnSpPr>
        <p:spPr>
          <a:xfrm>
            <a:off x="1228725" y="1743075"/>
            <a:ext cx="7419975" cy="95"/>
          </a:xfrm>
          <a:prstGeom prst="line">
            <a:avLst/>
          </a:prstGeom>
          <a:ln w="9525">
            <a:solidFill>
              <a:srgbClr val="D8E2E8"/>
            </a:solidFill>
          </a:ln>
        </p:spPr>
      </p:cxnSp>
      <p:grpSp>
        <p:nvGrpSpPr>
          <p:cNvPr id="14" name="Slidesgo vector icon"/>
          <p:cNvGrpSpPr/>
          <p:nvPr/>
        </p:nvGrpSpPr>
        <p:grpSpPr>
          <a:xfrm>
            <a:off x="647700" y="1933575"/>
            <a:ext cx="361950" cy="360159"/>
            <a:chOff x="-63679950" y="3360375"/>
            <a:chExt cx="318225" cy="316650"/>
          </a:xfrm>
        </p:grpSpPr>
        <p:sp>
          <p:nvSpPr>
            <p:cNvPr id="15" name="Slidesgo vector icon"/>
            <p:cNvSpPr/>
            <p:nvPr/>
          </p:nvSpPr>
          <p:spPr>
            <a:xfrm>
              <a:off x="-63497200" y="3423400"/>
              <a:ext cx="40975" cy="40975"/>
            </a:xfrm>
            <a:custGeom>
              <a:avLst/>
              <a:gdLst/>
              <a:ahLst/>
              <a:cxnLst/>
              <a:rect l="l" t="t" r="r" b="b"/>
              <a:pathLst>
                <a:path w="1639" h="1639" extrusionOk="0">
                  <a:moveTo>
                    <a:pt x="819" y="0"/>
                  </a:moveTo>
                  <a:cubicBezTo>
                    <a:pt x="378" y="0"/>
                    <a:pt x="0" y="378"/>
                    <a:pt x="0" y="819"/>
                  </a:cubicBezTo>
                  <a:cubicBezTo>
                    <a:pt x="0" y="1260"/>
                    <a:pt x="378" y="1638"/>
                    <a:pt x="819" y="1638"/>
                  </a:cubicBezTo>
                  <a:cubicBezTo>
                    <a:pt x="1260" y="1638"/>
                    <a:pt x="1638" y="1260"/>
                    <a:pt x="1638" y="819"/>
                  </a:cubicBezTo>
                  <a:cubicBezTo>
                    <a:pt x="1638" y="378"/>
                    <a:pt x="1260" y="0"/>
                    <a:pt x="819"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Slidesgo vector icon"/>
            <p:cNvSpPr/>
            <p:nvPr/>
          </p:nvSpPr>
          <p:spPr>
            <a:xfrm>
              <a:off x="-63516900" y="3485625"/>
              <a:ext cx="79575" cy="29950"/>
            </a:xfrm>
            <a:custGeom>
              <a:avLst/>
              <a:gdLst/>
              <a:ahLst/>
              <a:cxnLst/>
              <a:rect l="l" t="t" r="r" b="b"/>
              <a:pathLst>
                <a:path w="3183" h="1198" extrusionOk="0">
                  <a:moveTo>
                    <a:pt x="1607" y="0"/>
                  </a:moveTo>
                  <a:cubicBezTo>
                    <a:pt x="820" y="0"/>
                    <a:pt x="190" y="504"/>
                    <a:pt x="1" y="1197"/>
                  </a:cubicBezTo>
                  <a:lnTo>
                    <a:pt x="3183" y="1197"/>
                  </a:lnTo>
                  <a:cubicBezTo>
                    <a:pt x="3025" y="504"/>
                    <a:pt x="2395" y="0"/>
                    <a:pt x="1607"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Slidesgo vector icon"/>
            <p:cNvSpPr/>
            <p:nvPr/>
          </p:nvSpPr>
          <p:spPr>
            <a:xfrm>
              <a:off x="-63618500" y="3360375"/>
              <a:ext cx="256775" cy="256600"/>
            </a:xfrm>
            <a:custGeom>
              <a:avLst/>
              <a:gdLst/>
              <a:ahLst/>
              <a:cxnLst/>
              <a:rect l="l" t="t" r="r" b="b"/>
              <a:pathLst>
                <a:path w="10271" h="10264" extrusionOk="0">
                  <a:moveTo>
                    <a:pt x="5703" y="1639"/>
                  </a:moveTo>
                  <a:cubicBezTo>
                    <a:pt x="6616" y="1639"/>
                    <a:pt x="7373" y="2395"/>
                    <a:pt x="7373" y="3309"/>
                  </a:cubicBezTo>
                  <a:cubicBezTo>
                    <a:pt x="7373" y="3750"/>
                    <a:pt x="7215" y="4128"/>
                    <a:pt x="6900" y="4443"/>
                  </a:cubicBezTo>
                  <a:cubicBezTo>
                    <a:pt x="7625" y="4884"/>
                    <a:pt x="8192" y="5672"/>
                    <a:pt x="8192" y="6617"/>
                  </a:cubicBezTo>
                  <a:cubicBezTo>
                    <a:pt x="8160" y="6900"/>
                    <a:pt x="8003" y="7058"/>
                    <a:pt x="7751" y="7058"/>
                  </a:cubicBezTo>
                  <a:lnTo>
                    <a:pt x="3623" y="7058"/>
                  </a:lnTo>
                  <a:cubicBezTo>
                    <a:pt x="3371" y="7058"/>
                    <a:pt x="3214" y="6837"/>
                    <a:pt x="3214" y="6617"/>
                  </a:cubicBezTo>
                  <a:cubicBezTo>
                    <a:pt x="3214" y="5672"/>
                    <a:pt x="3749" y="4884"/>
                    <a:pt x="4537" y="4443"/>
                  </a:cubicBezTo>
                  <a:cubicBezTo>
                    <a:pt x="4254" y="4128"/>
                    <a:pt x="4065" y="3718"/>
                    <a:pt x="4065" y="3309"/>
                  </a:cubicBezTo>
                  <a:cubicBezTo>
                    <a:pt x="4065" y="2395"/>
                    <a:pt x="4789" y="1639"/>
                    <a:pt x="5703" y="1639"/>
                  </a:cubicBezTo>
                  <a:close/>
                  <a:moveTo>
                    <a:pt x="5703" y="1"/>
                  </a:moveTo>
                  <a:cubicBezTo>
                    <a:pt x="3182" y="1"/>
                    <a:pt x="1135" y="2049"/>
                    <a:pt x="1135" y="4569"/>
                  </a:cubicBezTo>
                  <a:cubicBezTo>
                    <a:pt x="1135" y="5609"/>
                    <a:pt x="1481" y="6648"/>
                    <a:pt x="2206" y="7467"/>
                  </a:cubicBezTo>
                  <a:lnTo>
                    <a:pt x="1607" y="8066"/>
                  </a:lnTo>
                  <a:lnTo>
                    <a:pt x="756" y="7184"/>
                  </a:lnTo>
                  <a:cubicBezTo>
                    <a:pt x="678" y="7121"/>
                    <a:pt x="567" y="7089"/>
                    <a:pt x="457" y="7089"/>
                  </a:cubicBezTo>
                  <a:cubicBezTo>
                    <a:pt x="347" y="7089"/>
                    <a:pt x="237" y="7121"/>
                    <a:pt x="158" y="7184"/>
                  </a:cubicBezTo>
                  <a:cubicBezTo>
                    <a:pt x="0" y="7341"/>
                    <a:pt x="0" y="7625"/>
                    <a:pt x="158" y="7783"/>
                  </a:cubicBezTo>
                  <a:lnTo>
                    <a:pt x="1324" y="8980"/>
                  </a:lnTo>
                  <a:lnTo>
                    <a:pt x="2521" y="10145"/>
                  </a:lnTo>
                  <a:cubicBezTo>
                    <a:pt x="2600" y="10224"/>
                    <a:pt x="2710" y="10264"/>
                    <a:pt x="2820" y="10264"/>
                  </a:cubicBezTo>
                  <a:cubicBezTo>
                    <a:pt x="2930" y="10264"/>
                    <a:pt x="3041" y="10224"/>
                    <a:pt x="3119" y="10145"/>
                  </a:cubicBezTo>
                  <a:cubicBezTo>
                    <a:pt x="3277" y="9988"/>
                    <a:pt x="3277" y="9704"/>
                    <a:pt x="3119" y="9547"/>
                  </a:cubicBezTo>
                  <a:lnTo>
                    <a:pt x="2237" y="8696"/>
                  </a:lnTo>
                  <a:lnTo>
                    <a:pt x="2836" y="8098"/>
                  </a:lnTo>
                  <a:cubicBezTo>
                    <a:pt x="3655" y="8759"/>
                    <a:pt x="4695" y="9169"/>
                    <a:pt x="5734" y="9169"/>
                  </a:cubicBezTo>
                  <a:cubicBezTo>
                    <a:pt x="8255" y="9169"/>
                    <a:pt x="10271" y="7121"/>
                    <a:pt x="10271" y="4632"/>
                  </a:cubicBezTo>
                  <a:cubicBezTo>
                    <a:pt x="10239" y="2049"/>
                    <a:pt x="8223" y="1"/>
                    <a:pt x="5703"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Slidesgo vector icon"/>
            <p:cNvSpPr/>
            <p:nvPr/>
          </p:nvSpPr>
          <p:spPr>
            <a:xfrm>
              <a:off x="-63679950" y="3576200"/>
              <a:ext cx="102425" cy="100825"/>
            </a:xfrm>
            <a:custGeom>
              <a:avLst/>
              <a:gdLst/>
              <a:ahLst/>
              <a:cxnLst/>
              <a:rect l="l" t="t" r="r" b="b"/>
              <a:pathLst>
                <a:path w="4097" h="4033" extrusionOk="0">
                  <a:moveTo>
                    <a:pt x="2332" y="0"/>
                  </a:moveTo>
                  <a:lnTo>
                    <a:pt x="159" y="2142"/>
                  </a:lnTo>
                  <a:cubicBezTo>
                    <a:pt x="1" y="2300"/>
                    <a:pt x="1" y="2584"/>
                    <a:pt x="159" y="2741"/>
                  </a:cubicBezTo>
                  <a:lnTo>
                    <a:pt x="1356" y="3938"/>
                  </a:lnTo>
                  <a:cubicBezTo>
                    <a:pt x="1434" y="4001"/>
                    <a:pt x="1545" y="4033"/>
                    <a:pt x="1655" y="4033"/>
                  </a:cubicBezTo>
                  <a:cubicBezTo>
                    <a:pt x="1765" y="4033"/>
                    <a:pt x="1876" y="4001"/>
                    <a:pt x="1954" y="3938"/>
                  </a:cubicBezTo>
                  <a:lnTo>
                    <a:pt x="4097" y="1764"/>
                  </a:lnTo>
                  <a:lnTo>
                    <a:pt x="2332" y="0"/>
                  </a:ln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9" name="Text"/>
          <p:cNvSpPr txBox="1"/>
          <p:nvPr/>
        </p:nvSpPr>
        <p:spPr>
          <a:xfrm>
            <a:off x="1228725" y="1857375"/>
            <a:ext cx="1866900" cy="400050"/>
          </a:xfrm>
          <a:prstGeom prst="rect">
            <a:avLst/>
          </a:prstGeom>
          <a:noFill/>
          <a:ln w="9525">
            <a:noFill/>
          </a:ln>
        </p:spPr>
        <p:txBody>
          <a:bodyPr wrap="none" lIns="0" tIns="0" rIns="0" bIns="0" anchor="t">
            <a:noAutofit/>
          </a:bodyPr>
          <a:lstStyle/>
          <a:p>
            <a:pPr marL="0" indent="0" algn="l">
              <a:lnSpc>
                <a:spcPts val="2719"/>
              </a:lnSpc>
              <a:spcAft>
                <a:spcPts val="0"/>
              </a:spcAft>
              <a:buNone/>
            </a:pPr>
            <a:r>
              <a:rPr lang="en-US" sz="2175" b="1">
                <a:solidFill>
                  <a:srgbClr val="435D74"/>
                </a:solidFill>
                <a:latin typeface="Fira Sans Extra Condensed"/>
                <a:ea typeface="Fira Sans Extra Condensed"/>
                <a:cs typeface="Fira Sans Extra Condensed"/>
              </a:rPr>
              <a:t>Diagnostic</a:t>
            </a:r>
            <a:endParaRPr lang="en-US" sz="2175"/>
          </a:p>
        </p:txBody>
      </p:sp>
      <p:sp>
        <p:nvSpPr>
          <p:cNvPr id="20" name="Text"/>
          <p:cNvSpPr txBox="1"/>
          <p:nvPr/>
        </p:nvSpPr>
        <p:spPr>
          <a:xfrm>
            <a:off x="3095625" y="1866900"/>
            <a:ext cx="2209800" cy="371475"/>
          </a:xfrm>
          <a:prstGeom prst="rect">
            <a:avLst/>
          </a:prstGeom>
          <a:noFill/>
          <a:ln w="9525">
            <a:noFill/>
          </a:ln>
        </p:spPr>
        <p:txBody>
          <a:bodyPr wrap="none" lIns="0" tIns="0" rIns="0" bIns="0" anchor="t">
            <a:noAutofit/>
          </a:bodyPr>
          <a:lstStyle/>
          <a:p>
            <a:pPr marL="0" indent="0" algn="l">
              <a:lnSpc>
                <a:spcPts val="2062"/>
              </a:lnSpc>
              <a:spcAft>
                <a:spcPts val="0"/>
              </a:spcAft>
              <a:buNone/>
            </a:pPr>
            <a:r>
              <a:rPr lang="en-US" sz="1650" b="1">
                <a:solidFill>
                  <a:srgbClr val="435D74"/>
                </a:solidFill>
                <a:latin typeface="Roboto"/>
                <a:ea typeface="Roboto"/>
                <a:cs typeface="Roboto"/>
              </a:rPr>
              <a:t>Why did it happen?</a:t>
            </a:r>
            <a:endParaRPr lang="en-US" sz="1650"/>
          </a:p>
        </p:txBody>
      </p:sp>
      <p:sp>
        <p:nvSpPr>
          <p:cNvPr id="21" name="Text"/>
          <p:cNvSpPr txBox="1"/>
          <p:nvPr/>
        </p:nvSpPr>
        <p:spPr>
          <a:xfrm>
            <a:off x="5410200" y="1857375"/>
            <a:ext cx="3067050" cy="5619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a:solidFill>
                  <a:srgbClr val="435D74"/>
                </a:solidFill>
                <a:latin typeface="Roboto"/>
                <a:ea typeface="Roboto"/>
                <a:cs typeface="Roboto"/>
              </a:rPr>
              <a:t>Check if missing products caused lower</a:t>
            </a:r>
            <a:endParaRPr lang="en-US" sz="1350"/>
          </a:p>
          <a:p>
            <a:pPr marL="0" indent="0" algn="l">
              <a:lnSpc>
                <a:spcPts val="1688"/>
              </a:lnSpc>
              <a:spcAft>
                <a:spcPts val="0"/>
              </a:spcAft>
              <a:buNone/>
            </a:pPr>
            <a:r>
              <a:rPr lang="en-US" sz="1350" b="0">
                <a:solidFill>
                  <a:srgbClr val="435D74"/>
                </a:solidFill>
                <a:latin typeface="Roboto"/>
                <a:ea typeface="Roboto"/>
                <a:cs typeface="Roboto"/>
              </a:rPr>
              <a:t>sales.</a:t>
            </a:r>
            <a:endParaRPr lang="en-US" sz="1350"/>
          </a:p>
        </p:txBody>
      </p:sp>
      <p:cxnSp>
        <p:nvCxnSpPr>
          <p:cNvPr id="22" name="Connector"/>
          <p:cNvCxnSpPr/>
          <p:nvPr/>
        </p:nvCxnSpPr>
        <p:spPr>
          <a:xfrm>
            <a:off x="1228725" y="2495550"/>
            <a:ext cx="7419975" cy="95"/>
          </a:xfrm>
          <a:prstGeom prst="line">
            <a:avLst/>
          </a:prstGeom>
          <a:ln w="9525">
            <a:solidFill>
              <a:srgbClr val="D8E2E8"/>
            </a:solidFill>
          </a:ln>
        </p:spPr>
      </p:cxnSp>
      <p:grpSp>
        <p:nvGrpSpPr>
          <p:cNvPr id="23" name="Slidesgo vector icon"/>
          <p:cNvGrpSpPr/>
          <p:nvPr/>
        </p:nvGrpSpPr>
        <p:grpSpPr>
          <a:xfrm>
            <a:off x="647700" y="2686050"/>
            <a:ext cx="361950" cy="362912"/>
            <a:chOff x="-1333200" y="2770450"/>
            <a:chExt cx="291450" cy="292225"/>
          </a:xfrm>
        </p:grpSpPr>
        <p:sp>
          <p:nvSpPr>
            <p:cNvPr id="24" name="Slidesgo vector icon"/>
            <p:cNvSpPr/>
            <p:nvPr/>
          </p:nvSpPr>
          <p:spPr>
            <a:xfrm>
              <a:off x="-1299325" y="2808250"/>
              <a:ext cx="222925" cy="134725"/>
            </a:xfrm>
            <a:custGeom>
              <a:avLst/>
              <a:gdLst/>
              <a:ahLst/>
              <a:cxnLst/>
              <a:rect l="l" t="t" r="r" b="b"/>
              <a:pathLst>
                <a:path w="8917" h="5389" extrusionOk="0">
                  <a:moveTo>
                    <a:pt x="7877" y="631"/>
                  </a:moveTo>
                  <a:cubicBezTo>
                    <a:pt x="8066" y="631"/>
                    <a:pt x="8223" y="789"/>
                    <a:pt x="8223" y="978"/>
                  </a:cubicBezTo>
                  <a:cubicBezTo>
                    <a:pt x="8223" y="1167"/>
                    <a:pt x="8066" y="1324"/>
                    <a:pt x="7877" y="1324"/>
                  </a:cubicBezTo>
                  <a:cubicBezTo>
                    <a:pt x="7656" y="1324"/>
                    <a:pt x="7498" y="1167"/>
                    <a:pt x="7498" y="978"/>
                  </a:cubicBezTo>
                  <a:cubicBezTo>
                    <a:pt x="7498" y="789"/>
                    <a:pt x="7656" y="631"/>
                    <a:pt x="7877" y="631"/>
                  </a:cubicBezTo>
                  <a:close/>
                  <a:moveTo>
                    <a:pt x="3056" y="1293"/>
                  </a:moveTo>
                  <a:cubicBezTo>
                    <a:pt x="3245" y="1293"/>
                    <a:pt x="3403" y="1450"/>
                    <a:pt x="3403" y="1639"/>
                  </a:cubicBezTo>
                  <a:cubicBezTo>
                    <a:pt x="3403" y="1828"/>
                    <a:pt x="3245" y="1986"/>
                    <a:pt x="3056" y="1986"/>
                  </a:cubicBezTo>
                  <a:cubicBezTo>
                    <a:pt x="2867" y="1986"/>
                    <a:pt x="2710" y="1828"/>
                    <a:pt x="2710" y="1639"/>
                  </a:cubicBezTo>
                  <a:cubicBezTo>
                    <a:pt x="2741" y="1450"/>
                    <a:pt x="2899" y="1293"/>
                    <a:pt x="3056" y="1293"/>
                  </a:cubicBezTo>
                  <a:close/>
                  <a:moveTo>
                    <a:pt x="5797" y="3340"/>
                  </a:moveTo>
                  <a:cubicBezTo>
                    <a:pt x="6018" y="3340"/>
                    <a:pt x="6175" y="3498"/>
                    <a:pt x="6175" y="3687"/>
                  </a:cubicBezTo>
                  <a:cubicBezTo>
                    <a:pt x="6175" y="3876"/>
                    <a:pt x="6018" y="4034"/>
                    <a:pt x="5797" y="4034"/>
                  </a:cubicBezTo>
                  <a:cubicBezTo>
                    <a:pt x="5608" y="4034"/>
                    <a:pt x="5451" y="3876"/>
                    <a:pt x="5451" y="3687"/>
                  </a:cubicBezTo>
                  <a:cubicBezTo>
                    <a:pt x="5451" y="3498"/>
                    <a:pt x="5608" y="3340"/>
                    <a:pt x="5797" y="3340"/>
                  </a:cubicBezTo>
                  <a:close/>
                  <a:moveTo>
                    <a:pt x="1008" y="4034"/>
                  </a:moveTo>
                  <a:cubicBezTo>
                    <a:pt x="1198" y="4034"/>
                    <a:pt x="1355" y="4191"/>
                    <a:pt x="1355" y="4412"/>
                  </a:cubicBezTo>
                  <a:cubicBezTo>
                    <a:pt x="1355" y="4601"/>
                    <a:pt x="1198" y="4758"/>
                    <a:pt x="1008" y="4758"/>
                  </a:cubicBezTo>
                  <a:cubicBezTo>
                    <a:pt x="819" y="4758"/>
                    <a:pt x="662" y="4601"/>
                    <a:pt x="662" y="4412"/>
                  </a:cubicBezTo>
                  <a:cubicBezTo>
                    <a:pt x="662" y="4191"/>
                    <a:pt x="819" y="4034"/>
                    <a:pt x="1008" y="4034"/>
                  </a:cubicBezTo>
                  <a:close/>
                  <a:moveTo>
                    <a:pt x="7908" y="1"/>
                  </a:moveTo>
                  <a:cubicBezTo>
                    <a:pt x="7341" y="1"/>
                    <a:pt x="6868" y="474"/>
                    <a:pt x="6868" y="1009"/>
                  </a:cubicBezTo>
                  <a:cubicBezTo>
                    <a:pt x="6868" y="1198"/>
                    <a:pt x="6963" y="1419"/>
                    <a:pt x="7026" y="1576"/>
                  </a:cubicBezTo>
                  <a:lnTo>
                    <a:pt x="6112" y="2742"/>
                  </a:lnTo>
                  <a:cubicBezTo>
                    <a:pt x="6032" y="2722"/>
                    <a:pt x="5943" y="2711"/>
                    <a:pt x="5850" y="2711"/>
                  </a:cubicBezTo>
                  <a:cubicBezTo>
                    <a:pt x="5650" y="2711"/>
                    <a:pt x="5434" y="2760"/>
                    <a:pt x="5262" y="2868"/>
                  </a:cubicBezTo>
                  <a:lnTo>
                    <a:pt x="4096" y="1954"/>
                  </a:lnTo>
                  <a:cubicBezTo>
                    <a:pt x="4127" y="1891"/>
                    <a:pt x="4127" y="1765"/>
                    <a:pt x="4127" y="1639"/>
                  </a:cubicBezTo>
                  <a:cubicBezTo>
                    <a:pt x="4127" y="1104"/>
                    <a:pt x="3655" y="631"/>
                    <a:pt x="3088" y="631"/>
                  </a:cubicBezTo>
                  <a:cubicBezTo>
                    <a:pt x="2552" y="631"/>
                    <a:pt x="2080" y="1104"/>
                    <a:pt x="2080" y="1639"/>
                  </a:cubicBezTo>
                  <a:cubicBezTo>
                    <a:pt x="2080" y="1828"/>
                    <a:pt x="2143" y="2049"/>
                    <a:pt x="2237" y="2206"/>
                  </a:cubicBezTo>
                  <a:lnTo>
                    <a:pt x="1324" y="3372"/>
                  </a:lnTo>
                  <a:cubicBezTo>
                    <a:pt x="1261" y="3340"/>
                    <a:pt x="1134" y="3340"/>
                    <a:pt x="1008" y="3340"/>
                  </a:cubicBezTo>
                  <a:cubicBezTo>
                    <a:pt x="441" y="3340"/>
                    <a:pt x="0" y="3813"/>
                    <a:pt x="0" y="4349"/>
                  </a:cubicBezTo>
                  <a:cubicBezTo>
                    <a:pt x="0" y="4947"/>
                    <a:pt x="441" y="5388"/>
                    <a:pt x="1008" y="5388"/>
                  </a:cubicBezTo>
                  <a:cubicBezTo>
                    <a:pt x="1576" y="5388"/>
                    <a:pt x="2017" y="4916"/>
                    <a:pt x="2017" y="4349"/>
                  </a:cubicBezTo>
                  <a:cubicBezTo>
                    <a:pt x="2017" y="4160"/>
                    <a:pt x="1954" y="3971"/>
                    <a:pt x="1859" y="3813"/>
                  </a:cubicBezTo>
                  <a:lnTo>
                    <a:pt x="2773" y="2616"/>
                  </a:lnTo>
                  <a:cubicBezTo>
                    <a:pt x="2875" y="2650"/>
                    <a:pt x="2980" y="2667"/>
                    <a:pt x="3087" y="2667"/>
                  </a:cubicBezTo>
                  <a:cubicBezTo>
                    <a:pt x="3278" y="2667"/>
                    <a:pt x="3473" y="2611"/>
                    <a:pt x="3655" y="2490"/>
                  </a:cubicBezTo>
                  <a:lnTo>
                    <a:pt x="4821" y="3403"/>
                  </a:lnTo>
                  <a:cubicBezTo>
                    <a:pt x="4789" y="3498"/>
                    <a:pt x="4789" y="3624"/>
                    <a:pt x="4789" y="3719"/>
                  </a:cubicBezTo>
                  <a:cubicBezTo>
                    <a:pt x="4789" y="4286"/>
                    <a:pt x="5262" y="4758"/>
                    <a:pt x="5797" y="4758"/>
                  </a:cubicBezTo>
                  <a:cubicBezTo>
                    <a:pt x="6364" y="4758"/>
                    <a:pt x="6837" y="4286"/>
                    <a:pt x="6837" y="3719"/>
                  </a:cubicBezTo>
                  <a:cubicBezTo>
                    <a:pt x="6837" y="3529"/>
                    <a:pt x="6742" y="3340"/>
                    <a:pt x="6679" y="3183"/>
                  </a:cubicBezTo>
                  <a:lnTo>
                    <a:pt x="7593" y="1986"/>
                  </a:lnTo>
                  <a:cubicBezTo>
                    <a:pt x="7656" y="2049"/>
                    <a:pt x="7782" y="2049"/>
                    <a:pt x="7908" y="2049"/>
                  </a:cubicBezTo>
                  <a:cubicBezTo>
                    <a:pt x="8444" y="2049"/>
                    <a:pt x="8916" y="1576"/>
                    <a:pt x="8916" y="1009"/>
                  </a:cubicBezTo>
                  <a:cubicBezTo>
                    <a:pt x="8916" y="474"/>
                    <a:pt x="8444" y="1"/>
                    <a:pt x="790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Slidesgo vector icon"/>
            <p:cNvSpPr/>
            <p:nvPr/>
          </p:nvSpPr>
          <p:spPr>
            <a:xfrm>
              <a:off x="-1333200" y="2770450"/>
              <a:ext cx="291450" cy="292225"/>
            </a:xfrm>
            <a:custGeom>
              <a:avLst/>
              <a:gdLst/>
              <a:ahLst/>
              <a:cxnLst/>
              <a:rect l="l" t="t" r="r" b="b"/>
              <a:pathLst>
                <a:path w="11658" h="11689" extrusionOk="0">
                  <a:moveTo>
                    <a:pt x="10586" y="725"/>
                  </a:moveTo>
                  <a:cubicBezTo>
                    <a:pt x="10807" y="725"/>
                    <a:pt x="10964" y="883"/>
                    <a:pt x="10964" y="1072"/>
                  </a:cubicBezTo>
                  <a:lnTo>
                    <a:pt x="10964" y="7593"/>
                  </a:lnTo>
                  <a:lnTo>
                    <a:pt x="631" y="7593"/>
                  </a:lnTo>
                  <a:lnTo>
                    <a:pt x="631" y="1072"/>
                  </a:lnTo>
                  <a:cubicBezTo>
                    <a:pt x="662" y="883"/>
                    <a:pt x="820" y="725"/>
                    <a:pt x="977" y="725"/>
                  </a:cubicBezTo>
                  <a:close/>
                  <a:moveTo>
                    <a:pt x="10996" y="8286"/>
                  </a:moveTo>
                  <a:lnTo>
                    <a:pt x="10996" y="8633"/>
                  </a:lnTo>
                  <a:cubicBezTo>
                    <a:pt x="10996" y="8822"/>
                    <a:pt x="10838" y="8980"/>
                    <a:pt x="10618" y="8980"/>
                  </a:cubicBezTo>
                  <a:lnTo>
                    <a:pt x="1009" y="8980"/>
                  </a:lnTo>
                  <a:cubicBezTo>
                    <a:pt x="820" y="8980"/>
                    <a:pt x="662" y="8822"/>
                    <a:pt x="662" y="8633"/>
                  </a:cubicBezTo>
                  <a:lnTo>
                    <a:pt x="662" y="8286"/>
                  </a:lnTo>
                  <a:close/>
                  <a:moveTo>
                    <a:pt x="6617" y="9641"/>
                  </a:moveTo>
                  <a:lnTo>
                    <a:pt x="6932" y="11027"/>
                  </a:lnTo>
                  <a:lnTo>
                    <a:pt x="4632" y="11027"/>
                  </a:lnTo>
                  <a:lnTo>
                    <a:pt x="4947" y="9641"/>
                  </a:lnTo>
                  <a:close/>
                  <a:moveTo>
                    <a:pt x="1009" y="1"/>
                  </a:moveTo>
                  <a:cubicBezTo>
                    <a:pt x="473" y="1"/>
                    <a:pt x="1" y="473"/>
                    <a:pt x="1" y="1040"/>
                  </a:cubicBezTo>
                  <a:lnTo>
                    <a:pt x="1" y="8570"/>
                  </a:lnTo>
                  <a:cubicBezTo>
                    <a:pt x="1" y="9137"/>
                    <a:pt x="473" y="9610"/>
                    <a:pt x="1009" y="9610"/>
                  </a:cubicBezTo>
                  <a:lnTo>
                    <a:pt x="4285" y="9610"/>
                  </a:lnTo>
                  <a:lnTo>
                    <a:pt x="3970" y="10996"/>
                  </a:lnTo>
                  <a:lnTo>
                    <a:pt x="3057" y="10996"/>
                  </a:lnTo>
                  <a:cubicBezTo>
                    <a:pt x="2868" y="10996"/>
                    <a:pt x="2710" y="11153"/>
                    <a:pt x="2710" y="11342"/>
                  </a:cubicBezTo>
                  <a:cubicBezTo>
                    <a:pt x="2710" y="11531"/>
                    <a:pt x="2868" y="11689"/>
                    <a:pt x="3057" y="11689"/>
                  </a:cubicBezTo>
                  <a:lnTo>
                    <a:pt x="8538" y="11689"/>
                  </a:lnTo>
                  <a:cubicBezTo>
                    <a:pt x="8727" y="11689"/>
                    <a:pt x="8885" y="11531"/>
                    <a:pt x="8885" y="11342"/>
                  </a:cubicBezTo>
                  <a:cubicBezTo>
                    <a:pt x="8885" y="11153"/>
                    <a:pt x="8727" y="10996"/>
                    <a:pt x="8538" y="10996"/>
                  </a:cubicBezTo>
                  <a:lnTo>
                    <a:pt x="7625" y="10996"/>
                  </a:lnTo>
                  <a:lnTo>
                    <a:pt x="7310" y="9610"/>
                  </a:lnTo>
                  <a:lnTo>
                    <a:pt x="10618" y="9610"/>
                  </a:lnTo>
                  <a:cubicBezTo>
                    <a:pt x="11185" y="9610"/>
                    <a:pt x="11657" y="9137"/>
                    <a:pt x="11657" y="8570"/>
                  </a:cubicBezTo>
                  <a:lnTo>
                    <a:pt x="11657" y="1040"/>
                  </a:lnTo>
                  <a:cubicBezTo>
                    <a:pt x="11657" y="473"/>
                    <a:pt x="11185" y="1"/>
                    <a:pt x="1061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 name="Text"/>
          <p:cNvSpPr txBox="1"/>
          <p:nvPr/>
        </p:nvSpPr>
        <p:spPr>
          <a:xfrm>
            <a:off x="1228725" y="2609850"/>
            <a:ext cx="1866900" cy="400050"/>
          </a:xfrm>
          <a:prstGeom prst="rect">
            <a:avLst/>
          </a:prstGeom>
          <a:noFill/>
          <a:ln w="9525">
            <a:noFill/>
          </a:ln>
        </p:spPr>
        <p:txBody>
          <a:bodyPr wrap="none" lIns="0" tIns="0" rIns="0" bIns="0" anchor="t">
            <a:noAutofit/>
          </a:bodyPr>
          <a:lstStyle/>
          <a:p>
            <a:pPr marL="0" indent="0" algn="l">
              <a:lnSpc>
                <a:spcPts val="2719"/>
              </a:lnSpc>
              <a:spcAft>
                <a:spcPts val="0"/>
              </a:spcAft>
              <a:buNone/>
            </a:pPr>
            <a:r>
              <a:rPr lang="en-US" sz="2175" b="1">
                <a:solidFill>
                  <a:srgbClr val="435D74"/>
                </a:solidFill>
                <a:latin typeface="Fira Sans Extra Condensed"/>
                <a:ea typeface="Fira Sans Extra Condensed"/>
                <a:cs typeface="Fira Sans Extra Condensed"/>
              </a:rPr>
              <a:t>Predictive</a:t>
            </a:r>
            <a:endParaRPr lang="en-US" sz="2175"/>
          </a:p>
        </p:txBody>
      </p:sp>
      <p:sp>
        <p:nvSpPr>
          <p:cNvPr id="27" name="Text"/>
          <p:cNvSpPr txBox="1"/>
          <p:nvPr/>
        </p:nvSpPr>
        <p:spPr>
          <a:xfrm>
            <a:off x="3095625" y="2619375"/>
            <a:ext cx="2209800" cy="371475"/>
          </a:xfrm>
          <a:prstGeom prst="rect">
            <a:avLst/>
          </a:prstGeom>
          <a:noFill/>
          <a:ln w="9525">
            <a:noFill/>
          </a:ln>
        </p:spPr>
        <p:txBody>
          <a:bodyPr wrap="none" lIns="0" tIns="0" rIns="0" bIns="0" anchor="t">
            <a:noAutofit/>
          </a:bodyPr>
          <a:lstStyle/>
          <a:p>
            <a:pPr marL="0" indent="0" algn="l">
              <a:lnSpc>
                <a:spcPts val="2062"/>
              </a:lnSpc>
              <a:spcAft>
                <a:spcPts val="0"/>
              </a:spcAft>
              <a:buNone/>
            </a:pPr>
            <a:r>
              <a:rPr lang="en-US" sz="1650" b="1">
                <a:solidFill>
                  <a:srgbClr val="435D74"/>
                </a:solidFill>
                <a:latin typeface="Roboto"/>
                <a:ea typeface="Roboto"/>
                <a:cs typeface="Roboto"/>
              </a:rPr>
              <a:t>What may happen?</a:t>
            </a:r>
            <a:endParaRPr lang="en-US" sz="1650"/>
          </a:p>
        </p:txBody>
      </p:sp>
      <p:sp>
        <p:nvSpPr>
          <p:cNvPr id="28" name="Text"/>
          <p:cNvSpPr txBox="1"/>
          <p:nvPr/>
        </p:nvSpPr>
        <p:spPr>
          <a:xfrm>
            <a:off x="5410200" y="2609850"/>
            <a:ext cx="3067050" cy="5619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a:solidFill>
                  <a:srgbClr val="435D74"/>
                </a:solidFill>
                <a:latin typeface="Roboto"/>
                <a:ea typeface="Roboto"/>
                <a:cs typeface="Roboto"/>
              </a:rPr>
              <a:t>Predict next month's demand.</a:t>
            </a:r>
            <a:endParaRPr lang="en-US" sz="1350"/>
          </a:p>
        </p:txBody>
      </p:sp>
      <p:cxnSp>
        <p:nvCxnSpPr>
          <p:cNvPr id="29" name="Connector"/>
          <p:cNvCxnSpPr/>
          <p:nvPr/>
        </p:nvCxnSpPr>
        <p:spPr>
          <a:xfrm>
            <a:off x="1228725" y="3248025"/>
            <a:ext cx="7419975" cy="95"/>
          </a:xfrm>
          <a:prstGeom prst="line">
            <a:avLst/>
          </a:prstGeom>
          <a:ln w="9525">
            <a:solidFill>
              <a:srgbClr val="D8E2E8"/>
            </a:solidFill>
          </a:ln>
        </p:spPr>
      </p:cxnSp>
      <p:sp>
        <p:nvSpPr>
          <p:cNvPr id="30" name="Panel"/>
          <p:cNvSpPr/>
          <p:nvPr/>
        </p:nvSpPr>
        <p:spPr>
          <a:xfrm>
            <a:off x="495300" y="3305175"/>
            <a:ext cx="8153400" cy="704850"/>
          </a:xfrm>
          <a:prstGeom prst="roundRect">
            <a:avLst>
              <a:gd name="adj" fmla="val 10000"/>
            </a:avLst>
          </a:prstGeom>
          <a:solidFill>
            <a:srgbClr val="435D74"/>
          </a:solidFill>
          <a:ln w="9525">
            <a:noFill/>
          </a:ln>
        </p:spPr>
        <p:txBody>
          <a:bodyPr/>
          <a:lstStyle/>
          <a:p>
            <a:endParaRPr lang="en-US"/>
          </a:p>
        </p:txBody>
      </p:sp>
      <p:grpSp>
        <p:nvGrpSpPr>
          <p:cNvPr id="31" name="Slidesgo vector icon"/>
          <p:cNvGrpSpPr/>
          <p:nvPr/>
        </p:nvGrpSpPr>
        <p:grpSpPr>
          <a:xfrm>
            <a:off x="647700" y="3438525"/>
            <a:ext cx="361950" cy="359408"/>
            <a:chOff x="-63250675" y="3744075"/>
            <a:chExt cx="320350" cy="318100"/>
          </a:xfrm>
        </p:grpSpPr>
        <p:sp>
          <p:nvSpPr>
            <p:cNvPr id="32" name="Slidesgo vector icon"/>
            <p:cNvSpPr/>
            <p:nvPr/>
          </p:nvSpPr>
          <p:spPr>
            <a:xfrm>
              <a:off x="-63126250" y="3744075"/>
              <a:ext cx="195925" cy="192875"/>
            </a:xfrm>
            <a:custGeom>
              <a:avLst/>
              <a:gdLst/>
              <a:ahLst/>
              <a:cxnLst/>
              <a:rect l="l" t="t" r="r" b="b"/>
              <a:pathLst>
                <a:path w="7837" h="7715" extrusionOk="0">
                  <a:moveTo>
                    <a:pt x="6020" y="0"/>
                  </a:moveTo>
                  <a:cubicBezTo>
                    <a:pt x="5921" y="0"/>
                    <a:pt x="5820" y="37"/>
                    <a:pt x="5735" y="122"/>
                  </a:cubicBezTo>
                  <a:lnTo>
                    <a:pt x="4097" y="1760"/>
                  </a:lnTo>
                  <a:cubicBezTo>
                    <a:pt x="4034" y="1854"/>
                    <a:pt x="3971" y="1917"/>
                    <a:pt x="3971" y="2012"/>
                  </a:cubicBezTo>
                  <a:lnTo>
                    <a:pt x="3782" y="3304"/>
                  </a:lnTo>
                  <a:lnTo>
                    <a:pt x="1734" y="5351"/>
                  </a:lnTo>
                  <a:cubicBezTo>
                    <a:pt x="1576" y="5288"/>
                    <a:pt x="1387" y="5225"/>
                    <a:pt x="1230" y="5225"/>
                  </a:cubicBezTo>
                  <a:cubicBezTo>
                    <a:pt x="537" y="5225"/>
                    <a:pt x="1" y="5793"/>
                    <a:pt x="1" y="6486"/>
                  </a:cubicBezTo>
                  <a:cubicBezTo>
                    <a:pt x="1" y="7210"/>
                    <a:pt x="537" y="7714"/>
                    <a:pt x="1230" y="7714"/>
                  </a:cubicBezTo>
                  <a:cubicBezTo>
                    <a:pt x="1891" y="7714"/>
                    <a:pt x="2458" y="7179"/>
                    <a:pt x="2458" y="6486"/>
                  </a:cubicBezTo>
                  <a:cubicBezTo>
                    <a:pt x="2458" y="6297"/>
                    <a:pt x="2395" y="6139"/>
                    <a:pt x="2332" y="5982"/>
                  </a:cubicBezTo>
                  <a:lnTo>
                    <a:pt x="4380" y="3934"/>
                  </a:lnTo>
                  <a:lnTo>
                    <a:pt x="5672" y="3745"/>
                  </a:lnTo>
                  <a:cubicBezTo>
                    <a:pt x="5735" y="3745"/>
                    <a:pt x="5829" y="3713"/>
                    <a:pt x="5924" y="3619"/>
                  </a:cubicBezTo>
                  <a:lnTo>
                    <a:pt x="7562" y="1980"/>
                  </a:lnTo>
                  <a:cubicBezTo>
                    <a:pt x="7837" y="1706"/>
                    <a:pt x="7609" y="1254"/>
                    <a:pt x="7251" y="1254"/>
                  </a:cubicBezTo>
                  <a:cubicBezTo>
                    <a:pt x="7240" y="1254"/>
                    <a:pt x="7228" y="1255"/>
                    <a:pt x="7216" y="1256"/>
                  </a:cubicBezTo>
                  <a:lnTo>
                    <a:pt x="6302" y="1382"/>
                  </a:lnTo>
                  <a:lnTo>
                    <a:pt x="6428" y="468"/>
                  </a:lnTo>
                  <a:cubicBezTo>
                    <a:pt x="6472" y="203"/>
                    <a:pt x="6253" y="0"/>
                    <a:pt x="6020"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Slidesgo vector icon"/>
            <p:cNvSpPr/>
            <p:nvPr/>
          </p:nvSpPr>
          <p:spPr>
            <a:xfrm>
              <a:off x="-63190025" y="3814050"/>
              <a:ext cx="186675" cy="185900"/>
            </a:xfrm>
            <a:custGeom>
              <a:avLst/>
              <a:gdLst/>
              <a:ahLst/>
              <a:cxnLst/>
              <a:rect l="l" t="t" r="r" b="b"/>
              <a:pathLst>
                <a:path w="7467" h="7436" extrusionOk="0">
                  <a:moveTo>
                    <a:pt x="3718" y="1"/>
                  </a:moveTo>
                  <a:cubicBezTo>
                    <a:pt x="1670" y="1"/>
                    <a:pt x="0" y="1670"/>
                    <a:pt x="0" y="3750"/>
                  </a:cubicBezTo>
                  <a:cubicBezTo>
                    <a:pt x="0" y="5797"/>
                    <a:pt x="1638" y="7436"/>
                    <a:pt x="3718" y="7436"/>
                  </a:cubicBezTo>
                  <a:cubicBezTo>
                    <a:pt x="5765" y="7436"/>
                    <a:pt x="7467" y="5797"/>
                    <a:pt x="7467" y="3750"/>
                  </a:cubicBezTo>
                  <a:cubicBezTo>
                    <a:pt x="7467" y="3151"/>
                    <a:pt x="7341" y="2647"/>
                    <a:pt x="7120" y="2143"/>
                  </a:cubicBezTo>
                  <a:lnTo>
                    <a:pt x="5828" y="3435"/>
                  </a:lnTo>
                  <a:cubicBezTo>
                    <a:pt x="5828" y="3498"/>
                    <a:pt x="5860" y="3624"/>
                    <a:pt x="5860" y="3718"/>
                  </a:cubicBezTo>
                  <a:cubicBezTo>
                    <a:pt x="5860" y="4852"/>
                    <a:pt x="4915" y="5797"/>
                    <a:pt x="3781" y="5797"/>
                  </a:cubicBezTo>
                  <a:cubicBezTo>
                    <a:pt x="2615" y="5797"/>
                    <a:pt x="1670" y="4852"/>
                    <a:pt x="1670" y="3718"/>
                  </a:cubicBezTo>
                  <a:cubicBezTo>
                    <a:pt x="1733" y="2552"/>
                    <a:pt x="2615" y="1607"/>
                    <a:pt x="3781" y="1607"/>
                  </a:cubicBezTo>
                  <a:cubicBezTo>
                    <a:pt x="3875" y="1607"/>
                    <a:pt x="3970" y="1607"/>
                    <a:pt x="4033" y="1670"/>
                  </a:cubicBezTo>
                  <a:lnTo>
                    <a:pt x="5356" y="347"/>
                  </a:lnTo>
                  <a:cubicBezTo>
                    <a:pt x="4883" y="127"/>
                    <a:pt x="4316" y="1"/>
                    <a:pt x="3718"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Slidesgo vector icon"/>
            <p:cNvSpPr/>
            <p:nvPr/>
          </p:nvSpPr>
          <p:spPr>
            <a:xfrm>
              <a:off x="-63250675" y="3751050"/>
              <a:ext cx="311125" cy="311125"/>
            </a:xfrm>
            <a:custGeom>
              <a:avLst/>
              <a:gdLst/>
              <a:ahLst/>
              <a:cxnLst/>
              <a:rect l="l" t="t" r="r" b="b"/>
              <a:pathLst>
                <a:path w="12445" h="12445" extrusionOk="0">
                  <a:moveTo>
                    <a:pt x="6270" y="0"/>
                  </a:moveTo>
                  <a:cubicBezTo>
                    <a:pt x="2773" y="0"/>
                    <a:pt x="0" y="2804"/>
                    <a:pt x="0" y="6238"/>
                  </a:cubicBezTo>
                  <a:cubicBezTo>
                    <a:pt x="0" y="9641"/>
                    <a:pt x="2804" y="12445"/>
                    <a:pt x="6238" y="12445"/>
                  </a:cubicBezTo>
                  <a:cubicBezTo>
                    <a:pt x="9672" y="12445"/>
                    <a:pt x="12445" y="9641"/>
                    <a:pt x="12445" y="6238"/>
                  </a:cubicBezTo>
                  <a:cubicBezTo>
                    <a:pt x="12445" y="5325"/>
                    <a:pt x="12256" y="4411"/>
                    <a:pt x="11878" y="3592"/>
                  </a:cubicBezTo>
                  <a:lnTo>
                    <a:pt x="11563" y="3907"/>
                  </a:lnTo>
                  <a:cubicBezTo>
                    <a:pt x="11342" y="4096"/>
                    <a:pt x="11121" y="4222"/>
                    <a:pt x="10838" y="4253"/>
                  </a:cubicBezTo>
                  <a:lnTo>
                    <a:pt x="10397" y="4348"/>
                  </a:lnTo>
                  <a:cubicBezTo>
                    <a:pt x="10680" y="4915"/>
                    <a:pt x="10806" y="5545"/>
                    <a:pt x="10806" y="6238"/>
                  </a:cubicBezTo>
                  <a:cubicBezTo>
                    <a:pt x="10806" y="8759"/>
                    <a:pt x="8759" y="10743"/>
                    <a:pt x="6270" y="10743"/>
                  </a:cubicBezTo>
                  <a:cubicBezTo>
                    <a:pt x="3781" y="10743"/>
                    <a:pt x="1733" y="8696"/>
                    <a:pt x="1733" y="6238"/>
                  </a:cubicBezTo>
                  <a:cubicBezTo>
                    <a:pt x="1733" y="3718"/>
                    <a:pt x="3781" y="1670"/>
                    <a:pt x="6270" y="1670"/>
                  </a:cubicBezTo>
                  <a:cubicBezTo>
                    <a:pt x="6931" y="1670"/>
                    <a:pt x="7561" y="1796"/>
                    <a:pt x="8160" y="2048"/>
                  </a:cubicBezTo>
                  <a:lnTo>
                    <a:pt x="8254" y="1607"/>
                  </a:lnTo>
                  <a:cubicBezTo>
                    <a:pt x="8286" y="1355"/>
                    <a:pt x="8412" y="1103"/>
                    <a:pt x="8601" y="914"/>
                  </a:cubicBezTo>
                  <a:lnTo>
                    <a:pt x="8916" y="599"/>
                  </a:lnTo>
                  <a:cubicBezTo>
                    <a:pt x="8097" y="189"/>
                    <a:pt x="7215" y="0"/>
                    <a:pt x="6270"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5" name="Text"/>
          <p:cNvSpPr txBox="1"/>
          <p:nvPr/>
        </p:nvSpPr>
        <p:spPr>
          <a:xfrm>
            <a:off x="1228725" y="3362325"/>
            <a:ext cx="1866900" cy="400050"/>
          </a:xfrm>
          <a:prstGeom prst="rect">
            <a:avLst/>
          </a:prstGeom>
          <a:noFill/>
          <a:ln w="9525">
            <a:noFill/>
          </a:ln>
        </p:spPr>
        <p:txBody>
          <a:bodyPr wrap="none" lIns="0" tIns="0" rIns="0" bIns="0" anchor="t">
            <a:noAutofit/>
          </a:bodyPr>
          <a:lstStyle/>
          <a:p>
            <a:pPr marL="0" indent="0" algn="l">
              <a:lnSpc>
                <a:spcPts val="2719"/>
              </a:lnSpc>
              <a:spcAft>
                <a:spcPts val="0"/>
              </a:spcAft>
              <a:buNone/>
            </a:pPr>
            <a:r>
              <a:rPr lang="en-US" sz="2175" b="1">
                <a:solidFill>
                  <a:srgbClr val="FFFFFF"/>
                </a:solidFill>
                <a:latin typeface="Fira Sans Extra Condensed"/>
                <a:ea typeface="Fira Sans Extra Condensed"/>
                <a:cs typeface="Fira Sans Extra Condensed"/>
              </a:rPr>
              <a:t>Prescriptive</a:t>
            </a:r>
            <a:endParaRPr lang="en-US" sz="2175"/>
          </a:p>
        </p:txBody>
      </p:sp>
      <p:sp>
        <p:nvSpPr>
          <p:cNvPr id="36" name="Text"/>
          <p:cNvSpPr txBox="1"/>
          <p:nvPr/>
        </p:nvSpPr>
        <p:spPr>
          <a:xfrm>
            <a:off x="3095625" y="3371850"/>
            <a:ext cx="2209800" cy="371475"/>
          </a:xfrm>
          <a:prstGeom prst="rect">
            <a:avLst/>
          </a:prstGeom>
          <a:noFill/>
          <a:ln w="9525">
            <a:noFill/>
          </a:ln>
        </p:spPr>
        <p:txBody>
          <a:bodyPr wrap="none" lIns="0" tIns="0" rIns="0" bIns="0" anchor="t">
            <a:noAutofit/>
          </a:bodyPr>
          <a:lstStyle/>
          <a:p>
            <a:pPr marL="0" indent="0" algn="l">
              <a:lnSpc>
                <a:spcPts val="2062"/>
              </a:lnSpc>
              <a:spcAft>
                <a:spcPts val="0"/>
              </a:spcAft>
              <a:buNone/>
            </a:pPr>
            <a:r>
              <a:rPr lang="en-US" sz="1650" b="1">
                <a:solidFill>
                  <a:srgbClr val="5FD0DB"/>
                </a:solidFill>
                <a:latin typeface="Roboto"/>
                <a:ea typeface="Roboto"/>
                <a:cs typeface="Roboto"/>
              </a:rPr>
              <a:t>What should we do?</a:t>
            </a:r>
            <a:endParaRPr lang="en-US" sz="1650"/>
          </a:p>
        </p:txBody>
      </p:sp>
      <p:sp>
        <p:nvSpPr>
          <p:cNvPr id="37" name="Text"/>
          <p:cNvSpPr txBox="1"/>
          <p:nvPr/>
        </p:nvSpPr>
        <p:spPr>
          <a:xfrm>
            <a:off x="5410200" y="3362325"/>
            <a:ext cx="3067050" cy="5619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a:solidFill>
                  <a:srgbClr val="FFFFFF"/>
                </a:solidFill>
                <a:latin typeface="Roboto"/>
                <a:ea typeface="Roboto"/>
                <a:cs typeface="Roboto"/>
              </a:rPr>
              <a:t>Decide how much stock to send to each</a:t>
            </a:r>
            <a:endParaRPr lang="en-US" sz="1350"/>
          </a:p>
          <a:p>
            <a:pPr marL="0" indent="0" algn="l">
              <a:lnSpc>
                <a:spcPts val="1688"/>
              </a:lnSpc>
              <a:spcAft>
                <a:spcPts val="0"/>
              </a:spcAft>
              <a:buNone/>
            </a:pPr>
            <a:r>
              <a:rPr lang="en-US" sz="1350" b="0">
                <a:solidFill>
                  <a:srgbClr val="FFFFFF"/>
                </a:solidFill>
                <a:latin typeface="Roboto"/>
                <a:ea typeface="Roboto"/>
                <a:cs typeface="Roboto"/>
              </a:rPr>
              <a:t>store.</a:t>
            </a:r>
            <a:endParaRPr lang="en-US" sz="1350"/>
          </a:p>
        </p:txBody>
      </p:sp>
      <p:sp>
        <p:nvSpPr>
          <p:cNvPr id="38" name="Text"/>
          <p:cNvSpPr txBox="1"/>
          <p:nvPr/>
        </p:nvSpPr>
        <p:spPr>
          <a:xfrm>
            <a:off x="495300" y="4295775"/>
            <a:ext cx="8153400" cy="323850"/>
          </a:xfrm>
          <a:prstGeom prst="rect">
            <a:avLst/>
          </a:prstGeom>
          <a:noFill/>
          <a:ln w="9525">
            <a:noFill/>
          </a:ln>
        </p:spPr>
        <p:txBody>
          <a:bodyPr wrap="none" lIns="0" tIns="0" rIns="0" bIns="0" anchor="t">
            <a:noAutofit/>
          </a:bodyPr>
          <a:lstStyle/>
          <a:p>
            <a:pPr marL="0" indent="0" algn="l">
              <a:lnSpc>
                <a:spcPts val="1594"/>
              </a:lnSpc>
              <a:spcAft>
                <a:spcPts val="0"/>
              </a:spcAft>
              <a:buNone/>
            </a:pPr>
            <a:r>
              <a:rPr lang="en-US" sz="1275" b="0">
                <a:solidFill>
                  <a:srgbClr val="6D8495"/>
                </a:solidFill>
                <a:latin typeface="Roboto"/>
                <a:ea typeface="Roboto"/>
                <a:cs typeface="Roboto"/>
              </a:rPr>
              <a:t>Stock = products available. Demand = how much customers want to buy.</a:t>
            </a:r>
            <a:endParaRPr lang="en-US" sz="12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name="The role of prescriptive analytics">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The role of prescriptive analytics</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algn="r">
              <a:lnSpc>
                <a:spcPts val="1031"/>
              </a:lnSpc>
            </a:pPr>
            <a:r>
              <a:rPr lang="en-US" sz="825" b="0" dirty="0">
                <a:solidFill>
                  <a:srgbClr val="6D8495"/>
                </a:solidFill>
                <a:latin typeface="Roboto"/>
                <a:ea typeface="Roboto"/>
                <a:cs typeface="Roboto"/>
              </a:rPr>
              <a:t>04 </a:t>
            </a:r>
            <a:r>
              <a:rPr lang="en-US" sz="825" dirty="0">
                <a:solidFill>
                  <a:srgbClr val="6D8495"/>
                </a:solidFill>
                <a:latin typeface="Roboto"/>
                <a:ea typeface="Roboto"/>
                <a:cs typeface="Roboto"/>
              </a:rPr>
              <a:t>/ 14</a:t>
            </a:r>
            <a:endParaRPr lang="en-US" sz="825" dirty="0"/>
          </a:p>
        </p:txBody>
      </p:sp>
      <p:sp>
        <p:nvSpPr>
          <p:cNvPr id="7" name="Panel"/>
          <p:cNvSpPr/>
          <p:nvPr/>
        </p:nvSpPr>
        <p:spPr>
          <a:xfrm>
            <a:off x="495300" y="1200150"/>
            <a:ext cx="3390900" cy="1238250"/>
          </a:xfrm>
          <a:prstGeom prst="roundRect">
            <a:avLst>
              <a:gd name="adj" fmla="val 10000"/>
            </a:avLst>
          </a:prstGeom>
          <a:solidFill>
            <a:srgbClr val="F3F6F8"/>
          </a:solidFill>
          <a:ln w="9525">
            <a:noFill/>
          </a:ln>
        </p:spPr>
        <p:txBody>
          <a:bodyPr/>
          <a:lstStyle/>
          <a:p>
            <a:endParaRPr lang="en-US"/>
          </a:p>
        </p:txBody>
      </p:sp>
      <p:grpSp>
        <p:nvGrpSpPr>
          <p:cNvPr id="8" name="Slidesgo vector icon"/>
          <p:cNvGrpSpPr/>
          <p:nvPr/>
        </p:nvGrpSpPr>
        <p:grpSpPr>
          <a:xfrm>
            <a:off x="742950" y="1438275"/>
            <a:ext cx="438150" cy="439314"/>
            <a:chOff x="-1333200" y="2770450"/>
            <a:chExt cx="291450" cy="292225"/>
          </a:xfrm>
        </p:grpSpPr>
        <p:sp>
          <p:nvSpPr>
            <p:cNvPr id="9" name="Slidesgo vector icon"/>
            <p:cNvSpPr/>
            <p:nvPr/>
          </p:nvSpPr>
          <p:spPr>
            <a:xfrm>
              <a:off x="-1299325" y="2808250"/>
              <a:ext cx="222925" cy="134725"/>
            </a:xfrm>
            <a:custGeom>
              <a:avLst/>
              <a:gdLst/>
              <a:ahLst/>
              <a:cxnLst/>
              <a:rect l="l" t="t" r="r" b="b"/>
              <a:pathLst>
                <a:path w="8917" h="5389" extrusionOk="0">
                  <a:moveTo>
                    <a:pt x="7877" y="631"/>
                  </a:moveTo>
                  <a:cubicBezTo>
                    <a:pt x="8066" y="631"/>
                    <a:pt x="8223" y="789"/>
                    <a:pt x="8223" y="978"/>
                  </a:cubicBezTo>
                  <a:cubicBezTo>
                    <a:pt x="8223" y="1167"/>
                    <a:pt x="8066" y="1324"/>
                    <a:pt x="7877" y="1324"/>
                  </a:cubicBezTo>
                  <a:cubicBezTo>
                    <a:pt x="7656" y="1324"/>
                    <a:pt x="7498" y="1167"/>
                    <a:pt x="7498" y="978"/>
                  </a:cubicBezTo>
                  <a:cubicBezTo>
                    <a:pt x="7498" y="789"/>
                    <a:pt x="7656" y="631"/>
                    <a:pt x="7877" y="631"/>
                  </a:cubicBezTo>
                  <a:close/>
                  <a:moveTo>
                    <a:pt x="3056" y="1293"/>
                  </a:moveTo>
                  <a:cubicBezTo>
                    <a:pt x="3245" y="1293"/>
                    <a:pt x="3403" y="1450"/>
                    <a:pt x="3403" y="1639"/>
                  </a:cubicBezTo>
                  <a:cubicBezTo>
                    <a:pt x="3403" y="1828"/>
                    <a:pt x="3245" y="1986"/>
                    <a:pt x="3056" y="1986"/>
                  </a:cubicBezTo>
                  <a:cubicBezTo>
                    <a:pt x="2867" y="1986"/>
                    <a:pt x="2710" y="1828"/>
                    <a:pt x="2710" y="1639"/>
                  </a:cubicBezTo>
                  <a:cubicBezTo>
                    <a:pt x="2741" y="1450"/>
                    <a:pt x="2899" y="1293"/>
                    <a:pt x="3056" y="1293"/>
                  </a:cubicBezTo>
                  <a:close/>
                  <a:moveTo>
                    <a:pt x="5797" y="3340"/>
                  </a:moveTo>
                  <a:cubicBezTo>
                    <a:pt x="6018" y="3340"/>
                    <a:pt x="6175" y="3498"/>
                    <a:pt x="6175" y="3687"/>
                  </a:cubicBezTo>
                  <a:cubicBezTo>
                    <a:pt x="6175" y="3876"/>
                    <a:pt x="6018" y="4034"/>
                    <a:pt x="5797" y="4034"/>
                  </a:cubicBezTo>
                  <a:cubicBezTo>
                    <a:pt x="5608" y="4034"/>
                    <a:pt x="5451" y="3876"/>
                    <a:pt x="5451" y="3687"/>
                  </a:cubicBezTo>
                  <a:cubicBezTo>
                    <a:pt x="5451" y="3498"/>
                    <a:pt x="5608" y="3340"/>
                    <a:pt x="5797" y="3340"/>
                  </a:cubicBezTo>
                  <a:close/>
                  <a:moveTo>
                    <a:pt x="1008" y="4034"/>
                  </a:moveTo>
                  <a:cubicBezTo>
                    <a:pt x="1198" y="4034"/>
                    <a:pt x="1355" y="4191"/>
                    <a:pt x="1355" y="4412"/>
                  </a:cubicBezTo>
                  <a:cubicBezTo>
                    <a:pt x="1355" y="4601"/>
                    <a:pt x="1198" y="4758"/>
                    <a:pt x="1008" y="4758"/>
                  </a:cubicBezTo>
                  <a:cubicBezTo>
                    <a:pt x="819" y="4758"/>
                    <a:pt x="662" y="4601"/>
                    <a:pt x="662" y="4412"/>
                  </a:cubicBezTo>
                  <a:cubicBezTo>
                    <a:pt x="662" y="4191"/>
                    <a:pt x="819" y="4034"/>
                    <a:pt x="1008" y="4034"/>
                  </a:cubicBezTo>
                  <a:close/>
                  <a:moveTo>
                    <a:pt x="7908" y="1"/>
                  </a:moveTo>
                  <a:cubicBezTo>
                    <a:pt x="7341" y="1"/>
                    <a:pt x="6868" y="474"/>
                    <a:pt x="6868" y="1009"/>
                  </a:cubicBezTo>
                  <a:cubicBezTo>
                    <a:pt x="6868" y="1198"/>
                    <a:pt x="6963" y="1419"/>
                    <a:pt x="7026" y="1576"/>
                  </a:cubicBezTo>
                  <a:lnTo>
                    <a:pt x="6112" y="2742"/>
                  </a:lnTo>
                  <a:cubicBezTo>
                    <a:pt x="6032" y="2722"/>
                    <a:pt x="5943" y="2711"/>
                    <a:pt x="5850" y="2711"/>
                  </a:cubicBezTo>
                  <a:cubicBezTo>
                    <a:pt x="5650" y="2711"/>
                    <a:pt x="5434" y="2760"/>
                    <a:pt x="5262" y="2868"/>
                  </a:cubicBezTo>
                  <a:lnTo>
                    <a:pt x="4096" y="1954"/>
                  </a:lnTo>
                  <a:cubicBezTo>
                    <a:pt x="4127" y="1891"/>
                    <a:pt x="4127" y="1765"/>
                    <a:pt x="4127" y="1639"/>
                  </a:cubicBezTo>
                  <a:cubicBezTo>
                    <a:pt x="4127" y="1104"/>
                    <a:pt x="3655" y="631"/>
                    <a:pt x="3088" y="631"/>
                  </a:cubicBezTo>
                  <a:cubicBezTo>
                    <a:pt x="2552" y="631"/>
                    <a:pt x="2080" y="1104"/>
                    <a:pt x="2080" y="1639"/>
                  </a:cubicBezTo>
                  <a:cubicBezTo>
                    <a:pt x="2080" y="1828"/>
                    <a:pt x="2143" y="2049"/>
                    <a:pt x="2237" y="2206"/>
                  </a:cubicBezTo>
                  <a:lnTo>
                    <a:pt x="1324" y="3372"/>
                  </a:lnTo>
                  <a:cubicBezTo>
                    <a:pt x="1261" y="3340"/>
                    <a:pt x="1134" y="3340"/>
                    <a:pt x="1008" y="3340"/>
                  </a:cubicBezTo>
                  <a:cubicBezTo>
                    <a:pt x="441" y="3340"/>
                    <a:pt x="0" y="3813"/>
                    <a:pt x="0" y="4349"/>
                  </a:cubicBezTo>
                  <a:cubicBezTo>
                    <a:pt x="0" y="4947"/>
                    <a:pt x="441" y="5388"/>
                    <a:pt x="1008" y="5388"/>
                  </a:cubicBezTo>
                  <a:cubicBezTo>
                    <a:pt x="1576" y="5388"/>
                    <a:pt x="2017" y="4916"/>
                    <a:pt x="2017" y="4349"/>
                  </a:cubicBezTo>
                  <a:cubicBezTo>
                    <a:pt x="2017" y="4160"/>
                    <a:pt x="1954" y="3971"/>
                    <a:pt x="1859" y="3813"/>
                  </a:cubicBezTo>
                  <a:lnTo>
                    <a:pt x="2773" y="2616"/>
                  </a:lnTo>
                  <a:cubicBezTo>
                    <a:pt x="2875" y="2650"/>
                    <a:pt x="2980" y="2667"/>
                    <a:pt x="3087" y="2667"/>
                  </a:cubicBezTo>
                  <a:cubicBezTo>
                    <a:pt x="3278" y="2667"/>
                    <a:pt x="3473" y="2611"/>
                    <a:pt x="3655" y="2490"/>
                  </a:cubicBezTo>
                  <a:lnTo>
                    <a:pt x="4821" y="3403"/>
                  </a:lnTo>
                  <a:cubicBezTo>
                    <a:pt x="4789" y="3498"/>
                    <a:pt x="4789" y="3624"/>
                    <a:pt x="4789" y="3719"/>
                  </a:cubicBezTo>
                  <a:cubicBezTo>
                    <a:pt x="4789" y="4286"/>
                    <a:pt x="5262" y="4758"/>
                    <a:pt x="5797" y="4758"/>
                  </a:cubicBezTo>
                  <a:cubicBezTo>
                    <a:pt x="6364" y="4758"/>
                    <a:pt x="6837" y="4286"/>
                    <a:pt x="6837" y="3719"/>
                  </a:cubicBezTo>
                  <a:cubicBezTo>
                    <a:pt x="6837" y="3529"/>
                    <a:pt x="6742" y="3340"/>
                    <a:pt x="6679" y="3183"/>
                  </a:cubicBezTo>
                  <a:lnTo>
                    <a:pt x="7593" y="1986"/>
                  </a:lnTo>
                  <a:cubicBezTo>
                    <a:pt x="7656" y="2049"/>
                    <a:pt x="7782" y="2049"/>
                    <a:pt x="7908" y="2049"/>
                  </a:cubicBezTo>
                  <a:cubicBezTo>
                    <a:pt x="8444" y="2049"/>
                    <a:pt x="8916" y="1576"/>
                    <a:pt x="8916" y="1009"/>
                  </a:cubicBezTo>
                  <a:cubicBezTo>
                    <a:pt x="8916" y="474"/>
                    <a:pt x="8444" y="1"/>
                    <a:pt x="790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Slidesgo vector icon"/>
            <p:cNvSpPr/>
            <p:nvPr/>
          </p:nvSpPr>
          <p:spPr>
            <a:xfrm>
              <a:off x="-1333200" y="2770450"/>
              <a:ext cx="291450" cy="292225"/>
            </a:xfrm>
            <a:custGeom>
              <a:avLst/>
              <a:gdLst/>
              <a:ahLst/>
              <a:cxnLst/>
              <a:rect l="l" t="t" r="r" b="b"/>
              <a:pathLst>
                <a:path w="11658" h="11689" extrusionOk="0">
                  <a:moveTo>
                    <a:pt x="10586" y="725"/>
                  </a:moveTo>
                  <a:cubicBezTo>
                    <a:pt x="10807" y="725"/>
                    <a:pt x="10964" y="883"/>
                    <a:pt x="10964" y="1072"/>
                  </a:cubicBezTo>
                  <a:lnTo>
                    <a:pt x="10964" y="7593"/>
                  </a:lnTo>
                  <a:lnTo>
                    <a:pt x="631" y="7593"/>
                  </a:lnTo>
                  <a:lnTo>
                    <a:pt x="631" y="1072"/>
                  </a:lnTo>
                  <a:cubicBezTo>
                    <a:pt x="662" y="883"/>
                    <a:pt x="820" y="725"/>
                    <a:pt x="977" y="725"/>
                  </a:cubicBezTo>
                  <a:close/>
                  <a:moveTo>
                    <a:pt x="10996" y="8286"/>
                  </a:moveTo>
                  <a:lnTo>
                    <a:pt x="10996" y="8633"/>
                  </a:lnTo>
                  <a:cubicBezTo>
                    <a:pt x="10996" y="8822"/>
                    <a:pt x="10838" y="8980"/>
                    <a:pt x="10618" y="8980"/>
                  </a:cubicBezTo>
                  <a:lnTo>
                    <a:pt x="1009" y="8980"/>
                  </a:lnTo>
                  <a:cubicBezTo>
                    <a:pt x="820" y="8980"/>
                    <a:pt x="662" y="8822"/>
                    <a:pt x="662" y="8633"/>
                  </a:cubicBezTo>
                  <a:lnTo>
                    <a:pt x="662" y="8286"/>
                  </a:lnTo>
                  <a:close/>
                  <a:moveTo>
                    <a:pt x="6617" y="9641"/>
                  </a:moveTo>
                  <a:lnTo>
                    <a:pt x="6932" y="11027"/>
                  </a:lnTo>
                  <a:lnTo>
                    <a:pt x="4632" y="11027"/>
                  </a:lnTo>
                  <a:lnTo>
                    <a:pt x="4947" y="9641"/>
                  </a:lnTo>
                  <a:close/>
                  <a:moveTo>
                    <a:pt x="1009" y="1"/>
                  </a:moveTo>
                  <a:cubicBezTo>
                    <a:pt x="473" y="1"/>
                    <a:pt x="1" y="473"/>
                    <a:pt x="1" y="1040"/>
                  </a:cubicBezTo>
                  <a:lnTo>
                    <a:pt x="1" y="8570"/>
                  </a:lnTo>
                  <a:cubicBezTo>
                    <a:pt x="1" y="9137"/>
                    <a:pt x="473" y="9610"/>
                    <a:pt x="1009" y="9610"/>
                  </a:cubicBezTo>
                  <a:lnTo>
                    <a:pt x="4285" y="9610"/>
                  </a:lnTo>
                  <a:lnTo>
                    <a:pt x="3970" y="10996"/>
                  </a:lnTo>
                  <a:lnTo>
                    <a:pt x="3057" y="10996"/>
                  </a:lnTo>
                  <a:cubicBezTo>
                    <a:pt x="2868" y="10996"/>
                    <a:pt x="2710" y="11153"/>
                    <a:pt x="2710" y="11342"/>
                  </a:cubicBezTo>
                  <a:cubicBezTo>
                    <a:pt x="2710" y="11531"/>
                    <a:pt x="2868" y="11689"/>
                    <a:pt x="3057" y="11689"/>
                  </a:cubicBezTo>
                  <a:lnTo>
                    <a:pt x="8538" y="11689"/>
                  </a:lnTo>
                  <a:cubicBezTo>
                    <a:pt x="8727" y="11689"/>
                    <a:pt x="8885" y="11531"/>
                    <a:pt x="8885" y="11342"/>
                  </a:cubicBezTo>
                  <a:cubicBezTo>
                    <a:pt x="8885" y="11153"/>
                    <a:pt x="8727" y="10996"/>
                    <a:pt x="8538" y="10996"/>
                  </a:cubicBezTo>
                  <a:lnTo>
                    <a:pt x="7625" y="10996"/>
                  </a:lnTo>
                  <a:lnTo>
                    <a:pt x="7310" y="9610"/>
                  </a:lnTo>
                  <a:lnTo>
                    <a:pt x="10618" y="9610"/>
                  </a:lnTo>
                  <a:cubicBezTo>
                    <a:pt x="11185" y="9610"/>
                    <a:pt x="11657" y="9137"/>
                    <a:pt x="11657" y="8570"/>
                  </a:cubicBezTo>
                  <a:lnTo>
                    <a:pt x="11657" y="1040"/>
                  </a:lnTo>
                  <a:cubicBezTo>
                    <a:pt x="11657" y="473"/>
                    <a:pt x="11185" y="1"/>
                    <a:pt x="1061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 name="Text"/>
          <p:cNvSpPr txBox="1"/>
          <p:nvPr/>
        </p:nvSpPr>
        <p:spPr>
          <a:xfrm>
            <a:off x="1381125" y="1381125"/>
            <a:ext cx="2247900" cy="466725"/>
          </a:xfrm>
          <a:prstGeom prst="rect">
            <a:avLst/>
          </a:prstGeom>
          <a:noFill/>
          <a:ln w="9525">
            <a:noFill/>
          </a:ln>
        </p:spPr>
        <p:txBody>
          <a:bodyPr wrap="none" lIns="0" tIns="0" rIns="0" bIns="0" anchor="t">
            <a:noAutofit/>
          </a:bodyPr>
          <a:lstStyle/>
          <a:p>
            <a:pPr marL="0" indent="0" algn="l">
              <a:lnSpc>
                <a:spcPts val="3000"/>
              </a:lnSpc>
              <a:spcAft>
                <a:spcPts val="0"/>
              </a:spcAft>
              <a:buNone/>
            </a:pPr>
            <a:r>
              <a:rPr lang="en-US" sz="2400" b="1">
                <a:solidFill>
                  <a:srgbClr val="435D74"/>
                </a:solidFill>
                <a:latin typeface="Fira Sans Extra Condensed"/>
                <a:ea typeface="Fira Sans Extra Condensed"/>
                <a:cs typeface="Fira Sans Extra Condensed"/>
              </a:rPr>
              <a:t>Prediction</a:t>
            </a:r>
            <a:endParaRPr lang="en-US" sz="2400"/>
          </a:p>
        </p:txBody>
      </p:sp>
      <p:sp>
        <p:nvSpPr>
          <p:cNvPr id="12" name="Text"/>
          <p:cNvSpPr txBox="1"/>
          <p:nvPr/>
        </p:nvSpPr>
        <p:spPr>
          <a:xfrm>
            <a:off x="742950" y="1971675"/>
            <a:ext cx="2924175" cy="361950"/>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0">
                <a:solidFill>
                  <a:srgbClr val="435D74"/>
                </a:solidFill>
                <a:latin typeface="Roboto"/>
                <a:ea typeface="Roboto"/>
                <a:cs typeface="Roboto"/>
              </a:rPr>
              <a:t>Estimates what may happen.</a:t>
            </a:r>
            <a:endParaRPr lang="en-US" sz="1575"/>
          </a:p>
        </p:txBody>
      </p:sp>
      <p:cxnSp>
        <p:nvCxnSpPr>
          <p:cNvPr id="13" name="Connector"/>
          <p:cNvCxnSpPr/>
          <p:nvPr/>
        </p:nvCxnSpPr>
        <p:spPr>
          <a:xfrm>
            <a:off x="4114800" y="1838325"/>
            <a:ext cx="714375" cy="95"/>
          </a:xfrm>
          <a:prstGeom prst="line">
            <a:avLst/>
          </a:prstGeom>
          <a:ln w="28575">
            <a:solidFill>
              <a:srgbClr val="007D8B"/>
            </a:solidFill>
            <a:tailEnd type="triangle" w="sm" len="sm"/>
          </a:ln>
        </p:spPr>
      </p:cxnSp>
      <p:sp>
        <p:nvSpPr>
          <p:cNvPr id="14" name="Panel"/>
          <p:cNvSpPr/>
          <p:nvPr/>
        </p:nvSpPr>
        <p:spPr>
          <a:xfrm>
            <a:off x="5048250" y="1200150"/>
            <a:ext cx="3600450" cy="1238250"/>
          </a:xfrm>
          <a:prstGeom prst="roundRect">
            <a:avLst>
              <a:gd name="adj" fmla="val 10000"/>
            </a:avLst>
          </a:prstGeom>
          <a:solidFill>
            <a:srgbClr val="435D74"/>
          </a:solidFill>
          <a:ln w="9525">
            <a:noFill/>
          </a:ln>
        </p:spPr>
        <p:txBody>
          <a:bodyPr/>
          <a:lstStyle/>
          <a:p>
            <a:endParaRPr lang="en-US"/>
          </a:p>
        </p:txBody>
      </p:sp>
      <p:grpSp>
        <p:nvGrpSpPr>
          <p:cNvPr id="15" name="Slidesgo vector icon"/>
          <p:cNvGrpSpPr/>
          <p:nvPr/>
        </p:nvGrpSpPr>
        <p:grpSpPr>
          <a:xfrm>
            <a:off x="5286375" y="1438275"/>
            <a:ext cx="438150" cy="435073"/>
            <a:chOff x="-63250675" y="3744075"/>
            <a:chExt cx="320350" cy="318100"/>
          </a:xfrm>
        </p:grpSpPr>
        <p:sp>
          <p:nvSpPr>
            <p:cNvPr id="16" name="Slidesgo vector icon"/>
            <p:cNvSpPr/>
            <p:nvPr/>
          </p:nvSpPr>
          <p:spPr>
            <a:xfrm>
              <a:off x="-63126250" y="3744075"/>
              <a:ext cx="195925" cy="192875"/>
            </a:xfrm>
            <a:custGeom>
              <a:avLst/>
              <a:gdLst/>
              <a:ahLst/>
              <a:cxnLst/>
              <a:rect l="l" t="t" r="r" b="b"/>
              <a:pathLst>
                <a:path w="7837" h="7715" extrusionOk="0">
                  <a:moveTo>
                    <a:pt x="6020" y="0"/>
                  </a:moveTo>
                  <a:cubicBezTo>
                    <a:pt x="5921" y="0"/>
                    <a:pt x="5820" y="37"/>
                    <a:pt x="5735" y="122"/>
                  </a:cubicBezTo>
                  <a:lnTo>
                    <a:pt x="4097" y="1760"/>
                  </a:lnTo>
                  <a:cubicBezTo>
                    <a:pt x="4034" y="1854"/>
                    <a:pt x="3971" y="1917"/>
                    <a:pt x="3971" y="2012"/>
                  </a:cubicBezTo>
                  <a:lnTo>
                    <a:pt x="3782" y="3304"/>
                  </a:lnTo>
                  <a:lnTo>
                    <a:pt x="1734" y="5351"/>
                  </a:lnTo>
                  <a:cubicBezTo>
                    <a:pt x="1576" y="5288"/>
                    <a:pt x="1387" y="5225"/>
                    <a:pt x="1230" y="5225"/>
                  </a:cubicBezTo>
                  <a:cubicBezTo>
                    <a:pt x="537" y="5225"/>
                    <a:pt x="1" y="5793"/>
                    <a:pt x="1" y="6486"/>
                  </a:cubicBezTo>
                  <a:cubicBezTo>
                    <a:pt x="1" y="7210"/>
                    <a:pt x="537" y="7714"/>
                    <a:pt x="1230" y="7714"/>
                  </a:cubicBezTo>
                  <a:cubicBezTo>
                    <a:pt x="1891" y="7714"/>
                    <a:pt x="2458" y="7179"/>
                    <a:pt x="2458" y="6486"/>
                  </a:cubicBezTo>
                  <a:cubicBezTo>
                    <a:pt x="2458" y="6297"/>
                    <a:pt x="2395" y="6139"/>
                    <a:pt x="2332" y="5982"/>
                  </a:cubicBezTo>
                  <a:lnTo>
                    <a:pt x="4380" y="3934"/>
                  </a:lnTo>
                  <a:lnTo>
                    <a:pt x="5672" y="3745"/>
                  </a:lnTo>
                  <a:cubicBezTo>
                    <a:pt x="5735" y="3745"/>
                    <a:pt x="5829" y="3713"/>
                    <a:pt x="5924" y="3619"/>
                  </a:cubicBezTo>
                  <a:lnTo>
                    <a:pt x="7562" y="1980"/>
                  </a:lnTo>
                  <a:cubicBezTo>
                    <a:pt x="7837" y="1706"/>
                    <a:pt x="7609" y="1254"/>
                    <a:pt x="7251" y="1254"/>
                  </a:cubicBezTo>
                  <a:cubicBezTo>
                    <a:pt x="7240" y="1254"/>
                    <a:pt x="7228" y="1255"/>
                    <a:pt x="7216" y="1256"/>
                  </a:cubicBezTo>
                  <a:lnTo>
                    <a:pt x="6302" y="1382"/>
                  </a:lnTo>
                  <a:lnTo>
                    <a:pt x="6428" y="468"/>
                  </a:lnTo>
                  <a:cubicBezTo>
                    <a:pt x="6472" y="203"/>
                    <a:pt x="6253" y="0"/>
                    <a:pt x="6020"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Slidesgo vector icon"/>
            <p:cNvSpPr/>
            <p:nvPr/>
          </p:nvSpPr>
          <p:spPr>
            <a:xfrm>
              <a:off x="-63190025" y="3814050"/>
              <a:ext cx="186675" cy="185900"/>
            </a:xfrm>
            <a:custGeom>
              <a:avLst/>
              <a:gdLst/>
              <a:ahLst/>
              <a:cxnLst/>
              <a:rect l="l" t="t" r="r" b="b"/>
              <a:pathLst>
                <a:path w="7467" h="7436" extrusionOk="0">
                  <a:moveTo>
                    <a:pt x="3718" y="1"/>
                  </a:moveTo>
                  <a:cubicBezTo>
                    <a:pt x="1670" y="1"/>
                    <a:pt x="0" y="1670"/>
                    <a:pt x="0" y="3750"/>
                  </a:cubicBezTo>
                  <a:cubicBezTo>
                    <a:pt x="0" y="5797"/>
                    <a:pt x="1638" y="7436"/>
                    <a:pt x="3718" y="7436"/>
                  </a:cubicBezTo>
                  <a:cubicBezTo>
                    <a:pt x="5765" y="7436"/>
                    <a:pt x="7467" y="5797"/>
                    <a:pt x="7467" y="3750"/>
                  </a:cubicBezTo>
                  <a:cubicBezTo>
                    <a:pt x="7467" y="3151"/>
                    <a:pt x="7341" y="2647"/>
                    <a:pt x="7120" y="2143"/>
                  </a:cubicBezTo>
                  <a:lnTo>
                    <a:pt x="5828" y="3435"/>
                  </a:lnTo>
                  <a:cubicBezTo>
                    <a:pt x="5828" y="3498"/>
                    <a:pt x="5860" y="3624"/>
                    <a:pt x="5860" y="3718"/>
                  </a:cubicBezTo>
                  <a:cubicBezTo>
                    <a:pt x="5860" y="4852"/>
                    <a:pt x="4915" y="5797"/>
                    <a:pt x="3781" y="5797"/>
                  </a:cubicBezTo>
                  <a:cubicBezTo>
                    <a:pt x="2615" y="5797"/>
                    <a:pt x="1670" y="4852"/>
                    <a:pt x="1670" y="3718"/>
                  </a:cubicBezTo>
                  <a:cubicBezTo>
                    <a:pt x="1733" y="2552"/>
                    <a:pt x="2615" y="1607"/>
                    <a:pt x="3781" y="1607"/>
                  </a:cubicBezTo>
                  <a:cubicBezTo>
                    <a:pt x="3875" y="1607"/>
                    <a:pt x="3970" y="1607"/>
                    <a:pt x="4033" y="1670"/>
                  </a:cubicBezTo>
                  <a:lnTo>
                    <a:pt x="5356" y="347"/>
                  </a:lnTo>
                  <a:cubicBezTo>
                    <a:pt x="4883" y="127"/>
                    <a:pt x="4316" y="1"/>
                    <a:pt x="3718"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Slidesgo vector icon"/>
            <p:cNvSpPr/>
            <p:nvPr/>
          </p:nvSpPr>
          <p:spPr>
            <a:xfrm>
              <a:off x="-63250675" y="3751050"/>
              <a:ext cx="311125" cy="311125"/>
            </a:xfrm>
            <a:custGeom>
              <a:avLst/>
              <a:gdLst/>
              <a:ahLst/>
              <a:cxnLst/>
              <a:rect l="l" t="t" r="r" b="b"/>
              <a:pathLst>
                <a:path w="12445" h="12445" extrusionOk="0">
                  <a:moveTo>
                    <a:pt x="6270" y="0"/>
                  </a:moveTo>
                  <a:cubicBezTo>
                    <a:pt x="2773" y="0"/>
                    <a:pt x="0" y="2804"/>
                    <a:pt x="0" y="6238"/>
                  </a:cubicBezTo>
                  <a:cubicBezTo>
                    <a:pt x="0" y="9641"/>
                    <a:pt x="2804" y="12445"/>
                    <a:pt x="6238" y="12445"/>
                  </a:cubicBezTo>
                  <a:cubicBezTo>
                    <a:pt x="9672" y="12445"/>
                    <a:pt x="12445" y="9641"/>
                    <a:pt x="12445" y="6238"/>
                  </a:cubicBezTo>
                  <a:cubicBezTo>
                    <a:pt x="12445" y="5325"/>
                    <a:pt x="12256" y="4411"/>
                    <a:pt x="11878" y="3592"/>
                  </a:cubicBezTo>
                  <a:lnTo>
                    <a:pt x="11563" y="3907"/>
                  </a:lnTo>
                  <a:cubicBezTo>
                    <a:pt x="11342" y="4096"/>
                    <a:pt x="11121" y="4222"/>
                    <a:pt x="10838" y="4253"/>
                  </a:cubicBezTo>
                  <a:lnTo>
                    <a:pt x="10397" y="4348"/>
                  </a:lnTo>
                  <a:cubicBezTo>
                    <a:pt x="10680" y="4915"/>
                    <a:pt x="10806" y="5545"/>
                    <a:pt x="10806" y="6238"/>
                  </a:cubicBezTo>
                  <a:cubicBezTo>
                    <a:pt x="10806" y="8759"/>
                    <a:pt x="8759" y="10743"/>
                    <a:pt x="6270" y="10743"/>
                  </a:cubicBezTo>
                  <a:cubicBezTo>
                    <a:pt x="3781" y="10743"/>
                    <a:pt x="1733" y="8696"/>
                    <a:pt x="1733" y="6238"/>
                  </a:cubicBezTo>
                  <a:cubicBezTo>
                    <a:pt x="1733" y="3718"/>
                    <a:pt x="3781" y="1670"/>
                    <a:pt x="6270" y="1670"/>
                  </a:cubicBezTo>
                  <a:cubicBezTo>
                    <a:pt x="6931" y="1670"/>
                    <a:pt x="7561" y="1796"/>
                    <a:pt x="8160" y="2048"/>
                  </a:cubicBezTo>
                  <a:lnTo>
                    <a:pt x="8254" y="1607"/>
                  </a:lnTo>
                  <a:cubicBezTo>
                    <a:pt x="8286" y="1355"/>
                    <a:pt x="8412" y="1103"/>
                    <a:pt x="8601" y="914"/>
                  </a:cubicBezTo>
                  <a:lnTo>
                    <a:pt x="8916" y="599"/>
                  </a:lnTo>
                  <a:cubicBezTo>
                    <a:pt x="8097" y="189"/>
                    <a:pt x="7215" y="0"/>
                    <a:pt x="6270"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9" name="Text"/>
          <p:cNvSpPr txBox="1"/>
          <p:nvPr/>
        </p:nvSpPr>
        <p:spPr>
          <a:xfrm>
            <a:off x="5943600" y="1381125"/>
            <a:ext cx="2466975" cy="466725"/>
          </a:xfrm>
          <a:prstGeom prst="rect">
            <a:avLst/>
          </a:prstGeom>
          <a:noFill/>
          <a:ln w="9525">
            <a:noFill/>
          </a:ln>
        </p:spPr>
        <p:txBody>
          <a:bodyPr wrap="none" lIns="0" tIns="0" rIns="0" bIns="0" anchor="t">
            <a:noAutofit/>
          </a:bodyPr>
          <a:lstStyle/>
          <a:p>
            <a:pPr marL="0" indent="0" algn="l">
              <a:lnSpc>
                <a:spcPts val="3000"/>
              </a:lnSpc>
              <a:spcAft>
                <a:spcPts val="0"/>
              </a:spcAft>
              <a:buNone/>
            </a:pPr>
            <a:r>
              <a:rPr lang="en-US" sz="2400" b="1">
                <a:solidFill>
                  <a:srgbClr val="FFFFFF"/>
                </a:solidFill>
                <a:latin typeface="Fira Sans Extra Condensed"/>
                <a:ea typeface="Fira Sans Extra Condensed"/>
                <a:cs typeface="Fira Sans Extra Condensed"/>
              </a:rPr>
              <a:t>Recommendation</a:t>
            </a:r>
            <a:endParaRPr lang="en-US" sz="2400"/>
          </a:p>
        </p:txBody>
      </p:sp>
      <p:sp>
        <p:nvSpPr>
          <p:cNvPr id="20" name="Text"/>
          <p:cNvSpPr txBox="1"/>
          <p:nvPr/>
        </p:nvSpPr>
        <p:spPr>
          <a:xfrm>
            <a:off x="5286375" y="1971675"/>
            <a:ext cx="3057525" cy="361950"/>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0">
                <a:solidFill>
                  <a:srgbClr val="FFFFFF"/>
                </a:solidFill>
                <a:latin typeface="Roboto"/>
                <a:ea typeface="Roboto"/>
                <a:cs typeface="Roboto"/>
              </a:rPr>
              <a:t>Suggests what to do.</a:t>
            </a:r>
            <a:endParaRPr lang="en-US" sz="1575"/>
          </a:p>
        </p:txBody>
      </p:sp>
      <p:sp>
        <p:nvSpPr>
          <p:cNvPr id="21" name="Text"/>
          <p:cNvSpPr txBox="1"/>
          <p:nvPr/>
        </p:nvSpPr>
        <p:spPr>
          <a:xfrm>
            <a:off x="495300" y="2876550"/>
            <a:ext cx="3638550" cy="400050"/>
          </a:xfrm>
          <a:prstGeom prst="rect">
            <a:avLst/>
          </a:prstGeom>
          <a:noFill/>
          <a:ln w="9525">
            <a:noFill/>
          </a:ln>
        </p:spPr>
        <p:txBody>
          <a:bodyPr wrap="none" lIns="0" tIns="0" rIns="0" bIns="0" anchor="t">
            <a:noAutofit/>
          </a:bodyPr>
          <a:lstStyle/>
          <a:p>
            <a:pPr marL="0" indent="0" algn="l">
              <a:lnSpc>
                <a:spcPts val="2719"/>
              </a:lnSpc>
              <a:spcAft>
                <a:spcPts val="0"/>
              </a:spcAft>
              <a:buNone/>
            </a:pPr>
            <a:r>
              <a:rPr lang="en-US" sz="2175" b="1">
                <a:solidFill>
                  <a:srgbClr val="435D74"/>
                </a:solidFill>
                <a:latin typeface="Fira Sans Extra Condensed"/>
                <a:ea typeface="Fira Sans Extra Condensed"/>
                <a:cs typeface="Fira Sans Extra Condensed"/>
              </a:rPr>
              <a:t>Stores</a:t>
            </a:r>
            <a:endParaRPr lang="en-US" sz="2175"/>
          </a:p>
        </p:txBody>
      </p:sp>
      <p:sp>
        <p:nvSpPr>
          <p:cNvPr id="22" name="Text"/>
          <p:cNvSpPr txBox="1"/>
          <p:nvPr/>
        </p:nvSpPr>
        <p:spPr>
          <a:xfrm>
            <a:off x="495300" y="3352800"/>
            <a:ext cx="3695700" cy="704850"/>
          </a:xfrm>
          <a:prstGeom prst="rect">
            <a:avLst/>
          </a:prstGeom>
          <a:noFill/>
          <a:ln w="9525">
            <a:noFill/>
          </a:ln>
        </p:spPr>
        <p:txBody>
          <a:bodyPr wrap="none" lIns="0" tIns="0" rIns="0" bIns="0" anchor="t">
            <a:noAutofit/>
          </a:bodyPr>
          <a:lstStyle/>
          <a:p>
            <a:pPr marL="0" indent="0" algn="l">
              <a:lnSpc>
                <a:spcPts val="2062"/>
              </a:lnSpc>
              <a:spcAft>
                <a:spcPts val="0"/>
              </a:spcAft>
              <a:buNone/>
            </a:pPr>
            <a:r>
              <a:rPr lang="en-US" sz="1650" b="0">
                <a:solidFill>
                  <a:srgbClr val="435D74"/>
                </a:solidFill>
                <a:latin typeface="Roboto"/>
                <a:ea typeface="Roboto"/>
                <a:cs typeface="Roboto"/>
              </a:rPr>
              <a:t>Use expected demand to decide</a:t>
            </a:r>
            <a:endParaRPr lang="en-US" sz="1650"/>
          </a:p>
          <a:p>
            <a:pPr marL="0" indent="0" algn="l">
              <a:lnSpc>
                <a:spcPts val="2062"/>
              </a:lnSpc>
              <a:spcAft>
                <a:spcPts val="0"/>
              </a:spcAft>
              <a:buNone/>
            </a:pPr>
            <a:r>
              <a:rPr lang="en-US" sz="1650" b="0">
                <a:solidFill>
                  <a:srgbClr val="435D74"/>
                </a:solidFill>
                <a:latin typeface="Roboto"/>
                <a:ea typeface="Roboto"/>
                <a:cs typeface="Roboto"/>
              </a:rPr>
              <a:t>how much stock to send.</a:t>
            </a:r>
            <a:endParaRPr lang="en-US" sz="1650"/>
          </a:p>
        </p:txBody>
      </p:sp>
      <p:sp>
        <p:nvSpPr>
          <p:cNvPr id="23" name="Text"/>
          <p:cNvSpPr txBox="1"/>
          <p:nvPr/>
        </p:nvSpPr>
        <p:spPr>
          <a:xfrm>
            <a:off x="5048250" y="2876550"/>
            <a:ext cx="3600450" cy="400050"/>
          </a:xfrm>
          <a:prstGeom prst="rect">
            <a:avLst/>
          </a:prstGeom>
          <a:noFill/>
          <a:ln w="9525">
            <a:noFill/>
          </a:ln>
        </p:spPr>
        <p:txBody>
          <a:bodyPr wrap="none" lIns="0" tIns="0" rIns="0" bIns="0" anchor="t">
            <a:noAutofit/>
          </a:bodyPr>
          <a:lstStyle/>
          <a:p>
            <a:pPr marL="0" indent="0" algn="l">
              <a:lnSpc>
                <a:spcPts val="2719"/>
              </a:lnSpc>
              <a:spcAft>
                <a:spcPts val="0"/>
              </a:spcAft>
              <a:buNone/>
            </a:pPr>
            <a:r>
              <a:rPr lang="en-US" sz="2175" b="1">
                <a:solidFill>
                  <a:srgbClr val="435D74"/>
                </a:solidFill>
                <a:latin typeface="Fira Sans Extra Condensed"/>
                <a:ea typeface="Fira Sans Extra Condensed"/>
                <a:cs typeface="Fira Sans Extra Condensed"/>
              </a:rPr>
              <a:t>Delivery</a:t>
            </a:r>
            <a:endParaRPr lang="en-US" sz="2175"/>
          </a:p>
        </p:txBody>
      </p:sp>
      <p:sp>
        <p:nvSpPr>
          <p:cNvPr id="24" name="Text"/>
          <p:cNvSpPr txBox="1"/>
          <p:nvPr/>
        </p:nvSpPr>
        <p:spPr>
          <a:xfrm>
            <a:off x="5048250" y="3352800"/>
            <a:ext cx="3600450" cy="704850"/>
          </a:xfrm>
          <a:prstGeom prst="rect">
            <a:avLst/>
          </a:prstGeom>
          <a:noFill/>
          <a:ln w="9525">
            <a:noFill/>
          </a:ln>
        </p:spPr>
        <p:txBody>
          <a:bodyPr wrap="none" lIns="0" tIns="0" rIns="0" bIns="0" anchor="t">
            <a:noAutofit/>
          </a:bodyPr>
          <a:lstStyle/>
          <a:p>
            <a:pPr marL="0" indent="0" algn="l">
              <a:lnSpc>
                <a:spcPts val="2062"/>
              </a:lnSpc>
              <a:spcAft>
                <a:spcPts val="0"/>
              </a:spcAft>
              <a:buNone/>
            </a:pPr>
            <a:r>
              <a:rPr lang="en-US" sz="1650" b="0">
                <a:solidFill>
                  <a:srgbClr val="435D74"/>
                </a:solidFill>
                <a:latin typeface="Roboto"/>
                <a:ea typeface="Roboto"/>
                <a:cs typeface="Roboto"/>
              </a:rPr>
              <a:t>Use predicted travel times to</a:t>
            </a:r>
            <a:endParaRPr lang="en-US" sz="1650"/>
          </a:p>
          <a:p>
            <a:pPr marL="0" indent="0" algn="l">
              <a:lnSpc>
                <a:spcPts val="2062"/>
              </a:lnSpc>
              <a:spcAft>
                <a:spcPts val="0"/>
              </a:spcAft>
              <a:buNone/>
            </a:pPr>
            <a:r>
              <a:rPr lang="en-US" sz="1650" b="0">
                <a:solidFill>
                  <a:srgbClr val="435D74"/>
                </a:solidFill>
                <a:latin typeface="Roboto"/>
                <a:ea typeface="Roboto"/>
                <a:cs typeface="Roboto"/>
              </a:rPr>
              <a:t>choose roads for on-time delivery.</a:t>
            </a:r>
            <a:endParaRPr lang="en-US" sz="1650"/>
          </a:p>
        </p:txBody>
      </p:sp>
      <p:sp>
        <p:nvSpPr>
          <p:cNvPr id="25" name="Panel"/>
          <p:cNvSpPr/>
          <p:nvPr/>
        </p:nvSpPr>
        <p:spPr>
          <a:xfrm>
            <a:off x="495300" y="4219575"/>
            <a:ext cx="8153400" cy="400050"/>
          </a:xfrm>
          <a:prstGeom prst="roundRect">
            <a:avLst>
              <a:gd name="adj" fmla="val 10000"/>
            </a:avLst>
          </a:prstGeom>
          <a:solidFill>
            <a:srgbClr val="F3F6F8"/>
          </a:solidFill>
          <a:ln w="9525">
            <a:noFill/>
          </a:ln>
        </p:spPr>
        <p:txBody>
          <a:bodyPr/>
          <a:lstStyle/>
          <a:p>
            <a:endParaRPr lang="en-US"/>
          </a:p>
        </p:txBody>
      </p:sp>
      <p:sp>
        <p:nvSpPr>
          <p:cNvPr id="26" name="Text"/>
          <p:cNvSpPr txBox="1"/>
          <p:nvPr/>
        </p:nvSpPr>
        <p:spPr>
          <a:xfrm>
            <a:off x="666750" y="4295775"/>
            <a:ext cx="7810500" cy="2952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a:solidFill>
                  <a:srgbClr val="435D74"/>
                </a:solidFill>
                <a:latin typeface="Roboto"/>
                <a:ea typeface="Roboto"/>
                <a:cs typeface="Roboto"/>
              </a:rPr>
              <a:t>Show the action, the expected result, and the limits behind the choice.</a:t>
            </a:r>
            <a:endParaRPr lang="en-US" sz="135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name="The decision model">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The decision model</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algn="r">
              <a:lnSpc>
                <a:spcPts val="1031"/>
              </a:lnSpc>
            </a:pPr>
            <a:r>
              <a:rPr lang="en-US" sz="825" b="0" dirty="0">
                <a:solidFill>
                  <a:srgbClr val="6D8495"/>
                </a:solidFill>
                <a:latin typeface="Roboto"/>
                <a:ea typeface="Roboto"/>
                <a:cs typeface="Roboto"/>
              </a:rPr>
              <a:t>05 </a:t>
            </a:r>
            <a:r>
              <a:rPr lang="en-US" sz="825" dirty="0">
                <a:solidFill>
                  <a:srgbClr val="6D8495"/>
                </a:solidFill>
                <a:latin typeface="Roboto"/>
                <a:ea typeface="Roboto"/>
                <a:cs typeface="Roboto"/>
              </a:rPr>
              <a:t>/ 14</a:t>
            </a:r>
            <a:endParaRPr lang="en-US" sz="825" dirty="0"/>
          </a:p>
        </p:txBody>
      </p:sp>
      <p:grpSp>
        <p:nvGrpSpPr>
          <p:cNvPr id="7" name="Slidesgo vector icon"/>
          <p:cNvGrpSpPr/>
          <p:nvPr/>
        </p:nvGrpSpPr>
        <p:grpSpPr>
          <a:xfrm>
            <a:off x="495300" y="1219200"/>
            <a:ext cx="400050" cy="400061"/>
            <a:chOff x="-2571737" y="2403625"/>
            <a:chExt cx="292225" cy="291425"/>
          </a:xfrm>
        </p:grpSpPr>
        <p:sp>
          <p:nvSpPr>
            <p:cNvPr id="8" name="Slidesgo vector icon"/>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Slidesgo vector icon"/>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Slidesgo vector icon"/>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Slidesgo vector icon"/>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Slidesgo vector icon"/>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Slidesgo vector icon"/>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Slidesgo vector icon"/>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 name="Text"/>
          <p:cNvSpPr txBox="1"/>
          <p:nvPr/>
        </p:nvSpPr>
        <p:spPr>
          <a:xfrm>
            <a:off x="1095375" y="1190625"/>
            <a:ext cx="3209925" cy="476250"/>
          </a:xfrm>
          <a:prstGeom prst="rect">
            <a:avLst/>
          </a:prstGeom>
          <a:noFill/>
          <a:ln w="9525">
            <a:noFill/>
          </a:ln>
        </p:spPr>
        <p:txBody>
          <a:bodyPr wrap="none" lIns="0" tIns="0" rIns="0" bIns="0" anchor="t">
            <a:noAutofit/>
          </a:bodyPr>
          <a:lstStyle/>
          <a:p>
            <a:pPr marL="0" indent="0" algn="l">
              <a:lnSpc>
                <a:spcPts val="2906"/>
              </a:lnSpc>
              <a:spcAft>
                <a:spcPts val="0"/>
              </a:spcAft>
              <a:buNone/>
            </a:pPr>
            <a:r>
              <a:rPr lang="en-US" sz="2325" b="1">
                <a:solidFill>
                  <a:srgbClr val="435D74"/>
                </a:solidFill>
                <a:latin typeface="Fira Sans Extra Condensed"/>
                <a:ea typeface="Fira Sans Extra Condensed"/>
                <a:cs typeface="Fira Sans Extra Condensed"/>
              </a:rPr>
              <a:t>Decision variables</a:t>
            </a:r>
            <a:endParaRPr lang="en-US" sz="2325"/>
          </a:p>
        </p:txBody>
      </p:sp>
      <p:sp>
        <p:nvSpPr>
          <p:cNvPr id="16" name="Text"/>
          <p:cNvSpPr txBox="1"/>
          <p:nvPr/>
        </p:nvSpPr>
        <p:spPr>
          <a:xfrm>
            <a:off x="1095375" y="1685925"/>
            <a:ext cx="3209925" cy="342900"/>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1">
                <a:solidFill>
                  <a:srgbClr val="435D74"/>
                </a:solidFill>
                <a:latin typeface="Roboto"/>
                <a:ea typeface="Roboto"/>
                <a:cs typeface="Roboto"/>
              </a:rPr>
              <a:t>What can change?</a:t>
            </a:r>
            <a:endParaRPr lang="en-US" sz="1575"/>
          </a:p>
        </p:txBody>
      </p:sp>
      <p:sp>
        <p:nvSpPr>
          <p:cNvPr id="17" name="Text"/>
          <p:cNvSpPr txBox="1"/>
          <p:nvPr/>
        </p:nvSpPr>
        <p:spPr>
          <a:xfrm>
            <a:off x="1095375" y="2085975"/>
            <a:ext cx="3209925" cy="381000"/>
          </a:xfrm>
          <a:prstGeom prst="rect">
            <a:avLst/>
          </a:prstGeom>
          <a:noFill/>
          <a:ln w="9525">
            <a:noFill/>
          </a:ln>
        </p:spPr>
        <p:txBody>
          <a:bodyPr wrap="none" lIns="0" tIns="0" rIns="0" bIns="0" anchor="t">
            <a:noAutofit/>
          </a:bodyPr>
          <a:lstStyle/>
          <a:p>
            <a:pPr marL="0" indent="0" algn="l">
              <a:lnSpc>
                <a:spcPts val="1781"/>
              </a:lnSpc>
              <a:spcAft>
                <a:spcPts val="0"/>
              </a:spcAft>
              <a:buNone/>
            </a:pPr>
            <a:r>
              <a:rPr lang="en-US" sz="1425" b="0">
                <a:solidFill>
                  <a:srgbClr val="6D8495"/>
                </a:solidFill>
                <a:latin typeface="Roboto"/>
                <a:ea typeface="Roboto"/>
                <a:cs typeface="Roboto"/>
              </a:rPr>
              <a:t>Products sent to each store</a:t>
            </a:r>
            <a:endParaRPr lang="en-US" sz="1425"/>
          </a:p>
        </p:txBody>
      </p:sp>
      <p:grpSp>
        <p:nvGrpSpPr>
          <p:cNvPr id="18" name="Slidesgo vector icon"/>
          <p:cNvGrpSpPr/>
          <p:nvPr/>
        </p:nvGrpSpPr>
        <p:grpSpPr>
          <a:xfrm>
            <a:off x="4810125" y="1219200"/>
            <a:ext cx="400050" cy="397240"/>
            <a:chOff x="-63250675" y="3744075"/>
            <a:chExt cx="320350" cy="318100"/>
          </a:xfrm>
        </p:grpSpPr>
        <p:sp>
          <p:nvSpPr>
            <p:cNvPr id="19" name="Slidesgo vector icon"/>
            <p:cNvSpPr/>
            <p:nvPr/>
          </p:nvSpPr>
          <p:spPr>
            <a:xfrm>
              <a:off x="-63126250" y="3744075"/>
              <a:ext cx="195925" cy="192875"/>
            </a:xfrm>
            <a:custGeom>
              <a:avLst/>
              <a:gdLst/>
              <a:ahLst/>
              <a:cxnLst/>
              <a:rect l="l" t="t" r="r" b="b"/>
              <a:pathLst>
                <a:path w="7837" h="7715" extrusionOk="0">
                  <a:moveTo>
                    <a:pt x="6020" y="0"/>
                  </a:moveTo>
                  <a:cubicBezTo>
                    <a:pt x="5921" y="0"/>
                    <a:pt x="5820" y="37"/>
                    <a:pt x="5735" y="122"/>
                  </a:cubicBezTo>
                  <a:lnTo>
                    <a:pt x="4097" y="1760"/>
                  </a:lnTo>
                  <a:cubicBezTo>
                    <a:pt x="4034" y="1854"/>
                    <a:pt x="3971" y="1917"/>
                    <a:pt x="3971" y="2012"/>
                  </a:cubicBezTo>
                  <a:lnTo>
                    <a:pt x="3782" y="3304"/>
                  </a:lnTo>
                  <a:lnTo>
                    <a:pt x="1734" y="5351"/>
                  </a:lnTo>
                  <a:cubicBezTo>
                    <a:pt x="1576" y="5288"/>
                    <a:pt x="1387" y="5225"/>
                    <a:pt x="1230" y="5225"/>
                  </a:cubicBezTo>
                  <a:cubicBezTo>
                    <a:pt x="537" y="5225"/>
                    <a:pt x="1" y="5793"/>
                    <a:pt x="1" y="6486"/>
                  </a:cubicBezTo>
                  <a:cubicBezTo>
                    <a:pt x="1" y="7210"/>
                    <a:pt x="537" y="7714"/>
                    <a:pt x="1230" y="7714"/>
                  </a:cubicBezTo>
                  <a:cubicBezTo>
                    <a:pt x="1891" y="7714"/>
                    <a:pt x="2458" y="7179"/>
                    <a:pt x="2458" y="6486"/>
                  </a:cubicBezTo>
                  <a:cubicBezTo>
                    <a:pt x="2458" y="6297"/>
                    <a:pt x="2395" y="6139"/>
                    <a:pt x="2332" y="5982"/>
                  </a:cubicBezTo>
                  <a:lnTo>
                    <a:pt x="4380" y="3934"/>
                  </a:lnTo>
                  <a:lnTo>
                    <a:pt x="5672" y="3745"/>
                  </a:lnTo>
                  <a:cubicBezTo>
                    <a:pt x="5735" y="3745"/>
                    <a:pt x="5829" y="3713"/>
                    <a:pt x="5924" y="3619"/>
                  </a:cubicBezTo>
                  <a:lnTo>
                    <a:pt x="7562" y="1980"/>
                  </a:lnTo>
                  <a:cubicBezTo>
                    <a:pt x="7837" y="1706"/>
                    <a:pt x="7609" y="1254"/>
                    <a:pt x="7251" y="1254"/>
                  </a:cubicBezTo>
                  <a:cubicBezTo>
                    <a:pt x="7240" y="1254"/>
                    <a:pt x="7228" y="1255"/>
                    <a:pt x="7216" y="1256"/>
                  </a:cubicBezTo>
                  <a:lnTo>
                    <a:pt x="6302" y="1382"/>
                  </a:lnTo>
                  <a:lnTo>
                    <a:pt x="6428" y="468"/>
                  </a:lnTo>
                  <a:cubicBezTo>
                    <a:pt x="6472" y="203"/>
                    <a:pt x="6253" y="0"/>
                    <a:pt x="6020"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Slidesgo vector icon"/>
            <p:cNvSpPr/>
            <p:nvPr/>
          </p:nvSpPr>
          <p:spPr>
            <a:xfrm>
              <a:off x="-63190025" y="3814050"/>
              <a:ext cx="186675" cy="185900"/>
            </a:xfrm>
            <a:custGeom>
              <a:avLst/>
              <a:gdLst/>
              <a:ahLst/>
              <a:cxnLst/>
              <a:rect l="l" t="t" r="r" b="b"/>
              <a:pathLst>
                <a:path w="7467" h="7436" extrusionOk="0">
                  <a:moveTo>
                    <a:pt x="3718" y="1"/>
                  </a:moveTo>
                  <a:cubicBezTo>
                    <a:pt x="1670" y="1"/>
                    <a:pt x="0" y="1670"/>
                    <a:pt x="0" y="3750"/>
                  </a:cubicBezTo>
                  <a:cubicBezTo>
                    <a:pt x="0" y="5797"/>
                    <a:pt x="1638" y="7436"/>
                    <a:pt x="3718" y="7436"/>
                  </a:cubicBezTo>
                  <a:cubicBezTo>
                    <a:pt x="5765" y="7436"/>
                    <a:pt x="7467" y="5797"/>
                    <a:pt x="7467" y="3750"/>
                  </a:cubicBezTo>
                  <a:cubicBezTo>
                    <a:pt x="7467" y="3151"/>
                    <a:pt x="7341" y="2647"/>
                    <a:pt x="7120" y="2143"/>
                  </a:cubicBezTo>
                  <a:lnTo>
                    <a:pt x="5828" y="3435"/>
                  </a:lnTo>
                  <a:cubicBezTo>
                    <a:pt x="5828" y="3498"/>
                    <a:pt x="5860" y="3624"/>
                    <a:pt x="5860" y="3718"/>
                  </a:cubicBezTo>
                  <a:cubicBezTo>
                    <a:pt x="5860" y="4852"/>
                    <a:pt x="4915" y="5797"/>
                    <a:pt x="3781" y="5797"/>
                  </a:cubicBezTo>
                  <a:cubicBezTo>
                    <a:pt x="2615" y="5797"/>
                    <a:pt x="1670" y="4852"/>
                    <a:pt x="1670" y="3718"/>
                  </a:cubicBezTo>
                  <a:cubicBezTo>
                    <a:pt x="1733" y="2552"/>
                    <a:pt x="2615" y="1607"/>
                    <a:pt x="3781" y="1607"/>
                  </a:cubicBezTo>
                  <a:cubicBezTo>
                    <a:pt x="3875" y="1607"/>
                    <a:pt x="3970" y="1607"/>
                    <a:pt x="4033" y="1670"/>
                  </a:cubicBezTo>
                  <a:lnTo>
                    <a:pt x="5356" y="347"/>
                  </a:lnTo>
                  <a:cubicBezTo>
                    <a:pt x="4883" y="127"/>
                    <a:pt x="4316" y="1"/>
                    <a:pt x="371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Slidesgo vector icon"/>
            <p:cNvSpPr/>
            <p:nvPr/>
          </p:nvSpPr>
          <p:spPr>
            <a:xfrm>
              <a:off x="-63250675" y="3751050"/>
              <a:ext cx="311125" cy="311125"/>
            </a:xfrm>
            <a:custGeom>
              <a:avLst/>
              <a:gdLst/>
              <a:ahLst/>
              <a:cxnLst/>
              <a:rect l="l" t="t" r="r" b="b"/>
              <a:pathLst>
                <a:path w="12445" h="12445" extrusionOk="0">
                  <a:moveTo>
                    <a:pt x="6270" y="0"/>
                  </a:moveTo>
                  <a:cubicBezTo>
                    <a:pt x="2773" y="0"/>
                    <a:pt x="0" y="2804"/>
                    <a:pt x="0" y="6238"/>
                  </a:cubicBezTo>
                  <a:cubicBezTo>
                    <a:pt x="0" y="9641"/>
                    <a:pt x="2804" y="12445"/>
                    <a:pt x="6238" y="12445"/>
                  </a:cubicBezTo>
                  <a:cubicBezTo>
                    <a:pt x="9672" y="12445"/>
                    <a:pt x="12445" y="9641"/>
                    <a:pt x="12445" y="6238"/>
                  </a:cubicBezTo>
                  <a:cubicBezTo>
                    <a:pt x="12445" y="5325"/>
                    <a:pt x="12256" y="4411"/>
                    <a:pt x="11878" y="3592"/>
                  </a:cubicBezTo>
                  <a:lnTo>
                    <a:pt x="11563" y="3907"/>
                  </a:lnTo>
                  <a:cubicBezTo>
                    <a:pt x="11342" y="4096"/>
                    <a:pt x="11121" y="4222"/>
                    <a:pt x="10838" y="4253"/>
                  </a:cubicBezTo>
                  <a:lnTo>
                    <a:pt x="10397" y="4348"/>
                  </a:lnTo>
                  <a:cubicBezTo>
                    <a:pt x="10680" y="4915"/>
                    <a:pt x="10806" y="5545"/>
                    <a:pt x="10806" y="6238"/>
                  </a:cubicBezTo>
                  <a:cubicBezTo>
                    <a:pt x="10806" y="8759"/>
                    <a:pt x="8759" y="10743"/>
                    <a:pt x="6270" y="10743"/>
                  </a:cubicBezTo>
                  <a:cubicBezTo>
                    <a:pt x="3781" y="10743"/>
                    <a:pt x="1733" y="8696"/>
                    <a:pt x="1733" y="6238"/>
                  </a:cubicBezTo>
                  <a:cubicBezTo>
                    <a:pt x="1733" y="3718"/>
                    <a:pt x="3781" y="1670"/>
                    <a:pt x="6270" y="1670"/>
                  </a:cubicBezTo>
                  <a:cubicBezTo>
                    <a:pt x="6931" y="1670"/>
                    <a:pt x="7561" y="1796"/>
                    <a:pt x="8160" y="2048"/>
                  </a:cubicBezTo>
                  <a:lnTo>
                    <a:pt x="8254" y="1607"/>
                  </a:lnTo>
                  <a:cubicBezTo>
                    <a:pt x="8286" y="1355"/>
                    <a:pt x="8412" y="1103"/>
                    <a:pt x="8601" y="914"/>
                  </a:cubicBezTo>
                  <a:lnTo>
                    <a:pt x="8916" y="599"/>
                  </a:lnTo>
                  <a:cubicBezTo>
                    <a:pt x="8097" y="189"/>
                    <a:pt x="7215" y="0"/>
                    <a:pt x="6270"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2" name="Text"/>
          <p:cNvSpPr txBox="1"/>
          <p:nvPr/>
        </p:nvSpPr>
        <p:spPr>
          <a:xfrm>
            <a:off x="5410200" y="1190625"/>
            <a:ext cx="3209925" cy="476250"/>
          </a:xfrm>
          <a:prstGeom prst="rect">
            <a:avLst/>
          </a:prstGeom>
          <a:noFill/>
          <a:ln w="9525">
            <a:noFill/>
          </a:ln>
        </p:spPr>
        <p:txBody>
          <a:bodyPr wrap="none" lIns="0" tIns="0" rIns="0" bIns="0" anchor="t">
            <a:noAutofit/>
          </a:bodyPr>
          <a:lstStyle/>
          <a:p>
            <a:pPr marL="0" indent="0" algn="l">
              <a:lnSpc>
                <a:spcPts val="2906"/>
              </a:lnSpc>
              <a:spcAft>
                <a:spcPts val="0"/>
              </a:spcAft>
              <a:buNone/>
            </a:pPr>
            <a:r>
              <a:rPr lang="en-US" sz="2325" b="1">
                <a:solidFill>
                  <a:srgbClr val="435D74"/>
                </a:solidFill>
                <a:latin typeface="Fira Sans Extra Condensed"/>
                <a:ea typeface="Fira Sans Extra Condensed"/>
                <a:cs typeface="Fira Sans Extra Condensed"/>
              </a:rPr>
              <a:t>Objective</a:t>
            </a:r>
            <a:endParaRPr lang="en-US" sz="2325"/>
          </a:p>
        </p:txBody>
      </p:sp>
      <p:sp>
        <p:nvSpPr>
          <p:cNvPr id="23" name="Text"/>
          <p:cNvSpPr txBox="1"/>
          <p:nvPr/>
        </p:nvSpPr>
        <p:spPr>
          <a:xfrm>
            <a:off x="5410200" y="1685925"/>
            <a:ext cx="3209925" cy="342900"/>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1">
                <a:solidFill>
                  <a:srgbClr val="435D74"/>
                </a:solidFill>
                <a:latin typeface="Roboto"/>
                <a:ea typeface="Roboto"/>
                <a:cs typeface="Roboto"/>
              </a:rPr>
              <a:t>What should improve?</a:t>
            </a:r>
            <a:endParaRPr lang="en-US" sz="1575"/>
          </a:p>
        </p:txBody>
      </p:sp>
      <p:sp>
        <p:nvSpPr>
          <p:cNvPr id="24" name="Text"/>
          <p:cNvSpPr txBox="1"/>
          <p:nvPr/>
        </p:nvSpPr>
        <p:spPr>
          <a:xfrm>
            <a:off x="5410200" y="2085975"/>
            <a:ext cx="3209925" cy="381000"/>
          </a:xfrm>
          <a:prstGeom prst="rect">
            <a:avLst/>
          </a:prstGeom>
          <a:noFill/>
          <a:ln w="9525">
            <a:noFill/>
          </a:ln>
        </p:spPr>
        <p:txBody>
          <a:bodyPr wrap="none" lIns="0" tIns="0" rIns="0" bIns="0" anchor="t">
            <a:noAutofit/>
          </a:bodyPr>
          <a:lstStyle/>
          <a:p>
            <a:pPr marL="0" indent="0" algn="l">
              <a:lnSpc>
                <a:spcPts val="1781"/>
              </a:lnSpc>
              <a:spcAft>
                <a:spcPts val="0"/>
              </a:spcAft>
              <a:buNone/>
            </a:pPr>
            <a:r>
              <a:rPr lang="en-US" sz="1425" b="0">
                <a:solidFill>
                  <a:srgbClr val="6D8495"/>
                </a:solidFill>
                <a:latin typeface="Roboto"/>
                <a:ea typeface="Roboto"/>
                <a:cs typeface="Roboto"/>
              </a:rPr>
              <a:t>Meet as much demand as possible</a:t>
            </a:r>
            <a:endParaRPr lang="en-US" sz="1425"/>
          </a:p>
        </p:txBody>
      </p:sp>
      <p:grpSp>
        <p:nvGrpSpPr>
          <p:cNvPr id="25" name="Slidesgo vector icon"/>
          <p:cNvGrpSpPr/>
          <p:nvPr/>
        </p:nvGrpSpPr>
        <p:grpSpPr>
          <a:xfrm>
            <a:off x="495300" y="2762250"/>
            <a:ext cx="400050" cy="400050"/>
            <a:chOff x="-3137650" y="2408950"/>
            <a:chExt cx="291450" cy="292125"/>
          </a:xfrm>
        </p:grpSpPr>
        <p:sp>
          <p:nvSpPr>
            <p:cNvPr id="26" name="Slidesgo vector icon"/>
            <p:cNvSpPr/>
            <p:nvPr/>
          </p:nvSpPr>
          <p:spPr>
            <a:xfrm>
              <a:off x="-3137650" y="2408950"/>
              <a:ext cx="291450" cy="292125"/>
            </a:xfrm>
            <a:custGeom>
              <a:avLst/>
              <a:gdLst/>
              <a:ahLst/>
              <a:cxnLst/>
              <a:rect l="l" t="t" r="r" b="b"/>
              <a:pathLst>
                <a:path w="11658" h="11685" extrusionOk="0">
                  <a:moveTo>
                    <a:pt x="10618" y="662"/>
                  </a:moveTo>
                  <a:cubicBezTo>
                    <a:pt x="10807" y="662"/>
                    <a:pt x="10964" y="851"/>
                    <a:pt x="10964" y="1040"/>
                  </a:cubicBezTo>
                  <a:lnTo>
                    <a:pt x="10964" y="2741"/>
                  </a:lnTo>
                  <a:lnTo>
                    <a:pt x="662" y="2741"/>
                  </a:lnTo>
                  <a:lnTo>
                    <a:pt x="662" y="1040"/>
                  </a:lnTo>
                  <a:cubicBezTo>
                    <a:pt x="662" y="851"/>
                    <a:pt x="820" y="662"/>
                    <a:pt x="1009" y="662"/>
                  </a:cubicBezTo>
                  <a:close/>
                  <a:moveTo>
                    <a:pt x="10964" y="3403"/>
                  </a:moveTo>
                  <a:lnTo>
                    <a:pt x="10964" y="8601"/>
                  </a:lnTo>
                  <a:cubicBezTo>
                    <a:pt x="10964" y="8790"/>
                    <a:pt x="10838" y="8947"/>
                    <a:pt x="10618" y="8947"/>
                  </a:cubicBezTo>
                  <a:lnTo>
                    <a:pt x="10145" y="8947"/>
                  </a:lnTo>
                  <a:cubicBezTo>
                    <a:pt x="10208" y="8727"/>
                    <a:pt x="10240" y="8443"/>
                    <a:pt x="10240" y="8160"/>
                  </a:cubicBezTo>
                  <a:lnTo>
                    <a:pt x="10240" y="5860"/>
                  </a:lnTo>
                  <a:cubicBezTo>
                    <a:pt x="10240" y="5673"/>
                    <a:pt x="10058" y="5531"/>
                    <a:pt x="9868" y="5531"/>
                  </a:cubicBezTo>
                  <a:cubicBezTo>
                    <a:pt x="9835" y="5531"/>
                    <a:pt x="9801" y="5535"/>
                    <a:pt x="9767" y="5545"/>
                  </a:cubicBezTo>
                  <a:cubicBezTo>
                    <a:pt x="9545" y="5641"/>
                    <a:pt x="9341" y="5691"/>
                    <a:pt x="9142" y="5691"/>
                  </a:cubicBezTo>
                  <a:cubicBezTo>
                    <a:pt x="8693" y="5691"/>
                    <a:pt x="8275" y="5439"/>
                    <a:pt x="7751" y="4915"/>
                  </a:cubicBezTo>
                  <a:cubicBezTo>
                    <a:pt x="7688" y="4868"/>
                    <a:pt x="7601" y="4844"/>
                    <a:pt x="7515" y="4844"/>
                  </a:cubicBezTo>
                  <a:cubicBezTo>
                    <a:pt x="7428" y="4844"/>
                    <a:pt x="7341" y="4868"/>
                    <a:pt x="7278" y="4915"/>
                  </a:cubicBezTo>
                  <a:cubicBezTo>
                    <a:pt x="6753" y="5440"/>
                    <a:pt x="6334" y="5677"/>
                    <a:pt x="5884" y="5677"/>
                  </a:cubicBezTo>
                  <a:cubicBezTo>
                    <a:pt x="5686" y="5677"/>
                    <a:pt x="5483" y="5631"/>
                    <a:pt x="5262" y="5545"/>
                  </a:cubicBezTo>
                  <a:cubicBezTo>
                    <a:pt x="5229" y="5535"/>
                    <a:pt x="5195" y="5531"/>
                    <a:pt x="5161" y="5531"/>
                  </a:cubicBezTo>
                  <a:cubicBezTo>
                    <a:pt x="4971" y="5531"/>
                    <a:pt x="4789" y="5673"/>
                    <a:pt x="4789" y="5860"/>
                  </a:cubicBezTo>
                  <a:lnTo>
                    <a:pt x="4789" y="8160"/>
                  </a:lnTo>
                  <a:cubicBezTo>
                    <a:pt x="4789" y="8443"/>
                    <a:pt x="4821" y="8664"/>
                    <a:pt x="4884" y="8947"/>
                  </a:cubicBezTo>
                  <a:lnTo>
                    <a:pt x="1009" y="8947"/>
                  </a:lnTo>
                  <a:cubicBezTo>
                    <a:pt x="820" y="8947"/>
                    <a:pt x="662" y="8790"/>
                    <a:pt x="662" y="8601"/>
                  </a:cubicBezTo>
                  <a:lnTo>
                    <a:pt x="662" y="3403"/>
                  </a:lnTo>
                  <a:close/>
                  <a:moveTo>
                    <a:pt x="7152" y="5923"/>
                  </a:moveTo>
                  <a:lnTo>
                    <a:pt x="7152" y="10838"/>
                  </a:lnTo>
                  <a:cubicBezTo>
                    <a:pt x="6144" y="10365"/>
                    <a:pt x="5451" y="9357"/>
                    <a:pt x="5451" y="8160"/>
                  </a:cubicBezTo>
                  <a:lnTo>
                    <a:pt x="5451" y="6301"/>
                  </a:lnTo>
                  <a:cubicBezTo>
                    <a:pt x="5604" y="6330"/>
                    <a:pt x="5750" y="6344"/>
                    <a:pt x="5891" y="6344"/>
                  </a:cubicBezTo>
                  <a:cubicBezTo>
                    <a:pt x="6359" y="6344"/>
                    <a:pt x="6765" y="6189"/>
                    <a:pt x="7152" y="5923"/>
                  </a:cubicBezTo>
                  <a:close/>
                  <a:moveTo>
                    <a:pt x="7877" y="5923"/>
                  </a:moveTo>
                  <a:cubicBezTo>
                    <a:pt x="8242" y="6166"/>
                    <a:pt x="8644" y="6353"/>
                    <a:pt x="9128" y="6353"/>
                  </a:cubicBezTo>
                  <a:cubicBezTo>
                    <a:pt x="9271" y="6353"/>
                    <a:pt x="9420" y="6337"/>
                    <a:pt x="9578" y="6301"/>
                  </a:cubicBezTo>
                  <a:lnTo>
                    <a:pt x="9578" y="8160"/>
                  </a:lnTo>
                  <a:cubicBezTo>
                    <a:pt x="9547" y="9357"/>
                    <a:pt x="8885" y="10365"/>
                    <a:pt x="7877" y="10838"/>
                  </a:cubicBezTo>
                  <a:lnTo>
                    <a:pt x="7877" y="5923"/>
                  </a:lnTo>
                  <a:close/>
                  <a:moveTo>
                    <a:pt x="1009" y="0"/>
                  </a:moveTo>
                  <a:cubicBezTo>
                    <a:pt x="473" y="0"/>
                    <a:pt x="1" y="473"/>
                    <a:pt x="1" y="1040"/>
                  </a:cubicBezTo>
                  <a:lnTo>
                    <a:pt x="1" y="8601"/>
                  </a:lnTo>
                  <a:cubicBezTo>
                    <a:pt x="1" y="9136"/>
                    <a:pt x="473" y="9609"/>
                    <a:pt x="1009" y="9609"/>
                  </a:cubicBezTo>
                  <a:lnTo>
                    <a:pt x="5073" y="9609"/>
                  </a:lnTo>
                  <a:cubicBezTo>
                    <a:pt x="5199" y="9893"/>
                    <a:pt x="5357" y="10145"/>
                    <a:pt x="5514" y="10365"/>
                  </a:cubicBezTo>
                  <a:cubicBezTo>
                    <a:pt x="5987" y="10995"/>
                    <a:pt x="6617" y="11436"/>
                    <a:pt x="7404" y="11657"/>
                  </a:cubicBezTo>
                  <a:cubicBezTo>
                    <a:pt x="7446" y="11657"/>
                    <a:pt x="7488" y="11685"/>
                    <a:pt x="7530" y="11685"/>
                  </a:cubicBezTo>
                  <a:cubicBezTo>
                    <a:pt x="7551" y="11685"/>
                    <a:pt x="7572" y="11678"/>
                    <a:pt x="7593" y="11657"/>
                  </a:cubicBezTo>
                  <a:cubicBezTo>
                    <a:pt x="8350" y="11436"/>
                    <a:pt x="9011" y="10995"/>
                    <a:pt x="9484" y="10365"/>
                  </a:cubicBezTo>
                  <a:cubicBezTo>
                    <a:pt x="9641" y="10145"/>
                    <a:pt x="9799" y="9893"/>
                    <a:pt x="9925" y="9609"/>
                  </a:cubicBezTo>
                  <a:lnTo>
                    <a:pt x="10618" y="9609"/>
                  </a:lnTo>
                  <a:cubicBezTo>
                    <a:pt x="11185" y="9609"/>
                    <a:pt x="11658" y="9136"/>
                    <a:pt x="11658" y="8601"/>
                  </a:cubicBezTo>
                  <a:lnTo>
                    <a:pt x="11658" y="1040"/>
                  </a:lnTo>
                  <a:cubicBezTo>
                    <a:pt x="11658" y="473"/>
                    <a:pt x="11217" y="0"/>
                    <a:pt x="10618"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Slidesgo vector icon"/>
            <p:cNvSpPr/>
            <p:nvPr/>
          </p:nvSpPr>
          <p:spPr>
            <a:xfrm>
              <a:off x="-3104575" y="2442800"/>
              <a:ext cx="18150" cy="17350"/>
            </a:xfrm>
            <a:custGeom>
              <a:avLst/>
              <a:gdLst/>
              <a:ahLst/>
              <a:cxnLst/>
              <a:rect l="l" t="t" r="r" b="b"/>
              <a:pathLst>
                <a:path w="726" h="694" extrusionOk="0">
                  <a:moveTo>
                    <a:pt x="348" y="1"/>
                  </a:moveTo>
                  <a:cubicBezTo>
                    <a:pt x="158" y="1"/>
                    <a:pt x="1" y="158"/>
                    <a:pt x="1" y="347"/>
                  </a:cubicBezTo>
                  <a:cubicBezTo>
                    <a:pt x="1" y="536"/>
                    <a:pt x="158" y="694"/>
                    <a:pt x="348" y="694"/>
                  </a:cubicBezTo>
                  <a:cubicBezTo>
                    <a:pt x="568" y="694"/>
                    <a:pt x="726" y="536"/>
                    <a:pt x="726" y="347"/>
                  </a:cubicBezTo>
                  <a:cubicBezTo>
                    <a:pt x="726" y="158"/>
                    <a:pt x="568" y="1"/>
                    <a:pt x="34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Slidesgo vector icon"/>
            <p:cNvSpPr/>
            <p:nvPr/>
          </p:nvSpPr>
          <p:spPr>
            <a:xfrm>
              <a:off x="-306990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Slidesgo vector icon"/>
            <p:cNvSpPr/>
            <p:nvPr/>
          </p:nvSpPr>
          <p:spPr>
            <a:xfrm>
              <a:off x="-303525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Slidesgo vector icon"/>
            <p:cNvSpPr/>
            <p:nvPr/>
          </p:nvSpPr>
          <p:spPr>
            <a:xfrm>
              <a:off x="-3002175" y="2442800"/>
              <a:ext cx="120525" cy="17350"/>
            </a:xfrm>
            <a:custGeom>
              <a:avLst/>
              <a:gdLst/>
              <a:ahLst/>
              <a:cxnLst/>
              <a:rect l="l" t="t" r="r" b="b"/>
              <a:pathLst>
                <a:path w="4821" h="694" extrusionOk="0">
                  <a:moveTo>
                    <a:pt x="347" y="1"/>
                  </a:moveTo>
                  <a:cubicBezTo>
                    <a:pt x="158" y="1"/>
                    <a:pt x="1" y="158"/>
                    <a:pt x="1" y="347"/>
                  </a:cubicBezTo>
                  <a:cubicBezTo>
                    <a:pt x="32" y="536"/>
                    <a:pt x="190" y="694"/>
                    <a:pt x="347" y="694"/>
                  </a:cubicBezTo>
                  <a:lnTo>
                    <a:pt x="4443" y="694"/>
                  </a:lnTo>
                  <a:cubicBezTo>
                    <a:pt x="4663" y="694"/>
                    <a:pt x="4821" y="536"/>
                    <a:pt x="4821" y="347"/>
                  </a:cubicBezTo>
                  <a:cubicBezTo>
                    <a:pt x="4821" y="158"/>
                    <a:pt x="4663" y="1"/>
                    <a:pt x="4443"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1" name="Text"/>
          <p:cNvSpPr txBox="1"/>
          <p:nvPr/>
        </p:nvSpPr>
        <p:spPr>
          <a:xfrm>
            <a:off x="1095375" y="2733675"/>
            <a:ext cx="3209925" cy="476250"/>
          </a:xfrm>
          <a:prstGeom prst="rect">
            <a:avLst/>
          </a:prstGeom>
          <a:noFill/>
          <a:ln w="9525">
            <a:noFill/>
          </a:ln>
        </p:spPr>
        <p:txBody>
          <a:bodyPr wrap="none" lIns="0" tIns="0" rIns="0" bIns="0" anchor="t">
            <a:noAutofit/>
          </a:bodyPr>
          <a:lstStyle/>
          <a:p>
            <a:pPr marL="0" indent="0" algn="l">
              <a:lnSpc>
                <a:spcPts val="2906"/>
              </a:lnSpc>
              <a:spcAft>
                <a:spcPts val="0"/>
              </a:spcAft>
              <a:buNone/>
            </a:pPr>
            <a:r>
              <a:rPr lang="en-US" sz="2325" b="1">
                <a:solidFill>
                  <a:srgbClr val="435D74"/>
                </a:solidFill>
                <a:latin typeface="Fira Sans Extra Condensed"/>
                <a:ea typeface="Fira Sans Extra Condensed"/>
                <a:cs typeface="Fira Sans Extra Condensed"/>
              </a:rPr>
              <a:t>Constraints</a:t>
            </a:r>
            <a:endParaRPr lang="en-US" sz="2325"/>
          </a:p>
        </p:txBody>
      </p:sp>
      <p:sp>
        <p:nvSpPr>
          <p:cNvPr id="32" name="Text"/>
          <p:cNvSpPr txBox="1"/>
          <p:nvPr/>
        </p:nvSpPr>
        <p:spPr>
          <a:xfrm>
            <a:off x="1095375" y="3228975"/>
            <a:ext cx="3209925" cy="342900"/>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1">
                <a:solidFill>
                  <a:srgbClr val="435D74"/>
                </a:solidFill>
                <a:latin typeface="Roboto"/>
                <a:ea typeface="Roboto"/>
                <a:cs typeface="Roboto"/>
              </a:rPr>
              <a:t>What rules must we follow?</a:t>
            </a:r>
            <a:endParaRPr lang="en-US" sz="1575"/>
          </a:p>
        </p:txBody>
      </p:sp>
      <p:sp>
        <p:nvSpPr>
          <p:cNvPr id="33" name="Text"/>
          <p:cNvSpPr txBox="1"/>
          <p:nvPr/>
        </p:nvSpPr>
        <p:spPr>
          <a:xfrm>
            <a:off x="1095375" y="3629025"/>
            <a:ext cx="3209925" cy="381000"/>
          </a:xfrm>
          <a:prstGeom prst="rect">
            <a:avLst/>
          </a:prstGeom>
          <a:noFill/>
          <a:ln w="9525">
            <a:noFill/>
          </a:ln>
        </p:spPr>
        <p:txBody>
          <a:bodyPr wrap="none" lIns="0" tIns="0" rIns="0" bIns="0" anchor="t">
            <a:noAutofit/>
          </a:bodyPr>
          <a:lstStyle/>
          <a:p>
            <a:pPr marL="0" indent="0" algn="l">
              <a:lnSpc>
                <a:spcPts val="1781"/>
              </a:lnSpc>
              <a:spcAft>
                <a:spcPts val="0"/>
              </a:spcAft>
              <a:buNone/>
            </a:pPr>
            <a:r>
              <a:rPr lang="en-US" sz="1425" b="0">
                <a:solidFill>
                  <a:srgbClr val="6D8495"/>
                </a:solidFill>
                <a:latin typeface="Roboto"/>
                <a:ea typeface="Roboto"/>
                <a:cs typeface="Roboto"/>
              </a:rPr>
              <a:t>Available stock and store limits</a:t>
            </a:r>
            <a:endParaRPr lang="en-US" sz="1425"/>
          </a:p>
        </p:txBody>
      </p:sp>
      <p:grpSp>
        <p:nvGrpSpPr>
          <p:cNvPr id="34" name="Slidesgo vector icon"/>
          <p:cNvGrpSpPr/>
          <p:nvPr/>
        </p:nvGrpSpPr>
        <p:grpSpPr>
          <a:xfrm>
            <a:off x="4810125" y="2762250"/>
            <a:ext cx="400050" cy="401113"/>
            <a:chOff x="-1333200" y="2770450"/>
            <a:chExt cx="291450" cy="292225"/>
          </a:xfrm>
        </p:grpSpPr>
        <p:sp>
          <p:nvSpPr>
            <p:cNvPr id="35" name="Slidesgo vector icon"/>
            <p:cNvSpPr/>
            <p:nvPr/>
          </p:nvSpPr>
          <p:spPr>
            <a:xfrm>
              <a:off x="-1299325" y="2808250"/>
              <a:ext cx="222925" cy="134725"/>
            </a:xfrm>
            <a:custGeom>
              <a:avLst/>
              <a:gdLst/>
              <a:ahLst/>
              <a:cxnLst/>
              <a:rect l="l" t="t" r="r" b="b"/>
              <a:pathLst>
                <a:path w="8917" h="5389" extrusionOk="0">
                  <a:moveTo>
                    <a:pt x="7877" y="631"/>
                  </a:moveTo>
                  <a:cubicBezTo>
                    <a:pt x="8066" y="631"/>
                    <a:pt x="8223" y="789"/>
                    <a:pt x="8223" y="978"/>
                  </a:cubicBezTo>
                  <a:cubicBezTo>
                    <a:pt x="8223" y="1167"/>
                    <a:pt x="8066" y="1324"/>
                    <a:pt x="7877" y="1324"/>
                  </a:cubicBezTo>
                  <a:cubicBezTo>
                    <a:pt x="7656" y="1324"/>
                    <a:pt x="7498" y="1167"/>
                    <a:pt x="7498" y="978"/>
                  </a:cubicBezTo>
                  <a:cubicBezTo>
                    <a:pt x="7498" y="789"/>
                    <a:pt x="7656" y="631"/>
                    <a:pt x="7877" y="631"/>
                  </a:cubicBezTo>
                  <a:close/>
                  <a:moveTo>
                    <a:pt x="3056" y="1293"/>
                  </a:moveTo>
                  <a:cubicBezTo>
                    <a:pt x="3245" y="1293"/>
                    <a:pt x="3403" y="1450"/>
                    <a:pt x="3403" y="1639"/>
                  </a:cubicBezTo>
                  <a:cubicBezTo>
                    <a:pt x="3403" y="1828"/>
                    <a:pt x="3245" y="1986"/>
                    <a:pt x="3056" y="1986"/>
                  </a:cubicBezTo>
                  <a:cubicBezTo>
                    <a:pt x="2867" y="1986"/>
                    <a:pt x="2710" y="1828"/>
                    <a:pt x="2710" y="1639"/>
                  </a:cubicBezTo>
                  <a:cubicBezTo>
                    <a:pt x="2741" y="1450"/>
                    <a:pt x="2899" y="1293"/>
                    <a:pt x="3056" y="1293"/>
                  </a:cubicBezTo>
                  <a:close/>
                  <a:moveTo>
                    <a:pt x="5797" y="3340"/>
                  </a:moveTo>
                  <a:cubicBezTo>
                    <a:pt x="6018" y="3340"/>
                    <a:pt x="6175" y="3498"/>
                    <a:pt x="6175" y="3687"/>
                  </a:cubicBezTo>
                  <a:cubicBezTo>
                    <a:pt x="6175" y="3876"/>
                    <a:pt x="6018" y="4034"/>
                    <a:pt x="5797" y="4034"/>
                  </a:cubicBezTo>
                  <a:cubicBezTo>
                    <a:pt x="5608" y="4034"/>
                    <a:pt x="5451" y="3876"/>
                    <a:pt x="5451" y="3687"/>
                  </a:cubicBezTo>
                  <a:cubicBezTo>
                    <a:pt x="5451" y="3498"/>
                    <a:pt x="5608" y="3340"/>
                    <a:pt x="5797" y="3340"/>
                  </a:cubicBezTo>
                  <a:close/>
                  <a:moveTo>
                    <a:pt x="1008" y="4034"/>
                  </a:moveTo>
                  <a:cubicBezTo>
                    <a:pt x="1198" y="4034"/>
                    <a:pt x="1355" y="4191"/>
                    <a:pt x="1355" y="4412"/>
                  </a:cubicBezTo>
                  <a:cubicBezTo>
                    <a:pt x="1355" y="4601"/>
                    <a:pt x="1198" y="4758"/>
                    <a:pt x="1008" y="4758"/>
                  </a:cubicBezTo>
                  <a:cubicBezTo>
                    <a:pt x="819" y="4758"/>
                    <a:pt x="662" y="4601"/>
                    <a:pt x="662" y="4412"/>
                  </a:cubicBezTo>
                  <a:cubicBezTo>
                    <a:pt x="662" y="4191"/>
                    <a:pt x="819" y="4034"/>
                    <a:pt x="1008" y="4034"/>
                  </a:cubicBezTo>
                  <a:close/>
                  <a:moveTo>
                    <a:pt x="7908" y="1"/>
                  </a:moveTo>
                  <a:cubicBezTo>
                    <a:pt x="7341" y="1"/>
                    <a:pt x="6868" y="474"/>
                    <a:pt x="6868" y="1009"/>
                  </a:cubicBezTo>
                  <a:cubicBezTo>
                    <a:pt x="6868" y="1198"/>
                    <a:pt x="6963" y="1419"/>
                    <a:pt x="7026" y="1576"/>
                  </a:cubicBezTo>
                  <a:lnTo>
                    <a:pt x="6112" y="2742"/>
                  </a:lnTo>
                  <a:cubicBezTo>
                    <a:pt x="6032" y="2722"/>
                    <a:pt x="5943" y="2711"/>
                    <a:pt x="5850" y="2711"/>
                  </a:cubicBezTo>
                  <a:cubicBezTo>
                    <a:pt x="5650" y="2711"/>
                    <a:pt x="5434" y="2760"/>
                    <a:pt x="5262" y="2868"/>
                  </a:cubicBezTo>
                  <a:lnTo>
                    <a:pt x="4096" y="1954"/>
                  </a:lnTo>
                  <a:cubicBezTo>
                    <a:pt x="4127" y="1891"/>
                    <a:pt x="4127" y="1765"/>
                    <a:pt x="4127" y="1639"/>
                  </a:cubicBezTo>
                  <a:cubicBezTo>
                    <a:pt x="4127" y="1104"/>
                    <a:pt x="3655" y="631"/>
                    <a:pt x="3088" y="631"/>
                  </a:cubicBezTo>
                  <a:cubicBezTo>
                    <a:pt x="2552" y="631"/>
                    <a:pt x="2080" y="1104"/>
                    <a:pt x="2080" y="1639"/>
                  </a:cubicBezTo>
                  <a:cubicBezTo>
                    <a:pt x="2080" y="1828"/>
                    <a:pt x="2143" y="2049"/>
                    <a:pt x="2237" y="2206"/>
                  </a:cubicBezTo>
                  <a:lnTo>
                    <a:pt x="1324" y="3372"/>
                  </a:lnTo>
                  <a:cubicBezTo>
                    <a:pt x="1261" y="3340"/>
                    <a:pt x="1134" y="3340"/>
                    <a:pt x="1008" y="3340"/>
                  </a:cubicBezTo>
                  <a:cubicBezTo>
                    <a:pt x="441" y="3340"/>
                    <a:pt x="0" y="3813"/>
                    <a:pt x="0" y="4349"/>
                  </a:cubicBezTo>
                  <a:cubicBezTo>
                    <a:pt x="0" y="4947"/>
                    <a:pt x="441" y="5388"/>
                    <a:pt x="1008" y="5388"/>
                  </a:cubicBezTo>
                  <a:cubicBezTo>
                    <a:pt x="1576" y="5388"/>
                    <a:pt x="2017" y="4916"/>
                    <a:pt x="2017" y="4349"/>
                  </a:cubicBezTo>
                  <a:cubicBezTo>
                    <a:pt x="2017" y="4160"/>
                    <a:pt x="1954" y="3971"/>
                    <a:pt x="1859" y="3813"/>
                  </a:cubicBezTo>
                  <a:lnTo>
                    <a:pt x="2773" y="2616"/>
                  </a:lnTo>
                  <a:cubicBezTo>
                    <a:pt x="2875" y="2650"/>
                    <a:pt x="2980" y="2667"/>
                    <a:pt x="3087" y="2667"/>
                  </a:cubicBezTo>
                  <a:cubicBezTo>
                    <a:pt x="3278" y="2667"/>
                    <a:pt x="3473" y="2611"/>
                    <a:pt x="3655" y="2490"/>
                  </a:cubicBezTo>
                  <a:lnTo>
                    <a:pt x="4821" y="3403"/>
                  </a:lnTo>
                  <a:cubicBezTo>
                    <a:pt x="4789" y="3498"/>
                    <a:pt x="4789" y="3624"/>
                    <a:pt x="4789" y="3719"/>
                  </a:cubicBezTo>
                  <a:cubicBezTo>
                    <a:pt x="4789" y="4286"/>
                    <a:pt x="5262" y="4758"/>
                    <a:pt x="5797" y="4758"/>
                  </a:cubicBezTo>
                  <a:cubicBezTo>
                    <a:pt x="6364" y="4758"/>
                    <a:pt x="6837" y="4286"/>
                    <a:pt x="6837" y="3719"/>
                  </a:cubicBezTo>
                  <a:cubicBezTo>
                    <a:pt x="6837" y="3529"/>
                    <a:pt x="6742" y="3340"/>
                    <a:pt x="6679" y="3183"/>
                  </a:cubicBezTo>
                  <a:lnTo>
                    <a:pt x="7593" y="1986"/>
                  </a:lnTo>
                  <a:cubicBezTo>
                    <a:pt x="7656" y="2049"/>
                    <a:pt x="7782" y="2049"/>
                    <a:pt x="7908" y="2049"/>
                  </a:cubicBezTo>
                  <a:cubicBezTo>
                    <a:pt x="8444" y="2049"/>
                    <a:pt x="8916" y="1576"/>
                    <a:pt x="8916" y="1009"/>
                  </a:cubicBezTo>
                  <a:cubicBezTo>
                    <a:pt x="8916" y="474"/>
                    <a:pt x="8444" y="1"/>
                    <a:pt x="790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Slidesgo vector icon"/>
            <p:cNvSpPr/>
            <p:nvPr/>
          </p:nvSpPr>
          <p:spPr>
            <a:xfrm>
              <a:off x="-1333200" y="2770450"/>
              <a:ext cx="291450" cy="292225"/>
            </a:xfrm>
            <a:custGeom>
              <a:avLst/>
              <a:gdLst/>
              <a:ahLst/>
              <a:cxnLst/>
              <a:rect l="l" t="t" r="r" b="b"/>
              <a:pathLst>
                <a:path w="11658" h="11689" extrusionOk="0">
                  <a:moveTo>
                    <a:pt x="10586" y="725"/>
                  </a:moveTo>
                  <a:cubicBezTo>
                    <a:pt x="10807" y="725"/>
                    <a:pt x="10964" y="883"/>
                    <a:pt x="10964" y="1072"/>
                  </a:cubicBezTo>
                  <a:lnTo>
                    <a:pt x="10964" y="7593"/>
                  </a:lnTo>
                  <a:lnTo>
                    <a:pt x="631" y="7593"/>
                  </a:lnTo>
                  <a:lnTo>
                    <a:pt x="631" y="1072"/>
                  </a:lnTo>
                  <a:cubicBezTo>
                    <a:pt x="662" y="883"/>
                    <a:pt x="820" y="725"/>
                    <a:pt x="977" y="725"/>
                  </a:cubicBezTo>
                  <a:close/>
                  <a:moveTo>
                    <a:pt x="10996" y="8286"/>
                  </a:moveTo>
                  <a:lnTo>
                    <a:pt x="10996" y="8633"/>
                  </a:lnTo>
                  <a:cubicBezTo>
                    <a:pt x="10996" y="8822"/>
                    <a:pt x="10838" y="8980"/>
                    <a:pt x="10618" y="8980"/>
                  </a:cubicBezTo>
                  <a:lnTo>
                    <a:pt x="1009" y="8980"/>
                  </a:lnTo>
                  <a:cubicBezTo>
                    <a:pt x="820" y="8980"/>
                    <a:pt x="662" y="8822"/>
                    <a:pt x="662" y="8633"/>
                  </a:cubicBezTo>
                  <a:lnTo>
                    <a:pt x="662" y="8286"/>
                  </a:lnTo>
                  <a:close/>
                  <a:moveTo>
                    <a:pt x="6617" y="9641"/>
                  </a:moveTo>
                  <a:lnTo>
                    <a:pt x="6932" y="11027"/>
                  </a:lnTo>
                  <a:lnTo>
                    <a:pt x="4632" y="11027"/>
                  </a:lnTo>
                  <a:lnTo>
                    <a:pt x="4947" y="9641"/>
                  </a:lnTo>
                  <a:close/>
                  <a:moveTo>
                    <a:pt x="1009" y="1"/>
                  </a:moveTo>
                  <a:cubicBezTo>
                    <a:pt x="473" y="1"/>
                    <a:pt x="1" y="473"/>
                    <a:pt x="1" y="1040"/>
                  </a:cubicBezTo>
                  <a:lnTo>
                    <a:pt x="1" y="8570"/>
                  </a:lnTo>
                  <a:cubicBezTo>
                    <a:pt x="1" y="9137"/>
                    <a:pt x="473" y="9610"/>
                    <a:pt x="1009" y="9610"/>
                  </a:cubicBezTo>
                  <a:lnTo>
                    <a:pt x="4285" y="9610"/>
                  </a:lnTo>
                  <a:lnTo>
                    <a:pt x="3970" y="10996"/>
                  </a:lnTo>
                  <a:lnTo>
                    <a:pt x="3057" y="10996"/>
                  </a:lnTo>
                  <a:cubicBezTo>
                    <a:pt x="2868" y="10996"/>
                    <a:pt x="2710" y="11153"/>
                    <a:pt x="2710" y="11342"/>
                  </a:cubicBezTo>
                  <a:cubicBezTo>
                    <a:pt x="2710" y="11531"/>
                    <a:pt x="2868" y="11689"/>
                    <a:pt x="3057" y="11689"/>
                  </a:cubicBezTo>
                  <a:lnTo>
                    <a:pt x="8538" y="11689"/>
                  </a:lnTo>
                  <a:cubicBezTo>
                    <a:pt x="8727" y="11689"/>
                    <a:pt x="8885" y="11531"/>
                    <a:pt x="8885" y="11342"/>
                  </a:cubicBezTo>
                  <a:cubicBezTo>
                    <a:pt x="8885" y="11153"/>
                    <a:pt x="8727" y="10996"/>
                    <a:pt x="8538" y="10996"/>
                  </a:cubicBezTo>
                  <a:lnTo>
                    <a:pt x="7625" y="10996"/>
                  </a:lnTo>
                  <a:lnTo>
                    <a:pt x="7310" y="9610"/>
                  </a:lnTo>
                  <a:lnTo>
                    <a:pt x="10618" y="9610"/>
                  </a:lnTo>
                  <a:cubicBezTo>
                    <a:pt x="11185" y="9610"/>
                    <a:pt x="11657" y="9137"/>
                    <a:pt x="11657" y="8570"/>
                  </a:cubicBezTo>
                  <a:lnTo>
                    <a:pt x="11657" y="1040"/>
                  </a:lnTo>
                  <a:cubicBezTo>
                    <a:pt x="11657" y="473"/>
                    <a:pt x="11185" y="1"/>
                    <a:pt x="1061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7" name="Text"/>
          <p:cNvSpPr txBox="1"/>
          <p:nvPr/>
        </p:nvSpPr>
        <p:spPr>
          <a:xfrm>
            <a:off x="5410200" y="2733675"/>
            <a:ext cx="3209925" cy="476250"/>
          </a:xfrm>
          <a:prstGeom prst="rect">
            <a:avLst/>
          </a:prstGeom>
          <a:noFill/>
          <a:ln w="9525">
            <a:noFill/>
          </a:ln>
        </p:spPr>
        <p:txBody>
          <a:bodyPr wrap="none" lIns="0" tIns="0" rIns="0" bIns="0" anchor="t">
            <a:noAutofit/>
          </a:bodyPr>
          <a:lstStyle/>
          <a:p>
            <a:pPr marL="0" indent="0" algn="l">
              <a:lnSpc>
                <a:spcPts val="2906"/>
              </a:lnSpc>
              <a:spcAft>
                <a:spcPts val="0"/>
              </a:spcAft>
              <a:buNone/>
            </a:pPr>
            <a:r>
              <a:rPr lang="en-US" sz="2325" b="1">
                <a:solidFill>
                  <a:srgbClr val="435D74"/>
                </a:solidFill>
                <a:latin typeface="Fira Sans Extra Condensed"/>
                <a:ea typeface="Fira Sans Extra Condensed"/>
                <a:cs typeface="Fira Sans Extra Condensed"/>
              </a:rPr>
              <a:t>Inputs</a:t>
            </a:r>
            <a:endParaRPr lang="en-US" sz="2325"/>
          </a:p>
        </p:txBody>
      </p:sp>
      <p:sp>
        <p:nvSpPr>
          <p:cNvPr id="38" name="Text"/>
          <p:cNvSpPr txBox="1"/>
          <p:nvPr/>
        </p:nvSpPr>
        <p:spPr>
          <a:xfrm>
            <a:off x="5410200" y="3228975"/>
            <a:ext cx="3209925" cy="342900"/>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1">
                <a:solidFill>
                  <a:srgbClr val="435D74"/>
                </a:solidFill>
                <a:latin typeface="Roboto"/>
                <a:ea typeface="Roboto"/>
                <a:cs typeface="Roboto"/>
              </a:rPr>
              <a:t>What information is available?</a:t>
            </a:r>
            <a:endParaRPr lang="en-US" sz="1575"/>
          </a:p>
        </p:txBody>
      </p:sp>
      <p:sp>
        <p:nvSpPr>
          <p:cNvPr id="39" name="Text"/>
          <p:cNvSpPr txBox="1"/>
          <p:nvPr/>
        </p:nvSpPr>
        <p:spPr>
          <a:xfrm>
            <a:off x="5410200" y="3629025"/>
            <a:ext cx="3209925" cy="381000"/>
          </a:xfrm>
          <a:prstGeom prst="rect">
            <a:avLst/>
          </a:prstGeom>
          <a:noFill/>
          <a:ln w="9525">
            <a:noFill/>
          </a:ln>
        </p:spPr>
        <p:txBody>
          <a:bodyPr wrap="none" lIns="0" tIns="0" rIns="0" bIns="0" anchor="t">
            <a:noAutofit/>
          </a:bodyPr>
          <a:lstStyle/>
          <a:p>
            <a:pPr marL="0" indent="0" algn="l">
              <a:lnSpc>
                <a:spcPts val="1781"/>
              </a:lnSpc>
              <a:spcAft>
                <a:spcPts val="0"/>
              </a:spcAft>
              <a:buNone/>
            </a:pPr>
            <a:r>
              <a:rPr lang="en-US" sz="1425" b="0">
                <a:solidFill>
                  <a:srgbClr val="6D8495"/>
                </a:solidFill>
                <a:latin typeface="Roboto"/>
                <a:ea typeface="Roboto"/>
                <a:cs typeface="Roboto"/>
              </a:rPr>
              <a:t>Expected demand and current stock</a:t>
            </a:r>
            <a:endParaRPr lang="en-US" sz="1425"/>
          </a:p>
        </p:txBody>
      </p:sp>
      <p:cxnSp>
        <p:nvCxnSpPr>
          <p:cNvPr id="40" name="Connector"/>
          <p:cNvCxnSpPr/>
          <p:nvPr/>
        </p:nvCxnSpPr>
        <p:spPr>
          <a:xfrm>
            <a:off x="4572000" y="1238250"/>
            <a:ext cx="95" cy="2771775"/>
          </a:xfrm>
          <a:prstGeom prst="line">
            <a:avLst/>
          </a:prstGeom>
          <a:ln w="9525">
            <a:solidFill>
              <a:srgbClr val="D8E2E8"/>
            </a:solidFill>
          </a:ln>
        </p:spPr>
      </p:cxnSp>
      <p:cxnSp>
        <p:nvCxnSpPr>
          <p:cNvPr id="41" name="Connector"/>
          <p:cNvCxnSpPr/>
          <p:nvPr/>
        </p:nvCxnSpPr>
        <p:spPr>
          <a:xfrm>
            <a:off x="495300" y="2590800"/>
            <a:ext cx="8153400" cy="95"/>
          </a:xfrm>
          <a:prstGeom prst="line">
            <a:avLst/>
          </a:prstGeom>
          <a:ln w="9525">
            <a:solidFill>
              <a:srgbClr val="D8E2E8"/>
            </a:solidFill>
          </a:ln>
        </p:spPr>
      </p:cxnSp>
      <p:sp>
        <p:nvSpPr>
          <p:cNvPr id="42" name="Panel"/>
          <p:cNvSpPr/>
          <p:nvPr/>
        </p:nvSpPr>
        <p:spPr>
          <a:xfrm>
            <a:off x="495300" y="4219575"/>
            <a:ext cx="8153400" cy="400050"/>
          </a:xfrm>
          <a:prstGeom prst="roundRect">
            <a:avLst>
              <a:gd name="adj" fmla="val 10000"/>
            </a:avLst>
          </a:prstGeom>
          <a:solidFill>
            <a:srgbClr val="F3F6F8"/>
          </a:solidFill>
          <a:ln w="9525">
            <a:noFill/>
          </a:ln>
        </p:spPr>
        <p:txBody>
          <a:bodyPr/>
          <a:lstStyle/>
          <a:p>
            <a:endParaRPr lang="en-US"/>
          </a:p>
        </p:txBody>
      </p:sp>
      <p:sp>
        <p:nvSpPr>
          <p:cNvPr id="43" name="Text"/>
          <p:cNvSpPr txBox="1"/>
          <p:nvPr/>
        </p:nvSpPr>
        <p:spPr>
          <a:xfrm>
            <a:off x="666750" y="4295775"/>
            <a:ext cx="7810500" cy="2952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a:solidFill>
                  <a:srgbClr val="435D74"/>
                </a:solidFill>
                <a:latin typeface="Roboto"/>
                <a:ea typeface="Roboto"/>
                <a:cs typeface="Roboto"/>
              </a:rPr>
              <a:t>Feasible = follows the rules. Optimal = best result within the model.</a:t>
            </a:r>
            <a:endParaRPr lang="en-US" sz="135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name="The recommendation process">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The recommendation process</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algn="r">
              <a:lnSpc>
                <a:spcPts val="1031"/>
              </a:lnSpc>
            </a:pPr>
            <a:r>
              <a:rPr lang="en-US" sz="825" b="0" dirty="0">
                <a:solidFill>
                  <a:srgbClr val="6D8495"/>
                </a:solidFill>
                <a:latin typeface="Roboto"/>
                <a:ea typeface="Roboto"/>
                <a:cs typeface="Roboto"/>
              </a:rPr>
              <a:t>06 </a:t>
            </a:r>
            <a:r>
              <a:rPr lang="en-US" sz="825" dirty="0">
                <a:solidFill>
                  <a:srgbClr val="6D8495"/>
                </a:solidFill>
                <a:latin typeface="Roboto"/>
                <a:ea typeface="Roboto"/>
                <a:cs typeface="Roboto"/>
              </a:rPr>
              <a:t>/ 14</a:t>
            </a:r>
            <a:endParaRPr lang="en-US" sz="825" dirty="0"/>
          </a:p>
        </p:txBody>
      </p:sp>
      <p:sp>
        <p:nvSpPr>
          <p:cNvPr id="7" name="Circle"/>
          <p:cNvSpPr/>
          <p:nvPr/>
        </p:nvSpPr>
        <p:spPr>
          <a:xfrm>
            <a:off x="866775" y="1381125"/>
            <a:ext cx="742950" cy="742950"/>
          </a:xfrm>
          <a:prstGeom prst="ellipse">
            <a:avLst/>
          </a:prstGeom>
          <a:solidFill>
            <a:srgbClr val="F3F6F8"/>
          </a:solidFill>
          <a:ln w="9525">
            <a:noFill/>
          </a:ln>
        </p:spPr>
        <p:txBody>
          <a:bodyPr/>
          <a:lstStyle/>
          <a:p>
            <a:endParaRPr lang="en-US"/>
          </a:p>
        </p:txBody>
      </p:sp>
      <p:grpSp>
        <p:nvGrpSpPr>
          <p:cNvPr id="8" name="Slidesgo vector icon"/>
          <p:cNvGrpSpPr/>
          <p:nvPr/>
        </p:nvGrpSpPr>
        <p:grpSpPr>
          <a:xfrm>
            <a:off x="1076325" y="1571625"/>
            <a:ext cx="333375" cy="331725"/>
            <a:chOff x="-63679950" y="3360375"/>
            <a:chExt cx="318225" cy="316650"/>
          </a:xfrm>
        </p:grpSpPr>
        <p:sp>
          <p:nvSpPr>
            <p:cNvPr id="9" name="Slidesgo vector icon"/>
            <p:cNvSpPr/>
            <p:nvPr/>
          </p:nvSpPr>
          <p:spPr>
            <a:xfrm>
              <a:off x="-63497200" y="3423400"/>
              <a:ext cx="40975" cy="40975"/>
            </a:xfrm>
            <a:custGeom>
              <a:avLst/>
              <a:gdLst/>
              <a:ahLst/>
              <a:cxnLst/>
              <a:rect l="l" t="t" r="r" b="b"/>
              <a:pathLst>
                <a:path w="1639" h="1639" extrusionOk="0">
                  <a:moveTo>
                    <a:pt x="819" y="0"/>
                  </a:moveTo>
                  <a:cubicBezTo>
                    <a:pt x="378" y="0"/>
                    <a:pt x="0" y="378"/>
                    <a:pt x="0" y="819"/>
                  </a:cubicBezTo>
                  <a:cubicBezTo>
                    <a:pt x="0" y="1260"/>
                    <a:pt x="378" y="1638"/>
                    <a:pt x="819" y="1638"/>
                  </a:cubicBezTo>
                  <a:cubicBezTo>
                    <a:pt x="1260" y="1638"/>
                    <a:pt x="1638" y="1260"/>
                    <a:pt x="1638" y="819"/>
                  </a:cubicBezTo>
                  <a:cubicBezTo>
                    <a:pt x="1638" y="378"/>
                    <a:pt x="1260" y="0"/>
                    <a:pt x="819"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Slidesgo vector icon"/>
            <p:cNvSpPr/>
            <p:nvPr/>
          </p:nvSpPr>
          <p:spPr>
            <a:xfrm>
              <a:off x="-63516900" y="3485625"/>
              <a:ext cx="79575" cy="29950"/>
            </a:xfrm>
            <a:custGeom>
              <a:avLst/>
              <a:gdLst/>
              <a:ahLst/>
              <a:cxnLst/>
              <a:rect l="l" t="t" r="r" b="b"/>
              <a:pathLst>
                <a:path w="3183" h="1198" extrusionOk="0">
                  <a:moveTo>
                    <a:pt x="1607" y="0"/>
                  </a:moveTo>
                  <a:cubicBezTo>
                    <a:pt x="820" y="0"/>
                    <a:pt x="190" y="504"/>
                    <a:pt x="1" y="1197"/>
                  </a:cubicBezTo>
                  <a:lnTo>
                    <a:pt x="3183" y="1197"/>
                  </a:lnTo>
                  <a:cubicBezTo>
                    <a:pt x="3025" y="504"/>
                    <a:pt x="2395" y="0"/>
                    <a:pt x="1607"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Slidesgo vector icon"/>
            <p:cNvSpPr/>
            <p:nvPr/>
          </p:nvSpPr>
          <p:spPr>
            <a:xfrm>
              <a:off x="-63618500" y="3360375"/>
              <a:ext cx="256775" cy="256600"/>
            </a:xfrm>
            <a:custGeom>
              <a:avLst/>
              <a:gdLst/>
              <a:ahLst/>
              <a:cxnLst/>
              <a:rect l="l" t="t" r="r" b="b"/>
              <a:pathLst>
                <a:path w="10271" h="10264" extrusionOk="0">
                  <a:moveTo>
                    <a:pt x="5703" y="1639"/>
                  </a:moveTo>
                  <a:cubicBezTo>
                    <a:pt x="6616" y="1639"/>
                    <a:pt x="7373" y="2395"/>
                    <a:pt x="7373" y="3309"/>
                  </a:cubicBezTo>
                  <a:cubicBezTo>
                    <a:pt x="7373" y="3750"/>
                    <a:pt x="7215" y="4128"/>
                    <a:pt x="6900" y="4443"/>
                  </a:cubicBezTo>
                  <a:cubicBezTo>
                    <a:pt x="7625" y="4884"/>
                    <a:pt x="8192" y="5672"/>
                    <a:pt x="8192" y="6617"/>
                  </a:cubicBezTo>
                  <a:cubicBezTo>
                    <a:pt x="8160" y="6900"/>
                    <a:pt x="8003" y="7058"/>
                    <a:pt x="7751" y="7058"/>
                  </a:cubicBezTo>
                  <a:lnTo>
                    <a:pt x="3623" y="7058"/>
                  </a:lnTo>
                  <a:cubicBezTo>
                    <a:pt x="3371" y="7058"/>
                    <a:pt x="3214" y="6837"/>
                    <a:pt x="3214" y="6617"/>
                  </a:cubicBezTo>
                  <a:cubicBezTo>
                    <a:pt x="3214" y="5672"/>
                    <a:pt x="3749" y="4884"/>
                    <a:pt x="4537" y="4443"/>
                  </a:cubicBezTo>
                  <a:cubicBezTo>
                    <a:pt x="4254" y="4128"/>
                    <a:pt x="4065" y="3718"/>
                    <a:pt x="4065" y="3309"/>
                  </a:cubicBezTo>
                  <a:cubicBezTo>
                    <a:pt x="4065" y="2395"/>
                    <a:pt x="4789" y="1639"/>
                    <a:pt x="5703" y="1639"/>
                  </a:cubicBezTo>
                  <a:close/>
                  <a:moveTo>
                    <a:pt x="5703" y="1"/>
                  </a:moveTo>
                  <a:cubicBezTo>
                    <a:pt x="3182" y="1"/>
                    <a:pt x="1135" y="2049"/>
                    <a:pt x="1135" y="4569"/>
                  </a:cubicBezTo>
                  <a:cubicBezTo>
                    <a:pt x="1135" y="5609"/>
                    <a:pt x="1481" y="6648"/>
                    <a:pt x="2206" y="7467"/>
                  </a:cubicBezTo>
                  <a:lnTo>
                    <a:pt x="1607" y="8066"/>
                  </a:lnTo>
                  <a:lnTo>
                    <a:pt x="756" y="7184"/>
                  </a:lnTo>
                  <a:cubicBezTo>
                    <a:pt x="678" y="7121"/>
                    <a:pt x="567" y="7089"/>
                    <a:pt x="457" y="7089"/>
                  </a:cubicBezTo>
                  <a:cubicBezTo>
                    <a:pt x="347" y="7089"/>
                    <a:pt x="237" y="7121"/>
                    <a:pt x="158" y="7184"/>
                  </a:cubicBezTo>
                  <a:cubicBezTo>
                    <a:pt x="0" y="7341"/>
                    <a:pt x="0" y="7625"/>
                    <a:pt x="158" y="7783"/>
                  </a:cubicBezTo>
                  <a:lnTo>
                    <a:pt x="1324" y="8980"/>
                  </a:lnTo>
                  <a:lnTo>
                    <a:pt x="2521" y="10145"/>
                  </a:lnTo>
                  <a:cubicBezTo>
                    <a:pt x="2600" y="10224"/>
                    <a:pt x="2710" y="10264"/>
                    <a:pt x="2820" y="10264"/>
                  </a:cubicBezTo>
                  <a:cubicBezTo>
                    <a:pt x="2930" y="10264"/>
                    <a:pt x="3041" y="10224"/>
                    <a:pt x="3119" y="10145"/>
                  </a:cubicBezTo>
                  <a:cubicBezTo>
                    <a:pt x="3277" y="9988"/>
                    <a:pt x="3277" y="9704"/>
                    <a:pt x="3119" y="9547"/>
                  </a:cubicBezTo>
                  <a:lnTo>
                    <a:pt x="2237" y="8696"/>
                  </a:lnTo>
                  <a:lnTo>
                    <a:pt x="2836" y="8098"/>
                  </a:lnTo>
                  <a:cubicBezTo>
                    <a:pt x="3655" y="8759"/>
                    <a:pt x="4695" y="9169"/>
                    <a:pt x="5734" y="9169"/>
                  </a:cubicBezTo>
                  <a:cubicBezTo>
                    <a:pt x="8255" y="9169"/>
                    <a:pt x="10271" y="7121"/>
                    <a:pt x="10271" y="4632"/>
                  </a:cubicBezTo>
                  <a:cubicBezTo>
                    <a:pt x="10239" y="2049"/>
                    <a:pt x="8223" y="1"/>
                    <a:pt x="5703"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Slidesgo vector icon"/>
            <p:cNvSpPr/>
            <p:nvPr/>
          </p:nvSpPr>
          <p:spPr>
            <a:xfrm>
              <a:off x="-63679950" y="3576200"/>
              <a:ext cx="102425" cy="100825"/>
            </a:xfrm>
            <a:custGeom>
              <a:avLst/>
              <a:gdLst/>
              <a:ahLst/>
              <a:cxnLst/>
              <a:rect l="l" t="t" r="r" b="b"/>
              <a:pathLst>
                <a:path w="4097" h="4033" extrusionOk="0">
                  <a:moveTo>
                    <a:pt x="2332" y="0"/>
                  </a:moveTo>
                  <a:lnTo>
                    <a:pt x="159" y="2142"/>
                  </a:lnTo>
                  <a:cubicBezTo>
                    <a:pt x="1" y="2300"/>
                    <a:pt x="1" y="2584"/>
                    <a:pt x="159" y="2741"/>
                  </a:cubicBezTo>
                  <a:lnTo>
                    <a:pt x="1356" y="3938"/>
                  </a:lnTo>
                  <a:cubicBezTo>
                    <a:pt x="1434" y="4001"/>
                    <a:pt x="1545" y="4033"/>
                    <a:pt x="1655" y="4033"/>
                  </a:cubicBezTo>
                  <a:cubicBezTo>
                    <a:pt x="1765" y="4033"/>
                    <a:pt x="1876" y="4001"/>
                    <a:pt x="1954" y="3938"/>
                  </a:cubicBezTo>
                  <a:lnTo>
                    <a:pt x="4097" y="1764"/>
                  </a:lnTo>
                  <a:lnTo>
                    <a:pt x="2332" y="0"/>
                  </a:ln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 name="Text"/>
          <p:cNvSpPr txBox="1"/>
          <p:nvPr/>
        </p:nvSpPr>
        <p:spPr>
          <a:xfrm>
            <a:off x="495300" y="2381250"/>
            <a:ext cx="1524000" cy="447675"/>
          </a:xfrm>
          <a:prstGeom prst="rect">
            <a:avLst/>
          </a:prstGeom>
          <a:noFill/>
          <a:ln w="9525">
            <a:noFill/>
          </a:ln>
        </p:spPr>
        <p:txBody>
          <a:bodyPr wrap="none" lIns="0" tIns="0" rIns="0" bIns="0" anchor="t">
            <a:noAutofit/>
          </a:bodyPr>
          <a:lstStyle/>
          <a:p>
            <a:pPr marL="0" indent="0" algn="ctr">
              <a:lnSpc>
                <a:spcPts val="2812"/>
              </a:lnSpc>
              <a:spcAft>
                <a:spcPts val="0"/>
              </a:spcAft>
              <a:buNone/>
            </a:pPr>
            <a:r>
              <a:rPr lang="en-US" sz="2250" b="1">
                <a:solidFill>
                  <a:srgbClr val="435D74"/>
                </a:solidFill>
                <a:latin typeface="Fira Sans Extra Condensed"/>
                <a:ea typeface="Fira Sans Extra Condensed"/>
                <a:cs typeface="Fira Sans Extra Condensed"/>
              </a:rPr>
              <a:t>01 Define</a:t>
            </a:r>
            <a:endParaRPr lang="en-US" sz="2250"/>
          </a:p>
        </p:txBody>
      </p:sp>
      <p:sp>
        <p:nvSpPr>
          <p:cNvPr id="14" name="Text"/>
          <p:cNvSpPr txBox="1"/>
          <p:nvPr/>
        </p:nvSpPr>
        <p:spPr>
          <a:xfrm>
            <a:off x="504825" y="3000375"/>
            <a:ext cx="1504950" cy="866775"/>
          </a:xfrm>
          <a:prstGeom prst="rect">
            <a:avLst/>
          </a:prstGeom>
          <a:noFill/>
          <a:ln w="9525">
            <a:noFill/>
          </a:ln>
        </p:spPr>
        <p:txBody>
          <a:bodyPr wrap="none" lIns="0" tIns="0" rIns="0" bIns="0" anchor="t">
            <a:noAutofit/>
          </a:bodyPr>
          <a:lstStyle/>
          <a:p>
            <a:pPr marL="0" indent="0" algn="ctr">
              <a:lnSpc>
                <a:spcPts val="1688"/>
              </a:lnSpc>
              <a:spcAft>
                <a:spcPts val="0"/>
              </a:spcAft>
              <a:buNone/>
            </a:pPr>
            <a:r>
              <a:rPr lang="en-US" sz="1350" b="0">
                <a:solidFill>
                  <a:srgbClr val="435D74"/>
                </a:solidFill>
                <a:latin typeface="Roboto"/>
                <a:ea typeface="Roboto"/>
                <a:cs typeface="Roboto"/>
              </a:rPr>
              <a:t>Agree on the</a:t>
            </a:r>
            <a:endParaRPr lang="en-US" sz="1350"/>
          </a:p>
          <a:p>
            <a:pPr marL="0" indent="0" algn="ctr">
              <a:lnSpc>
                <a:spcPts val="1688"/>
              </a:lnSpc>
              <a:spcAft>
                <a:spcPts val="0"/>
              </a:spcAft>
              <a:buNone/>
            </a:pPr>
            <a:r>
              <a:rPr lang="en-US" sz="1350" b="0">
                <a:solidFill>
                  <a:srgbClr val="435D74"/>
                </a:solidFill>
                <a:latin typeface="Roboto"/>
                <a:ea typeface="Roboto"/>
                <a:cs typeface="Roboto"/>
              </a:rPr>
              <a:t>decision,</a:t>
            </a:r>
            <a:endParaRPr lang="en-US" sz="1350"/>
          </a:p>
          <a:p>
            <a:pPr marL="0" indent="0" algn="ctr">
              <a:lnSpc>
                <a:spcPts val="1688"/>
              </a:lnSpc>
              <a:spcAft>
                <a:spcPts val="0"/>
              </a:spcAft>
              <a:buNone/>
            </a:pPr>
            <a:r>
              <a:rPr lang="en-US" sz="1350" b="0">
                <a:solidFill>
                  <a:srgbClr val="435D74"/>
                </a:solidFill>
                <a:latin typeface="Roboto"/>
                <a:ea typeface="Roboto"/>
                <a:cs typeface="Roboto"/>
              </a:rPr>
              <a:t>goal, and rules.</a:t>
            </a:r>
            <a:endParaRPr lang="en-US" sz="1350"/>
          </a:p>
        </p:txBody>
      </p:sp>
      <p:cxnSp>
        <p:nvCxnSpPr>
          <p:cNvPr id="15" name="Connector"/>
          <p:cNvCxnSpPr/>
          <p:nvPr/>
        </p:nvCxnSpPr>
        <p:spPr>
          <a:xfrm>
            <a:off x="1657350" y="1752600"/>
            <a:ext cx="447675" cy="95"/>
          </a:xfrm>
          <a:prstGeom prst="line">
            <a:avLst/>
          </a:prstGeom>
          <a:ln w="19050">
            <a:solidFill>
              <a:srgbClr val="869FB2"/>
            </a:solidFill>
            <a:tailEnd type="triangle" w="sm" len="sm"/>
          </a:ln>
        </p:spPr>
      </p:cxnSp>
      <p:sp>
        <p:nvSpPr>
          <p:cNvPr id="16" name="Circle"/>
          <p:cNvSpPr/>
          <p:nvPr/>
        </p:nvSpPr>
        <p:spPr>
          <a:xfrm>
            <a:off x="2524125" y="1381125"/>
            <a:ext cx="742950" cy="742950"/>
          </a:xfrm>
          <a:prstGeom prst="ellipse">
            <a:avLst/>
          </a:prstGeom>
          <a:solidFill>
            <a:srgbClr val="F3F6F8"/>
          </a:solidFill>
          <a:ln w="9525">
            <a:noFill/>
          </a:ln>
        </p:spPr>
        <p:txBody>
          <a:bodyPr/>
          <a:lstStyle/>
          <a:p>
            <a:endParaRPr lang="en-US"/>
          </a:p>
        </p:txBody>
      </p:sp>
      <p:grpSp>
        <p:nvGrpSpPr>
          <p:cNvPr id="17" name="Slidesgo vector icon"/>
          <p:cNvGrpSpPr/>
          <p:nvPr/>
        </p:nvGrpSpPr>
        <p:grpSpPr>
          <a:xfrm>
            <a:off x="2733675" y="1571625"/>
            <a:ext cx="333375" cy="333384"/>
            <a:chOff x="-2571737" y="2403625"/>
            <a:chExt cx="292225" cy="291425"/>
          </a:xfrm>
        </p:grpSpPr>
        <p:sp>
          <p:nvSpPr>
            <p:cNvPr id="18" name="Slidesgo vector icon"/>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Slidesgo vector icon"/>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Slidesgo vector icon"/>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Slidesgo vector icon"/>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Slidesgo vector icon"/>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Slidesgo vector icon"/>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Slidesgo vector icon"/>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5" name="Text"/>
          <p:cNvSpPr txBox="1"/>
          <p:nvPr/>
        </p:nvSpPr>
        <p:spPr>
          <a:xfrm>
            <a:off x="2152650" y="2381250"/>
            <a:ext cx="1524000" cy="447675"/>
          </a:xfrm>
          <a:prstGeom prst="rect">
            <a:avLst/>
          </a:prstGeom>
          <a:noFill/>
          <a:ln w="9525">
            <a:noFill/>
          </a:ln>
        </p:spPr>
        <p:txBody>
          <a:bodyPr wrap="none" lIns="0" tIns="0" rIns="0" bIns="0" anchor="t">
            <a:noAutofit/>
          </a:bodyPr>
          <a:lstStyle/>
          <a:p>
            <a:pPr marL="0" indent="0" algn="ctr">
              <a:lnSpc>
                <a:spcPts val="2812"/>
              </a:lnSpc>
              <a:spcAft>
                <a:spcPts val="0"/>
              </a:spcAft>
              <a:buNone/>
            </a:pPr>
            <a:r>
              <a:rPr lang="en-US" sz="2250" b="1">
                <a:solidFill>
                  <a:srgbClr val="435D74"/>
                </a:solidFill>
                <a:latin typeface="Fira Sans Extra Condensed"/>
                <a:ea typeface="Fira Sans Extra Condensed"/>
                <a:cs typeface="Fira Sans Extra Condensed"/>
              </a:rPr>
              <a:t>02 Prepare</a:t>
            </a:r>
            <a:endParaRPr lang="en-US" sz="2250"/>
          </a:p>
        </p:txBody>
      </p:sp>
      <p:sp>
        <p:nvSpPr>
          <p:cNvPr id="26" name="Text"/>
          <p:cNvSpPr txBox="1"/>
          <p:nvPr/>
        </p:nvSpPr>
        <p:spPr>
          <a:xfrm>
            <a:off x="2162175" y="3000375"/>
            <a:ext cx="1504950" cy="866775"/>
          </a:xfrm>
          <a:prstGeom prst="rect">
            <a:avLst/>
          </a:prstGeom>
          <a:noFill/>
          <a:ln w="9525">
            <a:noFill/>
          </a:ln>
        </p:spPr>
        <p:txBody>
          <a:bodyPr wrap="none" lIns="0" tIns="0" rIns="0" bIns="0" anchor="t">
            <a:noAutofit/>
          </a:bodyPr>
          <a:lstStyle/>
          <a:p>
            <a:pPr marL="0" indent="0" algn="ctr">
              <a:lnSpc>
                <a:spcPts val="1688"/>
              </a:lnSpc>
              <a:spcAft>
                <a:spcPts val="0"/>
              </a:spcAft>
              <a:buNone/>
            </a:pPr>
            <a:r>
              <a:rPr lang="en-US" sz="1350" b="0">
                <a:solidFill>
                  <a:srgbClr val="435D74"/>
                </a:solidFill>
                <a:latin typeface="Roboto"/>
                <a:ea typeface="Roboto"/>
                <a:cs typeface="Roboto"/>
              </a:rPr>
              <a:t>Prepare data and</a:t>
            </a:r>
            <a:endParaRPr lang="en-US" sz="1350"/>
          </a:p>
          <a:p>
            <a:pPr marL="0" indent="0" algn="ctr">
              <a:lnSpc>
                <a:spcPts val="1688"/>
              </a:lnSpc>
              <a:spcAft>
                <a:spcPts val="0"/>
              </a:spcAft>
              <a:buNone/>
            </a:pPr>
            <a:r>
              <a:rPr lang="en-US" sz="1350" b="0">
                <a:solidFill>
                  <a:srgbClr val="435D74"/>
                </a:solidFill>
                <a:latin typeface="Roboto"/>
                <a:ea typeface="Roboto"/>
                <a:cs typeface="Roboto"/>
              </a:rPr>
              <a:t>estimate future</a:t>
            </a:r>
            <a:endParaRPr lang="en-US" sz="1350"/>
          </a:p>
          <a:p>
            <a:pPr marL="0" indent="0" algn="ctr">
              <a:lnSpc>
                <a:spcPts val="1688"/>
              </a:lnSpc>
              <a:spcAft>
                <a:spcPts val="0"/>
              </a:spcAft>
              <a:buNone/>
            </a:pPr>
            <a:r>
              <a:rPr lang="en-US" sz="1350" b="0">
                <a:solidFill>
                  <a:srgbClr val="435D74"/>
                </a:solidFill>
                <a:latin typeface="Roboto"/>
                <a:ea typeface="Roboto"/>
                <a:cs typeface="Roboto"/>
              </a:rPr>
              <a:t>conditions.</a:t>
            </a:r>
            <a:endParaRPr lang="en-US" sz="1350"/>
          </a:p>
        </p:txBody>
      </p:sp>
      <p:cxnSp>
        <p:nvCxnSpPr>
          <p:cNvPr id="27" name="Connector"/>
          <p:cNvCxnSpPr/>
          <p:nvPr/>
        </p:nvCxnSpPr>
        <p:spPr>
          <a:xfrm>
            <a:off x="3314700" y="1752600"/>
            <a:ext cx="447675" cy="95"/>
          </a:xfrm>
          <a:prstGeom prst="line">
            <a:avLst/>
          </a:prstGeom>
          <a:ln w="19050">
            <a:solidFill>
              <a:srgbClr val="869FB2"/>
            </a:solidFill>
            <a:tailEnd type="triangle" w="sm" len="sm"/>
          </a:ln>
        </p:spPr>
      </p:cxnSp>
      <p:sp>
        <p:nvSpPr>
          <p:cNvPr id="28" name="Circle"/>
          <p:cNvSpPr/>
          <p:nvPr/>
        </p:nvSpPr>
        <p:spPr>
          <a:xfrm>
            <a:off x="4181475" y="1381125"/>
            <a:ext cx="742950" cy="742950"/>
          </a:xfrm>
          <a:prstGeom prst="ellipse">
            <a:avLst/>
          </a:prstGeom>
          <a:solidFill>
            <a:srgbClr val="F3F6F8"/>
          </a:solidFill>
          <a:ln w="9525">
            <a:noFill/>
          </a:ln>
        </p:spPr>
        <p:txBody>
          <a:bodyPr/>
          <a:lstStyle/>
          <a:p>
            <a:endParaRPr lang="en-US"/>
          </a:p>
        </p:txBody>
      </p:sp>
      <p:grpSp>
        <p:nvGrpSpPr>
          <p:cNvPr id="29" name="Slidesgo vector icon"/>
          <p:cNvGrpSpPr/>
          <p:nvPr/>
        </p:nvGrpSpPr>
        <p:grpSpPr>
          <a:xfrm>
            <a:off x="4391025" y="1571625"/>
            <a:ext cx="333375" cy="333367"/>
            <a:chOff x="1412450" y="1954475"/>
            <a:chExt cx="297750" cy="296175"/>
          </a:xfrm>
        </p:grpSpPr>
        <p:sp>
          <p:nvSpPr>
            <p:cNvPr id="30" name="Slidesgo vector icon"/>
            <p:cNvSpPr/>
            <p:nvPr/>
          </p:nvSpPr>
          <p:spPr>
            <a:xfrm>
              <a:off x="1483350" y="2023800"/>
              <a:ext cx="155975" cy="155975"/>
            </a:xfrm>
            <a:custGeom>
              <a:avLst/>
              <a:gdLst/>
              <a:ahLst/>
              <a:cxnLst/>
              <a:rect l="l" t="t" r="r" b="b"/>
              <a:pathLst>
                <a:path w="6239" h="6239" extrusionOk="0">
                  <a:moveTo>
                    <a:pt x="3119" y="2079"/>
                  </a:moveTo>
                  <a:cubicBezTo>
                    <a:pt x="3529" y="2079"/>
                    <a:pt x="3844" y="2395"/>
                    <a:pt x="3844" y="2773"/>
                  </a:cubicBezTo>
                  <a:cubicBezTo>
                    <a:pt x="3844" y="3182"/>
                    <a:pt x="3529" y="3497"/>
                    <a:pt x="3119" y="3497"/>
                  </a:cubicBezTo>
                  <a:cubicBezTo>
                    <a:pt x="2741" y="3497"/>
                    <a:pt x="2426" y="3182"/>
                    <a:pt x="2426" y="2773"/>
                  </a:cubicBezTo>
                  <a:cubicBezTo>
                    <a:pt x="2426" y="2395"/>
                    <a:pt x="2741" y="2079"/>
                    <a:pt x="3119" y="2079"/>
                  </a:cubicBezTo>
                  <a:close/>
                  <a:moveTo>
                    <a:pt x="3119" y="725"/>
                  </a:moveTo>
                  <a:cubicBezTo>
                    <a:pt x="4474" y="725"/>
                    <a:pt x="5577" y="1827"/>
                    <a:pt x="5577" y="3182"/>
                  </a:cubicBezTo>
                  <a:cubicBezTo>
                    <a:pt x="5577" y="3686"/>
                    <a:pt x="5388" y="4159"/>
                    <a:pt x="5136" y="4537"/>
                  </a:cubicBezTo>
                  <a:cubicBezTo>
                    <a:pt x="4884" y="4190"/>
                    <a:pt x="4537" y="3907"/>
                    <a:pt x="4191" y="3718"/>
                  </a:cubicBezTo>
                  <a:cubicBezTo>
                    <a:pt x="4411" y="3497"/>
                    <a:pt x="4537" y="3182"/>
                    <a:pt x="4537" y="2804"/>
                  </a:cubicBezTo>
                  <a:cubicBezTo>
                    <a:pt x="4537" y="2079"/>
                    <a:pt x="3907" y="1449"/>
                    <a:pt x="3151" y="1449"/>
                  </a:cubicBezTo>
                  <a:cubicBezTo>
                    <a:pt x="2426" y="1449"/>
                    <a:pt x="1796" y="2079"/>
                    <a:pt x="1796" y="2804"/>
                  </a:cubicBezTo>
                  <a:cubicBezTo>
                    <a:pt x="1796" y="3182"/>
                    <a:pt x="1891" y="3497"/>
                    <a:pt x="2143" y="3718"/>
                  </a:cubicBezTo>
                  <a:cubicBezTo>
                    <a:pt x="1733" y="3907"/>
                    <a:pt x="1418" y="4190"/>
                    <a:pt x="1198" y="4537"/>
                  </a:cubicBezTo>
                  <a:cubicBezTo>
                    <a:pt x="914" y="4159"/>
                    <a:pt x="756" y="3686"/>
                    <a:pt x="756" y="3182"/>
                  </a:cubicBezTo>
                  <a:cubicBezTo>
                    <a:pt x="662" y="1796"/>
                    <a:pt x="1796" y="725"/>
                    <a:pt x="3119" y="725"/>
                  </a:cubicBezTo>
                  <a:close/>
                  <a:moveTo>
                    <a:pt x="3119" y="4190"/>
                  </a:moveTo>
                  <a:cubicBezTo>
                    <a:pt x="3749" y="4190"/>
                    <a:pt x="4317" y="4505"/>
                    <a:pt x="4632" y="5041"/>
                  </a:cubicBezTo>
                  <a:cubicBezTo>
                    <a:pt x="4222" y="5387"/>
                    <a:pt x="3686" y="5577"/>
                    <a:pt x="3119" y="5577"/>
                  </a:cubicBezTo>
                  <a:cubicBezTo>
                    <a:pt x="2584" y="5577"/>
                    <a:pt x="2017" y="5387"/>
                    <a:pt x="1639" y="5041"/>
                  </a:cubicBezTo>
                  <a:cubicBezTo>
                    <a:pt x="1954" y="4505"/>
                    <a:pt x="2489" y="4190"/>
                    <a:pt x="3119" y="4190"/>
                  </a:cubicBezTo>
                  <a:close/>
                  <a:moveTo>
                    <a:pt x="3119" y="0"/>
                  </a:moveTo>
                  <a:cubicBezTo>
                    <a:pt x="1387" y="0"/>
                    <a:pt x="0" y="1418"/>
                    <a:pt x="0" y="3119"/>
                  </a:cubicBezTo>
                  <a:cubicBezTo>
                    <a:pt x="0" y="4852"/>
                    <a:pt x="1387" y="6238"/>
                    <a:pt x="3119" y="6238"/>
                  </a:cubicBezTo>
                  <a:cubicBezTo>
                    <a:pt x="4852" y="6238"/>
                    <a:pt x="6238" y="4820"/>
                    <a:pt x="6238" y="3119"/>
                  </a:cubicBezTo>
                  <a:cubicBezTo>
                    <a:pt x="6238" y="1386"/>
                    <a:pt x="4821" y="0"/>
                    <a:pt x="3119"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Slidesgo vector icon"/>
            <p:cNvSpPr/>
            <p:nvPr/>
          </p:nvSpPr>
          <p:spPr>
            <a:xfrm>
              <a:off x="1412450" y="1954475"/>
              <a:ext cx="297750" cy="296175"/>
            </a:xfrm>
            <a:custGeom>
              <a:avLst/>
              <a:gdLst/>
              <a:ahLst/>
              <a:cxnLst/>
              <a:rect l="l" t="t" r="r" b="b"/>
              <a:pathLst>
                <a:path w="11910" h="11847" extrusionOk="0">
                  <a:moveTo>
                    <a:pt x="6365" y="662"/>
                  </a:moveTo>
                  <a:lnTo>
                    <a:pt x="6522" y="1513"/>
                  </a:lnTo>
                  <a:cubicBezTo>
                    <a:pt x="6554" y="1702"/>
                    <a:pt x="6617" y="1765"/>
                    <a:pt x="6774" y="1797"/>
                  </a:cubicBezTo>
                  <a:cubicBezTo>
                    <a:pt x="7342" y="1923"/>
                    <a:pt x="7814" y="2112"/>
                    <a:pt x="8287" y="2427"/>
                  </a:cubicBezTo>
                  <a:cubicBezTo>
                    <a:pt x="8350" y="2474"/>
                    <a:pt x="8421" y="2498"/>
                    <a:pt x="8488" y="2498"/>
                  </a:cubicBezTo>
                  <a:cubicBezTo>
                    <a:pt x="8554" y="2498"/>
                    <a:pt x="8618" y="2474"/>
                    <a:pt x="8665" y="2427"/>
                  </a:cubicBezTo>
                  <a:lnTo>
                    <a:pt x="9389" y="1923"/>
                  </a:lnTo>
                  <a:lnTo>
                    <a:pt x="9925" y="2490"/>
                  </a:lnTo>
                  <a:lnTo>
                    <a:pt x="9421" y="3183"/>
                  </a:lnTo>
                  <a:cubicBezTo>
                    <a:pt x="9358" y="3309"/>
                    <a:pt x="9358" y="3466"/>
                    <a:pt x="9421" y="3592"/>
                  </a:cubicBezTo>
                  <a:cubicBezTo>
                    <a:pt x="9736" y="4065"/>
                    <a:pt x="9925" y="4537"/>
                    <a:pt x="10051" y="5073"/>
                  </a:cubicBezTo>
                  <a:cubicBezTo>
                    <a:pt x="10082" y="5231"/>
                    <a:pt x="10209" y="5294"/>
                    <a:pt x="10335" y="5357"/>
                  </a:cubicBezTo>
                  <a:lnTo>
                    <a:pt x="11185" y="5514"/>
                  </a:lnTo>
                  <a:lnTo>
                    <a:pt x="11185" y="6302"/>
                  </a:lnTo>
                  <a:lnTo>
                    <a:pt x="10335" y="6459"/>
                  </a:lnTo>
                  <a:cubicBezTo>
                    <a:pt x="10177" y="6491"/>
                    <a:pt x="10082" y="6585"/>
                    <a:pt x="10051" y="6743"/>
                  </a:cubicBezTo>
                  <a:cubicBezTo>
                    <a:pt x="9925" y="7278"/>
                    <a:pt x="9736" y="7751"/>
                    <a:pt x="9421" y="8224"/>
                  </a:cubicBezTo>
                  <a:cubicBezTo>
                    <a:pt x="9358" y="8350"/>
                    <a:pt x="9358" y="8507"/>
                    <a:pt x="9421" y="8633"/>
                  </a:cubicBezTo>
                  <a:lnTo>
                    <a:pt x="9925" y="9326"/>
                  </a:lnTo>
                  <a:lnTo>
                    <a:pt x="9389" y="9893"/>
                  </a:lnTo>
                  <a:lnTo>
                    <a:pt x="8665" y="9358"/>
                  </a:lnTo>
                  <a:cubicBezTo>
                    <a:pt x="8618" y="9326"/>
                    <a:pt x="8554" y="9310"/>
                    <a:pt x="8488" y="9310"/>
                  </a:cubicBezTo>
                  <a:cubicBezTo>
                    <a:pt x="8421" y="9310"/>
                    <a:pt x="8350" y="9326"/>
                    <a:pt x="8287" y="9358"/>
                  </a:cubicBezTo>
                  <a:cubicBezTo>
                    <a:pt x="7814" y="9673"/>
                    <a:pt x="7342" y="9893"/>
                    <a:pt x="6774" y="9988"/>
                  </a:cubicBezTo>
                  <a:cubicBezTo>
                    <a:pt x="6617" y="10051"/>
                    <a:pt x="6554" y="10145"/>
                    <a:pt x="6522" y="10271"/>
                  </a:cubicBezTo>
                  <a:lnTo>
                    <a:pt x="6365" y="11153"/>
                  </a:lnTo>
                  <a:lnTo>
                    <a:pt x="5577" y="11153"/>
                  </a:lnTo>
                  <a:lnTo>
                    <a:pt x="5420" y="10271"/>
                  </a:lnTo>
                  <a:cubicBezTo>
                    <a:pt x="5357" y="10114"/>
                    <a:pt x="5294" y="10051"/>
                    <a:pt x="5136" y="9988"/>
                  </a:cubicBezTo>
                  <a:cubicBezTo>
                    <a:pt x="4569" y="9893"/>
                    <a:pt x="4097" y="9673"/>
                    <a:pt x="3624" y="9358"/>
                  </a:cubicBezTo>
                  <a:cubicBezTo>
                    <a:pt x="3561" y="9326"/>
                    <a:pt x="3498" y="9310"/>
                    <a:pt x="3435" y="9310"/>
                  </a:cubicBezTo>
                  <a:cubicBezTo>
                    <a:pt x="3372" y="9310"/>
                    <a:pt x="3309" y="9326"/>
                    <a:pt x="3246" y="9358"/>
                  </a:cubicBezTo>
                  <a:lnTo>
                    <a:pt x="2521" y="9893"/>
                  </a:lnTo>
                  <a:lnTo>
                    <a:pt x="1986" y="9326"/>
                  </a:lnTo>
                  <a:lnTo>
                    <a:pt x="2490" y="8633"/>
                  </a:lnTo>
                  <a:cubicBezTo>
                    <a:pt x="2584" y="8507"/>
                    <a:pt x="2584" y="8350"/>
                    <a:pt x="2490" y="8224"/>
                  </a:cubicBezTo>
                  <a:cubicBezTo>
                    <a:pt x="2175" y="7751"/>
                    <a:pt x="1986" y="7278"/>
                    <a:pt x="1860" y="6743"/>
                  </a:cubicBezTo>
                  <a:cubicBezTo>
                    <a:pt x="1828" y="6585"/>
                    <a:pt x="1702" y="6491"/>
                    <a:pt x="1576" y="6459"/>
                  </a:cubicBezTo>
                  <a:lnTo>
                    <a:pt x="726" y="6302"/>
                  </a:lnTo>
                  <a:lnTo>
                    <a:pt x="726" y="5514"/>
                  </a:lnTo>
                  <a:lnTo>
                    <a:pt x="1576" y="5357"/>
                  </a:lnTo>
                  <a:cubicBezTo>
                    <a:pt x="1734" y="5325"/>
                    <a:pt x="1828" y="5231"/>
                    <a:pt x="1860" y="5073"/>
                  </a:cubicBezTo>
                  <a:cubicBezTo>
                    <a:pt x="1986" y="4506"/>
                    <a:pt x="2175" y="4065"/>
                    <a:pt x="2490" y="3592"/>
                  </a:cubicBezTo>
                  <a:cubicBezTo>
                    <a:pt x="2584" y="3466"/>
                    <a:pt x="2584" y="3309"/>
                    <a:pt x="2490" y="3183"/>
                  </a:cubicBezTo>
                  <a:lnTo>
                    <a:pt x="1986" y="2490"/>
                  </a:lnTo>
                  <a:lnTo>
                    <a:pt x="2521" y="1923"/>
                  </a:lnTo>
                  <a:lnTo>
                    <a:pt x="3246" y="2427"/>
                  </a:lnTo>
                  <a:cubicBezTo>
                    <a:pt x="3309" y="2474"/>
                    <a:pt x="3372" y="2498"/>
                    <a:pt x="3435" y="2498"/>
                  </a:cubicBezTo>
                  <a:cubicBezTo>
                    <a:pt x="3498" y="2498"/>
                    <a:pt x="3561" y="2474"/>
                    <a:pt x="3624" y="2427"/>
                  </a:cubicBezTo>
                  <a:cubicBezTo>
                    <a:pt x="4097" y="2112"/>
                    <a:pt x="4569" y="1923"/>
                    <a:pt x="5136" y="1797"/>
                  </a:cubicBezTo>
                  <a:cubicBezTo>
                    <a:pt x="5294" y="1765"/>
                    <a:pt x="5357" y="1639"/>
                    <a:pt x="5420" y="1513"/>
                  </a:cubicBezTo>
                  <a:lnTo>
                    <a:pt x="5577" y="662"/>
                  </a:lnTo>
                  <a:close/>
                  <a:moveTo>
                    <a:pt x="5262" y="1"/>
                  </a:moveTo>
                  <a:cubicBezTo>
                    <a:pt x="5073" y="1"/>
                    <a:pt x="4916" y="127"/>
                    <a:pt x="4884" y="284"/>
                  </a:cubicBezTo>
                  <a:lnTo>
                    <a:pt x="4727" y="1166"/>
                  </a:lnTo>
                  <a:cubicBezTo>
                    <a:pt x="4254" y="1292"/>
                    <a:pt x="3813" y="1481"/>
                    <a:pt x="3435" y="1734"/>
                  </a:cubicBezTo>
                  <a:lnTo>
                    <a:pt x="2679" y="1229"/>
                  </a:lnTo>
                  <a:cubicBezTo>
                    <a:pt x="2610" y="1174"/>
                    <a:pt x="2541" y="1149"/>
                    <a:pt x="2474" y="1149"/>
                  </a:cubicBezTo>
                  <a:cubicBezTo>
                    <a:pt x="2389" y="1149"/>
                    <a:pt x="2309" y="1190"/>
                    <a:pt x="2238" y="1261"/>
                  </a:cubicBezTo>
                  <a:lnTo>
                    <a:pt x="1261" y="2238"/>
                  </a:lnTo>
                  <a:cubicBezTo>
                    <a:pt x="1135" y="2364"/>
                    <a:pt x="1135" y="2553"/>
                    <a:pt x="1230" y="2679"/>
                  </a:cubicBezTo>
                  <a:lnTo>
                    <a:pt x="1734" y="3435"/>
                  </a:lnTo>
                  <a:cubicBezTo>
                    <a:pt x="1513" y="3813"/>
                    <a:pt x="1324" y="4254"/>
                    <a:pt x="1198" y="4726"/>
                  </a:cubicBezTo>
                  <a:lnTo>
                    <a:pt x="284" y="4884"/>
                  </a:lnTo>
                  <a:cubicBezTo>
                    <a:pt x="127" y="4915"/>
                    <a:pt x="1" y="5042"/>
                    <a:pt x="1" y="5231"/>
                  </a:cubicBezTo>
                  <a:lnTo>
                    <a:pt x="1" y="6617"/>
                  </a:lnTo>
                  <a:cubicBezTo>
                    <a:pt x="64" y="6774"/>
                    <a:pt x="158" y="6932"/>
                    <a:pt x="316" y="6963"/>
                  </a:cubicBezTo>
                  <a:lnTo>
                    <a:pt x="1230" y="7121"/>
                  </a:lnTo>
                  <a:cubicBezTo>
                    <a:pt x="1356" y="7593"/>
                    <a:pt x="1545" y="8034"/>
                    <a:pt x="1797" y="8413"/>
                  </a:cubicBezTo>
                  <a:lnTo>
                    <a:pt x="1261" y="9169"/>
                  </a:lnTo>
                  <a:cubicBezTo>
                    <a:pt x="1167" y="9295"/>
                    <a:pt x="1198" y="9484"/>
                    <a:pt x="1324" y="9610"/>
                  </a:cubicBezTo>
                  <a:lnTo>
                    <a:pt x="2301" y="10586"/>
                  </a:lnTo>
                  <a:cubicBezTo>
                    <a:pt x="2368" y="10654"/>
                    <a:pt x="2454" y="10685"/>
                    <a:pt x="2533" y="10685"/>
                  </a:cubicBezTo>
                  <a:cubicBezTo>
                    <a:pt x="2602" y="10685"/>
                    <a:pt x="2666" y="10662"/>
                    <a:pt x="2710" y="10618"/>
                  </a:cubicBezTo>
                  <a:lnTo>
                    <a:pt x="3466" y="10114"/>
                  </a:lnTo>
                  <a:cubicBezTo>
                    <a:pt x="3876" y="10366"/>
                    <a:pt x="4286" y="10555"/>
                    <a:pt x="4790" y="10681"/>
                  </a:cubicBezTo>
                  <a:lnTo>
                    <a:pt x="4947" y="11563"/>
                  </a:lnTo>
                  <a:cubicBezTo>
                    <a:pt x="4979" y="11721"/>
                    <a:pt x="5105" y="11847"/>
                    <a:pt x="5294" y="11847"/>
                  </a:cubicBezTo>
                  <a:lnTo>
                    <a:pt x="6680" y="11847"/>
                  </a:lnTo>
                  <a:cubicBezTo>
                    <a:pt x="6837" y="11847"/>
                    <a:pt x="6995" y="11721"/>
                    <a:pt x="7027" y="11563"/>
                  </a:cubicBezTo>
                  <a:lnTo>
                    <a:pt x="7184" y="10681"/>
                  </a:lnTo>
                  <a:cubicBezTo>
                    <a:pt x="7657" y="10555"/>
                    <a:pt x="8098" y="10366"/>
                    <a:pt x="8476" y="10114"/>
                  </a:cubicBezTo>
                  <a:lnTo>
                    <a:pt x="9232" y="10618"/>
                  </a:lnTo>
                  <a:cubicBezTo>
                    <a:pt x="9301" y="10673"/>
                    <a:pt x="9370" y="10698"/>
                    <a:pt x="9436" y="10698"/>
                  </a:cubicBezTo>
                  <a:cubicBezTo>
                    <a:pt x="9521" y="10698"/>
                    <a:pt x="9602" y="10657"/>
                    <a:pt x="9673" y="10586"/>
                  </a:cubicBezTo>
                  <a:lnTo>
                    <a:pt x="10650" y="9610"/>
                  </a:lnTo>
                  <a:cubicBezTo>
                    <a:pt x="10776" y="9484"/>
                    <a:pt x="10776" y="9295"/>
                    <a:pt x="10681" y="9169"/>
                  </a:cubicBezTo>
                  <a:lnTo>
                    <a:pt x="10177" y="8413"/>
                  </a:lnTo>
                  <a:cubicBezTo>
                    <a:pt x="10398" y="8034"/>
                    <a:pt x="10618" y="7593"/>
                    <a:pt x="10713" y="7121"/>
                  </a:cubicBezTo>
                  <a:lnTo>
                    <a:pt x="11626" y="6963"/>
                  </a:lnTo>
                  <a:cubicBezTo>
                    <a:pt x="11784" y="6932"/>
                    <a:pt x="11910" y="6806"/>
                    <a:pt x="11910" y="6617"/>
                  </a:cubicBezTo>
                  <a:lnTo>
                    <a:pt x="11910" y="5231"/>
                  </a:lnTo>
                  <a:cubicBezTo>
                    <a:pt x="11910" y="5073"/>
                    <a:pt x="11784" y="4915"/>
                    <a:pt x="11626" y="4884"/>
                  </a:cubicBezTo>
                  <a:lnTo>
                    <a:pt x="10713" y="4726"/>
                  </a:lnTo>
                  <a:cubicBezTo>
                    <a:pt x="10618" y="4254"/>
                    <a:pt x="10398" y="3813"/>
                    <a:pt x="10177" y="3403"/>
                  </a:cubicBezTo>
                  <a:lnTo>
                    <a:pt x="10681" y="2679"/>
                  </a:lnTo>
                  <a:cubicBezTo>
                    <a:pt x="10807" y="2553"/>
                    <a:pt x="10776" y="2364"/>
                    <a:pt x="10650" y="2238"/>
                  </a:cubicBezTo>
                  <a:lnTo>
                    <a:pt x="9673" y="1261"/>
                  </a:lnTo>
                  <a:cubicBezTo>
                    <a:pt x="9605" y="1193"/>
                    <a:pt x="9520" y="1162"/>
                    <a:pt x="9435" y="1162"/>
                  </a:cubicBezTo>
                  <a:cubicBezTo>
                    <a:pt x="9362" y="1162"/>
                    <a:pt x="9290" y="1186"/>
                    <a:pt x="9232" y="1229"/>
                  </a:cubicBezTo>
                  <a:lnTo>
                    <a:pt x="8476" y="1734"/>
                  </a:lnTo>
                  <a:cubicBezTo>
                    <a:pt x="8098" y="1481"/>
                    <a:pt x="7657" y="1292"/>
                    <a:pt x="7184" y="1166"/>
                  </a:cubicBezTo>
                  <a:lnTo>
                    <a:pt x="6995" y="284"/>
                  </a:lnTo>
                  <a:cubicBezTo>
                    <a:pt x="6932" y="127"/>
                    <a:pt x="6837" y="1"/>
                    <a:pt x="6617"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2" name="Text"/>
          <p:cNvSpPr txBox="1"/>
          <p:nvPr/>
        </p:nvSpPr>
        <p:spPr>
          <a:xfrm>
            <a:off x="3810000" y="2381250"/>
            <a:ext cx="1524000" cy="447675"/>
          </a:xfrm>
          <a:prstGeom prst="rect">
            <a:avLst/>
          </a:prstGeom>
          <a:noFill/>
          <a:ln w="9525">
            <a:noFill/>
          </a:ln>
        </p:spPr>
        <p:txBody>
          <a:bodyPr wrap="none" lIns="0" tIns="0" rIns="0" bIns="0" anchor="t">
            <a:noAutofit/>
          </a:bodyPr>
          <a:lstStyle/>
          <a:p>
            <a:pPr marL="0" indent="0" algn="ctr">
              <a:lnSpc>
                <a:spcPts val="2812"/>
              </a:lnSpc>
              <a:spcAft>
                <a:spcPts val="0"/>
              </a:spcAft>
              <a:buNone/>
            </a:pPr>
            <a:r>
              <a:rPr lang="en-US" sz="2250" b="1">
                <a:solidFill>
                  <a:srgbClr val="435D74"/>
                </a:solidFill>
                <a:latin typeface="Fira Sans Extra Condensed"/>
                <a:ea typeface="Fira Sans Extra Condensed"/>
                <a:cs typeface="Fira Sans Extra Condensed"/>
              </a:rPr>
              <a:t>03 Model</a:t>
            </a:r>
            <a:endParaRPr lang="en-US" sz="2250"/>
          </a:p>
        </p:txBody>
      </p:sp>
      <p:sp>
        <p:nvSpPr>
          <p:cNvPr id="33" name="Text"/>
          <p:cNvSpPr txBox="1"/>
          <p:nvPr/>
        </p:nvSpPr>
        <p:spPr>
          <a:xfrm>
            <a:off x="3819525" y="3000375"/>
            <a:ext cx="1504950" cy="866775"/>
          </a:xfrm>
          <a:prstGeom prst="rect">
            <a:avLst/>
          </a:prstGeom>
          <a:noFill/>
          <a:ln w="9525">
            <a:noFill/>
          </a:ln>
        </p:spPr>
        <p:txBody>
          <a:bodyPr wrap="none" lIns="0" tIns="0" rIns="0" bIns="0" anchor="t">
            <a:noAutofit/>
          </a:bodyPr>
          <a:lstStyle/>
          <a:p>
            <a:pPr marL="0" indent="0" algn="ctr">
              <a:lnSpc>
                <a:spcPts val="1688"/>
              </a:lnSpc>
              <a:spcAft>
                <a:spcPts val="0"/>
              </a:spcAft>
              <a:buNone/>
            </a:pPr>
            <a:r>
              <a:rPr lang="en-US" sz="1350" b="0">
                <a:solidFill>
                  <a:srgbClr val="435D74"/>
                </a:solidFill>
                <a:latin typeface="Roboto"/>
                <a:ea typeface="Roboto"/>
                <a:cs typeface="Roboto"/>
              </a:rPr>
              <a:t>Connect choices,</a:t>
            </a:r>
            <a:endParaRPr lang="en-US" sz="1350"/>
          </a:p>
          <a:p>
            <a:pPr marL="0" indent="0" algn="ctr">
              <a:lnSpc>
                <a:spcPts val="1688"/>
              </a:lnSpc>
              <a:spcAft>
                <a:spcPts val="0"/>
              </a:spcAft>
              <a:buNone/>
            </a:pPr>
            <a:r>
              <a:rPr lang="en-US" sz="1350" b="0">
                <a:solidFill>
                  <a:srgbClr val="435D74"/>
                </a:solidFill>
                <a:latin typeface="Roboto"/>
                <a:ea typeface="Roboto"/>
                <a:cs typeface="Roboto"/>
              </a:rPr>
              <a:t>results, and limits.</a:t>
            </a:r>
            <a:endParaRPr lang="en-US" sz="1350"/>
          </a:p>
        </p:txBody>
      </p:sp>
      <p:cxnSp>
        <p:nvCxnSpPr>
          <p:cNvPr id="34" name="Connector"/>
          <p:cNvCxnSpPr/>
          <p:nvPr/>
        </p:nvCxnSpPr>
        <p:spPr>
          <a:xfrm>
            <a:off x="4972050" y="1752600"/>
            <a:ext cx="447675" cy="95"/>
          </a:xfrm>
          <a:prstGeom prst="line">
            <a:avLst/>
          </a:prstGeom>
          <a:ln w="19050">
            <a:solidFill>
              <a:srgbClr val="869FB2"/>
            </a:solidFill>
            <a:tailEnd type="triangle" w="sm" len="sm"/>
          </a:ln>
        </p:spPr>
      </p:cxnSp>
      <p:sp>
        <p:nvSpPr>
          <p:cNvPr id="35" name="Circle"/>
          <p:cNvSpPr/>
          <p:nvPr/>
        </p:nvSpPr>
        <p:spPr>
          <a:xfrm>
            <a:off x="5838825" y="1381125"/>
            <a:ext cx="742950" cy="742950"/>
          </a:xfrm>
          <a:prstGeom prst="ellipse">
            <a:avLst/>
          </a:prstGeom>
          <a:solidFill>
            <a:srgbClr val="F3F6F8"/>
          </a:solidFill>
          <a:ln w="9525">
            <a:noFill/>
          </a:ln>
        </p:spPr>
        <p:txBody>
          <a:bodyPr/>
          <a:lstStyle/>
          <a:p>
            <a:endParaRPr lang="en-US"/>
          </a:p>
        </p:txBody>
      </p:sp>
      <p:grpSp>
        <p:nvGrpSpPr>
          <p:cNvPr id="36" name="Slidesgo vector icon"/>
          <p:cNvGrpSpPr/>
          <p:nvPr/>
        </p:nvGrpSpPr>
        <p:grpSpPr>
          <a:xfrm>
            <a:off x="6048375" y="1571625"/>
            <a:ext cx="333375" cy="331578"/>
            <a:chOff x="-4211975" y="2046625"/>
            <a:chExt cx="292250" cy="290675"/>
          </a:xfrm>
        </p:grpSpPr>
        <p:sp>
          <p:nvSpPr>
            <p:cNvPr id="37" name="Slidesgo vector icon"/>
            <p:cNvSpPr/>
            <p:nvPr/>
          </p:nvSpPr>
          <p:spPr>
            <a:xfrm>
              <a:off x="-4211975" y="2081300"/>
              <a:ext cx="256025" cy="256000"/>
            </a:xfrm>
            <a:custGeom>
              <a:avLst/>
              <a:gdLst/>
              <a:ahLst/>
              <a:cxnLst/>
              <a:rect l="l" t="t" r="r" b="b"/>
              <a:pathLst>
                <a:path w="10241" h="10240" extrusionOk="0">
                  <a:moveTo>
                    <a:pt x="4758" y="693"/>
                  </a:moveTo>
                  <a:lnTo>
                    <a:pt x="4758" y="5167"/>
                  </a:lnTo>
                  <a:cubicBezTo>
                    <a:pt x="4758" y="5356"/>
                    <a:pt x="4916" y="5513"/>
                    <a:pt x="5105" y="5513"/>
                  </a:cubicBezTo>
                  <a:lnTo>
                    <a:pt x="9578" y="5513"/>
                  </a:lnTo>
                  <a:cubicBezTo>
                    <a:pt x="9358" y="7813"/>
                    <a:pt x="7436" y="9609"/>
                    <a:pt x="5105" y="9609"/>
                  </a:cubicBezTo>
                  <a:cubicBezTo>
                    <a:pt x="2679" y="9609"/>
                    <a:pt x="663" y="7593"/>
                    <a:pt x="663" y="5167"/>
                  </a:cubicBezTo>
                  <a:cubicBezTo>
                    <a:pt x="663" y="2835"/>
                    <a:pt x="2490" y="914"/>
                    <a:pt x="4758" y="693"/>
                  </a:cubicBezTo>
                  <a:close/>
                  <a:moveTo>
                    <a:pt x="5105" y="0"/>
                  </a:moveTo>
                  <a:cubicBezTo>
                    <a:pt x="2269" y="0"/>
                    <a:pt x="1" y="2300"/>
                    <a:pt x="1" y="5104"/>
                  </a:cubicBezTo>
                  <a:cubicBezTo>
                    <a:pt x="1" y="7939"/>
                    <a:pt x="2269" y="10239"/>
                    <a:pt x="5105" y="10239"/>
                  </a:cubicBezTo>
                  <a:cubicBezTo>
                    <a:pt x="7940" y="10239"/>
                    <a:pt x="10240" y="7939"/>
                    <a:pt x="10240" y="5104"/>
                  </a:cubicBezTo>
                  <a:cubicBezTo>
                    <a:pt x="10240" y="4978"/>
                    <a:pt x="10083" y="4820"/>
                    <a:pt x="9925" y="4820"/>
                  </a:cubicBezTo>
                  <a:lnTo>
                    <a:pt x="5483" y="4820"/>
                  </a:lnTo>
                  <a:lnTo>
                    <a:pt x="5483" y="347"/>
                  </a:lnTo>
                  <a:cubicBezTo>
                    <a:pt x="5483" y="158"/>
                    <a:pt x="5325" y="0"/>
                    <a:pt x="5105"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Slidesgo vector icon"/>
            <p:cNvSpPr/>
            <p:nvPr/>
          </p:nvSpPr>
          <p:spPr>
            <a:xfrm>
              <a:off x="-4057600" y="2046625"/>
              <a:ext cx="137875" cy="137875"/>
            </a:xfrm>
            <a:custGeom>
              <a:avLst/>
              <a:gdLst/>
              <a:ahLst/>
              <a:cxnLst/>
              <a:rect l="l" t="t" r="r" b="b"/>
              <a:pathLst>
                <a:path w="5515" h="5515" extrusionOk="0">
                  <a:moveTo>
                    <a:pt x="663" y="694"/>
                  </a:moveTo>
                  <a:cubicBezTo>
                    <a:pt x="2836" y="851"/>
                    <a:pt x="4601" y="2616"/>
                    <a:pt x="4758" y="4790"/>
                  </a:cubicBezTo>
                  <a:lnTo>
                    <a:pt x="663" y="4790"/>
                  </a:lnTo>
                  <a:lnTo>
                    <a:pt x="663" y="694"/>
                  </a:lnTo>
                  <a:close/>
                  <a:moveTo>
                    <a:pt x="348" y="1"/>
                  </a:moveTo>
                  <a:cubicBezTo>
                    <a:pt x="158" y="1"/>
                    <a:pt x="1" y="158"/>
                    <a:pt x="1" y="379"/>
                  </a:cubicBezTo>
                  <a:lnTo>
                    <a:pt x="1" y="5168"/>
                  </a:lnTo>
                  <a:cubicBezTo>
                    <a:pt x="1" y="5357"/>
                    <a:pt x="158" y="5514"/>
                    <a:pt x="348" y="5514"/>
                  </a:cubicBezTo>
                  <a:lnTo>
                    <a:pt x="5168" y="5514"/>
                  </a:lnTo>
                  <a:cubicBezTo>
                    <a:pt x="5357" y="5514"/>
                    <a:pt x="5514" y="5357"/>
                    <a:pt x="5514" y="5168"/>
                  </a:cubicBezTo>
                  <a:cubicBezTo>
                    <a:pt x="5483" y="3750"/>
                    <a:pt x="4979" y="2490"/>
                    <a:pt x="3971" y="1513"/>
                  </a:cubicBezTo>
                  <a:cubicBezTo>
                    <a:pt x="2994" y="536"/>
                    <a:pt x="1734" y="1"/>
                    <a:pt x="34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9" name="Text"/>
          <p:cNvSpPr txBox="1"/>
          <p:nvPr/>
        </p:nvSpPr>
        <p:spPr>
          <a:xfrm>
            <a:off x="5467350" y="2381250"/>
            <a:ext cx="1524000" cy="447675"/>
          </a:xfrm>
          <a:prstGeom prst="rect">
            <a:avLst/>
          </a:prstGeom>
          <a:noFill/>
          <a:ln w="9525">
            <a:noFill/>
          </a:ln>
        </p:spPr>
        <p:txBody>
          <a:bodyPr wrap="none" lIns="0" tIns="0" rIns="0" bIns="0" anchor="t">
            <a:noAutofit/>
          </a:bodyPr>
          <a:lstStyle/>
          <a:p>
            <a:pPr marL="0" indent="0" algn="ctr">
              <a:lnSpc>
                <a:spcPts val="2812"/>
              </a:lnSpc>
              <a:spcAft>
                <a:spcPts val="0"/>
              </a:spcAft>
              <a:buNone/>
            </a:pPr>
            <a:r>
              <a:rPr lang="en-US" sz="2250" b="1">
                <a:solidFill>
                  <a:srgbClr val="435D74"/>
                </a:solidFill>
                <a:latin typeface="Fira Sans Extra Condensed"/>
                <a:ea typeface="Fira Sans Extra Condensed"/>
                <a:cs typeface="Fira Sans Extra Condensed"/>
              </a:rPr>
              <a:t>04 Compare</a:t>
            </a:r>
            <a:endParaRPr lang="en-US" sz="2250"/>
          </a:p>
        </p:txBody>
      </p:sp>
      <p:sp>
        <p:nvSpPr>
          <p:cNvPr id="40" name="Text"/>
          <p:cNvSpPr txBox="1"/>
          <p:nvPr/>
        </p:nvSpPr>
        <p:spPr>
          <a:xfrm>
            <a:off x="5476875" y="3000375"/>
            <a:ext cx="1504950" cy="866775"/>
          </a:xfrm>
          <a:prstGeom prst="rect">
            <a:avLst/>
          </a:prstGeom>
          <a:noFill/>
          <a:ln w="9525">
            <a:noFill/>
          </a:ln>
        </p:spPr>
        <p:txBody>
          <a:bodyPr wrap="none" lIns="0" tIns="0" rIns="0" bIns="0" anchor="t">
            <a:noAutofit/>
          </a:bodyPr>
          <a:lstStyle/>
          <a:p>
            <a:pPr marL="0" indent="0" algn="ctr">
              <a:lnSpc>
                <a:spcPts val="1688"/>
              </a:lnSpc>
              <a:spcAft>
                <a:spcPts val="0"/>
              </a:spcAft>
              <a:buNone/>
            </a:pPr>
            <a:r>
              <a:rPr lang="en-US" sz="1350" b="0">
                <a:solidFill>
                  <a:srgbClr val="435D74"/>
                </a:solidFill>
                <a:latin typeface="Roboto"/>
                <a:ea typeface="Roboto"/>
                <a:cs typeface="Roboto"/>
              </a:rPr>
              <a:t>Check plans and</a:t>
            </a:r>
            <a:endParaRPr lang="en-US" sz="1350"/>
          </a:p>
          <a:p>
            <a:pPr marL="0" indent="0" algn="ctr">
              <a:lnSpc>
                <a:spcPts val="1688"/>
              </a:lnSpc>
              <a:spcAft>
                <a:spcPts val="0"/>
              </a:spcAft>
              <a:buNone/>
            </a:pPr>
            <a:r>
              <a:rPr lang="en-US" sz="1350" b="0">
                <a:solidFill>
                  <a:srgbClr val="435D74"/>
                </a:solidFill>
                <a:latin typeface="Roboto"/>
                <a:ea typeface="Roboto"/>
                <a:cs typeface="Roboto"/>
              </a:rPr>
              <a:t>what the model</a:t>
            </a:r>
            <a:endParaRPr lang="en-US" sz="1350"/>
          </a:p>
          <a:p>
            <a:pPr marL="0" indent="0" algn="ctr">
              <a:lnSpc>
                <a:spcPts val="1688"/>
              </a:lnSpc>
              <a:spcAft>
                <a:spcPts val="0"/>
              </a:spcAft>
              <a:buNone/>
            </a:pPr>
            <a:r>
              <a:rPr lang="en-US" sz="1350" b="0">
                <a:solidFill>
                  <a:srgbClr val="435D74"/>
                </a:solidFill>
                <a:latin typeface="Roboto"/>
                <a:ea typeface="Roboto"/>
                <a:cs typeface="Roboto"/>
              </a:rPr>
              <a:t>assumes.</a:t>
            </a:r>
            <a:endParaRPr lang="en-US" sz="1350"/>
          </a:p>
        </p:txBody>
      </p:sp>
      <p:cxnSp>
        <p:nvCxnSpPr>
          <p:cNvPr id="41" name="Connector"/>
          <p:cNvCxnSpPr/>
          <p:nvPr/>
        </p:nvCxnSpPr>
        <p:spPr>
          <a:xfrm>
            <a:off x="6629400" y="1752600"/>
            <a:ext cx="447675" cy="95"/>
          </a:xfrm>
          <a:prstGeom prst="line">
            <a:avLst/>
          </a:prstGeom>
          <a:ln w="19050">
            <a:solidFill>
              <a:srgbClr val="869FB2"/>
            </a:solidFill>
            <a:tailEnd type="triangle" w="sm" len="sm"/>
          </a:ln>
        </p:spPr>
      </p:cxnSp>
      <p:sp>
        <p:nvSpPr>
          <p:cNvPr id="42" name="Circle"/>
          <p:cNvSpPr/>
          <p:nvPr/>
        </p:nvSpPr>
        <p:spPr>
          <a:xfrm>
            <a:off x="7496175" y="1381125"/>
            <a:ext cx="742950" cy="742950"/>
          </a:xfrm>
          <a:prstGeom prst="ellipse">
            <a:avLst/>
          </a:prstGeom>
          <a:solidFill>
            <a:srgbClr val="435D74"/>
          </a:solidFill>
          <a:ln w="9525">
            <a:noFill/>
          </a:ln>
        </p:spPr>
        <p:txBody>
          <a:bodyPr/>
          <a:lstStyle/>
          <a:p>
            <a:endParaRPr lang="en-US"/>
          </a:p>
        </p:txBody>
      </p:sp>
      <p:grpSp>
        <p:nvGrpSpPr>
          <p:cNvPr id="43" name="Slidesgo vector icon"/>
          <p:cNvGrpSpPr/>
          <p:nvPr/>
        </p:nvGrpSpPr>
        <p:grpSpPr>
          <a:xfrm>
            <a:off x="7705725" y="1571625"/>
            <a:ext cx="333375" cy="333375"/>
            <a:chOff x="1487200" y="4993750"/>
            <a:chExt cx="483125" cy="483125"/>
          </a:xfrm>
        </p:grpSpPr>
        <p:sp>
          <p:nvSpPr>
            <p:cNvPr id="44" name="Slidesgo vector icon"/>
            <p:cNvSpPr/>
            <p:nvPr/>
          </p:nvSpPr>
          <p:spPr>
            <a:xfrm>
              <a:off x="1487200" y="4993750"/>
              <a:ext cx="483125" cy="483125"/>
            </a:xfrm>
            <a:custGeom>
              <a:avLst/>
              <a:gdLst/>
              <a:ahLst/>
              <a:cxnLst/>
              <a:rect l="l" t="t" r="r" b="b"/>
              <a:pathLst>
                <a:path w="19325" h="19325" extrusionOk="0">
                  <a:moveTo>
                    <a:pt x="9662" y="1133"/>
                  </a:moveTo>
                  <a:cubicBezTo>
                    <a:pt x="11824" y="1133"/>
                    <a:pt x="13983" y="1975"/>
                    <a:pt x="15668" y="3657"/>
                  </a:cubicBezTo>
                  <a:cubicBezTo>
                    <a:pt x="19035" y="7027"/>
                    <a:pt x="19035" y="12302"/>
                    <a:pt x="15668" y="15668"/>
                  </a:cubicBezTo>
                  <a:cubicBezTo>
                    <a:pt x="13983" y="17352"/>
                    <a:pt x="11822" y="18193"/>
                    <a:pt x="9661" y="18193"/>
                  </a:cubicBezTo>
                  <a:cubicBezTo>
                    <a:pt x="7500" y="18193"/>
                    <a:pt x="5340" y="17352"/>
                    <a:pt x="3657" y="15668"/>
                  </a:cubicBezTo>
                  <a:cubicBezTo>
                    <a:pt x="290" y="12302"/>
                    <a:pt x="290" y="7024"/>
                    <a:pt x="3657" y="3657"/>
                  </a:cubicBezTo>
                  <a:cubicBezTo>
                    <a:pt x="5342" y="1975"/>
                    <a:pt x="7500" y="1133"/>
                    <a:pt x="9662" y="1133"/>
                  </a:cubicBezTo>
                  <a:close/>
                  <a:moveTo>
                    <a:pt x="9662" y="1"/>
                  </a:moveTo>
                  <a:cubicBezTo>
                    <a:pt x="7117" y="1"/>
                    <a:pt x="4698" y="1015"/>
                    <a:pt x="2857" y="2857"/>
                  </a:cubicBezTo>
                  <a:cubicBezTo>
                    <a:pt x="1015" y="4699"/>
                    <a:pt x="0" y="7117"/>
                    <a:pt x="0" y="9663"/>
                  </a:cubicBezTo>
                  <a:cubicBezTo>
                    <a:pt x="0" y="12208"/>
                    <a:pt x="1015" y="14627"/>
                    <a:pt x="2857" y="16469"/>
                  </a:cubicBezTo>
                  <a:cubicBezTo>
                    <a:pt x="4698" y="18310"/>
                    <a:pt x="7117" y="19325"/>
                    <a:pt x="9662" y="19325"/>
                  </a:cubicBezTo>
                  <a:cubicBezTo>
                    <a:pt x="12208" y="19325"/>
                    <a:pt x="14626" y="18310"/>
                    <a:pt x="16468" y="16469"/>
                  </a:cubicBezTo>
                  <a:cubicBezTo>
                    <a:pt x="18310" y="14627"/>
                    <a:pt x="19325" y="12208"/>
                    <a:pt x="19325" y="9663"/>
                  </a:cubicBezTo>
                  <a:cubicBezTo>
                    <a:pt x="19325" y="7117"/>
                    <a:pt x="18310" y="4699"/>
                    <a:pt x="16468" y="2857"/>
                  </a:cubicBezTo>
                  <a:cubicBezTo>
                    <a:pt x="14626" y="1015"/>
                    <a:pt x="12208" y="1"/>
                    <a:pt x="9662"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FD0DB"/>
                </a:solidFill>
              </a:endParaRPr>
            </a:p>
          </p:txBody>
        </p:sp>
        <p:sp>
          <p:nvSpPr>
            <p:cNvPr id="45" name="Slidesgo vector icon"/>
            <p:cNvSpPr/>
            <p:nvPr/>
          </p:nvSpPr>
          <p:spPr>
            <a:xfrm>
              <a:off x="1602600" y="5143950"/>
              <a:ext cx="250350" cy="182725"/>
            </a:xfrm>
            <a:custGeom>
              <a:avLst/>
              <a:gdLst/>
              <a:ahLst/>
              <a:cxnLst/>
              <a:rect l="l" t="t" r="r" b="b"/>
              <a:pathLst>
                <a:path w="10014" h="7309" extrusionOk="0">
                  <a:moveTo>
                    <a:pt x="8149" y="1134"/>
                  </a:moveTo>
                  <a:cubicBezTo>
                    <a:pt x="8294" y="1134"/>
                    <a:pt x="8439" y="1189"/>
                    <a:pt x="8549" y="1300"/>
                  </a:cubicBezTo>
                  <a:cubicBezTo>
                    <a:pt x="8769" y="1520"/>
                    <a:pt x="8769" y="1879"/>
                    <a:pt x="8549" y="2100"/>
                  </a:cubicBezTo>
                  <a:lnTo>
                    <a:pt x="4639" y="6007"/>
                  </a:lnTo>
                  <a:cubicBezTo>
                    <a:pt x="4527" y="6120"/>
                    <a:pt x="4377" y="6177"/>
                    <a:pt x="4227" y="6177"/>
                  </a:cubicBezTo>
                  <a:cubicBezTo>
                    <a:pt x="4081" y="6177"/>
                    <a:pt x="3937" y="6123"/>
                    <a:pt x="3830" y="6016"/>
                  </a:cubicBezTo>
                  <a:lnTo>
                    <a:pt x="1547" y="3748"/>
                  </a:lnTo>
                  <a:cubicBezTo>
                    <a:pt x="1296" y="3534"/>
                    <a:pt x="1281" y="3151"/>
                    <a:pt x="1514" y="2918"/>
                  </a:cubicBezTo>
                  <a:cubicBezTo>
                    <a:pt x="1626" y="2806"/>
                    <a:pt x="1771" y="2750"/>
                    <a:pt x="1916" y="2750"/>
                  </a:cubicBezTo>
                  <a:cubicBezTo>
                    <a:pt x="2074" y="2750"/>
                    <a:pt x="2232" y="2817"/>
                    <a:pt x="2344" y="2948"/>
                  </a:cubicBezTo>
                  <a:lnTo>
                    <a:pt x="3784" y="4388"/>
                  </a:lnTo>
                  <a:cubicBezTo>
                    <a:pt x="3793" y="4401"/>
                    <a:pt x="3805" y="4410"/>
                    <a:pt x="3817" y="4419"/>
                  </a:cubicBezTo>
                  <a:cubicBezTo>
                    <a:pt x="3817" y="4422"/>
                    <a:pt x="3820" y="4422"/>
                    <a:pt x="3823" y="4425"/>
                  </a:cubicBezTo>
                  <a:cubicBezTo>
                    <a:pt x="3934" y="4535"/>
                    <a:pt x="4078" y="4590"/>
                    <a:pt x="4222" y="4590"/>
                  </a:cubicBezTo>
                  <a:cubicBezTo>
                    <a:pt x="4367" y="4590"/>
                    <a:pt x="4512" y="4535"/>
                    <a:pt x="4624" y="4425"/>
                  </a:cubicBezTo>
                  <a:lnTo>
                    <a:pt x="7749" y="1300"/>
                  </a:lnTo>
                  <a:cubicBezTo>
                    <a:pt x="7859" y="1189"/>
                    <a:pt x="8004" y="1134"/>
                    <a:pt x="8149" y="1134"/>
                  </a:cubicBezTo>
                  <a:close/>
                  <a:moveTo>
                    <a:pt x="8146" y="1"/>
                  </a:moveTo>
                  <a:cubicBezTo>
                    <a:pt x="7712" y="1"/>
                    <a:pt x="7279" y="166"/>
                    <a:pt x="6949" y="496"/>
                  </a:cubicBezTo>
                  <a:lnTo>
                    <a:pt x="6946" y="496"/>
                  </a:lnTo>
                  <a:lnTo>
                    <a:pt x="4219" y="3223"/>
                  </a:lnTo>
                  <a:lnTo>
                    <a:pt x="3144" y="2148"/>
                  </a:lnTo>
                  <a:cubicBezTo>
                    <a:pt x="2808" y="1779"/>
                    <a:pt x="2348" y="1594"/>
                    <a:pt x="1887" y="1594"/>
                  </a:cubicBezTo>
                  <a:cubicBezTo>
                    <a:pt x="1453" y="1594"/>
                    <a:pt x="1019" y="1758"/>
                    <a:pt x="686" y="2091"/>
                  </a:cubicBezTo>
                  <a:cubicBezTo>
                    <a:pt x="1" y="2776"/>
                    <a:pt x="28" y="3896"/>
                    <a:pt x="747" y="4549"/>
                  </a:cubicBezTo>
                  <a:lnTo>
                    <a:pt x="3029" y="6819"/>
                  </a:lnTo>
                  <a:cubicBezTo>
                    <a:pt x="3344" y="7131"/>
                    <a:pt x="3768" y="7308"/>
                    <a:pt x="4214" y="7308"/>
                  </a:cubicBezTo>
                  <a:cubicBezTo>
                    <a:pt x="4218" y="7308"/>
                    <a:pt x="4221" y="7308"/>
                    <a:pt x="4225" y="7308"/>
                  </a:cubicBezTo>
                  <a:cubicBezTo>
                    <a:pt x="4678" y="7308"/>
                    <a:pt x="5116" y="7127"/>
                    <a:pt x="5439" y="6807"/>
                  </a:cubicBezTo>
                  <a:lnTo>
                    <a:pt x="9349" y="2900"/>
                  </a:lnTo>
                  <a:cubicBezTo>
                    <a:pt x="10013" y="2236"/>
                    <a:pt x="10013" y="1161"/>
                    <a:pt x="9349" y="499"/>
                  </a:cubicBezTo>
                  <a:cubicBezTo>
                    <a:pt x="9017" y="167"/>
                    <a:pt x="8581" y="1"/>
                    <a:pt x="8146"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FD0DB"/>
                </a:solidFill>
              </a:endParaRPr>
            </a:p>
          </p:txBody>
        </p:sp>
      </p:grpSp>
      <p:sp>
        <p:nvSpPr>
          <p:cNvPr id="46" name="Text"/>
          <p:cNvSpPr txBox="1"/>
          <p:nvPr/>
        </p:nvSpPr>
        <p:spPr>
          <a:xfrm>
            <a:off x="7124700" y="2381250"/>
            <a:ext cx="1524000" cy="447675"/>
          </a:xfrm>
          <a:prstGeom prst="rect">
            <a:avLst/>
          </a:prstGeom>
          <a:noFill/>
          <a:ln w="9525">
            <a:noFill/>
          </a:ln>
        </p:spPr>
        <p:txBody>
          <a:bodyPr wrap="none" lIns="0" tIns="0" rIns="0" bIns="0" anchor="t">
            <a:noAutofit/>
          </a:bodyPr>
          <a:lstStyle/>
          <a:p>
            <a:pPr marL="0" indent="0" algn="ctr">
              <a:lnSpc>
                <a:spcPts val="2812"/>
              </a:lnSpc>
              <a:spcAft>
                <a:spcPts val="0"/>
              </a:spcAft>
              <a:buNone/>
            </a:pPr>
            <a:r>
              <a:rPr lang="en-US" sz="2250" b="1">
                <a:solidFill>
                  <a:srgbClr val="435D74"/>
                </a:solidFill>
                <a:latin typeface="Fira Sans Extra Condensed"/>
                <a:ea typeface="Fira Sans Extra Condensed"/>
                <a:cs typeface="Fira Sans Extra Condensed"/>
              </a:rPr>
              <a:t>05 Act</a:t>
            </a:r>
            <a:endParaRPr lang="en-US" sz="2250"/>
          </a:p>
        </p:txBody>
      </p:sp>
      <p:sp>
        <p:nvSpPr>
          <p:cNvPr id="47" name="Text"/>
          <p:cNvSpPr txBox="1"/>
          <p:nvPr/>
        </p:nvSpPr>
        <p:spPr>
          <a:xfrm>
            <a:off x="7134225" y="3000375"/>
            <a:ext cx="1504950" cy="866775"/>
          </a:xfrm>
          <a:prstGeom prst="rect">
            <a:avLst/>
          </a:prstGeom>
          <a:noFill/>
          <a:ln w="9525">
            <a:noFill/>
          </a:ln>
        </p:spPr>
        <p:txBody>
          <a:bodyPr wrap="none" lIns="0" tIns="0" rIns="0" bIns="0" anchor="t">
            <a:noAutofit/>
          </a:bodyPr>
          <a:lstStyle/>
          <a:p>
            <a:pPr marL="0" indent="0" algn="ctr">
              <a:lnSpc>
                <a:spcPts val="1688"/>
              </a:lnSpc>
              <a:spcAft>
                <a:spcPts val="0"/>
              </a:spcAft>
              <a:buNone/>
            </a:pPr>
            <a:r>
              <a:rPr lang="en-US" sz="1350" b="0">
                <a:solidFill>
                  <a:srgbClr val="435D74"/>
                </a:solidFill>
                <a:latin typeface="Roboto"/>
                <a:ea typeface="Roboto"/>
                <a:cs typeface="Roboto"/>
              </a:rPr>
              <a:t>Use the plan and</a:t>
            </a:r>
            <a:endParaRPr lang="en-US" sz="1350"/>
          </a:p>
          <a:p>
            <a:pPr marL="0" indent="0" algn="ctr">
              <a:lnSpc>
                <a:spcPts val="1688"/>
              </a:lnSpc>
              <a:spcAft>
                <a:spcPts val="0"/>
              </a:spcAft>
              <a:buNone/>
            </a:pPr>
            <a:r>
              <a:rPr lang="en-US" sz="1350" b="0">
                <a:solidFill>
                  <a:srgbClr val="435D74"/>
                </a:solidFill>
                <a:latin typeface="Roboto"/>
                <a:ea typeface="Roboto"/>
                <a:cs typeface="Roboto"/>
              </a:rPr>
              <a:t>measure the result.</a:t>
            </a:r>
            <a:endParaRPr lang="en-US" sz="1350"/>
          </a:p>
        </p:txBody>
      </p:sp>
      <p:sp>
        <p:nvSpPr>
          <p:cNvPr id="48" name="Vector"/>
          <p:cNvSpPr/>
          <p:nvPr/>
        </p:nvSpPr>
        <p:spPr>
          <a:xfrm>
            <a:off x="1247775" y="3962400"/>
            <a:ext cx="6734175" cy="342900"/>
          </a:xfrm>
          <a:custGeom>
            <a:avLst/>
            <a:gdLst/>
            <a:ahLst/>
            <a:cxnLst/>
            <a:rect l="l" t="t" r="r" b="b"/>
            <a:pathLst>
              <a:path w="6734175" h="342900">
                <a:moveTo>
                  <a:pt x="6734175" y="9525"/>
                </a:moveTo>
                <a:lnTo>
                  <a:pt x="6734175" y="342900"/>
                </a:lnTo>
                <a:lnTo>
                  <a:pt x="0" y="342900"/>
                </a:lnTo>
                <a:lnTo>
                  <a:pt x="0" y="0"/>
                </a:lnTo>
              </a:path>
            </a:pathLst>
          </a:custGeom>
          <a:noFill/>
          <a:ln w="14288" cap="rnd">
            <a:solidFill>
              <a:srgbClr val="007D8B"/>
            </a:solidFill>
            <a:round/>
          </a:ln>
        </p:spPr>
        <p:txBody>
          <a:bodyPr/>
          <a:lstStyle/>
          <a:p>
            <a:endParaRPr lang="en-US"/>
          </a:p>
        </p:txBody>
      </p:sp>
      <p:cxnSp>
        <p:nvCxnSpPr>
          <p:cNvPr id="49" name="Connector"/>
          <p:cNvCxnSpPr/>
          <p:nvPr/>
        </p:nvCxnSpPr>
        <p:spPr>
          <a:xfrm flipV="1">
            <a:off x="1247775" y="3962400"/>
            <a:ext cx="95" cy="266700"/>
          </a:xfrm>
          <a:prstGeom prst="line">
            <a:avLst/>
          </a:prstGeom>
          <a:ln w="14288">
            <a:solidFill>
              <a:srgbClr val="007D8B"/>
            </a:solidFill>
            <a:tailEnd type="triangle" w="sm" len="sm"/>
          </a:ln>
        </p:spPr>
      </p:cxnSp>
      <p:sp>
        <p:nvSpPr>
          <p:cNvPr id="50" name="Panel"/>
          <p:cNvSpPr/>
          <p:nvPr/>
        </p:nvSpPr>
        <p:spPr>
          <a:xfrm>
            <a:off x="2971800" y="4124325"/>
            <a:ext cx="3238500" cy="361950"/>
          </a:xfrm>
          <a:prstGeom prst="rect">
            <a:avLst/>
          </a:prstGeom>
          <a:solidFill>
            <a:srgbClr val="FFFFFF"/>
          </a:solidFill>
          <a:ln w="9525">
            <a:noFill/>
          </a:ln>
        </p:spPr>
        <p:txBody>
          <a:bodyPr/>
          <a:lstStyle/>
          <a:p>
            <a:endParaRPr lang="en-US"/>
          </a:p>
        </p:txBody>
      </p:sp>
      <p:sp>
        <p:nvSpPr>
          <p:cNvPr id="51" name="Text"/>
          <p:cNvSpPr txBox="1"/>
          <p:nvPr/>
        </p:nvSpPr>
        <p:spPr>
          <a:xfrm>
            <a:off x="2971800" y="4191000"/>
            <a:ext cx="3238500" cy="295275"/>
          </a:xfrm>
          <a:prstGeom prst="rect">
            <a:avLst/>
          </a:prstGeom>
          <a:noFill/>
          <a:ln w="9525">
            <a:noFill/>
          </a:ln>
        </p:spPr>
        <p:txBody>
          <a:bodyPr wrap="none" lIns="0" tIns="0" rIns="0" bIns="0" anchor="t">
            <a:noAutofit/>
          </a:bodyPr>
          <a:lstStyle/>
          <a:p>
            <a:pPr marL="0" indent="0" algn="ctr">
              <a:lnSpc>
                <a:spcPts val="1594"/>
              </a:lnSpc>
              <a:spcAft>
                <a:spcPts val="0"/>
              </a:spcAft>
              <a:buNone/>
            </a:pPr>
            <a:r>
              <a:rPr lang="en-US" sz="1275" b="0">
                <a:solidFill>
                  <a:srgbClr val="007D8B"/>
                </a:solidFill>
                <a:latin typeface="Roboto"/>
                <a:ea typeface="Roboto"/>
                <a:cs typeface="Roboto"/>
              </a:rPr>
              <a:t>Use results to improve the next decision.</a:t>
            </a:r>
            <a:endParaRPr lang="en-US" sz="12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name="Methods used in prescriptive analytics">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Methods used in prescriptive analytics</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algn="r">
              <a:lnSpc>
                <a:spcPts val="1031"/>
              </a:lnSpc>
            </a:pPr>
            <a:r>
              <a:rPr lang="en-US" sz="825" dirty="0">
                <a:solidFill>
                  <a:srgbClr val="6D8495"/>
                </a:solidFill>
                <a:latin typeface="Roboto"/>
                <a:ea typeface="Roboto"/>
                <a:cs typeface="Roboto"/>
              </a:rPr>
              <a:t>07 / 14</a:t>
            </a:r>
            <a:endParaRPr lang="en-US" sz="825" dirty="0"/>
          </a:p>
        </p:txBody>
      </p:sp>
      <p:sp>
        <p:nvSpPr>
          <p:cNvPr id="7" name="Text"/>
          <p:cNvSpPr txBox="1"/>
          <p:nvPr/>
        </p:nvSpPr>
        <p:spPr>
          <a:xfrm>
            <a:off x="495300" y="1190625"/>
            <a:ext cx="523875" cy="523875"/>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01</a:t>
            </a:r>
            <a:endParaRPr lang="en-US" sz="3150"/>
          </a:p>
        </p:txBody>
      </p:sp>
      <p:grpSp>
        <p:nvGrpSpPr>
          <p:cNvPr id="8" name="Slidesgo vector icon"/>
          <p:cNvGrpSpPr/>
          <p:nvPr/>
        </p:nvGrpSpPr>
        <p:grpSpPr>
          <a:xfrm>
            <a:off x="2543175" y="1219200"/>
            <a:ext cx="333375" cy="331034"/>
            <a:chOff x="-63250675" y="3744075"/>
            <a:chExt cx="320350" cy="318100"/>
          </a:xfrm>
        </p:grpSpPr>
        <p:sp>
          <p:nvSpPr>
            <p:cNvPr id="9" name="Slidesgo vector icon"/>
            <p:cNvSpPr/>
            <p:nvPr/>
          </p:nvSpPr>
          <p:spPr>
            <a:xfrm>
              <a:off x="-63126250" y="3744075"/>
              <a:ext cx="195925" cy="192875"/>
            </a:xfrm>
            <a:custGeom>
              <a:avLst/>
              <a:gdLst/>
              <a:ahLst/>
              <a:cxnLst/>
              <a:rect l="l" t="t" r="r" b="b"/>
              <a:pathLst>
                <a:path w="7837" h="7715" extrusionOk="0">
                  <a:moveTo>
                    <a:pt x="6020" y="0"/>
                  </a:moveTo>
                  <a:cubicBezTo>
                    <a:pt x="5921" y="0"/>
                    <a:pt x="5820" y="37"/>
                    <a:pt x="5735" y="122"/>
                  </a:cubicBezTo>
                  <a:lnTo>
                    <a:pt x="4097" y="1760"/>
                  </a:lnTo>
                  <a:cubicBezTo>
                    <a:pt x="4034" y="1854"/>
                    <a:pt x="3971" y="1917"/>
                    <a:pt x="3971" y="2012"/>
                  </a:cubicBezTo>
                  <a:lnTo>
                    <a:pt x="3782" y="3304"/>
                  </a:lnTo>
                  <a:lnTo>
                    <a:pt x="1734" y="5351"/>
                  </a:lnTo>
                  <a:cubicBezTo>
                    <a:pt x="1576" y="5288"/>
                    <a:pt x="1387" y="5225"/>
                    <a:pt x="1230" y="5225"/>
                  </a:cubicBezTo>
                  <a:cubicBezTo>
                    <a:pt x="537" y="5225"/>
                    <a:pt x="1" y="5793"/>
                    <a:pt x="1" y="6486"/>
                  </a:cubicBezTo>
                  <a:cubicBezTo>
                    <a:pt x="1" y="7210"/>
                    <a:pt x="537" y="7714"/>
                    <a:pt x="1230" y="7714"/>
                  </a:cubicBezTo>
                  <a:cubicBezTo>
                    <a:pt x="1891" y="7714"/>
                    <a:pt x="2458" y="7179"/>
                    <a:pt x="2458" y="6486"/>
                  </a:cubicBezTo>
                  <a:cubicBezTo>
                    <a:pt x="2458" y="6297"/>
                    <a:pt x="2395" y="6139"/>
                    <a:pt x="2332" y="5982"/>
                  </a:cubicBezTo>
                  <a:lnTo>
                    <a:pt x="4380" y="3934"/>
                  </a:lnTo>
                  <a:lnTo>
                    <a:pt x="5672" y="3745"/>
                  </a:lnTo>
                  <a:cubicBezTo>
                    <a:pt x="5735" y="3745"/>
                    <a:pt x="5829" y="3713"/>
                    <a:pt x="5924" y="3619"/>
                  </a:cubicBezTo>
                  <a:lnTo>
                    <a:pt x="7562" y="1980"/>
                  </a:lnTo>
                  <a:cubicBezTo>
                    <a:pt x="7837" y="1706"/>
                    <a:pt x="7609" y="1254"/>
                    <a:pt x="7251" y="1254"/>
                  </a:cubicBezTo>
                  <a:cubicBezTo>
                    <a:pt x="7240" y="1254"/>
                    <a:pt x="7228" y="1255"/>
                    <a:pt x="7216" y="1256"/>
                  </a:cubicBezTo>
                  <a:lnTo>
                    <a:pt x="6302" y="1382"/>
                  </a:lnTo>
                  <a:lnTo>
                    <a:pt x="6428" y="468"/>
                  </a:lnTo>
                  <a:cubicBezTo>
                    <a:pt x="6472" y="203"/>
                    <a:pt x="6253" y="0"/>
                    <a:pt x="6020"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Slidesgo vector icon"/>
            <p:cNvSpPr/>
            <p:nvPr/>
          </p:nvSpPr>
          <p:spPr>
            <a:xfrm>
              <a:off x="-63190025" y="3814050"/>
              <a:ext cx="186675" cy="185900"/>
            </a:xfrm>
            <a:custGeom>
              <a:avLst/>
              <a:gdLst/>
              <a:ahLst/>
              <a:cxnLst/>
              <a:rect l="l" t="t" r="r" b="b"/>
              <a:pathLst>
                <a:path w="7467" h="7436" extrusionOk="0">
                  <a:moveTo>
                    <a:pt x="3718" y="1"/>
                  </a:moveTo>
                  <a:cubicBezTo>
                    <a:pt x="1670" y="1"/>
                    <a:pt x="0" y="1670"/>
                    <a:pt x="0" y="3750"/>
                  </a:cubicBezTo>
                  <a:cubicBezTo>
                    <a:pt x="0" y="5797"/>
                    <a:pt x="1638" y="7436"/>
                    <a:pt x="3718" y="7436"/>
                  </a:cubicBezTo>
                  <a:cubicBezTo>
                    <a:pt x="5765" y="7436"/>
                    <a:pt x="7467" y="5797"/>
                    <a:pt x="7467" y="3750"/>
                  </a:cubicBezTo>
                  <a:cubicBezTo>
                    <a:pt x="7467" y="3151"/>
                    <a:pt x="7341" y="2647"/>
                    <a:pt x="7120" y="2143"/>
                  </a:cubicBezTo>
                  <a:lnTo>
                    <a:pt x="5828" y="3435"/>
                  </a:lnTo>
                  <a:cubicBezTo>
                    <a:pt x="5828" y="3498"/>
                    <a:pt x="5860" y="3624"/>
                    <a:pt x="5860" y="3718"/>
                  </a:cubicBezTo>
                  <a:cubicBezTo>
                    <a:pt x="5860" y="4852"/>
                    <a:pt x="4915" y="5797"/>
                    <a:pt x="3781" y="5797"/>
                  </a:cubicBezTo>
                  <a:cubicBezTo>
                    <a:pt x="2615" y="5797"/>
                    <a:pt x="1670" y="4852"/>
                    <a:pt x="1670" y="3718"/>
                  </a:cubicBezTo>
                  <a:cubicBezTo>
                    <a:pt x="1733" y="2552"/>
                    <a:pt x="2615" y="1607"/>
                    <a:pt x="3781" y="1607"/>
                  </a:cubicBezTo>
                  <a:cubicBezTo>
                    <a:pt x="3875" y="1607"/>
                    <a:pt x="3970" y="1607"/>
                    <a:pt x="4033" y="1670"/>
                  </a:cubicBezTo>
                  <a:lnTo>
                    <a:pt x="5356" y="347"/>
                  </a:lnTo>
                  <a:cubicBezTo>
                    <a:pt x="4883" y="127"/>
                    <a:pt x="4316" y="1"/>
                    <a:pt x="371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Slidesgo vector icon"/>
            <p:cNvSpPr/>
            <p:nvPr/>
          </p:nvSpPr>
          <p:spPr>
            <a:xfrm>
              <a:off x="-63250675" y="3751050"/>
              <a:ext cx="311125" cy="311125"/>
            </a:xfrm>
            <a:custGeom>
              <a:avLst/>
              <a:gdLst/>
              <a:ahLst/>
              <a:cxnLst/>
              <a:rect l="l" t="t" r="r" b="b"/>
              <a:pathLst>
                <a:path w="12445" h="12445" extrusionOk="0">
                  <a:moveTo>
                    <a:pt x="6270" y="0"/>
                  </a:moveTo>
                  <a:cubicBezTo>
                    <a:pt x="2773" y="0"/>
                    <a:pt x="0" y="2804"/>
                    <a:pt x="0" y="6238"/>
                  </a:cubicBezTo>
                  <a:cubicBezTo>
                    <a:pt x="0" y="9641"/>
                    <a:pt x="2804" y="12445"/>
                    <a:pt x="6238" y="12445"/>
                  </a:cubicBezTo>
                  <a:cubicBezTo>
                    <a:pt x="9672" y="12445"/>
                    <a:pt x="12445" y="9641"/>
                    <a:pt x="12445" y="6238"/>
                  </a:cubicBezTo>
                  <a:cubicBezTo>
                    <a:pt x="12445" y="5325"/>
                    <a:pt x="12256" y="4411"/>
                    <a:pt x="11878" y="3592"/>
                  </a:cubicBezTo>
                  <a:lnTo>
                    <a:pt x="11563" y="3907"/>
                  </a:lnTo>
                  <a:cubicBezTo>
                    <a:pt x="11342" y="4096"/>
                    <a:pt x="11121" y="4222"/>
                    <a:pt x="10838" y="4253"/>
                  </a:cubicBezTo>
                  <a:lnTo>
                    <a:pt x="10397" y="4348"/>
                  </a:lnTo>
                  <a:cubicBezTo>
                    <a:pt x="10680" y="4915"/>
                    <a:pt x="10806" y="5545"/>
                    <a:pt x="10806" y="6238"/>
                  </a:cubicBezTo>
                  <a:cubicBezTo>
                    <a:pt x="10806" y="8759"/>
                    <a:pt x="8759" y="10743"/>
                    <a:pt x="6270" y="10743"/>
                  </a:cubicBezTo>
                  <a:cubicBezTo>
                    <a:pt x="3781" y="10743"/>
                    <a:pt x="1733" y="8696"/>
                    <a:pt x="1733" y="6238"/>
                  </a:cubicBezTo>
                  <a:cubicBezTo>
                    <a:pt x="1733" y="3718"/>
                    <a:pt x="3781" y="1670"/>
                    <a:pt x="6270" y="1670"/>
                  </a:cubicBezTo>
                  <a:cubicBezTo>
                    <a:pt x="6931" y="1670"/>
                    <a:pt x="7561" y="1796"/>
                    <a:pt x="8160" y="2048"/>
                  </a:cubicBezTo>
                  <a:lnTo>
                    <a:pt x="8254" y="1607"/>
                  </a:lnTo>
                  <a:cubicBezTo>
                    <a:pt x="8286" y="1355"/>
                    <a:pt x="8412" y="1103"/>
                    <a:pt x="8601" y="914"/>
                  </a:cubicBezTo>
                  <a:lnTo>
                    <a:pt x="8916" y="599"/>
                  </a:lnTo>
                  <a:cubicBezTo>
                    <a:pt x="8097" y="189"/>
                    <a:pt x="7215" y="0"/>
                    <a:pt x="6270"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 name="Text"/>
          <p:cNvSpPr txBox="1"/>
          <p:nvPr/>
        </p:nvSpPr>
        <p:spPr>
          <a:xfrm>
            <a:off x="495300" y="1809750"/>
            <a:ext cx="2476500" cy="709612"/>
          </a:xfrm>
          <a:prstGeom prst="rect">
            <a:avLst/>
          </a:prstGeom>
          <a:noFill/>
          <a:ln w="9525">
            <a:noFill/>
          </a:ln>
        </p:spPr>
        <p:txBody>
          <a:bodyPr wrap="none" lIns="0" tIns="0" rIns="0" bIns="0" anchor="t">
            <a:noAutofit/>
          </a:bodyPr>
          <a:lstStyle/>
          <a:p>
            <a:pPr marL="0" indent="0" algn="l">
              <a:lnSpc>
                <a:spcPts val="2719"/>
              </a:lnSpc>
              <a:spcAft>
                <a:spcPts val="0"/>
              </a:spcAft>
              <a:buNone/>
            </a:pPr>
            <a:r>
              <a:rPr lang="en-US" sz="2175" b="1">
                <a:solidFill>
                  <a:srgbClr val="435D74"/>
                </a:solidFill>
                <a:latin typeface="Fira Sans Extra Condensed"/>
                <a:ea typeface="Fira Sans Extra Condensed"/>
                <a:cs typeface="Fira Sans Extra Condensed"/>
              </a:rPr>
              <a:t>Mathematical</a:t>
            </a:r>
            <a:endParaRPr lang="en-US" sz="2175"/>
          </a:p>
          <a:p>
            <a:pPr marL="0" indent="0" algn="l">
              <a:lnSpc>
                <a:spcPts val="2719"/>
              </a:lnSpc>
              <a:spcAft>
                <a:spcPts val="0"/>
              </a:spcAft>
              <a:buNone/>
            </a:pPr>
            <a:r>
              <a:rPr lang="en-US" sz="2175" b="1">
                <a:solidFill>
                  <a:srgbClr val="435D74"/>
                </a:solidFill>
                <a:latin typeface="Fira Sans Extra Condensed"/>
                <a:ea typeface="Fira Sans Extra Condensed"/>
                <a:cs typeface="Fira Sans Extra Condensed"/>
              </a:rPr>
              <a:t>optimization</a:t>
            </a:r>
            <a:endParaRPr lang="en-US" sz="2175"/>
          </a:p>
        </p:txBody>
      </p:sp>
      <p:sp>
        <p:nvSpPr>
          <p:cNvPr id="13" name="Text"/>
          <p:cNvSpPr txBox="1"/>
          <p:nvPr/>
        </p:nvSpPr>
        <p:spPr>
          <a:xfrm>
            <a:off x="495300" y="2714625"/>
            <a:ext cx="2476500" cy="809625"/>
          </a:xfrm>
          <a:prstGeom prst="rect">
            <a:avLst/>
          </a:prstGeom>
          <a:noFill/>
          <a:ln w="9525">
            <a:noFill/>
          </a:ln>
        </p:spPr>
        <p:txBody>
          <a:bodyPr wrap="none" lIns="0" tIns="0" rIns="0" bIns="0" anchor="t">
            <a:noAutofit/>
          </a:bodyPr>
          <a:lstStyle/>
          <a:p>
            <a:pPr marL="0" indent="0" algn="l">
              <a:lnSpc>
                <a:spcPts val="1781"/>
              </a:lnSpc>
              <a:spcAft>
                <a:spcPts val="0"/>
              </a:spcAft>
              <a:buNone/>
            </a:pPr>
            <a:r>
              <a:rPr lang="en-US" sz="1425" b="0">
                <a:solidFill>
                  <a:srgbClr val="435D74"/>
                </a:solidFill>
                <a:latin typeface="Roboto"/>
                <a:ea typeface="Roboto"/>
                <a:cs typeface="Roboto"/>
              </a:rPr>
              <a:t>Finds the best result for a goal</a:t>
            </a:r>
            <a:endParaRPr lang="en-US" sz="1425"/>
          </a:p>
          <a:p>
            <a:pPr marL="0" indent="0" algn="l">
              <a:lnSpc>
                <a:spcPts val="1781"/>
              </a:lnSpc>
              <a:spcAft>
                <a:spcPts val="0"/>
              </a:spcAft>
              <a:buNone/>
            </a:pPr>
            <a:r>
              <a:rPr lang="en-US" sz="1425" b="0">
                <a:solidFill>
                  <a:srgbClr val="435D74"/>
                </a:solidFill>
                <a:latin typeface="Roboto"/>
                <a:ea typeface="Roboto"/>
                <a:cs typeface="Roboto"/>
              </a:rPr>
              <a:t>while following the rules.</a:t>
            </a:r>
            <a:endParaRPr lang="en-US" sz="1425"/>
          </a:p>
        </p:txBody>
      </p:sp>
      <p:sp>
        <p:nvSpPr>
          <p:cNvPr id="14" name="Text"/>
          <p:cNvSpPr txBox="1"/>
          <p:nvPr/>
        </p:nvSpPr>
        <p:spPr>
          <a:xfrm>
            <a:off x="3381375" y="1190625"/>
            <a:ext cx="523875" cy="523875"/>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02</a:t>
            </a:r>
            <a:endParaRPr lang="en-US" sz="3150"/>
          </a:p>
        </p:txBody>
      </p:sp>
      <p:grpSp>
        <p:nvGrpSpPr>
          <p:cNvPr id="15" name="Slidesgo vector icon"/>
          <p:cNvGrpSpPr/>
          <p:nvPr/>
        </p:nvGrpSpPr>
        <p:grpSpPr>
          <a:xfrm>
            <a:off x="5429250" y="1219200"/>
            <a:ext cx="333375" cy="333375"/>
            <a:chOff x="-3137650" y="2408950"/>
            <a:chExt cx="291450" cy="292125"/>
          </a:xfrm>
        </p:grpSpPr>
        <p:sp>
          <p:nvSpPr>
            <p:cNvPr id="16" name="Slidesgo vector icon"/>
            <p:cNvSpPr/>
            <p:nvPr/>
          </p:nvSpPr>
          <p:spPr>
            <a:xfrm>
              <a:off x="-3137650" y="2408950"/>
              <a:ext cx="291450" cy="292125"/>
            </a:xfrm>
            <a:custGeom>
              <a:avLst/>
              <a:gdLst/>
              <a:ahLst/>
              <a:cxnLst/>
              <a:rect l="l" t="t" r="r" b="b"/>
              <a:pathLst>
                <a:path w="11658" h="11685" extrusionOk="0">
                  <a:moveTo>
                    <a:pt x="10618" y="662"/>
                  </a:moveTo>
                  <a:cubicBezTo>
                    <a:pt x="10807" y="662"/>
                    <a:pt x="10964" y="851"/>
                    <a:pt x="10964" y="1040"/>
                  </a:cubicBezTo>
                  <a:lnTo>
                    <a:pt x="10964" y="2741"/>
                  </a:lnTo>
                  <a:lnTo>
                    <a:pt x="662" y="2741"/>
                  </a:lnTo>
                  <a:lnTo>
                    <a:pt x="662" y="1040"/>
                  </a:lnTo>
                  <a:cubicBezTo>
                    <a:pt x="662" y="851"/>
                    <a:pt x="820" y="662"/>
                    <a:pt x="1009" y="662"/>
                  </a:cubicBezTo>
                  <a:close/>
                  <a:moveTo>
                    <a:pt x="10964" y="3403"/>
                  </a:moveTo>
                  <a:lnTo>
                    <a:pt x="10964" y="8601"/>
                  </a:lnTo>
                  <a:cubicBezTo>
                    <a:pt x="10964" y="8790"/>
                    <a:pt x="10838" y="8947"/>
                    <a:pt x="10618" y="8947"/>
                  </a:cubicBezTo>
                  <a:lnTo>
                    <a:pt x="10145" y="8947"/>
                  </a:lnTo>
                  <a:cubicBezTo>
                    <a:pt x="10208" y="8727"/>
                    <a:pt x="10240" y="8443"/>
                    <a:pt x="10240" y="8160"/>
                  </a:cubicBezTo>
                  <a:lnTo>
                    <a:pt x="10240" y="5860"/>
                  </a:lnTo>
                  <a:cubicBezTo>
                    <a:pt x="10240" y="5673"/>
                    <a:pt x="10058" y="5531"/>
                    <a:pt x="9868" y="5531"/>
                  </a:cubicBezTo>
                  <a:cubicBezTo>
                    <a:pt x="9835" y="5531"/>
                    <a:pt x="9801" y="5535"/>
                    <a:pt x="9767" y="5545"/>
                  </a:cubicBezTo>
                  <a:cubicBezTo>
                    <a:pt x="9545" y="5641"/>
                    <a:pt x="9341" y="5691"/>
                    <a:pt x="9142" y="5691"/>
                  </a:cubicBezTo>
                  <a:cubicBezTo>
                    <a:pt x="8693" y="5691"/>
                    <a:pt x="8275" y="5439"/>
                    <a:pt x="7751" y="4915"/>
                  </a:cubicBezTo>
                  <a:cubicBezTo>
                    <a:pt x="7688" y="4868"/>
                    <a:pt x="7601" y="4844"/>
                    <a:pt x="7515" y="4844"/>
                  </a:cubicBezTo>
                  <a:cubicBezTo>
                    <a:pt x="7428" y="4844"/>
                    <a:pt x="7341" y="4868"/>
                    <a:pt x="7278" y="4915"/>
                  </a:cubicBezTo>
                  <a:cubicBezTo>
                    <a:pt x="6753" y="5440"/>
                    <a:pt x="6334" y="5677"/>
                    <a:pt x="5884" y="5677"/>
                  </a:cubicBezTo>
                  <a:cubicBezTo>
                    <a:pt x="5686" y="5677"/>
                    <a:pt x="5483" y="5631"/>
                    <a:pt x="5262" y="5545"/>
                  </a:cubicBezTo>
                  <a:cubicBezTo>
                    <a:pt x="5229" y="5535"/>
                    <a:pt x="5195" y="5531"/>
                    <a:pt x="5161" y="5531"/>
                  </a:cubicBezTo>
                  <a:cubicBezTo>
                    <a:pt x="4971" y="5531"/>
                    <a:pt x="4789" y="5673"/>
                    <a:pt x="4789" y="5860"/>
                  </a:cubicBezTo>
                  <a:lnTo>
                    <a:pt x="4789" y="8160"/>
                  </a:lnTo>
                  <a:cubicBezTo>
                    <a:pt x="4789" y="8443"/>
                    <a:pt x="4821" y="8664"/>
                    <a:pt x="4884" y="8947"/>
                  </a:cubicBezTo>
                  <a:lnTo>
                    <a:pt x="1009" y="8947"/>
                  </a:lnTo>
                  <a:cubicBezTo>
                    <a:pt x="820" y="8947"/>
                    <a:pt x="662" y="8790"/>
                    <a:pt x="662" y="8601"/>
                  </a:cubicBezTo>
                  <a:lnTo>
                    <a:pt x="662" y="3403"/>
                  </a:lnTo>
                  <a:close/>
                  <a:moveTo>
                    <a:pt x="7152" y="5923"/>
                  </a:moveTo>
                  <a:lnTo>
                    <a:pt x="7152" y="10838"/>
                  </a:lnTo>
                  <a:cubicBezTo>
                    <a:pt x="6144" y="10365"/>
                    <a:pt x="5451" y="9357"/>
                    <a:pt x="5451" y="8160"/>
                  </a:cubicBezTo>
                  <a:lnTo>
                    <a:pt x="5451" y="6301"/>
                  </a:lnTo>
                  <a:cubicBezTo>
                    <a:pt x="5604" y="6330"/>
                    <a:pt x="5750" y="6344"/>
                    <a:pt x="5891" y="6344"/>
                  </a:cubicBezTo>
                  <a:cubicBezTo>
                    <a:pt x="6359" y="6344"/>
                    <a:pt x="6765" y="6189"/>
                    <a:pt x="7152" y="5923"/>
                  </a:cubicBezTo>
                  <a:close/>
                  <a:moveTo>
                    <a:pt x="7877" y="5923"/>
                  </a:moveTo>
                  <a:cubicBezTo>
                    <a:pt x="8242" y="6166"/>
                    <a:pt x="8644" y="6353"/>
                    <a:pt x="9128" y="6353"/>
                  </a:cubicBezTo>
                  <a:cubicBezTo>
                    <a:pt x="9271" y="6353"/>
                    <a:pt x="9420" y="6337"/>
                    <a:pt x="9578" y="6301"/>
                  </a:cubicBezTo>
                  <a:lnTo>
                    <a:pt x="9578" y="8160"/>
                  </a:lnTo>
                  <a:cubicBezTo>
                    <a:pt x="9547" y="9357"/>
                    <a:pt x="8885" y="10365"/>
                    <a:pt x="7877" y="10838"/>
                  </a:cubicBezTo>
                  <a:lnTo>
                    <a:pt x="7877" y="5923"/>
                  </a:lnTo>
                  <a:close/>
                  <a:moveTo>
                    <a:pt x="1009" y="0"/>
                  </a:moveTo>
                  <a:cubicBezTo>
                    <a:pt x="473" y="0"/>
                    <a:pt x="1" y="473"/>
                    <a:pt x="1" y="1040"/>
                  </a:cubicBezTo>
                  <a:lnTo>
                    <a:pt x="1" y="8601"/>
                  </a:lnTo>
                  <a:cubicBezTo>
                    <a:pt x="1" y="9136"/>
                    <a:pt x="473" y="9609"/>
                    <a:pt x="1009" y="9609"/>
                  </a:cubicBezTo>
                  <a:lnTo>
                    <a:pt x="5073" y="9609"/>
                  </a:lnTo>
                  <a:cubicBezTo>
                    <a:pt x="5199" y="9893"/>
                    <a:pt x="5357" y="10145"/>
                    <a:pt x="5514" y="10365"/>
                  </a:cubicBezTo>
                  <a:cubicBezTo>
                    <a:pt x="5987" y="10995"/>
                    <a:pt x="6617" y="11436"/>
                    <a:pt x="7404" y="11657"/>
                  </a:cubicBezTo>
                  <a:cubicBezTo>
                    <a:pt x="7446" y="11657"/>
                    <a:pt x="7488" y="11685"/>
                    <a:pt x="7530" y="11685"/>
                  </a:cubicBezTo>
                  <a:cubicBezTo>
                    <a:pt x="7551" y="11685"/>
                    <a:pt x="7572" y="11678"/>
                    <a:pt x="7593" y="11657"/>
                  </a:cubicBezTo>
                  <a:cubicBezTo>
                    <a:pt x="8350" y="11436"/>
                    <a:pt x="9011" y="10995"/>
                    <a:pt x="9484" y="10365"/>
                  </a:cubicBezTo>
                  <a:cubicBezTo>
                    <a:pt x="9641" y="10145"/>
                    <a:pt x="9799" y="9893"/>
                    <a:pt x="9925" y="9609"/>
                  </a:cubicBezTo>
                  <a:lnTo>
                    <a:pt x="10618" y="9609"/>
                  </a:lnTo>
                  <a:cubicBezTo>
                    <a:pt x="11185" y="9609"/>
                    <a:pt x="11658" y="9136"/>
                    <a:pt x="11658" y="8601"/>
                  </a:cubicBezTo>
                  <a:lnTo>
                    <a:pt x="11658" y="1040"/>
                  </a:lnTo>
                  <a:cubicBezTo>
                    <a:pt x="11658" y="473"/>
                    <a:pt x="11217" y="0"/>
                    <a:pt x="10618"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Slidesgo vector icon"/>
            <p:cNvSpPr/>
            <p:nvPr/>
          </p:nvSpPr>
          <p:spPr>
            <a:xfrm>
              <a:off x="-3104575" y="2442800"/>
              <a:ext cx="18150" cy="17350"/>
            </a:xfrm>
            <a:custGeom>
              <a:avLst/>
              <a:gdLst/>
              <a:ahLst/>
              <a:cxnLst/>
              <a:rect l="l" t="t" r="r" b="b"/>
              <a:pathLst>
                <a:path w="726" h="694" extrusionOk="0">
                  <a:moveTo>
                    <a:pt x="348" y="1"/>
                  </a:moveTo>
                  <a:cubicBezTo>
                    <a:pt x="158" y="1"/>
                    <a:pt x="1" y="158"/>
                    <a:pt x="1" y="347"/>
                  </a:cubicBezTo>
                  <a:cubicBezTo>
                    <a:pt x="1" y="536"/>
                    <a:pt x="158" y="694"/>
                    <a:pt x="348" y="694"/>
                  </a:cubicBezTo>
                  <a:cubicBezTo>
                    <a:pt x="568" y="694"/>
                    <a:pt x="726" y="536"/>
                    <a:pt x="726" y="347"/>
                  </a:cubicBezTo>
                  <a:cubicBezTo>
                    <a:pt x="726" y="158"/>
                    <a:pt x="568" y="1"/>
                    <a:pt x="34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Slidesgo vector icon"/>
            <p:cNvSpPr/>
            <p:nvPr/>
          </p:nvSpPr>
          <p:spPr>
            <a:xfrm>
              <a:off x="-306990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Slidesgo vector icon"/>
            <p:cNvSpPr/>
            <p:nvPr/>
          </p:nvSpPr>
          <p:spPr>
            <a:xfrm>
              <a:off x="-303525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Slidesgo vector icon"/>
            <p:cNvSpPr/>
            <p:nvPr/>
          </p:nvSpPr>
          <p:spPr>
            <a:xfrm>
              <a:off x="-3002175" y="2442800"/>
              <a:ext cx="120525" cy="17350"/>
            </a:xfrm>
            <a:custGeom>
              <a:avLst/>
              <a:gdLst/>
              <a:ahLst/>
              <a:cxnLst/>
              <a:rect l="l" t="t" r="r" b="b"/>
              <a:pathLst>
                <a:path w="4821" h="694" extrusionOk="0">
                  <a:moveTo>
                    <a:pt x="347" y="1"/>
                  </a:moveTo>
                  <a:cubicBezTo>
                    <a:pt x="158" y="1"/>
                    <a:pt x="1" y="158"/>
                    <a:pt x="1" y="347"/>
                  </a:cubicBezTo>
                  <a:cubicBezTo>
                    <a:pt x="32" y="536"/>
                    <a:pt x="190" y="694"/>
                    <a:pt x="347" y="694"/>
                  </a:cubicBezTo>
                  <a:lnTo>
                    <a:pt x="4443" y="694"/>
                  </a:lnTo>
                  <a:cubicBezTo>
                    <a:pt x="4663" y="694"/>
                    <a:pt x="4821" y="536"/>
                    <a:pt x="4821" y="347"/>
                  </a:cubicBezTo>
                  <a:cubicBezTo>
                    <a:pt x="4821" y="158"/>
                    <a:pt x="4663" y="1"/>
                    <a:pt x="444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 name="Text"/>
          <p:cNvSpPr txBox="1"/>
          <p:nvPr/>
        </p:nvSpPr>
        <p:spPr>
          <a:xfrm>
            <a:off x="3381375" y="1809750"/>
            <a:ext cx="2476500" cy="709612"/>
          </a:xfrm>
          <a:prstGeom prst="rect">
            <a:avLst/>
          </a:prstGeom>
          <a:noFill/>
          <a:ln w="9525">
            <a:noFill/>
          </a:ln>
        </p:spPr>
        <p:txBody>
          <a:bodyPr wrap="none" lIns="0" tIns="0" rIns="0" bIns="0" anchor="t">
            <a:noAutofit/>
          </a:bodyPr>
          <a:lstStyle/>
          <a:p>
            <a:pPr marL="0" indent="0" algn="l">
              <a:lnSpc>
                <a:spcPts val="2719"/>
              </a:lnSpc>
              <a:spcAft>
                <a:spcPts val="0"/>
              </a:spcAft>
              <a:buNone/>
            </a:pPr>
            <a:r>
              <a:rPr lang="en-US" sz="2175" b="1">
                <a:solidFill>
                  <a:srgbClr val="435D74"/>
                </a:solidFill>
                <a:latin typeface="Fira Sans Extra Condensed"/>
                <a:ea typeface="Fira Sans Extra Condensed"/>
                <a:cs typeface="Fira Sans Extra Condensed"/>
              </a:rPr>
              <a:t>Constraint</a:t>
            </a:r>
            <a:endParaRPr lang="en-US" sz="2175"/>
          </a:p>
          <a:p>
            <a:pPr marL="0" indent="0" algn="l">
              <a:lnSpc>
                <a:spcPts val="2719"/>
              </a:lnSpc>
              <a:spcAft>
                <a:spcPts val="0"/>
              </a:spcAft>
              <a:buNone/>
            </a:pPr>
            <a:r>
              <a:rPr lang="en-US" sz="2175" b="1">
                <a:solidFill>
                  <a:srgbClr val="435D74"/>
                </a:solidFill>
                <a:latin typeface="Fira Sans Extra Condensed"/>
                <a:ea typeface="Fira Sans Extra Condensed"/>
                <a:cs typeface="Fira Sans Extra Condensed"/>
              </a:rPr>
              <a:t>programming</a:t>
            </a:r>
            <a:endParaRPr lang="en-US" sz="2175"/>
          </a:p>
        </p:txBody>
      </p:sp>
      <p:sp>
        <p:nvSpPr>
          <p:cNvPr id="22" name="Text"/>
          <p:cNvSpPr txBox="1"/>
          <p:nvPr/>
        </p:nvSpPr>
        <p:spPr>
          <a:xfrm>
            <a:off x="3381375" y="2714625"/>
            <a:ext cx="2476500" cy="809625"/>
          </a:xfrm>
          <a:prstGeom prst="rect">
            <a:avLst/>
          </a:prstGeom>
          <a:noFill/>
          <a:ln w="9525">
            <a:noFill/>
          </a:ln>
        </p:spPr>
        <p:txBody>
          <a:bodyPr wrap="none" lIns="0" tIns="0" rIns="0" bIns="0" anchor="t">
            <a:noAutofit/>
          </a:bodyPr>
          <a:lstStyle/>
          <a:p>
            <a:pPr marL="0" indent="0" algn="l">
              <a:lnSpc>
                <a:spcPts val="1781"/>
              </a:lnSpc>
              <a:spcAft>
                <a:spcPts val="0"/>
              </a:spcAft>
              <a:buNone/>
            </a:pPr>
            <a:r>
              <a:rPr lang="en-US" sz="1425" b="0">
                <a:solidFill>
                  <a:srgbClr val="435D74"/>
                </a:solidFill>
                <a:latin typeface="Roboto"/>
                <a:ea typeface="Roboto"/>
                <a:cs typeface="Roboto"/>
              </a:rPr>
              <a:t>Finds a plan that follows</a:t>
            </a:r>
            <a:endParaRPr lang="en-US" sz="1425"/>
          </a:p>
          <a:p>
            <a:pPr marL="0" indent="0" algn="l">
              <a:lnSpc>
                <a:spcPts val="1781"/>
              </a:lnSpc>
              <a:spcAft>
                <a:spcPts val="0"/>
              </a:spcAft>
              <a:buNone/>
            </a:pPr>
            <a:r>
              <a:rPr lang="en-US" sz="1425" b="0">
                <a:solidFill>
                  <a:srgbClr val="435D74"/>
                </a:solidFill>
                <a:latin typeface="Roboto"/>
                <a:ea typeface="Roboto"/>
                <a:cs typeface="Roboto"/>
              </a:rPr>
              <a:t>detailed rules.</a:t>
            </a:r>
            <a:endParaRPr lang="en-US" sz="1425"/>
          </a:p>
        </p:txBody>
      </p:sp>
      <p:sp>
        <p:nvSpPr>
          <p:cNvPr id="23" name="Text"/>
          <p:cNvSpPr txBox="1"/>
          <p:nvPr/>
        </p:nvSpPr>
        <p:spPr>
          <a:xfrm>
            <a:off x="6267450" y="1190625"/>
            <a:ext cx="523875" cy="523875"/>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03</a:t>
            </a:r>
            <a:endParaRPr lang="en-US" sz="3150"/>
          </a:p>
        </p:txBody>
      </p:sp>
      <p:grpSp>
        <p:nvGrpSpPr>
          <p:cNvPr id="24" name="Slidesgo vector icon"/>
          <p:cNvGrpSpPr/>
          <p:nvPr/>
        </p:nvGrpSpPr>
        <p:grpSpPr>
          <a:xfrm>
            <a:off x="8220075" y="1219200"/>
            <a:ext cx="333375" cy="334261"/>
            <a:chOff x="-1333200" y="2770450"/>
            <a:chExt cx="291450" cy="292225"/>
          </a:xfrm>
        </p:grpSpPr>
        <p:sp>
          <p:nvSpPr>
            <p:cNvPr id="25" name="Slidesgo vector icon"/>
            <p:cNvSpPr/>
            <p:nvPr/>
          </p:nvSpPr>
          <p:spPr>
            <a:xfrm>
              <a:off x="-1299325" y="2808250"/>
              <a:ext cx="222925" cy="134725"/>
            </a:xfrm>
            <a:custGeom>
              <a:avLst/>
              <a:gdLst/>
              <a:ahLst/>
              <a:cxnLst/>
              <a:rect l="l" t="t" r="r" b="b"/>
              <a:pathLst>
                <a:path w="8917" h="5389" extrusionOk="0">
                  <a:moveTo>
                    <a:pt x="7877" y="631"/>
                  </a:moveTo>
                  <a:cubicBezTo>
                    <a:pt x="8066" y="631"/>
                    <a:pt x="8223" y="789"/>
                    <a:pt x="8223" y="978"/>
                  </a:cubicBezTo>
                  <a:cubicBezTo>
                    <a:pt x="8223" y="1167"/>
                    <a:pt x="8066" y="1324"/>
                    <a:pt x="7877" y="1324"/>
                  </a:cubicBezTo>
                  <a:cubicBezTo>
                    <a:pt x="7656" y="1324"/>
                    <a:pt x="7498" y="1167"/>
                    <a:pt x="7498" y="978"/>
                  </a:cubicBezTo>
                  <a:cubicBezTo>
                    <a:pt x="7498" y="789"/>
                    <a:pt x="7656" y="631"/>
                    <a:pt x="7877" y="631"/>
                  </a:cubicBezTo>
                  <a:close/>
                  <a:moveTo>
                    <a:pt x="3056" y="1293"/>
                  </a:moveTo>
                  <a:cubicBezTo>
                    <a:pt x="3245" y="1293"/>
                    <a:pt x="3403" y="1450"/>
                    <a:pt x="3403" y="1639"/>
                  </a:cubicBezTo>
                  <a:cubicBezTo>
                    <a:pt x="3403" y="1828"/>
                    <a:pt x="3245" y="1986"/>
                    <a:pt x="3056" y="1986"/>
                  </a:cubicBezTo>
                  <a:cubicBezTo>
                    <a:pt x="2867" y="1986"/>
                    <a:pt x="2710" y="1828"/>
                    <a:pt x="2710" y="1639"/>
                  </a:cubicBezTo>
                  <a:cubicBezTo>
                    <a:pt x="2741" y="1450"/>
                    <a:pt x="2899" y="1293"/>
                    <a:pt x="3056" y="1293"/>
                  </a:cubicBezTo>
                  <a:close/>
                  <a:moveTo>
                    <a:pt x="5797" y="3340"/>
                  </a:moveTo>
                  <a:cubicBezTo>
                    <a:pt x="6018" y="3340"/>
                    <a:pt x="6175" y="3498"/>
                    <a:pt x="6175" y="3687"/>
                  </a:cubicBezTo>
                  <a:cubicBezTo>
                    <a:pt x="6175" y="3876"/>
                    <a:pt x="6018" y="4034"/>
                    <a:pt x="5797" y="4034"/>
                  </a:cubicBezTo>
                  <a:cubicBezTo>
                    <a:pt x="5608" y="4034"/>
                    <a:pt x="5451" y="3876"/>
                    <a:pt x="5451" y="3687"/>
                  </a:cubicBezTo>
                  <a:cubicBezTo>
                    <a:pt x="5451" y="3498"/>
                    <a:pt x="5608" y="3340"/>
                    <a:pt x="5797" y="3340"/>
                  </a:cubicBezTo>
                  <a:close/>
                  <a:moveTo>
                    <a:pt x="1008" y="4034"/>
                  </a:moveTo>
                  <a:cubicBezTo>
                    <a:pt x="1198" y="4034"/>
                    <a:pt x="1355" y="4191"/>
                    <a:pt x="1355" y="4412"/>
                  </a:cubicBezTo>
                  <a:cubicBezTo>
                    <a:pt x="1355" y="4601"/>
                    <a:pt x="1198" y="4758"/>
                    <a:pt x="1008" y="4758"/>
                  </a:cubicBezTo>
                  <a:cubicBezTo>
                    <a:pt x="819" y="4758"/>
                    <a:pt x="662" y="4601"/>
                    <a:pt x="662" y="4412"/>
                  </a:cubicBezTo>
                  <a:cubicBezTo>
                    <a:pt x="662" y="4191"/>
                    <a:pt x="819" y="4034"/>
                    <a:pt x="1008" y="4034"/>
                  </a:cubicBezTo>
                  <a:close/>
                  <a:moveTo>
                    <a:pt x="7908" y="1"/>
                  </a:moveTo>
                  <a:cubicBezTo>
                    <a:pt x="7341" y="1"/>
                    <a:pt x="6868" y="474"/>
                    <a:pt x="6868" y="1009"/>
                  </a:cubicBezTo>
                  <a:cubicBezTo>
                    <a:pt x="6868" y="1198"/>
                    <a:pt x="6963" y="1419"/>
                    <a:pt x="7026" y="1576"/>
                  </a:cubicBezTo>
                  <a:lnTo>
                    <a:pt x="6112" y="2742"/>
                  </a:lnTo>
                  <a:cubicBezTo>
                    <a:pt x="6032" y="2722"/>
                    <a:pt x="5943" y="2711"/>
                    <a:pt x="5850" y="2711"/>
                  </a:cubicBezTo>
                  <a:cubicBezTo>
                    <a:pt x="5650" y="2711"/>
                    <a:pt x="5434" y="2760"/>
                    <a:pt x="5262" y="2868"/>
                  </a:cubicBezTo>
                  <a:lnTo>
                    <a:pt x="4096" y="1954"/>
                  </a:lnTo>
                  <a:cubicBezTo>
                    <a:pt x="4127" y="1891"/>
                    <a:pt x="4127" y="1765"/>
                    <a:pt x="4127" y="1639"/>
                  </a:cubicBezTo>
                  <a:cubicBezTo>
                    <a:pt x="4127" y="1104"/>
                    <a:pt x="3655" y="631"/>
                    <a:pt x="3088" y="631"/>
                  </a:cubicBezTo>
                  <a:cubicBezTo>
                    <a:pt x="2552" y="631"/>
                    <a:pt x="2080" y="1104"/>
                    <a:pt x="2080" y="1639"/>
                  </a:cubicBezTo>
                  <a:cubicBezTo>
                    <a:pt x="2080" y="1828"/>
                    <a:pt x="2143" y="2049"/>
                    <a:pt x="2237" y="2206"/>
                  </a:cubicBezTo>
                  <a:lnTo>
                    <a:pt x="1324" y="3372"/>
                  </a:lnTo>
                  <a:cubicBezTo>
                    <a:pt x="1261" y="3340"/>
                    <a:pt x="1134" y="3340"/>
                    <a:pt x="1008" y="3340"/>
                  </a:cubicBezTo>
                  <a:cubicBezTo>
                    <a:pt x="441" y="3340"/>
                    <a:pt x="0" y="3813"/>
                    <a:pt x="0" y="4349"/>
                  </a:cubicBezTo>
                  <a:cubicBezTo>
                    <a:pt x="0" y="4947"/>
                    <a:pt x="441" y="5388"/>
                    <a:pt x="1008" y="5388"/>
                  </a:cubicBezTo>
                  <a:cubicBezTo>
                    <a:pt x="1576" y="5388"/>
                    <a:pt x="2017" y="4916"/>
                    <a:pt x="2017" y="4349"/>
                  </a:cubicBezTo>
                  <a:cubicBezTo>
                    <a:pt x="2017" y="4160"/>
                    <a:pt x="1954" y="3971"/>
                    <a:pt x="1859" y="3813"/>
                  </a:cubicBezTo>
                  <a:lnTo>
                    <a:pt x="2773" y="2616"/>
                  </a:lnTo>
                  <a:cubicBezTo>
                    <a:pt x="2875" y="2650"/>
                    <a:pt x="2980" y="2667"/>
                    <a:pt x="3087" y="2667"/>
                  </a:cubicBezTo>
                  <a:cubicBezTo>
                    <a:pt x="3278" y="2667"/>
                    <a:pt x="3473" y="2611"/>
                    <a:pt x="3655" y="2490"/>
                  </a:cubicBezTo>
                  <a:lnTo>
                    <a:pt x="4821" y="3403"/>
                  </a:lnTo>
                  <a:cubicBezTo>
                    <a:pt x="4789" y="3498"/>
                    <a:pt x="4789" y="3624"/>
                    <a:pt x="4789" y="3719"/>
                  </a:cubicBezTo>
                  <a:cubicBezTo>
                    <a:pt x="4789" y="4286"/>
                    <a:pt x="5262" y="4758"/>
                    <a:pt x="5797" y="4758"/>
                  </a:cubicBezTo>
                  <a:cubicBezTo>
                    <a:pt x="6364" y="4758"/>
                    <a:pt x="6837" y="4286"/>
                    <a:pt x="6837" y="3719"/>
                  </a:cubicBezTo>
                  <a:cubicBezTo>
                    <a:pt x="6837" y="3529"/>
                    <a:pt x="6742" y="3340"/>
                    <a:pt x="6679" y="3183"/>
                  </a:cubicBezTo>
                  <a:lnTo>
                    <a:pt x="7593" y="1986"/>
                  </a:lnTo>
                  <a:cubicBezTo>
                    <a:pt x="7656" y="2049"/>
                    <a:pt x="7782" y="2049"/>
                    <a:pt x="7908" y="2049"/>
                  </a:cubicBezTo>
                  <a:cubicBezTo>
                    <a:pt x="8444" y="2049"/>
                    <a:pt x="8916" y="1576"/>
                    <a:pt x="8916" y="1009"/>
                  </a:cubicBezTo>
                  <a:cubicBezTo>
                    <a:pt x="8916" y="474"/>
                    <a:pt x="8444" y="1"/>
                    <a:pt x="790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Slidesgo vector icon"/>
            <p:cNvSpPr/>
            <p:nvPr/>
          </p:nvSpPr>
          <p:spPr>
            <a:xfrm>
              <a:off x="-1333200" y="2770450"/>
              <a:ext cx="291450" cy="292225"/>
            </a:xfrm>
            <a:custGeom>
              <a:avLst/>
              <a:gdLst/>
              <a:ahLst/>
              <a:cxnLst/>
              <a:rect l="l" t="t" r="r" b="b"/>
              <a:pathLst>
                <a:path w="11658" h="11689" extrusionOk="0">
                  <a:moveTo>
                    <a:pt x="10586" y="725"/>
                  </a:moveTo>
                  <a:cubicBezTo>
                    <a:pt x="10807" y="725"/>
                    <a:pt x="10964" y="883"/>
                    <a:pt x="10964" y="1072"/>
                  </a:cubicBezTo>
                  <a:lnTo>
                    <a:pt x="10964" y="7593"/>
                  </a:lnTo>
                  <a:lnTo>
                    <a:pt x="631" y="7593"/>
                  </a:lnTo>
                  <a:lnTo>
                    <a:pt x="631" y="1072"/>
                  </a:lnTo>
                  <a:cubicBezTo>
                    <a:pt x="662" y="883"/>
                    <a:pt x="820" y="725"/>
                    <a:pt x="977" y="725"/>
                  </a:cubicBezTo>
                  <a:close/>
                  <a:moveTo>
                    <a:pt x="10996" y="8286"/>
                  </a:moveTo>
                  <a:lnTo>
                    <a:pt x="10996" y="8633"/>
                  </a:lnTo>
                  <a:cubicBezTo>
                    <a:pt x="10996" y="8822"/>
                    <a:pt x="10838" y="8980"/>
                    <a:pt x="10618" y="8980"/>
                  </a:cubicBezTo>
                  <a:lnTo>
                    <a:pt x="1009" y="8980"/>
                  </a:lnTo>
                  <a:cubicBezTo>
                    <a:pt x="820" y="8980"/>
                    <a:pt x="662" y="8822"/>
                    <a:pt x="662" y="8633"/>
                  </a:cubicBezTo>
                  <a:lnTo>
                    <a:pt x="662" y="8286"/>
                  </a:lnTo>
                  <a:close/>
                  <a:moveTo>
                    <a:pt x="6617" y="9641"/>
                  </a:moveTo>
                  <a:lnTo>
                    <a:pt x="6932" y="11027"/>
                  </a:lnTo>
                  <a:lnTo>
                    <a:pt x="4632" y="11027"/>
                  </a:lnTo>
                  <a:lnTo>
                    <a:pt x="4947" y="9641"/>
                  </a:lnTo>
                  <a:close/>
                  <a:moveTo>
                    <a:pt x="1009" y="1"/>
                  </a:moveTo>
                  <a:cubicBezTo>
                    <a:pt x="473" y="1"/>
                    <a:pt x="1" y="473"/>
                    <a:pt x="1" y="1040"/>
                  </a:cubicBezTo>
                  <a:lnTo>
                    <a:pt x="1" y="8570"/>
                  </a:lnTo>
                  <a:cubicBezTo>
                    <a:pt x="1" y="9137"/>
                    <a:pt x="473" y="9610"/>
                    <a:pt x="1009" y="9610"/>
                  </a:cubicBezTo>
                  <a:lnTo>
                    <a:pt x="4285" y="9610"/>
                  </a:lnTo>
                  <a:lnTo>
                    <a:pt x="3970" y="10996"/>
                  </a:lnTo>
                  <a:lnTo>
                    <a:pt x="3057" y="10996"/>
                  </a:lnTo>
                  <a:cubicBezTo>
                    <a:pt x="2868" y="10996"/>
                    <a:pt x="2710" y="11153"/>
                    <a:pt x="2710" y="11342"/>
                  </a:cubicBezTo>
                  <a:cubicBezTo>
                    <a:pt x="2710" y="11531"/>
                    <a:pt x="2868" y="11689"/>
                    <a:pt x="3057" y="11689"/>
                  </a:cubicBezTo>
                  <a:lnTo>
                    <a:pt x="8538" y="11689"/>
                  </a:lnTo>
                  <a:cubicBezTo>
                    <a:pt x="8727" y="11689"/>
                    <a:pt x="8885" y="11531"/>
                    <a:pt x="8885" y="11342"/>
                  </a:cubicBezTo>
                  <a:cubicBezTo>
                    <a:pt x="8885" y="11153"/>
                    <a:pt x="8727" y="10996"/>
                    <a:pt x="8538" y="10996"/>
                  </a:cubicBezTo>
                  <a:lnTo>
                    <a:pt x="7625" y="10996"/>
                  </a:lnTo>
                  <a:lnTo>
                    <a:pt x="7310" y="9610"/>
                  </a:lnTo>
                  <a:lnTo>
                    <a:pt x="10618" y="9610"/>
                  </a:lnTo>
                  <a:cubicBezTo>
                    <a:pt x="11185" y="9610"/>
                    <a:pt x="11657" y="9137"/>
                    <a:pt x="11657" y="8570"/>
                  </a:cubicBezTo>
                  <a:lnTo>
                    <a:pt x="11657" y="1040"/>
                  </a:lnTo>
                  <a:cubicBezTo>
                    <a:pt x="11657" y="473"/>
                    <a:pt x="11185" y="1"/>
                    <a:pt x="1061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7" name="Text"/>
          <p:cNvSpPr txBox="1"/>
          <p:nvPr/>
        </p:nvSpPr>
        <p:spPr>
          <a:xfrm>
            <a:off x="6267450" y="1809750"/>
            <a:ext cx="2381250" cy="523875"/>
          </a:xfrm>
          <a:prstGeom prst="rect">
            <a:avLst/>
          </a:prstGeom>
          <a:noFill/>
          <a:ln w="9525">
            <a:noFill/>
          </a:ln>
        </p:spPr>
        <p:txBody>
          <a:bodyPr wrap="none" lIns="0" tIns="0" rIns="0" bIns="0" anchor="t">
            <a:noAutofit/>
          </a:bodyPr>
          <a:lstStyle/>
          <a:p>
            <a:pPr marL="0" indent="0" algn="l">
              <a:lnSpc>
                <a:spcPts val="2719"/>
              </a:lnSpc>
              <a:spcAft>
                <a:spcPts val="0"/>
              </a:spcAft>
              <a:buNone/>
            </a:pPr>
            <a:r>
              <a:rPr lang="en-US" sz="2175" b="1">
                <a:solidFill>
                  <a:srgbClr val="435D74"/>
                </a:solidFill>
                <a:latin typeface="Fira Sans Extra Condensed"/>
                <a:ea typeface="Fira Sans Extra Condensed"/>
                <a:cs typeface="Fira Sans Extra Condensed"/>
              </a:rPr>
              <a:t>Simulation</a:t>
            </a:r>
            <a:endParaRPr lang="en-US" sz="2175"/>
          </a:p>
        </p:txBody>
      </p:sp>
      <p:sp>
        <p:nvSpPr>
          <p:cNvPr id="28" name="Text"/>
          <p:cNvSpPr txBox="1"/>
          <p:nvPr/>
        </p:nvSpPr>
        <p:spPr>
          <a:xfrm>
            <a:off x="6267450" y="2714625"/>
            <a:ext cx="2381250" cy="809625"/>
          </a:xfrm>
          <a:prstGeom prst="rect">
            <a:avLst/>
          </a:prstGeom>
          <a:noFill/>
          <a:ln w="9525">
            <a:noFill/>
          </a:ln>
        </p:spPr>
        <p:txBody>
          <a:bodyPr wrap="none" lIns="0" tIns="0" rIns="0" bIns="0" anchor="t">
            <a:noAutofit/>
          </a:bodyPr>
          <a:lstStyle/>
          <a:p>
            <a:pPr marL="0" indent="0" algn="l">
              <a:lnSpc>
                <a:spcPts val="1781"/>
              </a:lnSpc>
              <a:spcAft>
                <a:spcPts val="0"/>
              </a:spcAft>
              <a:buNone/>
            </a:pPr>
            <a:r>
              <a:rPr lang="en-US" sz="1425" b="0">
                <a:solidFill>
                  <a:srgbClr val="435D74"/>
                </a:solidFill>
                <a:latin typeface="Roboto"/>
                <a:ea typeface="Roboto"/>
                <a:cs typeface="Roboto"/>
              </a:rPr>
              <a:t>Tests possible results when</a:t>
            </a:r>
            <a:endParaRPr lang="en-US" sz="1425"/>
          </a:p>
          <a:p>
            <a:pPr marL="0" indent="0" algn="l">
              <a:lnSpc>
                <a:spcPts val="1781"/>
              </a:lnSpc>
              <a:spcAft>
                <a:spcPts val="0"/>
              </a:spcAft>
              <a:buNone/>
            </a:pPr>
            <a:r>
              <a:rPr lang="en-US" sz="1425" b="0">
                <a:solidFill>
                  <a:srgbClr val="435D74"/>
                </a:solidFill>
                <a:latin typeface="Roboto"/>
                <a:ea typeface="Roboto"/>
                <a:cs typeface="Roboto"/>
              </a:rPr>
              <a:t>conditions change.</a:t>
            </a:r>
            <a:endParaRPr lang="en-US" sz="1425"/>
          </a:p>
        </p:txBody>
      </p:sp>
      <p:cxnSp>
        <p:nvCxnSpPr>
          <p:cNvPr id="29" name="Connector"/>
          <p:cNvCxnSpPr/>
          <p:nvPr/>
        </p:nvCxnSpPr>
        <p:spPr>
          <a:xfrm>
            <a:off x="3143250" y="1209675"/>
            <a:ext cx="95" cy="2800350"/>
          </a:xfrm>
          <a:prstGeom prst="line">
            <a:avLst/>
          </a:prstGeom>
          <a:ln w="9525">
            <a:solidFill>
              <a:srgbClr val="D8E2E8"/>
            </a:solidFill>
          </a:ln>
        </p:spPr>
      </p:cxnSp>
      <p:cxnSp>
        <p:nvCxnSpPr>
          <p:cNvPr id="30" name="Connector"/>
          <p:cNvCxnSpPr/>
          <p:nvPr/>
        </p:nvCxnSpPr>
        <p:spPr>
          <a:xfrm>
            <a:off x="6029325" y="1209675"/>
            <a:ext cx="95" cy="2800350"/>
          </a:xfrm>
          <a:prstGeom prst="line">
            <a:avLst/>
          </a:prstGeom>
          <a:ln w="9525">
            <a:solidFill>
              <a:srgbClr val="D8E2E8"/>
            </a:solidFill>
          </a:ln>
        </p:spPr>
      </p:cxnSp>
      <p:sp>
        <p:nvSpPr>
          <p:cNvPr id="31" name="Text"/>
          <p:cNvSpPr txBox="1"/>
          <p:nvPr/>
        </p:nvSpPr>
        <p:spPr>
          <a:xfrm>
            <a:off x="495300" y="3429000"/>
            <a:ext cx="2476500" cy="5143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1">
                <a:solidFill>
                  <a:srgbClr val="007D8B"/>
                </a:solidFill>
                <a:latin typeface="Roboto"/>
                <a:ea typeface="Roboto"/>
                <a:cs typeface="Roboto"/>
              </a:rPr>
              <a:t>Share limited stock</a:t>
            </a:r>
            <a:endParaRPr lang="en-US" sz="1500"/>
          </a:p>
        </p:txBody>
      </p:sp>
      <p:sp>
        <p:nvSpPr>
          <p:cNvPr id="32" name="Text"/>
          <p:cNvSpPr txBox="1"/>
          <p:nvPr/>
        </p:nvSpPr>
        <p:spPr>
          <a:xfrm>
            <a:off x="3381375" y="3429000"/>
            <a:ext cx="2476500" cy="5143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1">
                <a:solidFill>
                  <a:srgbClr val="007D8B"/>
                </a:solidFill>
                <a:latin typeface="Roboto"/>
                <a:ea typeface="Roboto"/>
                <a:cs typeface="Roboto"/>
              </a:rPr>
              <a:t>Plan working hours</a:t>
            </a:r>
            <a:endParaRPr lang="en-US" sz="1500"/>
          </a:p>
        </p:txBody>
      </p:sp>
      <p:sp>
        <p:nvSpPr>
          <p:cNvPr id="33" name="Text"/>
          <p:cNvSpPr txBox="1"/>
          <p:nvPr/>
        </p:nvSpPr>
        <p:spPr>
          <a:xfrm>
            <a:off x="6267450" y="3429000"/>
            <a:ext cx="2381250" cy="5143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1">
                <a:solidFill>
                  <a:srgbClr val="007D8B"/>
                </a:solidFill>
                <a:latin typeface="Roboto"/>
                <a:ea typeface="Roboto"/>
                <a:cs typeface="Roboto"/>
              </a:rPr>
              <a:t>Compare staff plans</a:t>
            </a:r>
            <a:endParaRPr lang="en-US" sz="1500"/>
          </a:p>
        </p:txBody>
      </p:sp>
      <p:sp>
        <p:nvSpPr>
          <p:cNvPr id="34" name="Panel"/>
          <p:cNvSpPr/>
          <p:nvPr/>
        </p:nvSpPr>
        <p:spPr>
          <a:xfrm>
            <a:off x="495300" y="4219575"/>
            <a:ext cx="8153400" cy="400050"/>
          </a:xfrm>
          <a:prstGeom prst="roundRect">
            <a:avLst>
              <a:gd name="adj" fmla="val 10000"/>
            </a:avLst>
          </a:prstGeom>
          <a:solidFill>
            <a:srgbClr val="F3F6F8"/>
          </a:solidFill>
          <a:ln w="9525">
            <a:noFill/>
          </a:ln>
        </p:spPr>
        <p:txBody>
          <a:bodyPr/>
          <a:lstStyle/>
          <a:p>
            <a:endParaRPr lang="en-US"/>
          </a:p>
        </p:txBody>
      </p:sp>
      <p:sp>
        <p:nvSpPr>
          <p:cNvPr id="35" name="Text"/>
          <p:cNvSpPr txBox="1"/>
          <p:nvPr/>
        </p:nvSpPr>
        <p:spPr>
          <a:xfrm>
            <a:off x="666750" y="4295775"/>
            <a:ext cx="7810500" cy="2952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a:solidFill>
                  <a:srgbClr val="435D74"/>
                </a:solidFill>
                <a:latin typeface="Roboto"/>
                <a:ea typeface="Roboto"/>
                <a:cs typeface="Roboto"/>
              </a:rPr>
              <a:t>Simulation tests plans; a rule or optimization method selects a plan.</a:t>
            </a:r>
            <a:endParaRPr lang="en-US" sz="135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name="What does the model produce?">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What does the model produce?</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algn="r">
              <a:lnSpc>
                <a:spcPts val="1031"/>
              </a:lnSpc>
            </a:pPr>
            <a:r>
              <a:rPr lang="en-US" sz="825" b="0" dirty="0">
                <a:solidFill>
                  <a:srgbClr val="6D8495"/>
                </a:solidFill>
                <a:latin typeface="Roboto"/>
                <a:ea typeface="Roboto"/>
                <a:cs typeface="Roboto"/>
              </a:rPr>
              <a:t>08 </a:t>
            </a:r>
            <a:r>
              <a:rPr lang="en-US" sz="825" dirty="0">
                <a:solidFill>
                  <a:srgbClr val="6D8495"/>
                </a:solidFill>
                <a:latin typeface="Roboto"/>
                <a:ea typeface="Roboto"/>
                <a:cs typeface="Roboto"/>
              </a:rPr>
              <a:t>/ 14</a:t>
            </a:r>
            <a:endParaRPr lang="en-US" sz="825" dirty="0"/>
          </a:p>
        </p:txBody>
      </p:sp>
      <p:sp>
        <p:nvSpPr>
          <p:cNvPr id="7" name="Text"/>
          <p:cNvSpPr txBox="1"/>
          <p:nvPr/>
        </p:nvSpPr>
        <p:spPr>
          <a:xfrm>
            <a:off x="495300" y="1066800"/>
            <a:ext cx="8153400" cy="466725"/>
          </a:xfrm>
          <a:prstGeom prst="rect">
            <a:avLst/>
          </a:prstGeom>
          <a:noFill/>
          <a:ln w="9525">
            <a:noFill/>
          </a:ln>
        </p:spPr>
        <p:txBody>
          <a:bodyPr wrap="none" lIns="0" tIns="0" rIns="0" bIns="0" anchor="t">
            <a:noAutofit/>
          </a:bodyPr>
          <a:lstStyle/>
          <a:p>
            <a:pPr marL="0" indent="0" algn="l">
              <a:lnSpc>
                <a:spcPts val="2906"/>
              </a:lnSpc>
              <a:spcAft>
                <a:spcPts val="0"/>
              </a:spcAft>
              <a:buNone/>
            </a:pPr>
            <a:r>
              <a:rPr lang="en-US" sz="2325" b="1">
                <a:solidFill>
                  <a:srgbClr val="007D8B"/>
                </a:solidFill>
                <a:latin typeface="Fira Sans Extra Condensed"/>
                <a:ea typeface="Fira Sans Extra Condensed"/>
                <a:cs typeface="Fira Sans Extra Condensed"/>
              </a:rPr>
              <a:t>An action the team can use</a:t>
            </a:r>
            <a:endParaRPr lang="en-US" sz="2325"/>
          </a:p>
        </p:txBody>
      </p:sp>
      <p:grpSp>
        <p:nvGrpSpPr>
          <p:cNvPr id="8" name="Slidesgo vector icon"/>
          <p:cNvGrpSpPr/>
          <p:nvPr/>
        </p:nvGrpSpPr>
        <p:grpSpPr>
          <a:xfrm>
            <a:off x="495300" y="1885950"/>
            <a:ext cx="476250" cy="473691"/>
            <a:chOff x="-5635200" y="2037975"/>
            <a:chExt cx="293025" cy="291450"/>
          </a:xfrm>
        </p:grpSpPr>
        <p:sp>
          <p:nvSpPr>
            <p:cNvPr id="9" name="Slidesgo vector icon"/>
            <p:cNvSpPr/>
            <p:nvPr/>
          </p:nvSpPr>
          <p:spPr>
            <a:xfrm>
              <a:off x="-5635200" y="2037975"/>
              <a:ext cx="293025" cy="291450"/>
            </a:xfrm>
            <a:custGeom>
              <a:avLst/>
              <a:gdLst/>
              <a:ahLst/>
              <a:cxnLst/>
              <a:rect l="l" t="t" r="r" b="b"/>
              <a:pathLst>
                <a:path w="11721" h="11658" extrusionOk="0">
                  <a:moveTo>
                    <a:pt x="2395" y="725"/>
                  </a:moveTo>
                  <a:cubicBezTo>
                    <a:pt x="2930" y="725"/>
                    <a:pt x="3403" y="1197"/>
                    <a:pt x="3403" y="1733"/>
                  </a:cubicBezTo>
                  <a:cubicBezTo>
                    <a:pt x="3403" y="2300"/>
                    <a:pt x="2930" y="2773"/>
                    <a:pt x="2395" y="2773"/>
                  </a:cubicBezTo>
                  <a:cubicBezTo>
                    <a:pt x="1828" y="2773"/>
                    <a:pt x="1355" y="2300"/>
                    <a:pt x="1355" y="1733"/>
                  </a:cubicBezTo>
                  <a:cubicBezTo>
                    <a:pt x="1355" y="1197"/>
                    <a:pt x="1828" y="725"/>
                    <a:pt x="2395" y="725"/>
                  </a:cubicBezTo>
                  <a:close/>
                  <a:moveTo>
                    <a:pt x="10303" y="725"/>
                  </a:moveTo>
                  <a:lnTo>
                    <a:pt x="10303" y="6585"/>
                  </a:lnTo>
                  <a:lnTo>
                    <a:pt x="10334" y="6585"/>
                  </a:lnTo>
                  <a:cubicBezTo>
                    <a:pt x="10334" y="6774"/>
                    <a:pt x="10177" y="6931"/>
                    <a:pt x="9988" y="6931"/>
                  </a:cubicBezTo>
                  <a:lnTo>
                    <a:pt x="4789" y="6931"/>
                  </a:lnTo>
                  <a:lnTo>
                    <a:pt x="4789" y="5167"/>
                  </a:lnTo>
                  <a:cubicBezTo>
                    <a:pt x="4789" y="4253"/>
                    <a:pt x="4285" y="3434"/>
                    <a:pt x="3498" y="3025"/>
                  </a:cubicBezTo>
                  <a:cubicBezTo>
                    <a:pt x="3844" y="2710"/>
                    <a:pt x="4096" y="2237"/>
                    <a:pt x="4096" y="1733"/>
                  </a:cubicBezTo>
                  <a:cubicBezTo>
                    <a:pt x="4096" y="1355"/>
                    <a:pt x="3970" y="977"/>
                    <a:pt x="3718" y="725"/>
                  </a:cubicBezTo>
                  <a:close/>
                  <a:moveTo>
                    <a:pt x="2710" y="3466"/>
                  </a:moveTo>
                  <a:cubicBezTo>
                    <a:pt x="3498" y="3623"/>
                    <a:pt x="4096" y="4316"/>
                    <a:pt x="4096" y="5167"/>
                  </a:cubicBezTo>
                  <a:lnTo>
                    <a:pt x="4096" y="7246"/>
                  </a:lnTo>
                  <a:cubicBezTo>
                    <a:pt x="4128" y="7435"/>
                    <a:pt x="3970" y="7593"/>
                    <a:pt x="3750" y="7593"/>
                  </a:cubicBezTo>
                  <a:cubicBezTo>
                    <a:pt x="3561" y="7593"/>
                    <a:pt x="3403" y="7750"/>
                    <a:pt x="3403" y="7971"/>
                  </a:cubicBezTo>
                  <a:lnTo>
                    <a:pt x="3403" y="10712"/>
                  </a:lnTo>
                  <a:cubicBezTo>
                    <a:pt x="3403" y="10901"/>
                    <a:pt x="3246" y="11058"/>
                    <a:pt x="3056" y="11058"/>
                  </a:cubicBezTo>
                  <a:lnTo>
                    <a:pt x="1670" y="11058"/>
                  </a:lnTo>
                  <a:cubicBezTo>
                    <a:pt x="1481" y="11058"/>
                    <a:pt x="1324" y="10901"/>
                    <a:pt x="1324" y="10712"/>
                  </a:cubicBezTo>
                  <a:lnTo>
                    <a:pt x="1324" y="7971"/>
                  </a:lnTo>
                  <a:cubicBezTo>
                    <a:pt x="1324" y="7750"/>
                    <a:pt x="1166" y="7593"/>
                    <a:pt x="977" y="7593"/>
                  </a:cubicBezTo>
                  <a:cubicBezTo>
                    <a:pt x="788" y="7593"/>
                    <a:pt x="631" y="7435"/>
                    <a:pt x="631" y="7246"/>
                  </a:cubicBezTo>
                  <a:lnTo>
                    <a:pt x="631" y="5167"/>
                  </a:lnTo>
                  <a:cubicBezTo>
                    <a:pt x="631" y="4316"/>
                    <a:pt x="1198" y="3623"/>
                    <a:pt x="1985" y="3466"/>
                  </a:cubicBezTo>
                  <a:lnTo>
                    <a:pt x="1985" y="5829"/>
                  </a:lnTo>
                  <a:cubicBezTo>
                    <a:pt x="1985" y="6018"/>
                    <a:pt x="2143" y="6175"/>
                    <a:pt x="2363" y="6175"/>
                  </a:cubicBezTo>
                  <a:cubicBezTo>
                    <a:pt x="2552" y="6175"/>
                    <a:pt x="2710" y="6018"/>
                    <a:pt x="2710" y="5829"/>
                  </a:cubicBezTo>
                  <a:lnTo>
                    <a:pt x="2710" y="3466"/>
                  </a:lnTo>
                  <a:close/>
                  <a:moveTo>
                    <a:pt x="2395" y="0"/>
                  </a:moveTo>
                  <a:cubicBezTo>
                    <a:pt x="1450" y="0"/>
                    <a:pt x="694" y="756"/>
                    <a:pt x="694" y="1702"/>
                  </a:cubicBezTo>
                  <a:cubicBezTo>
                    <a:pt x="694" y="2206"/>
                    <a:pt x="946" y="2678"/>
                    <a:pt x="1292" y="2993"/>
                  </a:cubicBezTo>
                  <a:cubicBezTo>
                    <a:pt x="536" y="3403"/>
                    <a:pt x="1" y="4222"/>
                    <a:pt x="1" y="5136"/>
                  </a:cubicBezTo>
                  <a:lnTo>
                    <a:pt x="1" y="7215"/>
                  </a:lnTo>
                  <a:cubicBezTo>
                    <a:pt x="1" y="7656"/>
                    <a:pt x="253" y="8034"/>
                    <a:pt x="662" y="8192"/>
                  </a:cubicBezTo>
                  <a:lnTo>
                    <a:pt x="662" y="10649"/>
                  </a:lnTo>
                  <a:cubicBezTo>
                    <a:pt x="662" y="11184"/>
                    <a:pt x="1135" y="11657"/>
                    <a:pt x="1670" y="11657"/>
                  </a:cubicBezTo>
                  <a:lnTo>
                    <a:pt x="3056" y="11657"/>
                  </a:lnTo>
                  <a:cubicBezTo>
                    <a:pt x="3624" y="11657"/>
                    <a:pt x="4096" y="11184"/>
                    <a:pt x="4096" y="10649"/>
                  </a:cubicBezTo>
                  <a:lnTo>
                    <a:pt x="4096" y="8192"/>
                  </a:lnTo>
                  <a:cubicBezTo>
                    <a:pt x="4348" y="8065"/>
                    <a:pt x="4600" y="7876"/>
                    <a:pt x="4726" y="7561"/>
                  </a:cubicBezTo>
                  <a:lnTo>
                    <a:pt x="9988" y="7561"/>
                  </a:lnTo>
                  <a:cubicBezTo>
                    <a:pt x="10555" y="7561"/>
                    <a:pt x="11027" y="7089"/>
                    <a:pt x="11027" y="6553"/>
                  </a:cubicBezTo>
                  <a:lnTo>
                    <a:pt x="11027" y="662"/>
                  </a:lnTo>
                  <a:lnTo>
                    <a:pt x="11374" y="662"/>
                  </a:lnTo>
                  <a:cubicBezTo>
                    <a:pt x="11563" y="662"/>
                    <a:pt x="11720" y="504"/>
                    <a:pt x="11720" y="315"/>
                  </a:cubicBezTo>
                  <a:cubicBezTo>
                    <a:pt x="11720" y="158"/>
                    <a:pt x="11563" y="0"/>
                    <a:pt x="11374"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Slidesgo vector icon"/>
            <p:cNvSpPr/>
            <p:nvPr/>
          </p:nvSpPr>
          <p:spPr>
            <a:xfrm>
              <a:off x="-5496575" y="2072625"/>
              <a:ext cx="102425" cy="102425"/>
            </a:xfrm>
            <a:custGeom>
              <a:avLst/>
              <a:gdLst/>
              <a:ahLst/>
              <a:cxnLst/>
              <a:rect l="l" t="t" r="r" b="b"/>
              <a:pathLst>
                <a:path w="4097" h="4097" extrusionOk="0">
                  <a:moveTo>
                    <a:pt x="2395" y="725"/>
                  </a:moveTo>
                  <a:cubicBezTo>
                    <a:pt x="2867" y="851"/>
                    <a:pt x="3245" y="1229"/>
                    <a:pt x="3371" y="1733"/>
                  </a:cubicBezTo>
                  <a:lnTo>
                    <a:pt x="2395" y="1733"/>
                  </a:lnTo>
                  <a:lnTo>
                    <a:pt x="2395" y="725"/>
                  </a:lnTo>
                  <a:close/>
                  <a:moveTo>
                    <a:pt x="1733" y="757"/>
                  </a:moveTo>
                  <a:lnTo>
                    <a:pt x="1733" y="2080"/>
                  </a:lnTo>
                  <a:cubicBezTo>
                    <a:pt x="1733" y="2269"/>
                    <a:pt x="1891" y="2426"/>
                    <a:pt x="2080" y="2426"/>
                  </a:cubicBezTo>
                  <a:lnTo>
                    <a:pt x="3403" y="2426"/>
                  </a:lnTo>
                  <a:cubicBezTo>
                    <a:pt x="3245" y="3025"/>
                    <a:pt x="2741" y="3466"/>
                    <a:pt x="2080" y="3466"/>
                  </a:cubicBezTo>
                  <a:cubicBezTo>
                    <a:pt x="1324" y="3466"/>
                    <a:pt x="693" y="2836"/>
                    <a:pt x="693" y="2080"/>
                  </a:cubicBezTo>
                  <a:cubicBezTo>
                    <a:pt x="693" y="1418"/>
                    <a:pt x="1135" y="851"/>
                    <a:pt x="1733" y="757"/>
                  </a:cubicBezTo>
                  <a:close/>
                  <a:moveTo>
                    <a:pt x="2048" y="0"/>
                  </a:moveTo>
                  <a:cubicBezTo>
                    <a:pt x="883" y="0"/>
                    <a:pt x="0" y="914"/>
                    <a:pt x="0" y="2048"/>
                  </a:cubicBezTo>
                  <a:cubicBezTo>
                    <a:pt x="0" y="3182"/>
                    <a:pt x="946" y="4096"/>
                    <a:pt x="2048" y="4096"/>
                  </a:cubicBezTo>
                  <a:cubicBezTo>
                    <a:pt x="3182" y="4096"/>
                    <a:pt x="4096" y="3182"/>
                    <a:pt x="4096" y="2048"/>
                  </a:cubicBezTo>
                  <a:cubicBezTo>
                    <a:pt x="4096" y="914"/>
                    <a:pt x="3182" y="0"/>
                    <a:pt x="2048"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 name="Text"/>
          <p:cNvSpPr txBox="1"/>
          <p:nvPr/>
        </p:nvSpPr>
        <p:spPr>
          <a:xfrm>
            <a:off x="1209675" y="1866900"/>
            <a:ext cx="3095625" cy="409575"/>
          </a:xfrm>
          <a:prstGeom prst="rect">
            <a:avLst/>
          </a:prstGeom>
          <a:noFill/>
          <a:ln w="9525">
            <a:noFill/>
          </a:ln>
        </p:spPr>
        <p:txBody>
          <a:bodyPr wrap="none" lIns="0" tIns="0" rIns="0" bIns="0" anchor="t">
            <a:noAutofit/>
          </a:bodyPr>
          <a:lstStyle/>
          <a:p>
            <a:pPr marL="0" indent="0" algn="l">
              <a:lnSpc>
                <a:spcPts val="2812"/>
              </a:lnSpc>
              <a:spcAft>
                <a:spcPts val="0"/>
              </a:spcAft>
              <a:buNone/>
            </a:pPr>
            <a:r>
              <a:rPr lang="en-US" sz="2250" b="1">
                <a:solidFill>
                  <a:srgbClr val="435D74"/>
                </a:solidFill>
                <a:latin typeface="Fira Sans Extra Condensed"/>
                <a:ea typeface="Fira Sans Extra Condensed"/>
                <a:cs typeface="Fira Sans Extra Condensed"/>
              </a:rPr>
              <a:t>Work plan</a:t>
            </a:r>
            <a:endParaRPr lang="en-US" sz="2250"/>
          </a:p>
        </p:txBody>
      </p:sp>
      <p:sp>
        <p:nvSpPr>
          <p:cNvPr id="12" name="Text"/>
          <p:cNvSpPr txBox="1"/>
          <p:nvPr/>
        </p:nvSpPr>
        <p:spPr>
          <a:xfrm>
            <a:off x="1209675" y="2390775"/>
            <a:ext cx="3095625" cy="590550"/>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0">
                <a:solidFill>
                  <a:srgbClr val="435D74"/>
                </a:solidFill>
                <a:latin typeface="Roboto"/>
                <a:ea typeface="Roboto"/>
                <a:cs typeface="Roboto"/>
              </a:rPr>
              <a:t>Who works and when</a:t>
            </a:r>
            <a:endParaRPr lang="en-US" sz="1575"/>
          </a:p>
        </p:txBody>
      </p:sp>
      <p:grpSp>
        <p:nvGrpSpPr>
          <p:cNvPr id="13" name="Slidesgo vector icon"/>
          <p:cNvGrpSpPr/>
          <p:nvPr/>
        </p:nvGrpSpPr>
        <p:grpSpPr>
          <a:xfrm>
            <a:off x="4781550" y="1885950"/>
            <a:ext cx="476250" cy="476263"/>
            <a:chOff x="-2571737" y="2403625"/>
            <a:chExt cx="292225" cy="291425"/>
          </a:xfrm>
        </p:grpSpPr>
        <p:sp>
          <p:nvSpPr>
            <p:cNvPr id="14" name="Slidesgo vector icon"/>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Slidesgo vector icon"/>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Slidesgo vector icon"/>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Slidesgo vector icon"/>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Slidesgo vector icon"/>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Slidesgo vector icon"/>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Slidesgo vector icon"/>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 name="Text"/>
          <p:cNvSpPr txBox="1"/>
          <p:nvPr/>
        </p:nvSpPr>
        <p:spPr>
          <a:xfrm>
            <a:off x="5495925" y="1866900"/>
            <a:ext cx="3095625" cy="409575"/>
          </a:xfrm>
          <a:prstGeom prst="rect">
            <a:avLst/>
          </a:prstGeom>
          <a:noFill/>
          <a:ln w="9525">
            <a:noFill/>
          </a:ln>
        </p:spPr>
        <p:txBody>
          <a:bodyPr wrap="none" lIns="0" tIns="0" rIns="0" bIns="0" anchor="t">
            <a:noAutofit/>
          </a:bodyPr>
          <a:lstStyle/>
          <a:p>
            <a:pPr marL="0" indent="0" algn="l">
              <a:lnSpc>
                <a:spcPts val="2812"/>
              </a:lnSpc>
              <a:spcAft>
                <a:spcPts val="0"/>
              </a:spcAft>
              <a:buNone/>
            </a:pPr>
            <a:r>
              <a:rPr lang="en-US" sz="2250" b="1">
                <a:solidFill>
                  <a:srgbClr val="435D74"/>
                </a:solidFill>
                <a:latin typeface="Fira Sans Extra Condensed"/>
                <a:ea typeface="Fira Sans Extra Condensed"/>
                <a:cs typeface="Fira Sans Extra Condensed"/>
              </a:rPr>
              <a:t>Order plan</a:t>
            </a:r>
            <a:endParaRPr lang="en-US" sz="2250"/>
          </a:p>
        </p:txBody>
      </p:sp>
      <p:sp>
        <p:nvSpPr>
          <p:cNvPr id="22" name="Text"/>
          <p:cNvSpPr txBox="1"/>
          <p:nvPr/>
        </p:nvSpPr>
        <p:spPr>
          <a:xfrm>
            <a:off x="5495925" y="2390775"/>
            <a:ext cx="3095625" cy="590550"/>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0">
                <a:solidFill>
                  <a:srgbClr val="435D74"/>
                </a:solidFill>
                <a:latin typeface="Roboto"/>
                <a:ea typeface="Roboto"/>
                <a:cs typeface="Roboto"/>
              </a:rPr>
              <a:t>What to buy and how much</a:t>
            </a:r>
            <a:endParaRPr lang="en-US" sz="1575"/>
          </a:p>
        </p:txBody>
      </p:sp>
      <p:grpSp>
        <p:nvGrpSpPr>
          <p:cNvPr id="23" name="Slidesgo vector icon"/>
          <p:cNvGrpSpPr/>
          <p:nvPr/>
        </p:nvGrpSpPr>
        <p:grpSpPr>
          <a:xfrm>
            <a:off x="495300" y="3162300"/>
            <a:ext cx="476250" cy="466126"/>
            <a:chOff x="-6713450" y="2397900"/>
            <a:chExt cx="295375" cy="291450"/>
          </a:xfrm>
        </p:grpSpPr>
        <p:sp>
          <p:nvSpPr>
            <p:cNvPr id="24" name="Slidesgo vector icon"/>
            <p:cNvSpPr/>
            <p:nvPr/>
          </p:nvSpPr>
          <p:spPr>
            <a:xfrm>
              <a:off x="-6628400" y="2465650"/>
              <a:ext cx="69350" cy="17350"/>
            </a:xfrm>
            <a:custGeom>
              <a:avLst/>
              <a:gdLst/>
              <a:ahLst/>
              <a:cxnLst/>
              <a:rect l="l" t="t" r="r" b="b"/>
              <a:pathLst>
                <a:path w="2774" h="694" extrusionOk="0">
                  <a:moveTo>
                    <a:pt x="379" y="0"/>
                  </a:moveTo>
                  <a:cubicBezTo>
                    <a:pt x="158" y="0"/>
                    <a:pt x="1" y="158"/>
                    <a:pt x="1" y="347"/>
                  </a:cubicBezTo>
                  <a:cubicBezTo>
                    <a:pt x="1" y="536"/>
                    <a:pt x="158" y="693"/>
                    <a:pt x="379" y="693"/>
                  </a:cubicBezTo>
                  <a:lnTo>
                    <a:pt x="2427" y="693"/>
                  </a:lnTo>
                  <a:cubicBezTo>
                    <a:pt x="2616" y="693"/>
                    <a:pt x="2773" y="536"/>
                    <a:pt x="2773" y="347"/>
                  </a:cubicBezTo>
                  <a:cubicBezTo>
                    <a:pt x="2773" y="158"/>
                    <a:pt x="2616" y="0"/>
                    <a:pt x="242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Slidesgo vector icon"/>
            <p:cNvSpPr/>
            <p:nvPr/>
          </p:nvSpPr>
          <p:spPr>
            <a:xfrm>
              <a:off x="-6713450" y="2397900"/>
              <a:ext cx="295375" cy="291450"/>
            </a:xfrm>
            <a:custGeom>
              <a:avLst/>
              <a:gdLst/>
              <a:ahLst/>
              <a:cxnLst/>
              <a:rect l="l" t="t" r="r" b="b"/>
              <a:pathLst>
                <a:path w="11815" h="11658" extrusionOk="0">
                  <a:moveTo>
                    <a:pt x="2048" y="1167"/>
                  </a:moveTo>
                  <a:lnTo>
                    <a:pt x="2048" y="2017"/>
                  </a:lnTo>
                  <a:lnTo>
                    <a:pt x="1166" y="2017"/>
                  </a:lnTo>
                  <a:lnTo>
                    <a:pt x="2048" y="1167"/>
                  </a:lnTo>
                  <a:close/>
                  <a:moveTo>
                    <a:pt x="10330" y="2773"/>
                  </a:moveTo>
                  <a:cubicBezTo>
                    <a:pt x="10507" y="2773"/>
                    <a:pt x="10680" y="2836"/>
                    <a:pt x="10806" y="2962"/>
                  </a:cubicBezTo>
                  <a:cubicBezTo>
                    <a:pt x="11058" y="3246"/>
                    <a:pt x="11058" y="3687"/>
                    <a:pt x="10775" y="3908"/>
                  </a:cubicBezTo>
                  <a:lnTo>
                    <a:pt x="10176" y="4506"/>
                  </a:lnTo>
                  <a:lnTo>
                    <a:pt x="9231" y="3561"/>
                  </a:lnTo>
                  <a:lnTo>
                    <a:pt x="9830" y="2962"/>
                  </a:lnTo>
                  <a:cubicBezTo>
                    <a:pt x="9972" y="2836"/>
                    <a:pt x="10153" y="2773"/>
                    <a:pt x="10330" y="2773"/>
                  </a:cubicBezTo>
                  <a:close/>
                  <a:moveTo>
                    <a:pt x="8727" y="4034"/>
                  </a:moveTo>
                  <a:lnTo>
                    <a:pt x="9672" y="4979"/>
                  </a:lnTo>
                  <a:cubicBezTo>
                    <a:pt x="8538" y="6207"/>
                    <a:pt x="7026" y="7688"/>
                    <a:pt x="5892" y="8854"/>
                  </a:cubicBezTo>
                  <a:lnTo>
                    <a:pt x="4915" y="7846"/>
                  </a:lnTo>
                  <a:lnTo>
                    <a:pt x="8727" y="4034"/>
                  </a:lnTo>
                  <a:close/>
                  <a:moveTo>
                    <a:pt x="4600" y="8539"/>
                  </a:moveTo>
                  <a:lnTo>
                    <a:pt x="5230" y="9169"/>
                  </a:lnTo>
                  <a:lnTo>
                    <a:pt x="4285" y="9421"/>
                  </a:lnTo>
                  <a:cubicBezTo>
                    <a:pt x="4348" y="9232"/>
                    <a:pt x="4505" y="8728"/>
                    <a:pt x="4600" y="8539"/>
                  </a:cubicBezTo>
                  <a:close/>
                  <a:moveTo>
                    <a:pt x="7908" y="694"/>
                  </a:moveTo>
                  <a:cubicBezTo>
                    <a:pt x="8097" y="694"/>
                    <a:pt x="8255" y="852"/>
                    <a:pt x="8255" y="1041"/>
                  </a:cubicBezTo>
                  <a:lnTo>
                    <a:pt x="8255" y="3592"/>
                  </a:lnTo>
                  <a:lnTo>
                    <a:pt x="7467" y="4380"/>
                  </a:lnTo>
                  <a:cubicBezTo>
                    <a:pt x="7435" y="4286"/>
                    <a:pt x="7309" y="4160"/>
                    <a:pt x="7152" y="4160"/>
                  </a:cubicBezTo>
                  <a:lnTo>
                    <a:pt x="1733" y="4160"/>
                  </a:lnTo>
                  <a:cubicBezTo>
                    <a:pt x="1512" y="4160"/>
                    <a:pt x="1386" y="4317"/>
                    <a:pt x="1386" y="4506"/>
                  </a:cubicBezTo>
                  <a:cubicBezTo>
                    <a:pt x="1386" y="4695"/>
                    <a:pt x="1512" y="4853"/>
                    <a:pt x="1733" y="4853"/>
                  </a:cubicBezTo>
                  <a:lnTo>
                    <a:pt x="6994" y="4853"/>
                  </a:lnTo>
                  <a:lnTo>
                    <a:pt x="6333" y="5546"/>
                  </a:lnTo>
                  <a:lnTo>
                    <a:pt x="1733" y="5546"/>
                  </a:lnTo>
                  <a:cubicBezTo>
                    <a:pt x="1512" y="5546"/>
                    <a:pt x="1355" y="5703"/>
                    <a:pt x="1355" y="5892"/>
                  </a:cubicBezTo>
                  <a:cubicBezTo>
                    <a:pt x="1355" y="6081"/>
                    <a:pt x="1512" y="6239"/>
                    <a:pt x="1733" y="6239"/>
                  </a:cubicBezTo>
                  <a:lnTo>
                    <a:pt x="5608" y="6239"/>
                  </a:lnTo>
                  <a:lnTo>
                    <a:pt x="4947" y="6901"/>
                  </a:lnTo>
                  <a:lnTo>
                    <a:pt x="1733" y="6901"/>
                  </a:lnTo>
                  <a:cubicBezTo>
                    <a:pt x="1512" y="6901"/>
                    <a:pt x="1355" y="7058"/>
                    <a:pt x="1355" y="7279"/>
                  </a:cubicBezTo>
                  <a:cubicBezTo>
                    <a:pt x="1355" y="7468"/>
                    <a:pt x="1512" y="7625"/>
                    <a:pt x="1733" y="7625"/>
                  </a:cubicBezTo>
                  <a:lnTo>
                    <a:pt x="4285" y="7625"/>
                  </a:lnTo>
                  <a:cubicBezTo>
                    <a:pt x="4190" y="7688"/>
                    <a:pt x="4159" y="7751"/>
                    <a:pt x="4127" y="7814"/>
                  </a:cubicBezTo>
                  <a:lnTo>
                    <a:pt x="3970" y="8287"/>
                  </a:lnTo>
                  <a:lnTo>
                    <a:pt x="1733" y="8287"/>
                  </a:lnTo>
                  <a:cubicBezTo>
                    <a:pt x="1512" y="8287"/>
                    <a:pt x="1355" y="8444"/>
                    <a:pt x="1355" y="8633"/>
                  </a:cubicBezTo>
                  <a:cubicBezTo>
                    <a:pt x="1355" y="8854"/>
                    <a:pt x="1512" y="9011"/>
                    <a:pt x="1733" y="9011"/>
                  </a:cubicBezTo>
                  <a:lnTo>
                    <a:pt x="3718" y="9011"/>
                  </a:lnTo>
                  <a:lnTo>
                    <a:pt x="3466" y="9893"/>
                  </a:lnTo>
                  <a:cubicBezTo>
                    <a:pt x="3385" y="10136"/>
                    <a:pt x="3557" y="10355"/>
                    <a:pt x="3766" y="10355"/>
                  </a:cubicBezTo>
                  <a:cubicBezTo>
                    <a:pt x="3802" y="10355"/>
                    <a:pt x="3839" y="10348"/>
                    <a:pt x="3875" y="10335"/>
                  </a:cubicBezTo>
                  <a:lnTo>
                    <a:pt x="6018" y="9704"/>
                  </a:lnTo>
                  <a:cubicBezTo>
                    <a:pt x="6049" y="9704"/>
                    <a:pt x="6144" y="9673"/>
                    <a:pt x="6175" y="9641"/>
                  </a:cubicBezTo>
                  <a:lnTo>
                    <a:pt x="8286" y="7499"/>
                  </a:lnTo>
                  <a:lnTo>
                    <a:pt x="8286" y="10681"/>
                  </a:lnTo>
                  <a:cubicBezTo>
                    <a:pt x="8255" y="10839"/>
                    <a:pt x="8097" y="10996"/>
                    <a:pt x="7908" y="10996"/>
                  </a:cubicBezTo>
                  <a:lnTo>
                    <a:pt x="1040" y="10996"/>
                  </a:lnTo>
                  <a:cubicBezTo>
                    <a:pt x="851" y="10996"/>
                    <a:pt x="693" y="10839"/>
                    <a:pt x="693" y="10650"/>
                  </a:cubicBezTo>
                  <a:lnTo>
                    <a:pt x="693" y="2742"/>
                  </a:lnTo>
                  <a:lnTo>
                    <a:pt x="2395" y="2742"/>
                  </a:lnTo>
                  <a:cubicBezTo>
                    <a:pt x="2584" y="2742"/>
                    <a:pt x="2741" y="2584"/>
                    <a:pt x="2741" y="2395"/>
                  </a:cubicBezTo>
                  <a:lnTo>
                    <a:pt x="2741" y="694"/>
                  </a:lnTo>
                  <a:close/>
                  <a:moveTo>
                    <a:pt x="2363" y="1"/>
                  </a:moveTo>
                  <a:cubicBezTo>
                    <a:pt x="2237" y="1"/>
                    <a:pt x="2143" y="64"/>
                    <a:pt x="2111" y="127"/>
                  </a:cubicBezTo>
                  <a:lnTo>
                    <a:pt x="158" y="2112"/>
                  </a:lnTo>
                  <a:cubicBezTo>
                    <a:pt x="63" y="2175"/>
                    <a:pt x="0" y="2269"/>
                    <a:pt x="0" y="2364"/>
                  </a:cubicBezTo>
                  <a:lnTo>
                    <a:pt x="0" y="10650"/>
                  </a:lnTo>
                  <a:cubicBezTo>
                    <a:pt x="0" y="11217"/>
                    <a:pt x="473" y="11658"/>
                    <a:pt x="1008" y="11658"/>
                  </a:cubicBezTo>
                  <a:lnTo>
                    <a:pt x="7908" y="11658"/>
                  </a:lnTo>
                  <a:cubicBezTo>
                    <a:pt x="8444" y="11658"/>
                    <a:pt x="8916" y="11217"/>
                    <a:pt x="8916" y="10650"/>
                  </a:cubicBezTo>
                  <a:lnTo>
                    <a:pt x="8916" y="6774"/>
                  </a:lnTo>
                  <a:lnTo>
                    <a:pt x="11279" y="4412"/>
                  </a:lnTo>
                  <a:cubicBezTo>
                    <a:pt x="11815" y="3876"/>
                    <a:pt x="11815" y="3025"/>
                    <a:pt x="11279" y="2490"/>
                  </a:cubicBezTo>
                  <a:cubicBezTo>
                    <a:pt x="11011" y="2222"/>
                    <a:pt x="10657" y="2088"/>
                    <a:pt x="10306" y="2088"/>
                  </a:cubicBezTo>
                  <a:cubicBezTo>
                    <a:pt x="9956" y="2088"/>
                    <a:pt x="9609" y="2222"/>
                    <a:pt x="9357" y="2490"/>
                  </a:cubicBezTo>
                  <a:lnTo>
                    <a:pt x="8916" y="2931"/>
                  </a:lnTo>
                  <a:lnTo>
                    <a:pt x="8916" y="1041"/>
                  </a:lnTo>
                  <a:cubicBezTo>
                    <a:pt x="8916" y="474"/>
                    <a:pt x="8444" y="1"/>
                    <a:pt x="790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 name="Text"/>
          <p:cNvSpPr txBox="1"/>
          <p:nvPr/>
        </p:nvSpPr>
        <p:spPr>
          <a:xfrm>
            <a:off x="1209675" y="3143250"/>
            <a:ext cx="3095625" cy="409575"/>
          </a:xfrm>
          <a:prstGeom prst="rect">
            <a:avLst/>
          </a:prstGeom>
          <a:noFill/>
          <a:ln w="9525">
            <a:noFill/>
          </a:ln>
        </p:spPr>
        <p:txBody>
          <a:bodyPr wrap="none" lIns="0" tIns="0" rIns="0" bIns="0" anchor="t">
            <a:noAutofit/>
          </a:bodyPr>
          <a:lstStyle/>
          <a:p>
            <a:pPr marL="0" indent="0" algn="l">
              <a:lnSpc>
                <a:spcPts val="2812"/>
              </a:lnSpc>
              <a:spcAft>
                <a:spcPts val="0"/>
              </a:spcAft>
              <a:buNone/>
            </a:pPr>
            <a:r>
              <a:rPr lang="en-US" sz="2250" b="1">
                <a:solidFill>
                  <a:srgbClr val="435D74"/>
                </a:solidFill>
                <a:latin typeface="Fira Sans Extra Condensed"/>
                <a:ea typeface="Fira Sans Extra Condensed"/>
                <a:cs typeface="Fira Sans Extra Condensed"/>
              </a:rPr>
              <a:t>Request list</a:t>
            </a:r>
            <a:endParaRPr lang="en-US" sz="2250"/>
          </a:p>
        </p:txBody>
      </p:sp>
      <p:sp>
        <p:nvSpPr>
          <p:cNvPr id="27" name="Text"/>
          <p:cNvSpPr txBox="1"/>
          <p:nvPr/>
        </p:nvSpPr>
        <p:spPr>
          <a:xfrm>
            <a:off x="1209675" y="3667125"/>
            <a:ext cx="3095625" cy="590550"/>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0">
                <a:solidFill>
                  <a:srgbClr val="435D74"/>
                </a:solidFill>
                <a:latin typeface="Roboto"/>
                <a:ea typeface="Roboto"/>
                <a:cs typeface="Roboto"/>
              </a:rPr>
              <a:t>Which requests to answer first</a:t>
            </a:r>
            <a:endParaRPr lang="en-US" sz="1575"/>
          </a:p>
        </p:txBody>
      </p:sp>
      <p:grpSp>
        <p:nvGrpSpPr>
          <p:cNvPr id="28" name="Slidesgo vector icon"/>
          <p:cNvGrpSpPr/>
          <p:nvPr/>
        </p:nvGrpSpPr>
        <p:grpSpPr>
          <a:xfrm>
            <a:off x="4781550" y="3162300"/>
            <a:ext cx="476250" cy="473683"/>
            <a:chOff x="-4211975" y="2046625"/>
            <a:chExt cx="292250" cy="290675"/>
          </a:xfrm>
        </p:grpSpPr>
        <p:sp>
          <p:nvSpPr>
            <p:cNvPr id="29" name="Slidesgo vector icon"/>
            <p:cNvSpPr/>
            <p:nvPr/>
          </p:nvSpPr>
          <p:spPr>
            <a:xfrm>
              <a:off x="-4211975" y="2081300"/>
              <a:ext cx="256025" cy="256000"/>
            </a:xfrm>
            <a:custGeom>
              <a:avLst/>
              <a:gdLst/>
              <a:ahLst/>
              <a:cxnLst/>
              <a:rect l="l" t="t" r="r" b="b"/>
              <a:pathLst>
                <a:path w="10241" h="10240" extrusionOk="0">
                  <a:moveTo>
                    <a:pt x="4758" y="693"/>
                  </a:moveTo>
                  <a:lnTo>
                    <a:pt x="4758" y="5167"/>
                  </a:lnTo>
                  <a:cubicBezTo>
                    <a:pt x="4758" y="5356"/>
                    <a:pt x="4916" y="5513"/>
                    <a:pt x="5105" y="5513"/>
                  </a:cubicBezTo>
                  <a:lnTo>
                    <a:pt x="9578" y="5513"/>
                  </a:lnTo>
                  <a:cubicBezTo>
                    <a:pt x="9358" y="7813"/>
                    <a:pt x="7436" y="9609"/>
                    <a:pt x="5105" y="9609"/>
                  </a:cubicBezTo>
                  <a:cubicBezTo>
                    <a:pt x="2679" y="9609"/>
                    <a:pt x="663" y="7593"/>
                    <a:pt x="663" y="5167"/>
                  </a:cubicBezTo>
                  <a:cubicBezTo>
                    <a:pt x="663" y="2835"/>
                    <a:pt x="2490" y="914"/>
                    <a:pt x="4758" y="693"/>
                  </a:cubicBezTo>
                  <a:close/>
                  <a:moveTo>
                    <a:pt x="5105" y="0"/>
                  </a:moveTo>
                  <a:cubicBezTo>
                    <a:pt x="2269" y="0"/>
                    <a:pt x="1" y="2300"/>
                    <a:pt x="1" y="5104"/>
                  </a:cubicBezTo>
                  <a:cubicBezTo>
                    <a:pt x="1" y="7939"/>
                    <a:pt x="2269" y="10239"/>
                    <a:pt x="5105" y="10239"/>
                  </a:cubicBezTo>
                  <a:cubicBezTo>
                    <a:pt x="7940" y="10239"/>
                    <a:pt x="10240" y="7939"/>
                    <a:pt x="10240" y="5104"/>
                  </a:cubicBezTo>
                  <a:cubicBezTo>
                    <a:pt x="10240" y="4978"/>
                    <a:pt x="10083" y="4820"/>
                    <a:pt x="9925" y="4820"/>
                  </a:cubicBezTo>
                  <a:lnTo>
                    <a:pt x="5483" y="4820"/>
                  </a:lnTo>
                  <a:lnTo>
                    <a:pt x="5483" y="347"/>
                  </a:lnTo>
                  <a:cubicBezTo>
                    <a:pt x="5483" y="158"/>
                    <a:pt x="5325" y="0"/>
                    <a:pt x="510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Slidesgo vector icon"/>
            <p:cNvSpPr/>
            <p:nvPr/>
          </p:nvSpPr>
          <p:spPr>
            <a:xfrm>
              <a:off x="-4057600" y="2046625"/>
              <a:ext cx="137875" cy="137875"/>
            </a:xfrm>
            <a:custGeom>
              <a:avLst/>
              <a:gdLst/>
              <a:ahLst/>
              <a:cxnLst/>
              <a:rect l="l" t="t" r="r" b="b"/>
              <a:pathLst>
                <a:path w="5515" h="5515" extrusionOk="0">
                  <a:moveTo>
                    <a:pt x="663" y="694"/>
                  </a:moveTo>
                  <a:cubicBezTo>
                    <a:pt x="2836" y="851"/>
                    <a:pt x="4601" y="2616"/>
                    <a:pt x="4758" y="4790"/>
                  </a:cubicBezTo>
                  <a:lnTo>
                    <a:pt x="663" y="4790"/>
                  </a:lnTo>
                  <a:lnTo>
                    <a:pt x="663" y="694"/>
                  </a:lnTo>
                  <a:close/>
                  <a:moveTo>
                    <a:pt x="348" y="1"/>
                  </a:moveTo>
                  <a:cubicBezTo>
                    <a:pt x="158" y="1"/>
                    <a:pt x="1" y="158"/>
                    <a:pt x="1" y="379"/>
                  </a:cubicBezTo>
                  <a:lnTo>
                    <a:pt x="1" y="5168"/>
                  </a:lnTo>
                  <a:cubicBezTo>
                    <a:pt x="1" y="5357"/>
                    <a:pt x="158" y="5514"/>
                    <a:pt x="348" y="5514"/>
                  </a:cubicBezTo>
                  <a:lnTo>
                    <a:pt x="5168" y="5514"/>
                  </a:lnTo>
                  <a:cubicBezTo>
                    <a:pt x="5357" y="5514"/>
                    <a:pt x="5514" y="5357"/>
                    <a:pt x="5514" y="5168"/>
                  </a:cubicBezTo>
                  <a:cubicBezTo>
                    <a:pt x="5483" y="3750"/>
                    <a:pt x="4979" y="2490"/>
                    <a:pt x="3971" y="1513"/>
                  </a:cubicBezTo>
                  <a:cubicBezTo>
                    <a:pt x="2994" y="536"/>
                    <a:pt x="1734" y="1"/>
                    <a:pt x="34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1" name="Text"/>
          <p:cNvSpPr txBox="1"/>
          <p:nvPr/>
        </p:nvSpPr>
        <p:spPr>
          <a:xfrm>
            <a:off x="5495925" y="3143250"/>
            <a:ext cx="3095625" cy="409575"/>
          </a:xfrm>
          <a:prstGeom prst="rect">
            <a:avLst/>
          </a:prstGeom>
          <a:noFill/>
          <a:ln w="9525">
            <a:noFill/>
          </a:ln>
        </p:spPr>
        <p:txBody>
          <a:bodyPr wrap="none" lIns="0" tIns="0" rIns="0" bIns="0" anchor="t">
            <a:noAutofit/>
          </a:bodyPr>
          <a:lstStyle/>
          <a:p>
            <a:pPr marL="0" indent="0" algn="l">
              <a:lnSpc>
                <a:spcPts val="2812"/>
              </a:lnSpc>
              <a:spcAft>
                <a:spcPts val="0"/>
              </a:spcAft>
              <a:buNone/>
            </a:pPr>
            <a:r>
              <a:rPr lang="en-US" sz="2250" b="1">
                <a:solidFill>
                  <a:srgbClr val="435D74"/>
                </a:solidFill>
                <a:latin typeface="Fira Sans Extra Condensed"/>
                <a:ea typeface="Fira Sans Extra Condensed"/>
                <a:cs typeface="Fira Sans Extra Condensed"/>
              </a:rPr>
              <a:t>Plan options</a:t>
            </a:r>
            <a:endParaRPr lang="en-US" sz="2250"/>
          </a:p>
        </p:txBody>
      </p:sp>
      <p:sp>
        <p:nvSpPr>
          <p:cNvPr id="32" name="Text"/>
          <p:cNvSpPr txBox="1"/>
          <p:nvPr/>
        </p:nvSpPr>
        <p:spPr>
          <a:xfrm>
            <a:off x="5495925" y="3667125"/>
            <a:ext cx="3095625" cy="590550"/>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0">
                <a:solidFill>
                  <a:srgbClr val="435D74"/>
                </a:solidFill>
                <a:latin typeface="Roboto"/>
                <a:ea typeface="Roboto"/>
                <a:cs typeface="Roboto"/>
              </a:rPr>
              <a:t>Several plans and expected</a:t>
            </a:r>
            <a:endParaRPr lang="en-US" sz="1575"/>
          </a:p>
          <a:p>
            <a:pPr marL="0" indent="0" algn="l">
              <a:lnSpc>
                <a:spcPts val="1969"/>
              </a:lnSpc>
              <a:spcAft>
                <a:spcPts val="0"/>
              </a:spcAft>
              <a:buNone/>
            </a:pPr>
            <a:r>
              <a:rPr lang="en-US" sz="1575" b="0">
                <a:solidFill>
                  <a:srgbClr val="435D74"/>
                </a:solidFill>
                <a:latin typeface="Roboto"/>
                <a:ea typeface="Roboto"/>
                <a:cs typeface="Roboto"/>
              </a:rPr>
              <a:t>results</a:t>
            </a:r>
            <a:endParaRPr lang="en-US" sz="1575"/>
          </a:p>
        </p:txBody>
      </p:sp>
      <p:sp>
        <p:nvSpPr>
          <p:cNvPr id="33" name="Panel"/>
          <p:cNvSpPr/>
          <p:nvPr/>
        </p:nvSpPr>
        <p:spPr>
          <a:xfrm>
            <a:off x="495300" y="4257675"/>
            <a:ext cx="8153400" cy="400050"/>
          </a:xfrm>
          <a:prstGeom prst="roundRect">
            <a:avLst>
              <a:gd name="adj" fmla="val 10000"/>
            </a:avLst>
          </a:prstGeom>
          <a:solidFill>
            <a:srgbClr val="F3F6F8"/>
          </a:solidFill>
          <a:ln w="9525">
            <a:noFill/>
          </a:ln>
        </p:spPr>
        <p:txBody>
          <a:bodyPr/>
          <a:lstStyle/>
          <a:p>
            <a:endParaRPr lang="en-US"/>
          </a:p>
        </p:txBody>
      </p:sp>
      <p:sp>
        <p:nvSpPr>
          <p:cNvPr id="34" name="Text"/>
          <p:cNvSpPr txBox="1"/>
          <p:nvPr/>
        </p:nvSpPr>
        <p:spPr>
          <a:xfrm>
            <a:off x="666750" y="4333875"/>
            <a:ext cx="7810500" cy="2952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a:solidFill>
                  <a:srgbClr val="435D74"/>
                </a:solidFill>
                <a:latin typeface="Roboto"/>
                <a:ea typeface="Roboto"/>
                <a:cs typeface="Roboto"/>
              </a:rPr>
              <a:t>The team should also see the main reasons behind the suggestion.</a:t>
            </a:r>
            <a:endParaRPr lang="en-US" sz="135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name="Decisions prescriptive analytics can support">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Decisions prescriptive analytics can support</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algn="r">
              <a:lnSpc>
                <a:spcPts val="1031"/>
              </a:lnSpc>
            </a:pPr>
            <a:r>
              <a:rPr lang="en-US" sz="825" b="0" dirty="0">
                <a:solidFill>
                  <a:srgbClr val="6D8495"/>
                </a:solidFill>
                <a:latin typeface="Roboto"/>
                <a:ea typeface="Roboto"/>
                <a:cs typeface="Roboto"/>
              </a:rPr>
              <a:t>09 </a:t>
            </a:r>
            <a:r>
              <a:rPr lang="en-US" sz="825" dirty="0">
                <a:solidFill>
                  <a:srgbClr val="6D8495"/>
                </a:solidFill>
                <a:latin typeface="Roboto"/>
                <a:ea typeface="Roboto"/>
                <a:cs typeface="Roboto"/>
              </a:rPr>
              <a:t>/ 14</a:t>
            </a:r>
            <a:endParaRPr lang="en-US" sz="825" dirty="0"/>
          </a:p>
        </p:txBody>
      </p:sp>
      <p:grpSp>
        <p:nvGrpSpPr>
          <p:cNvPr id="7" name="Slidesgo vector icon"/>
          <p:cNvGrpSpPr/>
          <p:nvPr/>
        </p:nvGrpSpPr>
        <p:grpSpPr>
          <a:xfrm>
            <a:off x="590550" y="1209675"/>
            <a:ext cx="371475" cy="371485"/>
            <a:chOff x="-2571737" y="2403625"/>
            <a:chExt cx="292225" cy="291425"/>
          </a:xfrm>
        </p:grpSpPr>
        <p:sp>
          <p:nvSpPr>
            <p:cNvPr id="8" name="Slidesgo vector icon"/>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Slidesgo vector icon"/>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Slidesgo vector icon"/>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Slidesgo vector icon"/>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Slidesgo vector icon"/>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Slidesgo vector icon"/>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Slidesgo vector icon"/>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 name="Text"/>
          <p:cNvSpPr txBox="1"/>
          <p:nvPr/>
        </p:nvSpPr>
        <p:spPr>
          <a:xfrm>
            <a:off x="1228725" y="1143000"/>
            <a:ext cx="3429000" cy="447675"/>
          </a:xfrm>
          <a:prstGeom prst="rect">
            <a:avLst/>
          </a:prstGeom>
          <a:noFill/>
          <a:ln w="9525">
            <a:noFill/>
          </a:ln>
        </p:spPr>
        <p:txBody>
          <a:bodyPr wrap="none" lIns="0" tIns="0" rIns="0" bIns="0" anchor="t">
            <a:noAutofit/>
          </a:bodyPr>
          <a:lstStyle/>
          <a:p>
            <a:pPr marL="0" indent="0" algn="l">
              <a:lnSpc>
                <a:spcPts val="2531"/>
              </a:lnSpc>
              <a:spcAft>
                <a:spcPts val="0"/>
              </a:spcAft>
              <a:buNone/>
            </a:pPr>
            <a:r>
              <a:rPr lang="en-US" sz="2025" b="1">
                <a:solidFill>
                  <a:srgbClr val="435D74"/>
                </a:solidFill>
                <a:latin typeface="Fira Sans Extra Condensed"/>
                <a:ea typeface="Fira Sans Extra Condensed"/>
                <a:cs typeface="Fira Sans Extra Condensed"/>
              </a:rPr>
              <a:t>What should we buy?</a:t>
            </a:r>
            <a:endParaRPr lang="en-US" sz="2025"/>
          </a:p>
        </p:txBody>
      </p:sp>
      <p:cxnSp>
        <p:nvCxnSpPr>
          <p:cNvPr id="16" name="Connector"/>
          <p:cNvCxnSpPr/>
          <p:nvPr/>
        </p:nvCxnSpPr>
        <p:spPr>
          <a:xfrm>
            <a:off x="4972050" y="1390650"/>
            <a:ext cx="361950" cy="95"/>
          </a:xfrm>
          <a:prstGeom prst="line">
            <a:avLst/>
          </a:prstGeom>
          <a:ln w="14288">
            <a:solidFill>
              <a:srgbClr val="869FB2"/>
            </a:solidFill>
            <a:tailEnd type="triangle" w="sm" len="sm"/>
          </a:ln>
        </p:spPr>
      </p:cxnSp>
      <p:sp>
        <p:nvSpPr>
          <p:cNvPr id="17" name="Text"/>
          <p:cNvSpPr txBox="1"/>
          <p:nvPr/>
        </p:nvSpPr>
        <p:spPr>
          <a:xfrm>
            <a:off x="5600700" y="1152525"/>
            <a:ext cx="3048000" cy="6286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0">
                <a:solidFill>
                  <a:srgbClr val="435D74"/>
                </a:solidFill>
                <a:latin typeface="Roboto"/>
                <a:ea typeface="Roboto"/>
                <a:cs typeface="Roboto"/>
              </a:rPr>
              <a:t>Choose products and order</a:t>
            </a:r>
            <a:endParaRPr lang="en-US" sz="1500"/>
          </a:p>
          <a:p>
            <a:pPr marL="0" indent="0" algn="l">
              <a:lnSpc>
                <a:spcPts val="1875"/>
              </a:lnSpc>
              <a:spcAft>
                <a:spcPts val="0"/>
              </a:spcAft>
              <a:buNone/>
            </a:pPr>
            <a:r>
              <a:rPr lang="en-US" sz="1500" b="0">
                <a:solidFill>
                  <a:srgbClr val="435D74"/>
                </a:solidFill>
                <a:latin typeface="Roboto"/>
                <a:ea typeface="Roboto"/>
                <a:cs typeface="Roboto"/>
              </a:rPr>
              <a:t>amounts.</a:t>
            </a:r>
            <a:endParaRPr lang="en-US" sz="1500"/>
          </a:p>
        </p:txBody>
      </p:sp>
      <p:cxnSp>
        <p:nvCxnSpPr>
          <p:cNvPr id="18" name="Connector"/>
          <p:cNvCxnSpPr/>
          <p:nvPr/>
        </p:nvCxnSpPr>
        <p:spPr>
          <a:xfrm>
            <a:off x="1228725" y="1838325"/>
            <a:ext cx="7419975" cy="95"/>
          </a:xfrm>
          <a:prstGeom prst="line">
            <a:avLst/>
          </a:prstGeom>
          <a:ln w="9525">
            <a:solidFill>
              <a:srgbClr val="D8E2E8"/>
            </a:solidFill>
          </a:ln>
        </p:spPr>
      </p:cxnSp>
      <p:grpSp>
        <p:nvGrpSpPr>
          <p:cNvPr id="19" name="Slidesgo vector icon"/>
          <p:cNvGrpSpPr/>
          <p:nvPr/>
        </p:nvGrpSpPr>
        <p:grpSpPr>
          <a:xfrm>
            <a:off x="590550" y="2000250"/>
            <a:ext cx="371475" cy="386956"/>
            <a:chOff x="-65129950" y="2646800"/>
            <a:chExt cx="311125" cy="317425"/>
          </a:xfrm>
        </p:grpSpPr>
        <p:sp>
          <p:nvSpPr>
            <p:cNvPr id="20" name="Slidesgo vector icon"/>
            <p:cNvSpPr/>
            <p:nvPr/>
          </p:nvSpPr>
          <p:spPr>
            <a:xfrm>
              <a:off x="-65129950" y="2646800"/>
              <a:ext cx="311125" cy="317425"/>
            </a:xfrm>
            <a:custGeom>
              <a:avLst/>
              <a:gdLst/>
              <a:ahLst/>
              <a:cxnLst/>
              <a:rect l="l" t="t" r="r" b="b"/>
              <a:pathLst>
                <a:path w="12445" h="12697" extrusionOk="0">
                  <a:moveTo>
                    <a:pt x="6648" y="851"/>
                  </a:moveTo>
                  <a:lnTo>
                    <a:pt x="6648" y="1954"/>
                  </a:lnTo>
                  <a:lnTo>
                    <a:pt x="5860" y="1954"/>
                  </a:lnTo>
                  <a:lnTo>
                    <a:pt x="5860" y="851"/>
                  </a:lnTo>
                  <a:close/>
                  <a:moveTo>
                    <a:pt x="1261" y="1954"/>
                  </a:moveTo>
                  <a:cubicBezTo>
                    <a:pt x="1355" y="1954"/>
                    <a:pt x="1450" y="1985"/>
                    <a:pt x="1544" y="2080"/>
                  </a:cubicBezTo>
                  <a:cubicBezTo>
                    <a:pt x="1733" y="2237"/>
                    <a:pt x="1733" y="2521"/>
                    <a:pt x="1576" y="2678"/>
                  </a:cubicBezTo>
                  <a:cubicBezTo>
                    <a:pt x="1497" y="2757"/>
                    <a:pt x="1387" y="2797"/>
                    <a:pt x="1276" y="2797"/>
                  </a:cubicBezTo>
                  <a:cubicBezTo>
                    <a:pt x="1166" y="2797"/>
                    <a:pt x="1056" y="2757"/>
                    <a:pt x="977" y="2678"/>
                  </a:cubicBezTo>
                  <a:cubicBezTo>
                    <a:pt x="819" y="2521"/>
                    <a:pt x="819" y="2237"/>
                    <a:pt x="977" y="2080"/>
                  </a:cubicBezTo>
                  <a:cubicBezTo>
                    <a:pt x="1072" y="1985"/>
                    <a:pt x="1198" y="1954"/>
                    <a:pt x="1261" y="1954"/>
                  </a:cubicBezTo>
                  <a:close/>
                  <a:moveTo>
                    <a:pt x="11216" y="1954"/>
                  </a:moveTo>
                  <a:cubicBezTo>
                    <a:pt x="11468" y="1954"/>
                    <a:pt x="11626" y="2143"/>
                    <a:pt x="11626" y="2395"/>
                  </a:cubicBezTo>
                  <a:cubicBezTo>
                    <a:pt x="11626" y="2615"/>
                    <a:pt x="11437" y="2836"/>
                    <a:pt x="11216" y="2836"/>
                  </a:cubicBezTo>
                  <a:cubicBezTo>
                    <a:pt x="11027" y="2836"/>
                    <a:pt x="10807" y="2615"/>
                    <a:pt x="10807" y="2395"/>
                  </a:cubicBezTo>
                  <a:cubicBezTo>
                    <a:pt x="10807" y="2143"/>
                    <a:pt x="10996" y="1954"/>
                    <a:pt x="11216" y="1954"/>
                  </a:cubicBezTo>
                  <a:close/>
                  <a:moveTo>
                    <a:pt x="6270" y="2773"/>
                  </a:moveTo>
                  <a:cubicBezTo>
                    <a:pt x="8759" y="2773"/>
                    <a:pt x="10807" y="4821"/>
                    <a:pt x="10807" y="7341"/>
                  </a:cubicBezTo>
                  <a:cubicBezTo>
                    <a:pt x="10807" y="9861"/>
                    <a:pt x="8759" y="11909"/>
                    <a:pt x="6270" y="11909"/>
                  </a:cubicBezTo>
                  <a:cubicBezTo>
                    <a:pt x="3781" y="11909"/>
                    <a:pt x="1733" y="9861"/>
                    <a:pt x="1733" y="7341"/>
                  </a:cubicBezTo>
                  <a:cubicBezTo>
                    <a:pt x="1733" y="4821"/>
                    <a:pt x="3781" y="2773"/>
                    <a:pt x="6270" y="2773"/>
                  </a:cubicBezTo>
                  <a:close/>
                  <a:moveTo>
                    <a:pt x="4663" y="0"/>
                  </a:moveTo>
                  <a:cubicBezTo>
                    <a:pt x="4411" y="0"/>
                    <a:pt x="4254" y="189"/>
                    <a:pt x="4254" y="410"/>
                  </a:cubicBezTo>
                  <a:cubicBezTo>
                    <a:pt x="4254" y="662"/>
                    <a:pt x="4474" y="851"/>
                    <a:pt x="4663" y="851"/>
                  </a:cubicBezTo>
                  <a:lnTo>
                    <a:pt x="5104" y="851"/>
                  </a:lnTo>
                  <a:lnTo>
                    <a:pt x="5104" y="2111"/>
                  </a:lnTo>
                  <a:cubicBezTo>
                    <a:pt x="4254" y="2300"/>
                    <a:pt x="3466" y="2710"/>
                    <a:pt x="2836" y="3245"/>
                  </a:cubicBezTo>
                  <a:lnTo>
                    <a:pt x="2489" y="2899"/>
                  </a:lnTo>
                  <a:cubicBezTo>
                    <a:pt x="2741" y="2426"/>
                    <a:pt x="2647" y="1891"/>
                    <a:pt x="2269" y="1481"/>
                  </a:cubicBezTo>
                  <a:cubicBezTo>
                    <a:pt x="2032" y="1245"/>
                    <a:pt x="1717" y="1127"/>
                    <a:pt x="1394" y="1127"/>
                  </a:cubicBezTo>
                  <a:cubicBezTo>
                    <a:pt x="1072" y="1127"/>
                    <a:pt x="741" y="1245"/>
                    <a:pt x="473" y="1481"/>
                  </a:cubicBezTo>
                  <a:cubicBezTo>
                    <a:pt x="0" y="1954"/>
                    <a:pt x="0" y="2741"/>
                    <a:pt x="473" y="3245"/>
                  </a:cubicBezTo>
                  <a:cubicBezTo>
                    <a:pt x="725" y="3498"/>
                    <a:pt x="1040" y="3624"/>
                    <a:pt x="1355" y="3624"/>
                  </a:cubicBezTo>
                  <a:cubicBezTo>
                    <a:pt x="1544" y="3624"/>
                    <a:pt x="1702" y="3561"/>
                    <a:pt x="1891" y="3498"/>
                  </a:cubicBezTo>
                  <a:lnTo>
                    <a:pt x="2269" y="3844"/>
                  </a:lnTo>
                  <a:cubicBezTo>
                    <a:pt x="1481" y="4789"/>
                    <a:pt x="946" y="6018"/>
                    <a:pt x="946" y="7341"/>
                  </a:cubicBezTo>
                  <a:cubicBezTo>
                    <a:pt x="946" y="10303"/>
                    <a:pt x="3371" y="12697"/>
                    <a:pt x="6301" y="12697"/>
                  </a:cubicBezTo>
                  <a:cubicBezTo>
                    <a:pt x="9263" y="12697"/>
                    <a:pt x="11657" y="10303"/>
                    <a:pt x="11657" y="7341"/>
                  </a:cubicBezTo>
                  <a:cubicBezTo>
                    <a:pt x="11657" y="6018"/>
                    <a:pt x="11185" y="4789"/>
                    <a:pt x="10365" y="3844"/>
                  </a:cubicBezTo>
                  <a:lnTo>
                    <a:pt x="10712" y="3498"/>
                  </a:lnTo>
                  <a:cubicBezTo>
                    <a:pt x="10838" y="3561"/>
                    <a:pt x="11027" y="3624"/>
                    <a:pt x="11216" y="3624"/>
                  </a:cubicBezTo>
                  <a:cubicBezTo>
                    <a:pt x="11909" y="3624"/>
                    <a:pt x="12445" y="3056"/>
                    <a:pt x="12445" y="2363"/>
                  </a:cubicBezTo>
                  <a:cubicBezTo>
                    <a:pt x="12445" y="1670"/>
                    <a:pt x="11909" y="1135"/>
                    <a:pt x="11216" y="1135"/>
                  </a:cubicBezTo>
                  <a:cubicBezTo>
                    <a:pt x="10555" y="1135"/>
                    <a:pt x="10019" y="1670"/>
                    <a:pt x="10019" y="2363"/>
                  </a:cubicBezTo>
                  <a:cubicBezTo>
                    <a:pt x="10019" y="2552"/>
                    <a:pt x="10050" y="2710"/>
                    <a:pt x="10113" y="2899"/>
                  </a:cubicBezTo>
                  <a:lnTo>
                    <a:pt x="9767" y="3245"/>
                  </a:lnTo>
                  <a:cubicBezTo>
                    <a:pt x="9137" y="2710"/>
                    <a:pt x="8349" y="2300"/>
                    <a:pt x="7530" y="2111"/>
                  </a:cubicBezTo>
                  <a:lnTo>
                    <a:pt x="7530" y="851"/>
                  </a:lnTo>
                  <a:lnTo>
                    <a:pt x="7971" y="851"/>
                  </a:lnTo>
                  <a:cubicBezTo>
                    <a:pt x="8192" y="851"/>
                    <a:pt x="8349" y="662"/>
                    <a:pt x="8349" y="410"/>
                  </a:cubicBezTo>
                  <a:cubicBezTo>
                    <a:pt x="8349" y="189"/>
                    <a:pt x="8160" y="0"/>
                    <a:pt x="7971"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Slidesgo vector icon"/>
            <p:cNvSpPr/>
            <p:nvPr/>
          </p:nvSpPr>
          <p:spPr>
            <a:xfrm>
              <a:off x="-65066950" y="2738175"/>
              <a:ext cx="187475" cy="185100"/>
            </a:xfrm>
            <a:custGeom>
              <a:avLst/>
              <a:gdLst/>
              <a:ahLst/>
              <a:cxnLst/>
              <a:rect l="l" t="t" r="r" b="b"/>
              <a:pathLst>
                <a:path w="7499" h="7404" extrusionOk="0">
                  <a:moveTo>
                    <a:pt x="3309" y="819"/>
                  </a:moveTo>
                  <a:lnTo>
                    <a:pt x="3309" y="3686"/>
                  </a:lnTo>
                  <a:cubicBezTo>
                    <a:pt x="3309" y="3938"/>
                    <a:pt x="3498" y="4127"/>
                    <a:pt x="3718" y="4127"/>
                  </a:cubicBezTo>
                  <a:lnTo>
                    <a:pt x="6612" y="4127"/>
                  </a:lnTo>
                  <a:cubicBezTo>
                    <a:pt x="6410" y="5529"/>
                    <a:pt x="5188" y="6585"/>
                    <a:pt x="3750" y="6585"/>
                  </a:cubicBezTo>
                  <a:cubicBezTo>
                    <a:pt x="2143" y="6585"/>
                    <a:pt x="820" y="5261"/>
                    <a:pt x="820" y="3686"/>
                  </a:cubicBezTo>
                  <a:cubicBezTo>
                    <a:pt x="820" y="2237"/>
                    <a:pt x="1891" y="1008"/>
                    <a:pt x="3309" y="819"/>
                  </a:cubicBezTo>
                  <a:close/>
                  <a:moveTo>
                    <a:pt x="3750" y="0"/>
                  </a:moveTo>
                  <a:cubicBezTo>
                    <a:pt x="1702" y="0"/>
                    <a:pt x="1" y="1638"/>
                    <a:pt x="1" y="3686"/>
                  </a:cubicBezTo>
                  <a:cubicBezTo>
                    <a:pt x="1" y="5734"/>
                    <a:pt x="1671" y="7404"/>
                    <a:pt x="3750" y="7404"/>
                  </a:cubicBezTo>
                  <a:cubicBezTo>
                    <a:pt x="5798" y="7404"/>
                    <a:pt x="7499" y="5734"/>
                    <a:pt x="7499" y="3686"/>
                  </a:cubicBezTo>
                  <a:cubicBezTo>
                    <a:pt x="7499" y="3466"/>
                    <a:pt x="7278" y="3277"/>
                    <a:pt x="7058" y="3277"/>
                  </a:cubicBezTo>
                  <a:lnTo>
                    <a:pt x="4128" y="3277"/>
                  </a:lnTo>
                  <a:lnTo>
                    <a:pt x="4128" y="378"/>
                  </a:lnTo>
                  <a:cubicBezTo>
                    <a:pt x="4128" y="158"/>
                    <a:pt x="3939" y="0"/>
                    <a:pt x="3750"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2" name="Text"/>
          <p:cNvSpPr txBox="1"/>
          <p:nvPr/>
        </p:nvSpPr>
        <p:spPr>
          <a:xfrm>
            <a:off x="1228725" y="1933575"/>
            <a:ext cx="3429000" cy="447675"/>
          </a:xfrm>
          <a:prstGeom prst="rect">
            <a:avLst/>
          </a:prstGeom>
          <a:noFill/>
          <a:ln w="9525">
            <a:noFill/>
          </a:ln>
        </p:spPr>
        <p:txBody>
          <a:bodyPr wrap="none" lIns="0" tIns="0" rIns="0" bIns="0" anchor="t">
            <a:noAutofit/>
          </a:bodyPr>
          <a:lstStyle/>
          <a:p>
            <a:pPr marL="0" indent="0" algn="l">
              <a:lnSpc>
                <a:spcPts val="2531"/>
              </a:lnSpc>
              <a:spcAft>
                <a:spcPts val="0"/>
              </a:spcAft>
              <a:buNone/>
            </a:pPr>
            <a:r>
              <a:rPr lang="en-US" sz="2025" b="1">
                <a:solidFill>
                  <a:srgbClr val="435D74"/>
                </a:solidFill>
                <a:latin typeface="Fira Sans Extra Condensed"/>
                <a:ea typeface="Fira Sans Extra Condensed"/>
                <a:cs typeface="Fira Sans Extra Condensed"/>
              </a:rPr>
              <a:t>When should work happen?</a:t>
            </a:r>
            <a:endParaRPr lang="en-US" sz="2025"/>
          </a:p>
        </p:txBody>
      </p:sp>
      <p:cxnSp>
        <p:nvCxnSpPr>
          <p:cNvPr id="23" name="Connector"/>
          <p:cNvCxnSpPr/>
          <p:nvPr/>
        </p:nvCxnSpPr>
        <p:spPr>
          <a:xfrm>
            <a:off x="4972050" y="2181225"/>
            <a:ext cx="361950" cy="95"/>
          </a:xfrm>
          <a:prstGeom prst="line">
            <a:avLst/>
          </a:prstGeom>
          <a:ln w="14288">
            <a:solidFill>
              <a:srgbClr val="869FB2"/>
            </a:solidFill>
            <a:tailEnd type="triangle" w="sm" len="sm"/>
          </a:ln>
        </p:spPr>
      </p:cxnSp>
      <p:sp>
        <p:nvSpPr>
          <p:cNvPr id="24" name="Text"/>
          <p:cNvSpPr txBox="1"/>
          <p:nvPr/>
        </p:nvSpPr>
        <p:spPr>
          <a:xfrm>
            <a:off x="5600700" y="1943100"/>
            <a:ext cx="3048000" cy="6286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0">
                <a:solidFill>
                  <a:srgbClr val="435D74"/>
                </a:solidFill>
                <a:latin typeface="Roboto"/>
                <a:ea typeface="Roboto"/>
                <a:cs typeface="Roboto"/>
              </a:rPr>
              <a:t>Choose times for tasks or repairs.</a:t>
            </a:r>
            <a:endParaRPr lang="en-US" sz="1500"/>
          </a:p>
        </p:txBody>
      </p:sp>
      <p:cxnSp>
        <p:nvCxnSpPr>
          <p:cNvPr id="25" name="Connector"/>
          <p:cNvCxnSpPr/>
          <p:nvPr/>
        </p:nvCxnSpPr>
        <p:spPr>
          <a:xfrm>
            <a:off x="1228725" y="2628900"/>
            <a:ext cx="7419975" cy="95"/>
          </a:xfrm>
          <a:prstGeom prst="line">
            <a:avLst/>
          </a:prstGeom>
          <a:ln w="9525">
            <a:solidFill>
              <a:srgbClr val="D8E2E8"/>
            </a:solidFill>
          </a:ln>
        </p:spPr>
      </p:cxnSp>
      <p:grpSp>
        <p:nvGrpSpPr>
          <p:cNvPr id="26" name="Slidesgo vector icon"/>
          <p:cNvGrpSpPr/>
          <p:nvPr/>
        </p:nvGrpSpPr>
        <p:grpSpPr>
          <a:xfrm>
            <a:off x="590550" y="2790825"/>
            <a:ext cx="371475" cy="422660"/>
            <a:chOff x="1529350" y="258825"/>
            <a:chExt cx="423475" cy="481825"/>
          </a:xfrm>
        </p:grpSpPr>
        <p:sp>
          <p:nvSpPr>
            <p:cNvPr id="27" name="Slidesgo vector icon"/>
            <p:cNvSpPr/>
            <p:nvPr/>
          </p:nvSpPr>
          <p:spPr>
            <a:xfrm>
              <a:off x="1585800" y="258825"/>
              <a:ext cx="310650" cy="430550"/>
            </a:xfrm>
            <a:custGeom>
              <a:avLst/>
              <a:gdLst/>
              <a:ahLst/>
              <a:cxnLst/>
              <a:rect l="l" t="t" r="r" b="b"/>
              <a:pathLst>
                <a:path w="12426" h="17222" extrusionOk="0">
                  <a:moveTo>
                    <a:pt x="6213" y="3388"/>
                  </a:moveTo>
                  <a:cubicBezTo>
                    <a:pt x="7354" y="3388"/>
                    <a:pt x="8384" y="4074"/>
                    <a:pt x="8821" y="5131"/>
                  </a:cubicBezTo>
                  <a:cubicBezTo>
                    <a:pt x="9257" y="6185"/>
                    <a:pt x="9016" y="7399"/>
                    <a:pt x="8206" y="8206"/>
                  </a:cubicBezTo>
                  <a:cubicBezTo>
                    <a:pt x="7666" y="8748"/>
                    <a:pt x="6945" y="9035"/>
                    <a:pt x="6210" y="9035"/>
                  </a:cubicBezTo>
                  <a:cubicBezTo>
                    <a:pt x="5847" y="9035"/>
                    <a:pt x="5481" y="8965"/>
                    <a:pt x="5132" y="8820"/>
                  </a:cubicBezTo>
                  <a:cubicBezTo>
                    <a:pt x="4075" y="8383"/>
                    <a:pt x="3388" y="7354"/>
                    <a:pt x="3388" y="6212"/>
                  </a:cubicBezTo>
                  <a:cubicBezTo>
                    <a:pt x="3391" y="4652"/>
                    <a:pt x="4653" y="3391"/>
                    <a:pt x="6213" y="3388"/>
                  </a:cubicBezTo>
                  <a:close/>
                  <a:moveTo>
                    <a:pt x="6213" y="0"/>
                  </a:moveTo>
                  <a:cubicBezTo>
                    <a:pt x="2825" y="0"/>
                    <a:pt x="1" y="2728"/>
                    <a:pt x="1" y="6212"/>
                  </a:cubicBezTo>
                  <a:cubicBezTo>
                    <a:pt x="1" y="7537"/>
                    <a:pt x="398" y="8718"/>
                    <a:pt x="1163" y="9826"/>
                  </a:cubicBezTo>
                  <a:lnTo>
                    <a:pt x="5737" y="16959"/>
                  </a:lnTo>
                  <a:cubicBezTo>
                    <a:pt x="5847" y="17134"/>
                    <a:pt x="6029" y="17221"/>
                    <a:pt x="6211" y="17221"/>
                  </a:cubicBezTo>
                  <a:cubicBezTo>
                    <a:pt x="6394" y="17221"/>
                    <a:pt x="6576" y="17134"/>
                    <a:pt x="6686" y="16959"/>
                  </a:cubicBezTo>
                  <a:lnTo>
                    <a:pt x="11278" y="9802"/>
                  </a:lnTo>
                  <a:cubicBezTo>
                    <a:pt x="12025" y="8751"/>
                    <a:pt x="12425" y="7498"/>
                    <a:pt x="12422" y="6212"/>
                  </a:cubicBezTo>
                  <a:cubicBezTo>
                    <a:pt x="12422" y="2786"/>
                    <a:pt x="9637" y="0"/>
                    <a:pt x="6213"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007D8B"/>
                </a:solidFill>
              </a:endParaRPr>
            </a:p>
          </p:txBody>
        </p:sp>
        <p:sp>
          <p:nvSpPr>
            <p:cNvPr id="28" name="Slidesgo vector icon"/>
            <p:cNvSpPr/>
            <p:nvPr/>
          </p:nvSpPr>
          <p:spPr>
            <a:xfrm>
              <a:off x="1529350" y="583200"/>
              <a:ext cx="423475" cy="157450"/>
            </a:xfrm>
            <a:custGeom>
              <a:avLst/>
              <a:gdLst/>
              <a:ahLst/>
              <a:cxnLst/>
              <a:rect l="l" t="t" r="r" b="b"/>
              <a:pathLst>
                <a:path w="16939" h="6298" extrusionOk="0">
                  <a:moveTo>
                    <a:pt x="4050" y="1"/>
                  </a:moveTo>
                  <a:cubicBezTo>
                    <a:pt x="1545" y="582"/>
                    <a:pt x="0" y="1642"/>
                    <a:pt x="0" y="2909"/>
                  </a:cubicBezTo>
                  <a:cubicBezTo>
                    <a:pt x="0" y="5111"/>
                    <a:pt x="4364" y="6297"/>
                    <a:pt x="8471" y="6297"/>
                  </a:cubicBezTo>
                  <a:cubicBezTo>
                    <a:pt x="12575" y="6297"/>
                    <a:pt x="16938" y="5111"/>
                    <a:pt x="16938" y="2909"/>
                  </a:cubicBezTo>
                  <a:cubicBezTo>
                    <a:pt x="16938" y="1642"/>
                    <a:pt x="15391" y="579"/>
                    <a:pt x="12882" y="1"/>
                  </a:cubicBezTo>
                  <a:lnTo>
                    <a:pt x="10040" y="4445"/>
                  </a:lnTo>
                  <a:cubicBezTo>
                    <a:pt x="9673" y="5018"/>
                    <a:pt x="9071" y="5305"/>
                    <a:pt x="8469" y="5305"/>
                  </a:cubicBezTo>
                  <a:cubicBezTo>
                    <a:pt x="7867" y="5305"/>
                    <a:pt x="7265" y="5018"/>
                    <a:pt x="6899" y="4445"/>
                  </a:cubicBezTo>
                  <a:lnTo>
                    <a:pt x="4050" y="1"/>
                  </a:ln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007D8B"/>
                </a:solidFill>
              </a:endParaRPr>
            </a:p>
          </p:txBody>
        </p:sp>
      </p:grpSp>
      <p:sp>
        <p:nvSpPr>
          <p:cNvPr id="29" name="Text"/>
          <p:cNvSpPr txBox="1"/>
          <p:nvPr/>
        </p:nvSpPr>
        <p:spPr>
          <a:xfrm>
            <a:off x="1228725" y="2724150"/>
            <a:ext cx="3429000" cy="447675"/>
          </a:xfrm>
          <a:prstGeom prst="rect">
            <a:avLst/>
          </a:prstGeom>
          <a:noFill/>
          <a:ln w="9525">
            <a:noFill/>
          </a:ln>
        </p:spPr>
        <p:txBody>
          <a:bodyPr wrap="none" lIns="0" tIns="0" rIns="0" bIns="0" anchor="t">
            <a:noAutofit/>
          </a:bodyPr>
          <a:lstStyle/>
          <a:p>
            <a:pPr marL="0" indent="0" algn="l">
              <a:lnSpc>
                <a:spcPts val="2531"/>
              </a:lnSpc>
              <a:spcAft>
                <a:spcPts val="0"/>
              </a:spcAft>
              <a:buNone/>
            </a:pPr>
            <a:r>
              <a:rPr lang="en-US" sz="2025" b="1">
                <a:solidFill>
                  <a:srgbClr val="435D74"/>
                </a:solidFill>
                <a:latin typeface="Fira Sans Extra Condensed"/>
                <a:ea typeface="Fira Sans Extra Condensed"/>
                <a:cs typeface="Fira Sans Extra Condensed"/>
              </a:rPr>
              <a:t>Where should products go?</a:t>
            </a:r>
            <a:endParaRPr lang="en-US" sz="2025"/>
          </a:p>
        </p:txBody>
      </p:sp>
      <p:cxnSp>
        <p:nvCxnSpPr>
          <p:cNvPr id="30" name="Connector"/>
          <p:cNvCxnSpPr/>
          <p:nvPr/>
        </p:nvCxnSpPr>
        <p:spPr>
          <a:xfrm>
            <a:off x="4972050" y="2971800"/>
            <a:ext cx="361950" cy="95"/>
          </a:xfrm>
          <a:prstGeom prst="line">
            <a:avLst/>
          </a:prstGeom>
          <a:ln w="14288">
            <a:solidFill>
              <a:srgbClr val="869FB2"/>
            </a:solidFill>
            <a:tailEnd type="triangle" w="sm" len="sm"/>
          </a:ln>
        </p:spPr>
      </p:cxnSp>
      <p:sp>
        <p:nvSpPr>
          <p:cNvPr id="31" name="Text"/>
          <p:cNvSpPr txBox="1"/>
          <p:nvPr/>
        </p:nvSpPr>
        <p:spPr>
          <a:xfrm>
            <a:off x="5600700" y="2733675"/>
            <a:ext cx="3048000" cy="6286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0">
                <a:solidFill>
                  <a:srgbClr val="435D74"/>
                </a:solidFill>
                <a:latin typeface="Roboto"/>
                <a:ea typeface="Roboto"/>
                <a:cs typeface="Roboto"/>
              </a:rPr>
              <a:t>Decide how much each store</a:t>
            </a:r>
            <a:endParaRPr lang="en-US" sz="1500"/>
          </a:p>
          <a:p>
            <a:pPr marL="0" indent="0" algn="l">
              <a:lnSpc>
                <a:spcPts val="1875"/>
              </a:lnSpc>
              <a:spcAft>
                <a:spcPts val="0"/>
              </a:spcAft>
              <a:buNone/>
            </a:pPr>
            <a:r>
              <a:rPr lang="en-US" sz="1500" b="0">
                <a:solidFill>
                  <a:srgbClr val="435D74"/>
                </a:solidFill>
                <a:latin typeface="Roboto"/>
                <a:ea typeface="Roboto"/>
                <a:cs typeface="Roboto"/>
              </a:rPr>
              <a:t>receives.</a:t>
            </a:r>
            <a:endParaRPr lang="en-US" sz="1500"/>
          </a:p>
        </p:txBody>
      </p:sp>
      <p:cxnSp>
        <p:nvCxnSpPr>
          <p:cNvPr id="32" name="Connector"/>
          <p:cNvCxnSpPr/>
          <p:nvPr/>
        </p:nvCxnSpPr>
        <p:spPr>
          <a:xfrm>
            <a:off x="1228725" y="3419475"/>
            <a:ext cx="7419975" cy="95"/>
          </a:xfrm>
          <a:prstGeom prst="line">
            <a:avLst/>
          </a:prstGeom>
          <a:ln w="9525">
            <a:solidFill>
              <a:srgbClr val="D8E2E8"/>
            </a:solidFill>
          </a:ln>
        </p:spPr>
      </p:cxnSp>
      <p:grpSp>
        <p:nvGrpSpPr>
          <p:cNvPr id="33" name="Slidesgo vector icon"/>
          <p:cNvGrpSpPr/>
          <p:nvPr/>
        </p:nvGrpSpPr>
        <p:grpSpPr>
          <a:xfrm>
            <a:off x="590550" y="3581400"/>
            <a:ext cx="371475" cy="363579"/>
            <a:chOff x="-6713450" y="2397900"/>
            <a:chExt cx="295375" cy="291450"/>
          </a:xfrm>
        </p:grpSpPr>
        <p:sp>
          <p:nvSpPr>
            <p:cNvPr id="34" name="Slidesgo vector icon"/>
            <p:cNvSpPr/>
            <p:nvPr/>
          </p:nvSpPr>
          <p:spPr>
            <a:xfrm>
              <a:off x="-6628400" y="2465650"/>
              <a:ext cx="69350" cy="17350"/>
            </a:xfrm>
            <a:custGeom>
              <a:avLst/>
              <a:gdLst/>
              <a:ahLst/>
              <a:cxnLst/>
              <a:rect l="l" t="t" r="r" b="b"/>
              <a:pathLst>
                <a:path w="2774" h="694" extrusionOk="0">
                  <a:moveTo>
                    <a:pt x="379" y="0"/>
                  </a:moveTo>
                  <a:cubicBezTo>
                    <a:pt x="158" y="0"/>
                    <a:pt x="1" y="158"/>
                    <a:pt x="1" y="347"/>
                  </a:cubicBezTo>
                  <a:cubicBezTo>
                    <a:pt x="1" y="536"/>
                    <a:pt x="158" y="693"/>
                    <a:pt x="379" y="693"/>
                  </a:cubicBezTo>
                  <a:lnTo>
                    <a:pt x="2427" y="693"/>
                  </a:lnTo>
                  <a:cubicBezTo>
                    <a:pt x="2616" y="693"/>
                    <a:pt x="2773" y="536"/>
                    <a:pt x="2773" y="347"/>
                  </a:cubicBezTo>
                  <a:cubicBezTo>
                    <a:pt x="2773" y="158"/>
                    <a:pt x="2616" y="0"/>
                    <a:pt x="2427"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Slidesgo vector icon"/>
            <p:cNvSpPr/>
            <p:nvPr/>
          </p:nvSpPr>
          <p:spPr>
            <a:xfrm>
              <a:off x="-6713450" y="2397900"/>
              <a:ext cx="295375" cy="291450"/>
            </a:xfrm>
            <a:custGeom>
              <a:avLst/>
              <a:gdLst/>
              <a:ahLst/>
              <a:cxnLst/>
              <a:rect l="l" t="t" r="r" b="b"/>
              <a:pathLst>
                <a:path w="11815" h="11658" extrusionOk="0">
                  <a:moveTo>
                    <a:pt x="2048" y="1167"/>
                  </a:moveTo>
                  <a:lnTo>
                    <a:pt x="2048" y="2017"/>
                  </a:lnTo>
                  <a:lnTo>
                    <a:pt x="1166" y="2017"/>
                  </a:lnTo>
                  <a:lnTo>
                    <a:pt x="2048" y="1167"/>
                  </a:lnTo>
                  <a:close/>
                  <a:moveTo>
                    <a:pt x="10330" y="2773"/>
                  </a:moveTo>
                  <a:cubicBezTo>
                    <a:pt x="10507" y="2773"/>
                    <a:pt x="10680" y="2836"/>
                    <a:pt x="10806" y="2962"/>
                  </a:cubicBezTo>
                  <a:cubicBezTo>
                    <a:pt x="11058" y="3246"/>
                    <a:pt x="11058" y="3687"/>
                    <a:pt x="10775" y="3908"/>
                  </a:cubicBezTo>
                  <a:lnTo>
                    <a:pt x="10176" y="4506"/>
                  </a:lnTo>
                  <a:lnTo>
                    <a:pt x="9231" y="3561"/>
                  </a:lnTo>
                  <a:lnTo>
                    <a:pt x="9830" y="2962"/>
                  </a:lnTo>
                  <a:cubicBezTo>
                    <a:pt x="9972" y="2836"/>
                    <a:pt x="10153" y="2773"/>
                    <a:pt x="10330" y="2773"/>
                  </a:cubicBezTo>
                  <a:close/>
                  <a:moveTo>
                    <a:pt x="8727" y="4034"/>
                  </a:moveTo>
                  <a:lnTo>
                    <a:pt x="9672" y="4979"/>
                  </a:lnTo>
                  <a:cubicBezTo>
                    <a:pt x="8538" y="6207"/>
                    <a:pt x="7026" y="7688"/>
                    <a:pt x="5892" y="8854"/>
                  </a:cubicBezTo>
                  <a:lnTo>
                    <a:pt x="4915" y="7846"/>
                  </a:lnTo>
                  <a:lnTo>
                    <a:pt x="8727" y="4034"/>
                  </a:lnTo>
                  <a:close/>
                  <a:moveTo>
                    <a:pt x="4600" y="8539"/>
                  </a:moveTo>
                  <a:lnTo>
                    <a:pt x="5230" y="9169"/>
                  </a:lnTo>
                  <a:lnTo>
                    <a:pt x="4285" y="9421"/>
                  </a:lnTo>
                  <a:cubicBezTo>
                    <a:pt x="4348" y="9232"/>
                    <a:pt x="4505" y="8728"/>
                    <a:pt x="4600" y="8539"/>
                  </a:cubicBezTo>
                  <a:close/>
                  <a:moveTo>
                    <a:pt x="7908" y="694"/>
                  </a:moveTo>
                  <a:cubicBezTo>
                    <a:pt x="8097" y="694"/>
                    <a:pt x="8255" y="852"/>
                    <a:pt x="8255" y="1041"/>
                  </a:cubicBezTo>
                  <a:lnTo>
                    <a:pt x="8255" y="3592"/>
                  </a:lnTo>
                  <a:lnTo>
                    <a:pt x="7467" y="4380"/>
                  </a:lnTo>
                  <a:cubicBezTo>
                    <a:pt x="7435" y="4286"/>
                    <a:pt x="7309" y="4160"/>
                    <a:pt x="7152" y="4160"/>
                  </a:cubicBezTo>
                  <a:lnTo>
                    <a:pt x="1733" y="4160"/>
                  </a:lnTo>
                  <a:cubicBezTo>
                    <a:pt x="1512" y="4160"/>
                    <a:pt x="1386" y="4317"/>
                    <a:pt x="1386" y="4506"/>
                  </a:cubicBezTo>
                  <a:cubicBezTo>
                    <a:pt x="1386" y="4695"/>
                    <a:pt x="1512" y="4853"/>
                    <a:pt x="1733" y="4853"/>
                  </a:cubicBezTo>
                  <a:lnTo>
                    <a:pt x="6994" y="4853"/>
                  </a:lnTo>
                  <a:lnTo>
                    <a:pt x="6333" y="5546"/>
                  </a:lnTo>
                  <a:lnTo>
                    <a:pt x="1733" y="5546"/>
                  </a:lnTo>
                  <a:cubicBezTo>
                    <a:pt x="1512" y="5546"/>
                    <a:pt x="1355" y="5703"/>
                    <a:pt x="1355" y="5892"/>
                  </a:cubicBezTo>
                  <a:cubicBezTo>
                    <a:pt x="1355" y="6081"/>
                    <a:pt x="1512" y="6239"/>
                    <a:pt x="1733" y="6239"/>
                  </a:cubicBezTo>
                  <a:lnTo>
                    <a:pt x="5608" y="6239"/>
                  </a:lnTo>
                  <a:lnTo>
                    <a:pt x="4947" y="6901"/>
                  </a:lnTo>
                  <a:lnTo>
                    <a:pt x="1733" y="6901"/>
                  </a:lnTo>
                  <a:cubicBezTo>
                    <a:pt x="1512" y="6901"/>
                    <a:pt x="1355" y="7058"/>
                    <a:pt x="1355" y="7279"/>
                  </a:cubicBezTo>
                  <a:cubicBezTo>
                    <a:pt x="1355" y="7468"/>
                    <a:pt x="1512" y="7625"/>
                    <a:pt x="1733" y="7625"/>
                  </a:cubicBezTo>
                  <a:lnTo>
                    <a:pt x="4285" y="7625"/>
                  </a:lnTo>
                  <a:cubicBezTo>
                    <a:pt x="4190" y="7688"/>
                    <a:pt x="4159" y="7751"/>
                    <a:pt x="4127" y="7814"/>
                  </a:cubicBezTo>
                  <a:lnTo>
                    <a:pt x="3970" y="8287"/>
                  </a:lnTo>
                  <a:lnTo>
                    <a:pt x="1733" y="8287"/>
                  </a:lnTo>
                  <a:cubicBezTo>
                    <a:pt x="1512" y="8287"/>
                    <a:pt x="1355" y="8444"/>
                    <a:pt x="1355" y="8633"/>
                  </a:cubicBezTo>
                  <a:cubicBezTo>
                    <a:pt x="1355" y="8854"/>
                    <a:pt x="1512" y="9011"/>
                    <a:pt x="1733" y="9011"/>
                  </a:cubicBezTo>
                  <a:lnTo>
                    <a:pt x="3718" y="9011"/>
                  </a:lnTo>
                  <a:lnTo>
                    <a:pt x="3466" y="9893"/>
                  </a:lnTo>
                  <a:cubicBezTo>
                    <a:pt x="3385" y="10136"/>
                    <a:pt x="3557" y="10355"/>
                    <a:pt x="3766" y="10355"/>
                  </a:cubicBezTo>
                  <a:cubicBezTo>
                    <a:pt x="3802" y="10355"/>
                    <a:pt x="3839" y="10348"/>
                    <a:pt x="3875" y="10335"/>
                  </a:cubicBezTo>
                  <a:lnTo>
                    <a:pt x="6018" y="9704"/>
                  </a:lnTo>
                  <a:cubicBezTo>
                    <a:pt x="6049" y="9704"/>
                    <a:pt x="6144" y="9673"/>
                    <a:pt x="6175" y="9641"/>
                  </a:cubicBezTo>
                  <a:lnTo>
                    <a:pt x="8286" y="7499"/>
                  </a:lnTo>
                  <a:lnTo>
                    <a:pt x="8286" y="10681"/>
                  </a:lnTo>
                  <a:cubicBezTo>
                    <a:pt x="8255" y="10839"/>
                    <a:pt x="8097" y="10996"/>
                    <a:pt x="7908" y="10996"/>
                  </a:cubicBezTo>
                  <a:lnTo>
                    <a:pt x="1040" y="10996"/>
                  </a:lnTo>
                  <a:cubicBezTo>
                    <a:pt x="851" y="10996"/>
                    <a:pt x="693" y="10839"/>
                    <a:pt x="693" y="10650"/>
                  </a:cubicBezTo>
                  <a:lnTo>
                    <a:pt x="693" y="2742"/>
                  </a:lnTo>
                  <a:lnTo>
                    <a:pt x="2395" y="2742"/>
                  </a:lnTo>
                  <a:cubicBezTo>
                    <a:pt x="2584" y="2742"/>
                    <a:pt x="2741" y="2584"/>
                    <a:pt x="2741" y="2395"/>
                  </a:cubicBezTo>
                  <a:lnTo>
                    <a:pt x="2741" y="694"/>
                  </a:lnTo>
                  <a:close/>
                  <a:moveTo>
                    <a:pt x="2363" y="1"/>
                  </a:moveTo>
                  <a:cubicBezTo>
                    <a:pt x="2237" y="1"/>
                    <a:pt x="2143" y="64"/>
                    <a:pt x="2111" y="127"/>
                  </a:cubicBezTo>
                  <a:lnTo>
                    <a:pt x="158" y="2112"/>
                  </a:lnTo>
                  <a:cubicBezTo>
                    <a:pt x="63" y="2175"/>
                    <a:pt x="0" y="2269"/>
                    <a:pt x="0" y="2364"/>
                  </a:cubicBezTo>
                  <a:lnTo>
                    <a:pt x="0" y="10650"/>
                  </a:lnTo>
                  <a:cubicBezTo>
                    <a:pt x="0" y="11217"/>
                    <a:pt x="473" y="11658"/>
                    <a:pt x="1008" y="11658"/>
                  </a:cubicBezTo>
                  <a:lnTo>
                    <a:pt x="7908" y="11658"/>
                  </a:lnTo>
                  <a:cubicBezTo>
                    <a:pt x="8444" y="11658"/>
                    <a:pt x="8916" y="11217"/>
                    <a:pt x="8916" y="10650"/>
                  </a:cubicBezTo>
                  <a:lnTo>
                    <a:pt x="8916" y="6774"/>
                  </a:lnTo>
                  <a:lnTo>
                    <a:pt x="11279" y="4412"/>
                  </a:lnTo>
                  <a:cubicBezTo>
                    <a:pt x="11815" y="3876"/>
                    <a:pt x="11815" y="3025"/>
                    <a:pt x="11279" y="2490"/>
                  </a:cubicBezTo>
                  <a:cubicBezTo>
                    <a:pt x="11011" y="2222"/>
                    <a:pt x="10657" y="2088"/>
                    <a:pt x="10306" y="2088"/>
                  </a:cubicBezTo>
                  <a:cubicBezTo>
                    <a:pt x="9956" y="2088"/>
                    <a:pt x="9609" y="2222"/>
                    <a:pt x="9357" y="2490"/>
                  </a:cubicBezTo>
                  <a:lnTo>
                    <a:pt x="8916" y="2931"/>
                  </a:lnTo>
                  <a:lnTo>
                    <a:pt x="8916" y="1041"/>
                  </a:lnTo>
                  <a:cubicBezTo>
                    <a:pt x="8916" y="474"/>
                    <a:pt x="8444" y="1"/>
                    <a:pt x="790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6" name="Text"/>
          <p:cNvSpPr txBox="1"/>
          <p:nvPr/>
        </p:nvSpPr>
        <p:spPr>
          <a:xfrm>
            <a:off x="1228725" y="3514725"/>
            <a:ext cx="3429000" cy="447675"/>
          </a:xfrm>
          <a:prstGeom prst="rect">
            <a:avLst/>
          </a:prstGeom>
          <a:noFill/>
          <a:ln w="9525">
            <a:noFill/>
          </a:ln>
        </p:spPr>
        <p:txBody>
          <a:bodyPr wrap="none" lIns="0" tIns="0" rIns="0" bIns="0" anchor="t">
            <a:noAutofit/>
          </a:bodyPr>
          <a:lstStyle/>
          <a:p>
            <a:pPr marL="0" indent="0" algn="l">
              <a:lnSpc>
                <a:spcPts val="2531"/>
              </a:lnSpc>
              <a:spcAft>
                <a:spcPts val="0"/>
              </a:spcAft>
              <a:buNone/>
            </a:pPr>
            <a:r>
              <a:rPr lang="en-US" sz="2025" b="1">
                <a:solidFill>
                  <a:srgbClr val="435D74"/>
                </a:solidFill>
                <a:latin typeface="Fira Sans Extra Condensed"/>
                <a:ea typeface="Fira Sans Extra Condensed"/>
                <a:cs typeface="Fira Sans Extra Condensed"/>
              </a:rPr>
              <a:t>Which request should come first?</a:t>
            </a:r>
            <a:endParaRPr lang="en-US" sz="2025"/>
          </a:p>
        </p:txBody>
      </p:sp>
      <p:cxnSp>
        <p:nvCxnSpPr>
          <p:cNvPr id="37" name="Connector"/>
          <p:cNvCxnSpPr/>
          <p:nvPr/>
        </p:nvCxnSpPr>
        <p:spPr>
          <a:xfrm>
            <a:off x="4972050" y="3762375"/>
            <a:ext cx="361950" cy="95"/>
          </a:xfrm>
          <a:prstGeom prst="line">
            <a:avLst/>
          </a:prstGeom>
          <a:ln w="14288">
            <a:solidFill>
              <a:srgbClr val="869FB2"/>
            </a:solidFill>
            <a:tailEnd type="triangle" w="sm" len="sm"/>
          </a:ln>
        </p:spPr>
      </p:cxnSp>
      <p:sp>
        <p:nvSpPr>
          <p:cNvPr id="38" name="Text"/>
          <p:cNvSpPr txBox="1"/>
          <p:nvPr/>
        </p:nvSpPr>
        <p:spPr>
          <a:xfrm>
            <a:off x="5600700" y="3524250"/>
            <a:ext cx="3048000" cy="6286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0">
                <a:solidFill>
                  <a:srgbClr val="435D74"/>
                </a:solidFill>
                <a:latin typeface="Roboto"/>
                <a:ea typeface="Roboto"/>
                <a:cs typeface="Roboto"/>
              </a:rPr>
              <a:t>Choose the order for answering</a:t>
            </a:r>
            <a:endParaRPr lang="en-US" sz="1500"/>
          </a:p>
          <a:p>
            <a:pPr marL="0" indent="0" algn="l">
              <a:lnSpc>
                <a:spcPts val="1875"/>
              </a:lnSpc>
              <a:spcAft>
                <a:spcPts val="0"/>
              </a:spcAft>
              <a:buNone/>
            </a:pPr>
            <a:r>
              <a:rPr lang="en-US" sz="1500" b="0">
                <a:solidFill>
                  <a:srgbClr val="435D74"/>
                </a:solidFill>
                <a:latin typeface="Roboto"/>
                <a:ea typeface="Roboto"/>
                <a:cs typeface="Roboto"/>
              </a:rPr>
              <a:t>requests.</a:t>
            </a:r>
            <a:endParaRPr lang="en-US" sz="1500"/>
          </a:p>
        </p:txBody>
      </p:sp>
      <p:sp>
        <p:nvSpPr>
          <p:cNvPr id="39" name="Text"/>
          <p:cNvSpPr txBox="1"/>
          <p:nvPr/>
        </p:nvSpPr>
        <p:spPr>
          <a:xfrm>
            <a:off x="495300" y="4391025"/>
            <a:ext cx="8153400" cy="304800"/>
          </a:xfrm>
          <a:prstGeom prst="rect">
            <a:avLst/>
          </a:prstGeom>
          <a:noFill/>
          <a:ln w="9525">
            <a:noFill/>
          </a:ln>
        </p:spPr>
        <p:txBody>
          <a:bodyPr wrap="none" lIns="0" tIns="0" rIns="0" bIns="0" anchor="t">
            <a:noAutofit/>
          </a:bodyPr>
          <a:lstStyle/>
          <a:p>
            <a:pPr marL="0" indent="0" algn="l">
              <a:lnSpc>
                <a:spcPts val="1781"/>
              </a:lnSpc>
              <a:spcAft>
                <a:spcPts val="0"/>
              </a:spcAft>
              <a:buNone/>
            </a:pPr>
            <a:r>
              <a:rPr lang="en-US" sz="1425" b="0">
                <a:solidFill>
                  <a:srgbClr val="6D8495"/>
                </a:solidFill>
                <a:latin typeface="Roboto"/>
                <a:ea typeface="Roboto"/>
                <a:cs typeface="Roboto"/>
              </a:rPr>
              <a:t>Each answer leads to a choice the team can act on.</a:t>
            </a:r>
            <a:endParaRPr lang="en-US" sz="142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The meaning of the best choice</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5" name="Text"/>
          <p:cNvSpPr txBox="1"/>
          <p:nvPr/>
        </p:nvSpPr>
        <p:spPr>
          <a:xfrm>
            <a:off x="8048625" y="4867275"/>
            <a:ext cx="600075" cy="171450"/>
          </a:xfrm>
          <a:prstGeom prst="rect">
            <a:avLst/>
          </a:prstGeom>
          <a:noFill/>
          <a:ln w="9525">
            <a:noFill/>
          </a:ln>
        </p:spPr>
        <p:txBody>
          <a:bodyPr wrap="none" lIns="0" tIns="0" rIns="0" bIns="0" anchor="t">
            <a:noAutofit/>
          </a:bodyPr>
          <a:lstStyle/>
          <a:p>
            <a:pPr marL="0" indent="0" algn="r">
              <a:lnSpc>
                <a:spcPts val="1031"/>
              </a:lnSpc>
              <a:spcAft>
                <a:spcPts val="0"/>
              </a:spcAft>
              <a:buNone/>
            </a:pPr>
            <a:r>
              <a:rPr lang="en-US" sz="825" b="0">
                <a:solidFill>
                  <a:srgbClr val="6D8495"/>
                </a:solidFill>
                <a:latin typeface="Roboto"/>
                <a:ea typeface="Roboto"/>
                <a:cs typeface="Roboto"/>
              </a:rPr>
              <a:t>10 / 14</a:t>
            </a:r>
            <a:endParaRPr lang="en-US" sz="825"/>
          </a:p>
        </p:txBody>
      </p:sp>
      <p:sp>
        <p:nvSpPr>
          <p:cNvPr id="6" name="Text"/>
          <p:cNvSpPr txBox="1"/>
          <p:nvPr/>
        </p:nvSpPr>
        <p:spPr>
          <a:xfrm>
            <a:off x="495300" y="1047750"/>
            <a:ext cx="8153400" cy="428625"/>
          </a:xfrm>
          <a:prstGeom prst="rect">
            <a:avLst/>
          </a:prstGeom>
          <a:noFill/>
          <a:ln w="9525">
            <a:noFill/>
          </a:ln>
        </p:spPr>
        <p:txBody>
          <a:bodyPr wrap="none" lIns="0" tIns="0" rIns="0" bIns="0" anchor="t">
            <a:noAutofit/>
          </a:bodyPr>
          <a:lstStyle/>
          <a:p>
            <a:pPr marL="0" indent="0" algn="l">
              <a:lnSpc>
                <a:spcPts val="2625"/>
              </a:lnSpc>
              <a:spcAft>
                <a:spcPts val="0"/>
              </a:spcAft>
              <a:buNone/>
            </a:pPr>
            <a:r>
              <a:rPr lang="en-US" sz="2100" b="1">
                <a:solidFill>
                  <a:srgbClr val="007D8B"/>
                </a:solidFill>
                <a:latin typeface="Fira Sans Extra Condensed"/>
                <a:ea typeface="Fira Sans Extra Condensed"/>
                <a:cs typeface="Fira Sans Extra Condensed"/>
              </a:rPr>
              <a:t>The best choice depends on the goal.</a:t>
            </a:r>
            <a:endParaRPr lang="en-US" sz="2100"/>
          </a:p>
        </p:txBody>
      </p:sp>
      <p:sp>
        <p:nvSpPr>
          <p:cNvPr id="10" name="Text"/>
          <p:cNvSpPr txBox="1"/>
          <p:nvPr/>
        </p:nvSpPr>
        <p:spPr>
          <a:xfrm>
            <a:off x="1133475" y="1828800"/>
            <a:ext cx="3181350" cy="428625"/>
          </a:xfrm>
          <a:prstGeom prst="rect">
            <a:avLst/>
          </a:prstGeom>
          <a:noFill/>
          <a:ln w="9525">
            <a:noFill/>
          </a:ln>
        </p:spPr>
        <p:txBody>
          <a:bodyPr wrap="none" lIns="0" tIns="0" rIns="0" bIns="0" anchor="t">
            <a:noAutofit/>
          </a:bodyPr>
          <a:lstStyle/>
          <a:p>
            <a:pPr marL="0" indent="0" algn="l">
              <a:lnSpc>
                <a:spcPts val="2812"/>
              </a:lnSpc>
              <a:spcAft>
                <a:spcPts val="0"/>
              </a:spcAft>
              <a:buNone/>
            </a:pPr>
            <a:r>
              <a:rPr lang="en-US" sz="2250" b="1">
                <a:solidFill>
                  <a:srgbClr val="435D74"/>
                </a:solidFill>
                <a:latin typeface="Fira Sans Extra Condensed"/>
                <a:ea typeface="Fira Sans Extra Condensed"/>
                <a:cs typeface="Fira Sans Extra Condensed"/>
              </a:rPr>
              <a:t>Lower cost</a:t>
            </a:r>
            <a:endParaRPr lang="en-US" sz="2250"/>
          </a:p>
        </p:txBody>
      </p:sp>
      <p:sp>
        <p:nvSpPr>
          <p:cNvPr id="11" name="Text"/>
          <p:cNvSpPr txBox="1"/>
          <p:nvPr/>
        </p:nvSpPr>
        <p:spPr>
          <a:xfrm>
            <a:off x="1133475" y="2324100"/>
            <a:ext cx="3181350" cy="523875"/>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0">
                <a:solidFill>
                  <a:srgbClr val="435D74"/>
                </a:solidFill>
                <a:latin typeface="Roboto"/>
                <a:ea typeface="Roboto"/>
                <a:cs typeface="Roboto"/>
              </a:rPr>
              <a:t>Spend less money</a:t>
            </a:r>
            <a:endParaRPr lang="en-US" sz="1575"/>
          </a:p>
        </p:txBody>
      </p:sp>
      <p:sp>
        <p:nvSpPr>
          <p:cNvPr id="16" name="Text"/>
          <p:cNvSpPr txBox="1"/>
          <p:nvPr/>
        </p:nvSpPr>
        <p:spPr>
          <a:xfrm>
            <a:off x="5448300" y="1828800"/>
            <a:ext cx="3181350" cy="428625"/>
          </a:xfrm>
          <a:prstGeom prst="rect">
            <a:avLst/>
          </a:prstGeom>
          <a:noFill/>
          <a:ln w="9525">
            <a:noFill/>
          </a:ln>
        </p:spPr>
        <p:txBody>
          <a:bodyPr wrap="none" lIns="0" tIns="0" rIns="0" bIns="0" anchor="t">
            <a:noAutofit/>
          </a:bodyPr>
          <a:lstStyle/>
          <a:p>
            <a:pPr marL="0" indent="0" algn="l">
              <a:lnSpc>
                <a:spcPts val="2812"/>
              </a:lnSpc>
              <a:spcAft>
                <a:spcPts val="0"/>
              </a:spcAft>
              <a:buNone/>
            </a:pPr>
            <a:r>
              <a:rPr lang="en-US" sz="2250" b="1">
                <a:solidFill>
                  <a:srgbClr val="435D74"/>
                </a:solidFill>
                <a:latin typeface="Fira Sans Extra Condensed"/>
                <a:ea typeface="Fira Sans Extra Condensed"/>
                <a:cs typeface="Fira Sans Extra Condensed"/>
              </a:rPr>
              <a:t>Faster service</a:t>
            </a:r>
            <a:endParaRPr lang="en-US" sz="2250"/>
          </a:p>
        </p:txBody>
      </p:sp>
      <p:sp>
        <p:nvSpPr>
          <p:cNvPr id="17" name="Text"/>
          <p:cNvSpPr txBox="1"/>
          <p:nvPr/>
        </p:nvSpPr>
        <p:spPr>
          <a:xfrm>
            <a:off x="5448300" y="2324100"/>
            <a:ext cx="3181350" cy="523875"/>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0">
                <a:solidFill>
                  <a:srgbClr val="435D74"/>
                </a:solidFill>
                <a:latin typeface="Roboto"/>
                <a:ea typeface="Roboto"/>
                <a:cs typeface="Roboto"/>
              </a:rPr>
              <a:t>Reduce waiting time</a:t>
            </a:r>
            <a:endParaRPr lang="en-US" sz="1575"/>
          </a:p>
        </p:txBody>
      </p:sp>
      <p:sp>
        <p:nvSpPr>
          <p:cNvPr id="22" name="Text"/>
          <p:cNvSpPr txBox="1"/>
          <p:nvPr/>
        </p:nvSpPr>
        <p:spPr>
          <a:xfrm>
            <a:off x="1133475" y="3000375"/>
            <a:ext cx="3181350" cy="428625"/>
          </a:xfrm>
          <a:prstGeom prst="rect">
            <a:avLst/>
          </a:prstGeom>
          <a:noFill/>
          <a:ln w="9525">
            <a:noFill/>
          </a:ln>
        </p:spPr>
        <p:txBody>
          <a:bodyPr wrap="none" lIns="0" tIns="0" rIns="0" bIns="0" anchor="t">
            <a:noAutofit/>
          </a:bodyPr>
          <a:lstStyle/>
          <a:p>
            <a:pPr marL="0" indent="0" algn="l">
              <a:lnSpc>
                <a:spcPts val="2812"/>
              </a:lnSpc>
              <a:spcAft>
                <a:spcPts val="0"/>
              </a:spcAft>
              <a:buNone/>
            </a:pPr>
            <a:r>
              <a:rPr lang="en-US" sz="2250" b="1">
                <a:solidFill>
                  <a:srgbClr val="435D74"/>
                </a:solidFill>
                <a:latin typeface="Fira Sans Extra Condensed"/>
                <a:ea typeface="Fira Sans Extra Condensed"/>
                <a:cs typeface="Fira Sans Extra Condensed"/>
              </a:rPr>
              <a:t>Less waste</a:t>
            </a:r>
            <a:endParaRPr lang="en-US" sz="2250"/>
          </a:p>
        </p:txBody>
      </p:sp>
      <p:sp>
        <p:nvSpPr>
          <p:cNvPr id="23" name="Text"/>
          <p:cNvSpPr txBox="1"/>
          <p:nvPr/>
        </p:nvSpPr>
        <p:spPr>
          <a:xfrm>
            <a:off x="1133475" y="3495675"/>
            <a:ext cx="3181350" cy="523875"/>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0">
                <a:solidFill>
                  <a:srgbClr val="435D74"/>
                </a:solidFill>
                <a:latin typeface="Roboto"/>
                <a:ea typeface="Roboto"/>
                <a:cs typeface="Roboto"/>
              </a:rPr>
              <a:t>Avoid unnecessary materials</a:t>
            </a:r>
            <a:endParaRPr lang="en-US" sz="1575"/>
          </a:p>
        </p:txBody>
      </p:sp>
      <p:sp>
        <p:nvSpPr>
          <p:cNvPr id="27" name="Text"/>
          <p:cNvSpPr txBox="1"/>
          <p:nvPr/>
        </p:nvSpPr>
        <p:spPr>
          <a:xfrm>
            <a:off x="5448300" y="3000375"/>
            <a:ext cx="3181350" cy="428625"/>
          </a:xfrm>
          <a:prstGeom prst="rect">
            <a:avLst/>
          </a:prstGeom>
          <a:noFill/>
          <a:ln w="9525">
            <a:noFill/>
          </a:ln>
        </p:spPr>
        <p:txBody>
          <a:bodyPr wrap="none" lIns="0" tIns="0" rIns="0" bIns="0" anchor="t">
            <a:noAutofit/>
          </a:bodyPr>
          <a:lstStyle/>
          <a:p>
            <a:pPr marL="0" indent="0" algn="l">
              <a:lnSpc>
                <a:spcPts val="2812"/>
              </a:lnSpc>
              <a:spcAft>
                <a:spcPts val="0"/>
              </a:spcAft>
              <a:buNone/>
            </a:pPr>
            <a:r>
              <a:rPr lang="en-US" sz="2250" b="1">
                <a:solidFill>
                  <a:srgbClr val="435D74"/>
                </a:solidFill>
                <a:latin typeface="Fira Sans Extra Condensed"/>
                <a:ea typeface="Fira Sans Extra Condensed"/>
                <a:cs typeface="Fira Sans Extra Condensed"/>
              </a:rPr>
              <a:t>Better service</a:t>
            </a:r>
            <a:endParaRPr lang="en-US" sz="2250"/>
          </a:p>
        </p:txBody>
      </p:sp>
      <p:sp>
        <p:nvSpPr>
          <p:cNvPr id="28" name="Text"/>
          <p:cNvSpPr txBox="1"/>
          <p:nvPr/>
        </p:nvSpPr>
        <p:spPr>
          <a:xfrm>
            <a:off x="5448300" y="3495675"/>
            <a:ext cx="3181350" cy="523875"/>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0">
                <a:solidFill>
                  <a:srgbClr val="435D74"/>
                </a:solidFill>
                <a:latin typeface="Roboto"/>
                <a:ea typeface="Roboto"/>
                <a:cs typeface="Roboto"/>
              </a:rPr>
              <a:t>Meet more customer needs</a:t>
            </a:r>
            <a:endParaRPr lang="en-US" sz="1575"/>
          </a:p>
        </p:txBody>
      </p:sp>
      <p:cxnSp>
        <p:nvCxnSpPr>
          <p:cNvPr id="29" name="Connector"/>
          <p:cNvCxnSpPr/>
          <p:nvPr/>
        </p:nvCxnSpPr>
        <p:spPr>
          <a:xfrm>
            <a:off x="4572000" y="1838325"/>
            <a:ext cx="95" cy="2171700"/>
          </a:xfrm>
          <a:prstGeom prst="line">
            <a:avLst/>
          </a:prstGeom>
          <a:ln w="9525">
            <a:solidFill>
              <a:srgbClr val="869FB2"/>
            </a:solidFill>
          </a:ln>
        </p:spPr>
      </p:cxnSp>
      <p:sp>
        <p:nvSpPr>
          <p:cNvPr id="30" name="Panel"/>
          <p:cNvSpPr/>
          <p:nvPr/>
        </p:nvSpPr>
        <p:spPr>
          <a:xfrm>
            <a:off x="495300" y="4276725"/>
            <a:ext cx="8153400" cy="400050"/>
          </a:xfrm>
          <a:prstGeom prst="roundRect">
            <a:avLst>
              <a:gd name="adj" fmla="val 10000"/>
            </a:avLst>
          </a:prstGeom>
          <a:solidFill>
            <a:srgbClr val="F3F6F8"/>
          </a:solidFill>
          <a:ln w="9525">
            <a:noFill/>
          </a:ln>
        </p:spPr>
        <p:txBody>
          <a:bodyPr/>
          <a:lstStyle/>
          <a:p>
            <a:endParaRPr lang="en-US"/>
          </a:p>
        </p:txBody>
      </p:sp>
      <p:sp>
        <p:nvSpPr>
          <p:cNvPr id="31" name="Text"/>
          <p:cNvSpPr txBox="1"/>
          <p:nvPr/>
        </p:nvSpPr>
        <p:spPr>
          <a:xfrm>
            <a:off x="666750" y="4352925"/>
            <a:ext cx="7810500" cy="2952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a:solidFill>
                  <a:srgbClr val="435D74"/>
                </a:solidFill>
                <a:latin typeface="Roboto"/>
                <a:ea typeface="Roboto"/>
                <a:cs typeface="Roboto"/>
              </a:rPr>
              <a:t>The business balances its goals and keeps the rules the plan must follow.</a:t>
            </a:r>
            <a:endParaRPr lang="en-US" sz="1350"/>
          </a:p>
        </p:txBody>
      </p:sp>
      <p:grpSp>
        <p:nvGrpSpPr>
          <p:cNvPr id="51" name="Slidesgo vector icon">
            <a:extLst>
              <a:ext uri="{FF2B5EF4-FFF2-40B4-BE49-F238E27FC236}">
                <a16:creationId xmlns:a16="http://schemas.microsoft.com/office/drawing/2014/main" id="{A1C03D15-599F-1E39-91AC-223283FCAD6E}"/>
              </a:ext>
            </a:extLst>
          </p:cNvPr>
          <p:cNvGrpSpPr/>
          <p:nvPr/>
        </p:nvGrpSpPr>
        <p:grpSpPr>
          <a:xfrm>
            <a:off x="495300" y="1824778"/>
            <a:ext cx="419100" cy="419100"/>
            <a:chOff x="1492675" y="2620775"/>
            <a:chExt cx="481825" cy="481825"/>
          </a:xfrm>
        </p:grpSpPr>
        <p:sp>
          <p:nvSpPr>
            <p:cNvPr id="52" name="Slidesgo vector icon">
              <a:extLst>
                <a:ext uri="{FF2B5EF4-FFF2-40B4-BE49-F238E27FC236}">
                  <a16:creationId xmlns:a16="http://schemas.microsoft.com/office/drawing/2014/main" id="{96DCC53B-5B42-D9C8-1E00-AA0EDA65B4EF}"/>
                </a:ext>
              </a:extLst>
            </p:cNvPr>
            <p:cNvSpPr/>
            <p:nvPr/>
          </p:nvSpPr>
          <p:spPr>
            <a:xfrm>
              <a:off x="1677125" y="2620775"/>
              <a:ext cx="112950" cy="113850"/>
            </a:xfrm>
            <a:custGeom>
              <a:avLst/>
              <a:gdLst/>
              <a:ahLst/>
              <a:cxnLst/>
              <a:rect l="l" t="t" r="r" b="b"/>
              <a:pathLst>
                <a:path w="4518" h="4554" extrusionOk="0">
                  <a:moveTo>
                    <a:pt x="2259" y="0"/>
                  </a:moveTo>
                  <a:cubicBezTo>
                    <a:pt x="1009" y="0"/>
                    <a:pt x="0" y="1048"/>
                    <a:pt x="0" y="2298"/>
                  </a:cubicBezTo>
                  <a:cubicBezTo>
                    <a:pt x="0" y="3544"/>
                    <a:pt x="1009" y="4553"/>
                    <a:pt x="2259" y="4553"/>
                  </a:cubicBezTo>
                  <a:cubicBezTo>
                    <a:pt x="3505" y="4553"/>
                    <a:pt x="4517" y="3544"/>
                    <a:pt x="4517" y="2298"/>
                  </a:cubicBezTo>
                  <a:cubicBezTo>
                    <a:pt x="4517" y="1048"/>
                    <a:pt x="3505" y="0"/>
                    <a:pt x="2259"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FD0DB"/>
                </a:solidFill>
              </a:endParaRPr>
            </a:p>
          </p:txBody>
        </p:sp>
        <p:sp>
          <p:nvSpPr>
            <p:cNvPr id="53" name="Slidesgo vector icon">
              <a:extLst>
                <a:ext uri="{FF2B5EF4-FFF2-40B4-BE49-F238E27FC236}">
                  <a16:creationId xmlns:a16="http://schemas.microsoft.com/office/drawing/2014/main" id="{DDF59275-BE11-9BD9-4D39-C1111EA19AC7}"/>
                </a:ext>
              </a:extLst>
            </p:cNvPr>
            <p:cNvSpPr/>
            <p:nvPr/>
          </p:nvSpPr>
          <p:spPr>
            <a:xfrm>
              <a:off x="1492675" y="2734675"/>
              <a:ext cx="481825" cy="367925"/>
            </a:xfrm>
            <a:custGeom>
              <a:avLst/>
              <a:gdLst/>
              <a:ahLst/>
              <a:cxnLst/>
              <a:rect l="l" t="t" r="r" b="b"/>
              <a:pathLst>
                <a:path w="19273" h="14717" extrusionOk="0">
                  <a:moveTo>
                    <a:pt x="5120" y="4517"/>
                  </a:moveTo>
                  <a:cubicBezTo>
                    <a:pt x="5623" y="4517"/>
                    <a:pt x="5873" y="5122"/>
                    <a:pt x="5517" y="5481"/>
                  </a:cubicBezTo>
                  <a:cubicBezTo>
                    <a:pt x="5403" y="5595"/>
                    <a:pt x="5262" y="5647"/>
                    <a:pt x="5123" y="5647"/>
                  </a:cubicBezTo>
                  <a:cubicBezTo>
                    <a:pt x="4833" y="5647"/>
                    <a:pt x="4554" y="5421"/>
                    <a:pt x="4554" y="5080"/>
                  </a:cubicBezTo>
                  <a:cubicBezTo>
                    <a:pt x="4554" y="4767"/>
                    <a:pt x="4807" y="4517"/>
                    <a:pt x="5120" y="4517"/>
                  </a:cubicBezTo>
                  <a:close/>
                  <a:moveTo>
                    <a:pt x="3991" y="0"/>
                  </a:moveTo>
                  <a:cubicBezTo>
                    <a:pt x="3677" y="0"/>
                    <a:pt x="3425" y="250"/>
                    <a:pt x="3425" y="563"/>
                  </a:cubicBezTo>
                  <a:lnTo>
                    <a:pt x="3425" y="2572"/>
                  </a:lnTo>
                  <a:cubicBezTo>
                    <a:pt x="2455" y="3367"/>
                    <a:pt x="1750" y="4439"/>
                    <a:pt x="1401" y="5646"/>
                  </a:cubicBezTo>
                  <a:lnTo>
                    <a:pt x="564" y="5646"/>
                  </a:lnTo>
                  <a:cubicBezTo>
                    <a:pt x="251" y="5646"/>
                    <a:pt x="1" y="5896"/>
                    <a:pt x="1" y="6209"/>
                  </a:cubicBezTo>
                  <a:lnTo>
                    <a:pt x="1" y="9597"/>
                  </a:lnTo>
                  <a:cubicBezTo>
                    <a:pt x="1" y="9910"/>
                    <a:pt x="251" y="10163"/>
                    <a:pt x="564" y="10163"/>
                  </a:cubicBezTo>
                  <a:lnTo>
                    <a:pt x="1850" y="10163"/>
                  </a:lnTo>
                  <a:cubicBezTo>
                    <a:pt x="2446" y="11322"/>
                    <a:pt x="3391" y="12265"/>
                    <a:pt x="4554" y="12858"/>
                  </a:cubicBezTo>
                  <a:lnTo>
                    <a:pt x="4554" y="14153"/>
                  </a:lnTo>
                  <a:cubicBezTo>
                    <a:pt x="4554" y="14463"/>
                    <a:pt x="4807" y="14716"/>
                    <a:pt x="5120" y="14716"/>
                  </a:cubicBezTo>
                  <a:lnTo>
                    <a:pt x="7378" y="14716"/>
                  </a:lnTo>
                  <a:cubicBezTo>
                    <a:pt x="7688" y="14716"/>
                    <a:pt x="7941" y="14463"/>
                    <a:pt x="7941" y="14153"/>
                  </a:cubicBezTo>
                  <a:lnTo>
                    <a:pt x="7941" y="13551"/>
                  </a:lnTo>
                  <a:lnTo>
                    <a:pt x="11329" y="13551"/>
                  </a:lnTo>
                  <a:lnTo>
                    <a:pt x="11329" y="14153"/>
                  </a:lnTo>
                  <a:cubicBezTo>
                    <a:pt x="11329" y="14463"/>
                    <a:pt x="11582" y="14716"/>
                    <a:pt x="11895" y="14716"/>
                  </a:cubicBezTo>
                  <a:lnTo>
                    <a:pt x="14154" y="14716"/>
                  </a:lnTo>
                  <a:cubicBezTo>
                    <a:pt x="14464" y="14716"/>
                    <a:pt x="14717" y="14463"/>
                    <a:pt x="14717" y="14153"/>
                  </a:cubicBezTo>
                  <a:lnTo>
                    <a:pt x="14717" y="12864"/>
                  </a:lnTo>
                  <a:cubicBezTo>
                    <a:pt x="16647" y="11880"/>
                    <a:pt x="17945" y="9958"/>
                    <a:pt x="18107" y="7808"/>
                  </a:cubicBezTo>
                  <a:cubicBezTo>
                    <a:pt x="18800" y="7582"/>
                    <a:pt x="19270" y="6938"/>
                    <a:pt x="19273" y="6209"/>
                  </a:cubicBezTo>
                  <a:lnTo>
                    <a:pt x="19273" y="5080"/>
                  </a:lnTo>
                  <a:cubicBezTo>
                    <a:pt x="19273" y="4767"/>
                    <a:pt x="19020" y="4517"/>
                    <a:pt x="18707" y="4517"/>
                  </a:cubicBezTo>
                  <a:cubicBezTo>
                    <a:pt x="18393" y="4517"/>
                    <a:pt x="18144" y="4767"/>
                    <a:pt x="18144" y="5080"/>
                  </a:cubicBezTo>
                  <a:lnTo>
                    <a:pt x="18144" y="6209"/>
                  </a:lnTo>
                  <a:cubicBezTo>
                    <a:pt x="18141" y="6300"/>
                    <a:pt x="18116" y="6387"/>
                    <a:pt x="18074" y="6465"/>
                  </a:cubicBezTo>
                  <a:cubicBezTo>
                    <a:pt x="17647" y="3454"/>
                    <a:pt x="15021" y="1129"/>
                    <a:pt x="11895" y="1129"/>
                  </a:cubicBezTo>
                  <a:lnTo>
                    <a:pt x="7378" y="1129"/>
                  </a:lnTo>
                  <a:cubicBezTo>
                    <a:pt x="7020" y="1129"/>
                    <a:pt x="6665" y="1166"/>
                    <a:pt x="6315" y="1232"/>
                  </a:cubicBezTo>
                  <a:cubicBezTo>
                    <a:pt x="5788" y="464"/>
                    <a:pt x="4921" y="3"/>
                    <a:pt x="3991"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FD0DB"/>
                </a:solidFill>
              </a:endParaRPr>
            </a:p>
          </p:txBody>
        </p:sp>
      </p:grpSp>
      <p:grpSp>
        <p:nvGrpSpPr>
          <p:cNvPr id="54" name="Slidesgo vector icon">
            <a:extLst>
              <a:ext uri="{FF2B5EF4-FFF2-40B4-BE49-F238E27FC236}">
                <a16:creationId xmlns:a16="http://schemas.microsoft.com/office/drawing/2014/main" id="{781956E5-3639-4524-55B1-237F7852C0BB}"/>
              </a:ext>
            </a:extLst>
          </p:cNvPr>
          <p:cNvGrpSpPr/>
          <p:nvPr/>
        </p:nvGrpSpPr>
        <p:grpSpPr>
          <a:xfrm>
            <a:off x="4810125" y="1824778"/>
            <a:ext cx="419100" cy="436565"/>
            <a:chOff x="-65129950" y="2646800"/>
            <a:chExt cx="311125" cy="317425"/>
          </a:xfrm>
        </p:grpSpPr>
        <p:sp>
          <p:nvSpPr>
            <p:cNvPr id="55" name="Slidesgo vector icon">
              <a:extLst>
                <a:ext uri="{FF2B5EF4-FFF2-40B4-BE49-F238E27FC236}">
                  <a16:creationId xmlns:a16="http://schemas.microsoft.com/office/drawing/2014/main" id="{7BE9C7E5-EEBA-AC98-03CD-F4B37F1F88DE}"/>
                </a:ext>
              </a:extLst>
            </p:cNvPr>
            <p:cNvSpPr/>
            <p:nvPr/>
          </p:nvSpPr>
          <p:spPr>
            <a:xfrm>
              <a:off x="-65129950" y="2646800"/>
              <a:ext cx="311125" cy="317425"/>
            </a:xfrm>
            <a:custGeom>
              <a:avLst/>
              <a:gdLst/>
              <a:ahLst/>
              <a:cxnLst/>
              <a:rect l="l" t="t" r="r" b="b"/>
              <a:pathLst>
                <a:path w="12445" h="12697" extrusionOk="0">
                  <a:moveTo>
                    <a:pt x="6648" y="851"/>
                  </a:moveTo>
                  <a:lnTo>
                    <a:pt x="6648" y="1954"/>
                  </a:lnTo>
                  <a:lnTo>
                    <a:pt x="5860" y="1954"/>
                  </a:lnTo>
                  <a:lnTo>
                    <a:pt x="5860" y="851"/>
                  </a:lnTo>
                  <a:close/>
                  <a:moveTo>
                    <a:pt x="1261" y="1954"/>
                  </a:moveTo>
                  <a:cubicBezTo>
                    <a:pt x="1355" y="1954"/>
                    <a:pt x="1450" y="1985"/>
                    <a:pt x="1544" y="2080"/>
                  </a:cubicBezTo>
                  <a:cubicBezTo>
                    <a:pt x="1733" y="2237"/>
                    <a:pt x="1733" y="2521"/>
                    <a:pt x="1576" y="2678"/>
                  </a:cubicBezTo>
                  <a:cubicBezTo>
                    <a:pt x="1497" y="2757"/>
                    <a:pt x="1387" y="2797"/>
                    <a:pt x="1276" y="2797"/>
                  </a:cubicBezTo>
                  <a:cubicBezTo>
                    <a:pt x="1166" y="2797"/>
                    <a:pt x="1056" y="2757"/>
                    <a:pt x="977" y="2678"/>
                  </a:cubicBezTo>
                  <a:cubicBezTo>
                    <a:pt x="819" y="2521"/>
                    <a:pt x="819" y="2237"/>
                    <a:pt x="977" y="2080"/>
                  </a:cubicBezTo>
                  <a:cubicBezTo>
                    <a:pt x="1072" y="1985"/>
                    <a:pt x="1198" y="1954"/>
                    <a:pt x="1261" y="1954"/>
                  </a:cubicBezTo>
                  <a:close/>
                  <a:moveTo>
                    <a:pt x="11216" y="1954"/>
                  </a:moveTo>
                  <a:cubicBezTo>
                    <a:pt x="11468" y="1954"/>
                    <a:pt x="11626" y="2143"/>
                    <a:pt x="11626" y="2395"/>
                  </a:cubicBezTo>
                  <a:cubicBezTo>
                    <a:pt x="11626" y="2615"/>
                    <a:pt x="11437" y="2836"/>
                    <a:pt x="11216" y="2836"/>
                  </a:cubicBezTo>
                  <a:cubicBezTo>
                    <a:pt x="11027" y="2836"/>
                    <a:pt x="10807" y="2615"/>
                    <a:pt x="10807" y="2395"/>
                  </a:cubicBezTo>
                  <a:cubicBezTo>
                    <a:pt x="10807" y="2143"/>
                    <a:pt x="10996" y="1954"/>
                    <a:pt x="11216" y="1954"/>
                  </a:cubicBezTo>
                  <a:close/>
                  <a:moveTo>
                    <a:pt x="6270" y="2773"/>
                  </a:moveTo>
                  <a:cubicBezTo>
                    <a:pt x="8759" y="2773"/>
                    <a:pt x="10807" y="4821"/>
                    <a:pt x="10807" y="7341"/>
                  </a:cubicBezTo>
                  <a:cubicBezTo>
                    <a:pt x="10807" y="9861"/>
                    <a:pt x="8759" y="11909"/>
                    <a:pt x="6270" y="11909"/>
                  </a:cubicBezTo>
                  <a:cubicBezTo>
                    <a:pt x="3781" y="11909"/>
                    <a:pt x="1733" y="9861"/>
                    <a:pt x="1733" y="7341"/>
                  </a:cubicBezTo>
                  <a:cubicBezTo>
                    <a:pt x="1733" y="4821"/>
                    <a:pt x="3781" y="2773"/>
                    <a:pt x="6270" y="2773"/>
                  </a:cubicBezTo>
                  <a:close/>
                  <a:moveTo>
                    <a:pt x="4663" y="0"/>
                  </a:moveTo>
                  <a:cubicBezTo>
                    <a:pt x="4411" y="0"/>
                    <a:pt x="4254" y="189"/>
                    <a:pt x="4254" y="410"/>
                  </a:cubicBezTo>
                  <a:cubicBezTo>
                    <a:pt x="4254" y="662"/>
                    <a:pt x="4474" y="851"/>
                    <a:pt x="4663" y="851"/>
                  </a:cubicBezTo>
                  <a:lnTo>
                    <a:pt x="5104" y="851"/>
                  </a:lnTo>
                  <a:lnTo>
                    <a:pt x="5104" y="2111"/>
                  </a:lnTo>
                  <a:cubicBezTo>
                    <a:pt x="4254" y="2300"/>
                    <a:pt x="3466" y="2710"/>
                    <a:pt x="2836" y="3245"/>
                  </a:cubicBezTo>
                  <a:lnTo>
                    <a:pt x="2489" y="2899"/>
                  </a:lnTo>
                  <a:cubicBezTo>
                    <a:pt x="2741" y="2426"/>
                    <a:pt x="2647" y="1891"/>
                    <a:pt x="2269" y="1481"/>
                  </a:cubicBezTo>
                  <a:cubicBezTo>
                    <a:pt x="2032" y="1245"/>
                    <a:pt x="1717" y="1127"/>
                    <a:pt x="1394" y="1127"/>
                  </a:cubicBezTo>
                  <a:cubicBezTo>
                    <a:pt x="1072" y="1127"/>
                    <a:pt x="741" y="1245"/>
                    <a:pt x="473" y="1481"/>
                  </a:cubicBezTo>
                  <a:cubicBezTo>
                    <a:pt x="0" y="1954"/>
                    <a:pt x="0" y="2741"/>
                    <a:pt x="473" y="3245"/>
                  </a:cubicBezTo>
                  <a:cubicBezTo>
                    <a:pt x="725" y="3498"/>
                    <a:pt x="1040" y="3624"/>
                    <a:pt x="1355" y="3624"/>
                  </a:cubicBezTo>
                  <a:cubicBezTo>
                    <a:pt x="1544" y="3624"/>
                    <a:pt x="1702" y="3561"/>
                    <a:pt x="1891" y="3498"/>
                  </a:cubicBezTo>
                  <a:lnTo>
                    <a:pt x="2269" y="3844"/>
                  </a:lnTo>
                  <a:cubicBezTo>
                    <a:pt x="1481" y="4789"/>
                    <a:pt x="946" y="6018"/>
                    <a:pt x="946" y="7341"/>
                  </a:cubicBezTo>
                  <a:cubicBezTo>
                    <a:pt x="946" y="10303"/>
                    <a:pt x="3371" y="12697"/>
                    <a:pt x="6301" y="12697"/>
                  </a:cubicBezTo>
                  <a:cubicBezTo>
                    <a:pt x="9263" y="12697"/>
                    <a:pt x="11657" y="10303"/>
                    <a:pt x="11657" y="7341"/>
                  </a:cubicBezTo>
                  <a:cubicBezTo>
                    <a:pt x="11657" y="6018"/>
                    <a:pt x="11185" y="4789"/>
                    <a:pt x="10365" y="3844"/>
                  </a:cubicBezTo>
                  <a:lnTo>
                    <a:pt x="10712" y="3498"/>
                  </a:lnTo>
                  <a:cubicBezTo>
                    <a:pt x="10838" y="3561"/>
                    <a:pt x="11027" y="3624"/>
                    <a:pt x="11216" y="3624"/>
                  </a:cubicBezTo>
                  <a:cubicBezTo>
                    <a:pt x="11909" y="3624"/>
                    <a:pt x="12445" y="3056"/>
                    <a:pt x="12445" y="2363"/>
                  </a:cubicBezTo>
                  <a:cubicBezTo>
                    <a:pt x="12445" y="1670"/>
                    <a:pt x="11909" y="1135"/>
                    <a:pt x="11216" y="1135"/>
                  </a:cubicBezTo>
                  <a:cubicBezTo>
                    <a:pt x="10555" y="1135"/>
                    <a:pt x="10019" y="1670"/>
                    <a:pt x="10019" y="2363"/>
                  </a:cubicBezTo>
                  <a:cubicBezTo>
                    <a:pt x="10019" y="2552"/>
                    <a:pt x="10050" y="2710"/>
                    <a:pt x="10113" y="2899"/>
                  </a:cubicBezTo>
                  <a:lnTo>
                    <a:pt x="9767" y="3245"/>
                  </a:lnTo>
                  <a:cubicBezTo>
                    <a:pt x="9137" y="2710"/>
                    <a:pt x="8349" y="2300"/>
                    <a:pt x="7530" y="2111"/>
                  </a:cubicBezTo>
                  <a:lnTo>
                    <a:pt x="7530" y="851"/>
                  </a:lnTo>
                  <a:lnTo>
                    <a:pt x="7971" y="851"/>
                  </a:lnTo>
                  <a:cubicBezTo>
                    <a:pt x="8192" y="851"/>
                    <a:pt x="8349" y="662"/>
                    <a:pt x="8349" y="410"/>
                  </a:cubicBezTo>
                  <a:cubicBezTo>
                    <a:pt x="8349" y="189"/>
                    <a:pt x="8160" y="0"/>
                    <a:pt x="7971"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Slidesgo vector icon">
              <a:extLst>
                <a:ext uri="{FF2B5EF4-FFF2-40B4-BE49-F238E27FC236}">
                  <a16:creationId xmlns:a16="http://schemas.microsoft.com/office/drawing/2014/main" id="{FADB2C54-B50F-4449-0F20-A8307CC66AC1}"/>
                </a:ext>
              </a:extLst>
            </p:cNvPr>
            <p:cNvSpPr/>
            <p:nvPr/>
          </p:nvSpPr>
          <p:spPr>
            <a:xfrm>
              <a:off x="-65066950" y="2738175"/>
              <a:ext cx="187475" cy="185100"/>
            </a:xfrm>
            <a:custGeom>
              <a:avLst/>
              <a:gdLst/>
              <a:ahLst/>
              <a:cxnLst/>
              <a:rect l="l" t="t" r="r" b="b"/>
              <a:pathLst>
                <a:path w="7499" h="7404" extrusionOk="0">
                  <a:moveTo>
                    <a:pt x="3309" y="819"/>
                  </a:moveTo>
                  <a:lnTo>
                    <a:pt x="3309" y="3686"/>
                  </a:lnTo>
                  <a:cubicBezTo>
                    <a:pt x="3309" y="3938"/>
                    <a:pt x="3498" y="4127"/>
                    <a:pt x="3718" y="4127"/>
                  </a:cubicBezTo>
                  <a:lnTo>
                    <a:pt x="6612" y="4127"/>
                  </a:lnTo>
                  <a:cubicBezTo>
                    <a:pt x="6410" y="5529"/>
                    <a:pt x="5188" y="6585"/>
                    <a:pt x="3750" y="6585"/>
                  </a:cubicBezTo>
                  <a:cubicBezTo>
                    <a:pt x="2143" y="6585"/>
                    <a:pt x="820" y="5261"/>
                    <a:pt x="820" y="3686"/>
                  </a:cubicBezTo>
                  <a:cubicBezTo>
                    <a:pt x="820" y="2237"/>
                    <a:pt x="1891" y="1008"/>
                    <a:pt x="3309" y="819"/>
                  </a:cubicBezTo>
                  <a:close/>
                  <a:moveTo>
                    <a:pt x="3750" y="0"/>
                  </a:moveTo>
                  <a:cubicBezTo>
                    <a:pt x="1702" y="0"/>
                    <a:pt x="1" y="1638"/>
                    <a:pt x="1" y="3686"/>
                  </a:cubicBezTo>
                  <a:cubicBezTo>
                    <a:pt x="1" y="5734"/>
                    <a:pt x="1671" y="7404"/>
                    <a:pt x="3750" y="7404"/>
                  </a:cubicBezTo>
                  <a:cubicBezTo>
                    <a:pt x="5798" y="7404"/>
                    <a:pt x="7499" y="5734"/>
                    <a:pt x="7499" y="3686"/>
                  </a:cubicBezTo>
                  <a:cubicBezTo>
                    <a:pt x="7499" y="3466"/>
                    <a:pt x="7278" y="3277"/>
                    <a:pt x="7058" y="3277"/>
                  </a:cubicBezTo>
                  <a:lnTo>
                    <a:pt x="4128" y="3277"/>
                  </a:lnTo>
                  <a:lnTo>
                    <a:pt x="4128" y="378"/>
                  </a:lnTo>
                  <a:cubicBezTo>
                    <a:pt x="4128" y="158"/>
                    <a:pt x="3939" y="0"/>
                    <a:pt x="3750"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 name="Slidesgo vector icon">
            <a:extLst>
              <a:ext uri="{FF2B5EF4-FFF2-40B4-BE49-F238E27FC236}">
                <a16:creationId xmlns:a16="http://schemas.microsoft.com/office/drawing/2014/main" id="{FD8C5E2F-88DF-1F42-C60D-8CA7F24B46F5}"/>
              </a:ext>
            </a:extLst>
          </p:cNvPr>
          <p:cNvGrpSpPr/>
          <p:nvPr/>
        </p:nvGrpSpPr>
        <p:grpSpPr>
          <a:xfrm>
            <a:off x="495300" y="2996353"/>
            <a:ext cx="419100" cy="419111"/>
            <a:chOff x="-2571737" y="2403625"/>
            <a:chExt cx="292225" cy="291425"/>
          </a:xfrm>
        </p:grpSpPr>
        <p:sp>
          <p:nvSpPr>
            <p:cNvPr id="58" name="Slidesgo vector icon">
              <a:extLst>
                <a:ext uri="{FF2B5EF4-FFF2-40B4-BE49-F238E27FC236}">
                  <a16:creationId xmlns:a16="http://schemas.microsoft.com/office/drawing/2014/main" id="{1B81B569-68ED-8F45-F8F5-5A96775331D6}"/>
                </a:ext>
              </a:extLst>
            </p:cNvPr>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Slidesgo vector icon">
              <a:extLst>
                <a:ext uri="{FF2B5EF4-FFF2-40B4-BE49-F238E27FC236}">
                  <a16:creationId xmlns:a16="http://schemas.microsoft.com/office/drawing/2014/main" id="{8D1960D0-1F42-77CA-AC4E-79609AF64D28}"/>
                </a:ext>
              </a:extLst>
            </p:cNvPr>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Slidesgo vector icon">
              <a:extLst>
                <a:ext uri="{FF2B5EF4-FFF2-40B4-BE49-F238E27FC236}">
                  <a16:creationId xmlns:a16="http://schemas.microsoft.com/office/drawing/2014/main" id="{385F08ED-5851-A04C-F690-E09E63556B83}"/>
                </a:ext>
              </a:extLst>
            </p:cNvPr>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Slidesgo vector icon">
              <a:extLst>
                <a:ext uri="{FF2B5EF4-FFF2-40B4-BE49-F238E27FC236}">
                  <a16:creationId xmlns:a16="http://schemas.microsoft.com/office/drawing/2014/main" id="{898DACC0-BEF7-E3DD-801B-4EB9EE851AE5}"/>
                </a:ext>
              </a:extLst>
            </p:cNvPr>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Slidesgo vector icon">
              <a:extLst>
                <a:ext uri="{FF2B5EF4-FFF2-40B4-BE49-F238E27FC236}">
                  <a16:creationId xmlns:a16="http://schemas.microsoft.com/office/drawing/2014/main" id="{4FC08471-C554-BA0A-1690-A3DAB72F88C0}"/>
                </a:ext>
              </a:extLst>
            </p:cNvPr>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Slidesgo vector icon">
              <a:extLst>
                <a:ext uri="{FF2B5EF4-FFF2-40B4-BE49-F238E27FC236}">
                  <a16:creationId xmlns:a16="http://schemas.microsoft.com/office/drawing/2014/main" id="{897B88E0-6A2B-FE2C-7D28-D35636C9F648}"/>
                </a:ext>
              </a:extLst>
            </p:cNvPr>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Slidesgo vector icon">
              <a:extLst>
                <a:ext uri="{FF2B5EF4-FFF2-40B4-BE49-F238E27FC236}">
                  <a16:creationId xmlns:a16="http://schemas.microsoft.com/office/drawing/2014/main" id="{61D90D7B-0769-C8BF-4AD7-C934D3F48F1A}"/>
                </a:ext>
              </a:extLst>
            </p:cNvPr>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 name="Slidesgo vector icon">
            <a:extLst>
              <a:ext uri="{FF2B5EF4-FFF2-40B4-BE49-F238E27FC236}">
                <a16:creationId xmlns:a16="http://schemas.microsoft.com/office/drawing/2014/main" id="{F4E728AA-6FE5-E075-01AF-63830C63AB7B}"/>
              </a:ext>
            </a:extLst>
          </p:cNvPr>
          <p:cNvGrpSpPr/>
          <p:nvPr/>
        </p:nvGrpSpPr>
        <p:grpSpPr>
          <a:xfrm>
            <a:off x="4810125" y="2996353"/>
            <a:ext cx="419100" cy="417026"/>
            <a:chOff x="-63679950" y="3360375"/>
            <a:chExt cx="318225" cy="316650"/>
          </a:xfrm>
        </p:grpSpPr>
        <p:sp>
          <p:nvSpPr>
            <p:cNvPr id="66" name="Slidesgo vector icon">
              <a:extLst>
                <a:ext uri="{FF2B5EF4-FFF2-40B4-BE49-F238E27FC236}">
                  <a16:creationId xmlns:a16="http://schemas.microsoft.com/office/drawing/2014/main" id="{997E6BE8-1228-17A3-B003-ABA0EA41D68B}"/>
                </a:ext>
              </a:extLst>
            </p:cNvPr>
            <p:cNvSpPr/>
            <p:nvPr/>
          </p:nvSpPr>
          <p:spPr>
            <a:xfrm>
              <a:off x="-63497200" y="3423400"/>
              <a:ext cx="40975" cy="40975"/>
            </a:xfrm>
            <a:custGeom>
              <a:avLst/>
              <a:gdLst/>
              <a:ahLst/>
              <a:cxnLst/>
              <a:rect l="l" t="t" r="r" b="b"/>
              <a:pathLst>
                <a:path w="1639" h="1639" extrusionOk="0">
                  <a:moveTo>
                    <a:pt x="819" y="0"/>
                  </a:moveTo>
                  <a:cubicBezTo>
                    <a:pt x="378" y="0"/>
                    <a:pt x="0" y="378"/>
                    <a:pt x="0" y="819"/>
                  </a:cubicBezTo>
                  <a:cubicBezTo>
                    <a:pt x="0" y="1260"/>
                    <a:pt x="378" y="1638"/>
                    <a:pt x="819" y="1638"/>
                  </a:cubicBezTo>
                  <a:cubicBezTo>
                    <a:pt x="1260" y="1638"/>
                    <a:pt x="1638" y="1260"/>
                    <a:pt x="1638" y="819"/>
                  </a:cubicBezTo>
                  <a:cubicBezTo>
                    <a:pt x="1638" y="378"/>
                    <a:pt x="1260" y="0"/>
                    <a:pt x="819"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Slidesgo vector icon">
              <a:extLst>
                <a:ext uri="{FF2B5EF4-FFF2-40B4-BE49-F238E27FC236}">
                  <a16:creationId xmlns:a16="http://schemas.microsoft.com/office/drawing/2014/main" id="{224197E4-A740-C7AF-E0C5-6FA3EB71C195}"/>
                </a:ext>
              </a:extLst>
            </p:cNvPr>
            <p:cNvSpPr/>
            <p:nvPr/>
          </p:nvSpPr>
          <p:spPr>
            <a:xfrm>
              <a:off x="-63516900" y="3485625"/>
              <a:ext cx="79575" cy="29950"/>
            </a:xfrm>
            <a:custGeom>
              <a:avLst/>
              <a:gdLst/>
              <a:ahLst/>
              <a:cxnLst/>
              <a:rect l="l" t="t" r="r" b="b"/>
              <a:pathLst>
                <a:path w="3183" h="1198" extrusionOk="0">
                  <a:moveTo>
                    <a:pt x="1607" y="0"/>
                  </a:moveTo>
                  <a:cubicBezTo>
                    <a:pt x="820" y="0"/>
                    <a:pt x="190" y="504"/>
                    <a:pt x="1" y="1197"/>
                  </a:cubicBezTo>
                  <a:lnTo>
                    <a:pt x="3183" y="1197"/>
                  </a:lnTo>
                  <a:cubicBezTo>
                    <a:pt x="3025" y="504"/>
                    <a:pt x="2395" y="0"/>
                    <a:pt x="1607"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Slidesgo vector icon">
              <a:extLst>
                <a:ext uri="{FF2B5EF4-FFF2-40B4-BE49-F238E27FC236}">
                  <a16:creationId xmlns:a16="http://schemas.microsoft.com/office/drawing/2014/main" id="{1ABAD2F7-BED2-1C36-68DC-8593E2CC6D59}"/>
                </a:ext>
              </a:extLst>
            </p:cNvPr>
            <p:cNvSpPr/>
            <p:nvPr/>
          </p:nvSpPr>
          <p:spPr>
            <a:xfrm>
              <a:off x="-63618500" y="3360375"/>
              <a:ext cx="256775" cy="256600"/>
            </a:xfrm>
            <a:custGeom>
              <a:avLst/>
              <a:gdLst/>
              <a:ahLst/>
              <a:cxnLst/>
              <a:rect l="l" t="t" r="r" b="b"/>
              <a:pathLst>
                <a:path w="10271" h="10264" extrusionOk="0">
                  <a:moveTo>
                    <a:pt x="5703" y="1639"/>
                  </a:moveTo>
                  <a:cubicBezTo>
                    <a:pt x="6616" y="1639"/>
                    <a:pt x="7373" y="2395"/>
                    <a:pt x="7373" y="3309"/>
                  </a:cubicBezTo>
                  <a:cubicBezTo>
                    <a:pt x="7373" y="3750"/>
                    <a:pt x="7215" y="4128"/>
                    <a:pt x="6900" y="4443"/>
                  </a:cubicBezTo>
                  <a:cubicBezTo>
                    <a:pt x="7625" y="4884"/>
                    <a:pt x="8192" y="5672"/>
                    <a:pt x="8192" y="6617"/>
                  </a:cubicBezTo>
                  <a:cubicBezTo>
                    <a:pt x="8160" y="6900"/>
                    <a:pt x="8003" y="7058"/>
                    <a:pt x="7751" y="7058"/>
                  </a:cubicBezTo>
                  <a:lnTo>
                    <a:pt x="3623" y="7058"/>
                  </a:lnTo>
                  <a:cubicBezTo>
                    <a:pt x="3371" y="7058"/>
                    <a:pt x="3214" y="6837"/>
                    <a:pt x="3214" y="6617"/>
                  </a:cubicBezTo>
                  <a:cubicBezTo>
                    <a:pt x="3214" y="5672"/>
                    <a:pt x="3749" y="4884"/>
                    <a:pt x="4537" y="4443"/>
                  </a:cubicBezTo>
                  <a:cubicBezTo>
                    <a:pt x="4254" y="4128"/>
                    <a:pt x="4065" y="3718"/>
                    <a:pt x="4065" y="3309"/>
                  </a:cubicBezTo>
                  <a:cubicBezTo>
                    <a:pt x="4065" y="2395"/>
                    <a:pt x="4789" y="1639"/>
                    <a:pt x="5703" y="1639"/>
                  </a:cubicBezTo>
                  <a:close/>
                  <a:moveTo>
                    <a:pt x="5703" y="1"/>
                  </a:moveTo>
                  <a:cubicBezTo>
                    <a:pt x="3182" y="1"/>
                    <a:pt x="1135" y="2049"/>
                    <a:pt x="1135" y="4569"/>
                  </a:cubicBezTo>
                  <a:cubicBezTo>
                    <a:pt x="1135" y="5609"/>
                    <a:pt x="1481" y="6648"/>
                    <a:pt x="2206" y="7467"/>
                  </a:cubicBezTo>
                  <a:lnTo>
                    <a:pt x="1607" y="8066"/>
                  </a:lnTo>
                  <a:lnTo>
                    <a:pt x="756" y="7184"/>
                  </a:lnTo>
                  <a:cubicBezTo>
                    <a:pt x="678" y="7121"/>
                    <a:pt x="567" y="7089"/>
                    <a:pt x="457" y="7089"/>
                  </a:cubicBezTo>
                  <a:cubicBezTo>
                    <a:pt x="347" y="7089"/>
                    <a:pt x="237" y="7121"/>
                    <a:pt x="158" y="7184"/>
                  </a:cubicBezTo>
                  <a:cubicBezTo>
                    <a:pt x="0" y="7341"/>
                    <a:pt x="0" y="7625"/>
                    <a:pt x="158" y="7783"/>
                  </a:cubicBezTo>
                  <a:lnTo>
                    <a:pt x="1324" y="8980"/>
                  </a:lnTo>
                  <a:lnTo>
                    <a:pt x="2521" y="10145"/>
                  </a:lnTo>
                  <a:cubicBezTo>
                    <a:pt x="2600" y="10224"/>
                    <a:pt x="2710" y="10264"/>
                    <a:pt x="2820" y="10264"/>
                  </a:cubicBezTo>
                  <a:cubicBezTo>
                    <a:pt x="2930" y="10264"/>
                    <a:pt x="3041" y="10224"/>
                    <a:pt x="3119" y="10145"/>
                  </a:cubicBezTo>
                  <a:cubicBezTo>
                    <a:pt x="3277" y="9988"/>
                    <a:pt x="3277" y="9704"/>
                    <a:pt x="3119" y="9547"/>
                  </a:cubicBezTo>
                  <a:lnTo>
                    <a:pt x="2237" y="8696"/>
                  </a:lnTo>
                  <a:lnTo>
                    <a:pt x="2836" y="8098"/>
                  </a:lnTo>
                  <a:cubicBezTo>
                    <a:pt x="3655" y="8759"/>
                    <a:pt x="4695" y="9169"/>
                    <a:pt x="5734" y="9169"/>
                  </a:cubicBezTo>
                  <a:cubicBezTo>
                    <a:pt x="8255" y="9169"/>
                    <a:pt x="10271" y="7121"/>
                    <a:pt x="10271" y="4632"/>
                  </a:cubicBezTo>
                  <a:cubicBezTo>
                    <a:pt x="10239" y="2049"/>
                    <a:pt x="8223" y="1"/>
                    <a:pt x="5703"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Slidesgo vector icon">
              <a:extLst>
                <a:ext uri="{FF2B5EF4-FFF2-40B4-BE49-F238E27FC236}">
                  <a16:creationId xmlns:a16="http://schemas.microsoft.com/office/drawing/2014/main" id="{9ECA7519-BDB2-E67D-DFC3-8F736DF02376}"/>
                </a:ext>
              </a:extLst>
            </p:cNvPr>
            <p:cNvSpPr/>
            <p:nvPr/>
          </p:nvSpPr>
          <p:spPr>
            <a:xfrm>
              <a:off x="-63679950" y="3576200"/>
              <a:ext cx="102425" cy="100825"/>
            </a:xfrm>
            <a:custGeom>
              <a:avLst/>
              <a:gdLst/>
              <a:ahLst/>
              <a:cxnLst/>
              <a:rect l="l" t="t" r="r" b="b"/>
              <a:pathLst>
                <a:path w="4097" h="4033" extrusionOk="0">
                  <a:moveTo>
                    <a:pt x="2332" y="0"/>
                  </a:moveTo>
                  <a:lnTo>
                    <a:pt x="159" y="2142"/>
                  </a:lnTo>
                  <a:cubicBezTo>
                    <a:pt x="1" y="2300"/>
                    <a:pt x="1" y="2584"/>
                    <a:pt x="159" y="2741"/>
                  </a:cubicBezTo>
                  <a:lnTo>
                    <a:pt x="1356" y="3938"/>
                  </a:lnTo>
                  <a:cubicBezTo>
                    <a:pt x="1434" y="4001"/>
                    <a:pt x="1545" y="4033"/>
                    <a:pt x="1655" y="4033"/>
                  </a:cubicBezTo>
                  <a:cubicBezTo>
                    <a:pt x="1765" y="4033"/>
                    <a:pt x="1876" y="4001"/>
                    <a:pt x="1954" y="3938"/>
                  </a:cubicBezTo>
                  <a:lnTo>
                    <a:pt x="4097" y="1764"/>
                  </a:lnTo>
                  <a:lnTo>
                    <a:pt x="2332" y="0"/>
                  </a:ln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name="Short-term and long-term decisions">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Short-term and long-term decisions</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5" name="Text"/>
          <p:cNvSpPr txBox="1"/>
          <p:nvPr/>
        </p:nvSpPr>
        <p:spPr>
          <a:xfrm>
            <a:off x="5429250" y="4867275"/>
            <a:ext cx="2381250" cy="171450"/>
          </a:xfrm>
          <a:prstGeom prst="rect">
            <a:avLst/>
          </a:prstGeom>
          <a:noFill/>
          <a:ln w="9525">
            <a:noFill/>
          </a:ln>
        </p:spPr>
        <p:txBody>
          <a:bodyPr wrap="none" lIns="0" tIns="0" rIns="0" bIns="0" anchor="t">
            <a:noAutofit/>
          </a:bodyPr>
          <a:lstStyle/>
          <a:p>
            <a:pPr marL="0" indent="0" algn="r">
              <a:lnSpc>
                <a:spcPts val="1031"/>
              </a:lnSpc>
              <a:spcAft>
                <a:spcPts val="0"/>
              </a:spcAft>
              <a:buNone/>
            </a:pPr>
            <a:r>
              <a:rPr lang="en-US" sz="825" b="0">
                <a:solidFill>
                  <a:srgbClr val="6D8495"/>
                </a:solidFill>
                <a:latin typeface="Roboto"/>
                <a:ea typeface="Roboto"/>
                <a:cs typeface="Roboto"/>
              </a:rPr>
              <a:t>Template artwork: Slidesgo</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algn="r">
              <a:lnSpc>
                <a:spcPts val="1031"/>
              </a:lnSpc>
            </a:pPr>
            <a:r>
              <a:rPr lang="en-US" sz="825" dirty="0">
                <a:solidFill>
                  <a:srgbClr val="6D8495"/>
                </a:solidFill>
                <a:latin typeface="Roboto"/>
                <a:ea typeface="Roboto"/>
                <a:cs typeface="Roboto"/>
              </a:rPr>
              <a:t>11 /  14</a:t>
            </a:r>
            <a:endParaRPr lang="en-US" sz="825" dirty="0"/>
          </a:p>
        </p:txBody>
      </p:sp>
      <p:cxnSp>
        <p:nvCxnSpPr>
          <p:cNvPr id="7" name="Connector"/>
          <p:cNvCxnSpPr/>
          <p:nvPr/>
        </p:nvCxnSpPr>
        <p:spPr>
          <a:xfrm>
            <a:off x="923925" y="2362200"/>
            <a:ext cx="7286625" cy="95"/>
          </a:xfrm>
          <a:prstGeom prst="line">
            <a:avLst/>
          </a:prstGeom>
          <a:ln w="28575">
            <a:solidFill>
              <a:srgbClr val="869FB2"/>
            </a:solidFill>
          </a:ln>
        </p:spPr>
      </p:cxnSp>
      <p:grpSp>
        <p:nvGrpSpPr>
          <p:cNvPr id="8" name="Slidesgo vector icon"/>
          <p:cNvGrpSpPr/>
          <p:nvPr/>
        </p:nvGrpSpPr>
        <p:grpSpPr>
          <a:xfrm>
            <a:off x="885825" y="1285875"/>
            <a:ext cx="419100" cy="436565"/>
            <a:chOff x="-65129950" y="2646800"/>
            <a:chExt cx="311125" cy="317425"/>
          </a:xfrm>
        </p:grpSpPr>
        <p:sp>
          <p:nvSpPr>
            <p:cNvPr id="9" name="Slidesgo vector icon"/>
            <p:cNvSpPr/>
            <p:nvPr/>
          </p:nvSpPr>
          <p:spPr>
            <a:xfrm>
              <a:off x="-65129950" y="2646800"/>
              <a:ext cx="311125" cy="317425"/>
            </a:xfrm>
            <a:custGeom>
              <a:avLst/>
              <a:gdLst/>
              <a:ahLst/>
              <a:cxnLst/>
              <a:rect l="l" t="t" r="r" b="b"/>
              <a:pathLst>
                <a:path w="12445" h="12697" extrusionOk="0">
                  <a:moveTo>
                    <a:pt x="6648" y="851"/>
                  </a:moveTo>
                  <a:lnTo>
                    <a:pt x="6648" y="1954"/>
                  </a:lnTo>
                  <a:lnTo>
                    <a:pt x="5860" y="1954"/>
                  </a:lnTo>
                  <a:lnTo>
                    <a:pt x="5860" y="851"/>
                  </a:lnTo>
                  <a:close/>
                  <a:moveTo>
                    <a:pt x="1261" y="1954"/>
                  </a:moveTo>
                  <a:cubicBezTo>
                    <a:pt x="1355" y="1954"/>
                    <a:pt x="1450" y="1985"/>
                    <a:pt x="1544" y="2080"/>
                  </a:cubicBezTo>
                  <a:cubicBezTo>
                    <a:pt x="1733" y="2237"/>
                    <a:pt x="1733" y="2521"/>
                    <a:pt x="1576" y="2678"/>
                  </a:cubicBezTo>
                  <a:cubicBezTo>
                    <a:pt x="1497" y="2757"/>
                    <a:pt x="1387" y="2797"/>
                    <a:pt x="1276" y="2797"/>
                  </a:cubicBezTo>
                  <a:cubicBezTo>
                    <a:pt x="1166" y="2797"/>
                    <a:pt x="1056" y="2757"/>
                    <a:pt x="977" y="2678"/>
                  </a:cubicBezTo>
                  <a:cubicBezTo>
                    <a:pt x="819" y="2521"/>
                    <a:pt x="819" y="2237"/>
                    <a:pt x="977" y="2080"/>
                  </a:cubicBezTo>
                  <a:cubicBezTo>
                    <a:pt x="1072" y="1985"/>
                    <a:pt x="1198" y="1954"/>
                    <a:pt x="1261" y="1954"/>
                  </a:cubicBezTo>
                  <a:close/>
                  <a:moveTo>
                    <a:pt x="11216" y="1954"/>
                  </a:moveTo>
                  <a:cubicBezTo>
                    <a:pt x="11468" y="1954"/>
                    <a:pt x="11626" y="2143"/>
                    <a:pt x="11626" y="2395"/>
                  </a:cubicBezTo>
                  <a:cubicBezTo>
                    <a:pt x="11626" y="2615"/>
                    <a:pt x="11437" y="2836"/>
                    <a:pt x="11216" y="2836"/>
                  </a:cubicBezTo>
                  <a:cubicBezTo>
                    <a:pt x="11027" y="2836"/>
                    <a:pt x="10807" y="2615"/>
                    <a:pt x="10807" y="2395"/>
                  </a:cubicBezTo>
                  <a:cubicBezTo>
                    <a:pt x="10807" y="2143"/>
                    <a:pt x="10996" y="1954"/>
                    <a:pt x="11216" y="1954"/>
                  </a:cubicBezTo>
                  <a:close/>
                  <a:moveTo>
                    <a:pt x="6270" y="2773"/>
                  </a:moveTo>
                  <a:cubicBezTo>
                    <a:pt x="8759" y="2773"/>
                    <a:pt x="10807" y="4821"/>
                    <a:pt x="10807" y="7341"/>
                  </a:cubicBezTo>
                  <a:cubicBezTo>
                    <a:pt x="10807" y="9861"/>
                    <a:pt x="8759" y="11909"/>
                    <a:pt x="6270" y="11909"/>
                  </a:cubicBezTo>
                  <a:cubicBezTo>
                    <a:pt x="3781" y="11909"/>
                    <a:pt x="1733" y="9861"/>
                    <a:pt x="1733" y="7341"/>
                  </a:cubicBezTo>
                  <a:cubicBezTo>
                    <a:pt x="1733" y="4821"/>
                    <a:pt x="3781" y="2773"/>
                    <a:pt x="6270" y="2773"/>
                  </a:cubicBezTo>
                  <a:close/>
                  <a:moveTo>
                    <a:pt x="4663" y="0"/>
                  </a:moveTo>
                  <a:cubicBezTo>
                    <a:pt x="4411" y="0"/>
                    <a:pt x="4254" y="189"/>
                    <a:pt x="4254" y="410"/>
                  </a:cubicBezTo>
                  <a:cubicBezTo>
                    <a:pt x="4254" y="662"/>
                    <a:pt x="4474" y="851"/>
                    <a:pt x="4663" y="851"/>
                  </a:cubicBezTo>
                  <a:lnTo>
                    <a:pt x="5104" y="851"/>
                  </a:lnTo>
                  <a:lnTo>
                    <a:pt x="5104" y="2111"/>
                  </a:lnTo>
                  <a:cubicBezTo>
                    <a:pt x="4254" y="2300"/>
                    <a:pt x="3466" y="2710"/>
                    <a:pt x="2836" y="3245"/>
                  </a:cubicBezTo>
                  <a:lnTo>
                    <a:pt x="2489" y="2899"/>
                  </a:lnTo>
                  <a:cubicBezTo>
                    <a:pt x="2741" y="2426"/>
                    <a:pt x="2647" y="1891"/>
                    <a:pt x="2269" y="1481"/>
                  </a:cubicBezTo>
                  <a:cubicBezTo>
                    <a:pt x="2032" y="1245"/>
                    <a:pt x="1717" y="1127"/>
                    <a:pt x="1394" y="1127"/>
                  </a:cubicBezTo>
                  <a:cubicBezTo>
                    <a:pt x="1072" y="1127"/>
                    <a:pt x="741" y="1245"/>
                    <a:pt x="473" y="1481"/>
                  </a:cubicBezTo>
                  <a:cubicBezTo>
                    <a:pt x="0" y="1954"/>
                    <a:pt x="0" y="2741"/>
                    <a:pt x="473" y="3245"/>
                  </a:cubicBezTo>
                  <a:cubicBezTo>
                    <a:pt x="725" y="3498"/>
                    <a:pt x="1040" y="3624"/>
                    <a:pt x="1355" y="3624"/>
                  </a:cubicBezTo>
                  <a:cubicBezTo>
                    <a:pt x="1544" y="3624"/>
                    <a:pt x="1702" y="3561"/>
                    <a:pt x="1891" y="3498"/>
                  </a:cubicBezTo>
                  <a:lnTo>
                    <a:pt x="2269" y="3844"/>
                  </a:lnTo>
                  <a:cubicBezTo>
                    <a:pt x="1481" y="4789"/>
                    <a:pt x="946" y="6018"/>
                    <a:pt x="946" y="7341"/>
                  </a:cubicBezTo>
                  <a:cubicBezTo>
                    <a:pt x="946" y="10303"/>
                    <a:pt x="3371" y="12697"/>
                    <a:pt x="6301" y="12697"/>
                  </a:cubicBezTo>
                  <a:cubicBezTo>
                    <a:pt x="9263" y="12697"/>
                    <a:pt x="11657" y="10303"/>
                    <a:pt x="11657" y="7341"/>
                  </a:cubicBezTo>
                  <a:cubicBezTo>
                    <a:pt x="11657" y="6018"/>
                    <a:pt x="11185" y="4789"/>
                    <a:pt x="10365" y="3844"/>
                  </a:cubicBezTo>
                  <a:lnTo>
                    <a:pt x="10712" y="3498"/>
                  </a:lnTo>
                  <a:cubicBezTo>
                    <a:pt x="10838" y="3561"/>
                    <a:pt x="11027" y="3624"/>
                    <a:pt x="11216" y="3624"/>
                  </a:cubicBezTo>
                  <a:cubicBezTo>
                    <a:pt x="11909" y="3624"/>
                    <a:pt x="12445" y="3056"/>
                    <a:pt x="12445" y="2363"/>
                  </a:cubicBezTo>
                  <a:cubicBezTo>
                    <a:pt x="12445" y="1670"/>
                    <a:pt x="11909" y="1135"/>
                    <a:pt x="11216" y="1135"/>
                  </a:cubicBezTo>
                  <a:cubicBezTo>
                    <a:pt x="10555" y="1135"/>
                    <a:pt x="10019" y="1670"/>
                    <a:pt x="10019" y="2363"/>
                  </a:cubicBezTo>
                  <a:cubicBezTo>
                    <a:pt x="10019" y="2552"/>
                    <a:pt x="10050" y="2710"/>
                    <a:pt x="10113" y="2899"/>
                  </a:cubicBezTo>
                  <a:lnTo>
                    <a:pt x="9767" y="3245"/>
                  </a:lnTo>
                  <a:cubicBezTo>
                    <a:pt x="9137" y="2710"/>
                    <a:pt x="8349" y="2300"/>
                    <a:pt x="7530" y="2111"/>
                  </a:cubicBezTo>
                  <a:lnTo>
                    <a:pt x="7530" y="851"/>
                  </a:lnTo>
                  <a:lnTo>
                    <a:pt x="7971" y="851"/>
                  </a:lnTo>
                  <a:cubicBezTo>
                    <a:pt x="8192" y="851"/>
                    <a:pt x="8349" y="662"/>
                    <a:pt x="8349" y="410"/>
                  </a:cubicBezTo>
                  <a:cubicBezTo>
                    <a:pt x="8349" y="189"/>
                    <a:pt x="8160" y="0"/>
                    <a:pt x="7971"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Slidesgo vector icon"/>
            <p:cNvSpPr/>
            <p:nvPr/>
          </p:nvSpPr>
          <p:spPr>
            <a:xfrm>
              <a:off x="-65066950" y="2738175"/>
              <a:ext cx="187475" cy="185100"/>
            </a:xfrm>
            <a:custGeom>
              <a:avLst/>
              <a:gdLst/>
              <a:ahLst/>
              <a:cxnLst/>
              <a:rect l="l" t="t" r="r" b="b"/>
              <a:pathLst>
                <a:path w="7499" h="7404" extrusionOk="0">
                  <a:moveTo>
                    <a:pt x="3309" y="819"/>
                  </a:moveTo>
                  <a:lnTo>
                    <a:pt x="3309" y="3686"/>
                  </a:lnTo>
                  <a:cubicBezTo>
                    <a:pt x="3309" y="3938"/>
                    <a:pt x="3498" y="4127"/>
                    <a:pt x="3718" y="4127"/>
                  </a:cubicBezTo>
                  <a:lnTo>
                    <a:pt x="6612" y="4127"/>
                  </a:lnTo>
                  <a:cubicBezTo>
                    <a:pt x="6410" y="5529"/>
                    <a:pt x="5188" y="6585"/>
                    <a:pt x="3750" y="6585"/>
                  </a:cubicBezTo>
                  <a:cubicBezTo>
                    <a:pt x="2143" y="6585"/>
                    <a:pt x="820" y="5261"/>
                    <a:pt x="820" y="3686"/>
                  </a:cubicBezTo>
                  <a:cubicBezTo>
                    <a:pt x="820" y="2237"/>
                    <a:pt x="1891" y="1008"/>
                    <a:pt x="3309" y="819"/>
                  </a:cubicBezTo>
                  <a:close/>
                  <a:moveTo>
                    <a:pt x="3750" y="0"/>
                  </a:moveTo>
                  <a:cubicBezTo>
                    <a:pt x="1702" y="0"/>
                    <a:pt x="1" y="1638"/>
                    <a:pt x="1" y="3686"/>
                  </a:cubicBezTo>
                  <a:cubicBezTo>
                    <a:pt x="1" y="5734"/>
                    <a:pt x="1671" y="7404"/>
                    <a:pt x="3750" y="7404"/>
                  </a:cubicBezTo>
                  <a:cubicBezTo>
                    <a:pt x="5798" y="7404"/>
                    <a:pt x="7499" y="5734"/>
                    <a:pt x="7499" y="3686"/>
                  </a:cubicBezTo>
                  <a:cubicBezTo>
                    <a:pt x="7499" y="3466"/>
                    <a:pt x="7278" y="3277"/>
                    <a:pt x="7058" y="3277"/>
                  </a:cubicBezTo>
                  <a:lnTo>
                    <a:pt x="4128" y="3277"/>
                  </a:lnTo>
                  <a:lnTo>
                    <a:pt x="4128" y="378"/>
                  </a:lnTo>
                  <a:cubicBezTo>
                    <a:pt x="4128" y="158"/>
                    <a:pt x="3939" y="0"/>
                    <a:pt x="3750"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 name="Circle"/>
          <p:cNvSpPr/>
          <p:nvPr/>
        </p:nvSpPr>
        <p:spPr>
          <a:xfrm>
            <a:off x="1019175" y="2286000"/>
            <a:ext cx="152400" cy="152400"/>
          </a:xfrm>
          <a:prstGeom prst="ellipse">
            <a:avLst/>
          </a:prstGeom>
          <a:solidFill>
            <a:srgbClr val="435D74"/>
          </a:solidFill>
          <a:ln w="9525">
            <a:noFill/>
          </a:ln>
        </p:spPr>
        <p:txBody>
          <a:bodyPr/>
          <a:lstStyle/>
          <a:p>
            <a:endParaRPr lang="en-US"/>
          </a:p>
        </p:txBody>
      </p:sp>
      <p:sp>
        <p:nvSpPr>
          <p:cNvPr id="12" name="Text"/>
          <p:cNvSpPr txBox="1"/>
          <p:nvPr/>
        </p:nvSpPr>
        <p:spPr>
          <a:xfrm>
            <a:off x="352425" y="1847850"/>
            <a:ext cx="1485900" cy="409575"/>
          </a:xfrm>
          <a:prstGeom prst="rect">
            <a:avLst/>
          </a:prstGeom>
          <a:noFill/>
          <a:ln w="9525">
            <a:noFill/>
          </a:ln>
        </p:spPr>
        <p:txBody>
          <a:bodyPr wrap="none" lIns="0" tIns="0" rIns="0" bIns="0" anchor="t">
            <a:noAutofit/>
          </a:bodyPr>
          <a:lstStyle/>
          <a:p>
            <a:pPr marL="0" indent="0" algn="ctr">
              <a:lnSpc>
                <a:spcPts val="2719"/>
              </a:lnSpc>
              <a:spcAft>
                <a:spcPts val="0"/>
              </a:spcAft>
              <a:buNone/>
            </a:pPr>
            <a:r>
              <a:rPr lang="en-US" sz="2175" b="1">
                <a:solidFill>
                  <a:srgbClr val="435D74"/>
                </a:solidFill>
                <a:latin typeface="Fira Sans Extra Condensed"/>
                <a:ea typeface="Fira Sans Extra Condensed"/>
                <a:cs typeface="Fira Sans Extra Condensed"/>
              </a:rPr>
              <a:t>Today</a:t>
            </a:r>
            <a:endParaRPr lang="en-US" sz="2175"/>
          </a:p>
        </p:txBody>
      </p:sp>
      <p:sp>
        <p:nvSpPr>
          <p:cNvPr id="13" name="Text"/>
          <p:cNvSpPr txBox="1"/>
          <p:nvPr/>
        </p:nvSpPr>
        <p:spPr>
          <a:xfrm>
            <a:off x="304800" y="2762250"/>
            <a:ext cx="1752600" cy="876300"/>
          </a:xfrm>
          <a:prstGeom prst="rect">
            <a:avLst/>
          </a:prstGeom>
          <a:noFill/>
          <a:ln w="9525">
            <a:noFill/>
          </a:ln>
        </p:spPr>
        <p:txBody>
          <a:bodyPr wrap="none" lIns="0" tIns="0" rIns="0" bIns="0" anchor="t">
            <a:noAutofit/>
          </a:bodyPr>
          <a:lstStyle/>
          <a:p>
            <a:pPr marL="0" indent="0" algn="ctr">
              <a:lnSpc>
                <a:spcPts val="1875"/>
              </a:lnSpc>
              <a:spcAft>
                <a:spcPts val="0"/>
              </a:spcAft>
              <a:buNone/>
            </a:pPr>
            <a:r>
              <a:rPr lang="en-US" sz="1500" b="0">
                <a:solidFill>
                  <a:srgbClr val="435D74"/>
                </a:solidFill>
                <a:latin typeface="Roboto"/>
                <a:ea typeface="Roboto"/>
                <a:cs typeface="Roboto"/>
              </a:rPr>
              <a:t>Choose which tasks</a:t>
            </a:r>
            <a:endParaRPr lang="en-US" sz="1500"/>
          </a:p>
          <a:p>
            <a:pPr marL="0" indent="0" algn="ctr">
              <a:lnSpc>
                <a:spcPts val="1875"/>
              </a:lnSpc>
              <a:spcAft>
                <a:spcPts val="0"/>
              </a:spcAft>
              <a:buNone/>
            </a:pPr>
            <a:r>
              <a:rPr lang="en-US" sz="1500" b="0">
                <a:solidFill>
                  <a:srgbClr val="435D74"/>
                </a:solidFill>
                <a:latin typeface="Roboto"/>
                <a:ea typeface="Roboto"/>
                <a:cs typeface="Roboto"/>
              </a:rPr>
              <a:t>to complete first.</a:t>
            </a:r>
            <a:endParaRPr lang="en-US" sz="1500"/>
          </a:p>
        </p:txBody>
      </p:sp>
      <p:grpSp>
        <p:nvGrpSpPr>
          <p:cNvPr id="14" name="Slidesgo vector icon"/>
          <p:cNvGrpSpPr/>
          <p:nvPr/>
        </p:nvGrpSpPr>
        <p:grpSpPr>
          <a:xfrm>
            <a:off x="3200400" y="1285875"/>
            <a:ext cx="419100" cy="416848"/>
            <a:chOff x="-5635200" y="2037975"/>
            <a:chExt cx="293025" cy="291450"/>
          </a:xfrm>
        </p:grpSpPr>
        <p:sp>
          <p:nvSpPr>
            <p:cNvPr id="15" name="Slidesgo vector icon"/>
            <p:cNvSpPr/>
            <p:nvPr/>
          </p:nvSpPr>
          <p:spPr>
            <a:xfrm>
              <a:off x="-5635200" y="2037975"/>
              <a:ext cx="293025" cy="291450"/>
            </a:xfrm>
            <a:custGeom>
              <a:avLst/>
              <a:gdLst/>
              <a:ahLst/>
              <a:cxnLst/>
              <a:rect l="l" t="t" r="r" b="b"/>
              <a:pathLst>
                <a:path w="11721" h="11658" extrusionOk="0">
                  <a:moveTo>
                    <a:pt x="2395" y="725"/>
                  </a:moveTo>
                  <a:cubicBezTo>
                    <a:pt x="2930" y="725"/>
                    <a:pt x="3403" y="1197"/>
                    <a:pt x="3403" y="1733"/>
                  </a:cubicBezTo>
                  <a:cubicBezTo>
                    <a:pt x="3403" y="2300"/>
                    <a:pt x="2930" y="2773"/>
                    <a:pt x="2395" y="2773"/>
                  </a:cubicBezTo>
                  <a:cubicBezTo>
                    <a:pt x="1828" y="2773"/>
                    <a:pt x="1355" y="2300"/>
                    <a:pt x="1355" y="1733"/>
                  </a:cubicBezTo>
                  <a:cubicBezTo>
                    <a:pt x="1355" y="1197"/>
                    <a:pt x="1828" y="725"/>
                    <a:pt x="2395" y="725"/>
                  </a:cubicBezTo>
                  <a:close/>
                  <a:moveTo>
                    <a:pt x="10303" y="725"/>
                  </a:moveTo>
                  <a:lnTo>
                    <a:pt x="10303" y="6585"/>
                  </a:lnTo>
                  <a:lnTo>
                    <a:pt x="10334" y="6585"/>
                  </a:lnTo>
                  <a:cubicBezTo>
                    <a:pt x="10334" y="6774"/>
                    <a:pt x="10177" y="6931"/>
                    <a:pt x="9988" y="6931"/>
                  </a:cubicBezTo>
                  <a:lnTo>
                    <a:pt x="4789" y="6931"/>
                  </a:lnTo>
                  <a:lnTo>
                    <a:pt x="4789" y="5167"/>
                  </a:lnTo>
                  <a:cubicBezTo>
                    <a:pt x="4789" y="4253"/>
                    <a:pt x="4285" y="3434"/>
                    <a:pt x="3498" y="3025"/>
                  </a:cubicBezTo>
                  <a:cubicBezTo>
                    <a:pt x="3844" y="2710"/>
                    <a:pt x="4096" y="2237"/>
                    <a:pt x="4096" y="1733"/>
                  </a:cubicBezTo>
                  <a:cubicBezTo>
                    <a:pt x="4096" y="1355"/>
                    <a:pt x="3970" y="977"/>
                    <a:pt x="3718" y="725"/>
                  </a:cubicBezTo>
                  <a:close/>
                  <a:moveTo>
                    <a:pt x="2710" y="3466"/>
                  </a:moveTo>
                  <a:cubicBezTo>
                    <a:pt x="3498" y="3623"/>
                    <a:pt x="4096" y="4316"/>
                    <a:pt x="4096" y="5167"/>
                  </a:cubicBezTo>
                  <a:lnTo>
                    <a:pt x="4096" y="7246"/>
                  </a:lnTo>
                  <a:cubicBezTo>
                    <a:pt x="4128" y="7435"/>
                    <a:pt x="3970" y="7593"/>
                    <a:pt x="3750" y="7593"/>
                  </a:cubicBezTo>
                  <a:cubicBezTo>
                    <a:pt x="3561" y="7593"/>
                    <a:pt x="3403" y="7750"/>
                    <a:pt x="3403" y="7971"/>
                  </a:cubicBezTo>
                  <a:lnTo>
                    <a:pt x="3403" y="10712"/>
                  </a:lnTo>
                  <a:cubicBezTo>
                    <a:pt x="3403" y="10901"/>
                    <a:pt x="3246" y="11058"/>
                    <a:pt x="3056" y="11058"/>
                  </a:cubicBezTo>
                  <a:lnTo>
                    <a:pt x="1670" y="11058"/>
                  </a:lnTo>
                  <a:cubicBezTo>
                    <a:pt x="1481" y="11058"/>
                    <a:pt x="1324" y="10901"/>
                    <a:pt x="1324" y="10712"/>
                  </a:cubicBezTo>
                  <a:lnTo>
                    <a:pt x="1324" y="7971"/>
                  </a:lnTo>
                  <a:cubicBezTo>
                    <a:pt x="1324" y="7750"/>
                    <a:pt x="1166" y="7593"/>
                    <a:pt x="977" y="7593"/>
                  </a:cubicBezTo>
                  <a:cubicBezTo>
                    <a:pt x="788" y="7593"/>
                    <a:pt x="631" y="7435"/>
                    <a:pt x="631" y="7246"/>
                  </a:cubicBezTo>
                  <a:lnTo>
                    <a:pt x="631" y="5167"/>
                  </a:lnTo>
                  <a:cubicBezTo>
                    <a:pt x="631" y="4316"/>
                    <a:pt x="1198" y="3623"/>
                    <a:pt x="1985" y="3466"/>
                  </a:cubicBezTo>
                  <a:lnTo>
                    <a:pt x="1985" y="5829"/>
                  </a:lnTo>
                  <a:cubicBezTo>
                    <a:pt x="1985" y="6018"/>
                    <a:pt x="2143" y="6175"/>
                    <a:pt x="2363" y="6175"/>
                  </a:cubicBezTo>
                  <a:cubicBezTo>
                    <a:pt x="2552" y="6175"/>
                    <a:pt x="2710" y="6018"/>
                    <a:pt x="2710" y="5829"/>
                  </a:cubicBezTo>
                  <a:lnTo>
                    <a:pt x="2710" y="3466"/>
                  </a:lnTo>
                  <a:close/>
                  <a:moveTo>
                    <a:pt x="2395" y="0"/>
                  </a:moveTo>
                  <a:cubicBezTo>
                    <a:pt x="1450" y="0"/>
                    <a:pt x="694" y="756"/>
                    <a:pt x="694" y="1702"/>
                  </a:cubicBezTo>
                  <a:cubicBezTo>
                    <a:pt x="694" y="2206"/>
                    <a:pt x="946" y="2678"/>
                    <a:pt x="1292" y="2993"/>
                  </a:cubicBezTo>
                  <a:cubicBezTo>
                    <a:pt x="536" y="3403"/>
                    <a:pt x="1" y="4222"/>
                    <a:pt x="1" y="5136"/>
                  </a:cubicBezTo>
                  <a:lnTo>
                    <a:pt x="1" y="7215"/>
                  </a:lnTo>
                  <a:cubicBezTo>
                    <a:pt x="1" y="7656"/>
                    <a:pt x="253" y="8034"/>
                    <a:pt x="662" y="8192"/>
                  </a:cubicBezTo>
                  <a:lnTo>
                    <a:pt x="662" y="10649"/>
                  </a:lnTo>
                  <a:cubicBezTo>
                    <a:pt x="662" y="11184"/>
                    <a:pt x="1135" y="11657"/>
                    <a:pt x="1670" y="11657"/>
                  </a:cubicBezTo>
                  <a:lnTo>
                    <a:pt x="3056" y="11657"/>
                  </a:lnTo>
                  <a:cubicBezTo>
                    <a:pt x="3624" y="11657"/>
                    <a:pt x="4096" y="11184"/>
                    <a:pt x="4096" y="10649"/>
                  </a:cubicBezTo>
                  <a:lnTo>
                    <a:pt x="4096" y="8192"/>
                  </a:lnTo>
                  <a:cubicBezTo>
                    <a:pt x="4348" y="8065"/>
                    <a:pt x="4600" y="7876"/>
                    <a:pt x="4726" y="7561"/>
                  </a:cubicBezTo>
                  <a:lnTo>
                    <a:pt x="9988" y="7561"/>
                  </a:lnTo>
                  <a:cubicBezTo>
                    <a:pt x="10555" y="7561"/>
                    <a:pt x="11027" y="7089"/>
                    <a:pt x="11027" y="6553"/>
                  </a:cubicBezTo>
                  <a:lnTo>
                    <a:pt x="11027" y="662"/>
                  </a:lnTo>
                  <a:lnTo>
                    <a:pt x="11374" y="662"/>
                  </a:lnTo>
                  <a:cubicBezTo>
                    <a:pt x="11563" y="662"/>
                    <a:pt x="11720" y="504"/>
                    <a:pt x="11720" y="315"/>
                  </a:cubicBezTo>
                  <a:cubicBezTo>
                    <a:pt x="11720" y="158"/>
                    <a:pt x="11563" y="0"/>
                    <a:pt x="11374"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Slidesgo vector icon"/>
            <p:cNvSpPr/>
            <p:nvPr/>
          </p:nvSpPr>
          <p:spPr>
            <a:xfrm>
              <a:off x="-5496575" y="2072625"/>
              <a:ext cx="102425" cy="102425"/>
            </a:xfrm>
            <a:custGeom>
              <a:avLst/>
              <a:gdLst/>
              <a:ahLst/>
              <a:cxnLst/>
              <a:rect l="l" t="t" r="r" b="b"/>
              <a:pathLst>
                <a:path w="4097" h="4097" extrusionOk="0">
                  <a:moveTo>
                    <a:pt x="2395" y="725"/>
                  </a:moveTo>
                  <a:cubicBezTo>
                    <a:pt x="2867" y="851"/>
                    <a:pt x="3245" y="1229"/>
                    <a:pt x="3371" y="1733"/>
                  </a:cubicBezTo>
                  <a:lnTo>
                    <a:pt x="2395" y="1733"/>
                  </a:lnTo>
                  <a:lnTo>
                    <a:pt x="2395" y="725"/>
                  </a:lnTo>
                  <a:close/>
                  <a:moveTo>
                    <a:pt x="1733" y="757"/>
                  </a:moveTo>
                  <a:lnTo>
                    <a:pt x="1733" y="2080"/>
                  </a:lnTo>
                  <a:cubicBezTo>
                    <a:pt x="1733" y="2269"/>
                    <a:pt x="1891" y="2426"/>
                    <a:pt x="2080" y="2426"/>
                  </a:cubicBezTo>
                  <a:lnTo>
                    <a:pt x="3403" y="2426"/>
                  </a:lnTo>
                  <a:cubicBezTo>
                    <a:pt x="3245" y="3025"/>
                    <a:pt x="2741" y="3466"/>
                    <a:pt x="2080" y="3466"/>
                  </a:cubicBezTo>
                  <a:cubicBezTo>
                    <a:pt x="1324" y="3466"/>
                    <a:pt x="693" y="2836"/>
                    <a:pt x="693" y="2080"/>
                  </a:cubicBezTo>
                  <a:cubicBezTo>
                    <a:pt x="693" y="1418"/>
                    <a:pt x="1135" y="851"/>
                    <a:pt x="1733" y="757"/>
                  </a:cubicBezTo>
                  <a:close/>
                  <a:moveTo>
                    <a:pt x="2048" y="0"/>
                  </a:moveTo>
                  <a:cubicBezTo>
                    <a:pt x="883" y="0"/>
                    <a:pt x="0" y="914"/>
                    <a:pt x="0" y="2048"/>
                  </a:cubicBezTo>
                  <a:cubicBezTo>
                    <a:pt x="0" y="3182"/>
                    <a:pt x="946" y="4096"/>
                    <a:pt x="2048" y="4096"/>
                  </a:cubicBezTo>
                  <a:cubicBezTo>
                    <a:pt x="3182" y="4096"/>
                    <a:pt x="4096" y="3182"/>
                    <a:pt x="4096" y="2048"/>
                  </a:cubicBezTo>
                  <a:cubicBezTo>
                    <a:pt x="4096" y="914"/>
                    <a:pt x="3182" y="0"/>
                    <a:pt x="2048"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 name="Circle"/>
          <p:cNvSpPr/>
          <p:nvPr/>
        </p:nvSpPr>
        <p:spPr>
          <a:xfrm>
            <a:off x="3333750" y="2286000"/>
            <a:ext cx="152400" cy="152400"/>
          </a:xfrm>
          <a:prstGeom prst="ellipse">
            <a:avLst/>
          </a:prstGeom>
          <a:solidFill>
            <a:srgbClr val="435D74"/>
          </a:solidFill>
          <a:ln w="9525">
            <a:noFill/>
          </a:ln>
        </p:spPr>
        <p:txBody>
          <a:bodyPr/>
          <a:lstStyle/>
          <a:p>
            <a:endParaRPr lang="en-US"/>
          </a:p>
        </p:txBody>
      </p:sp>
      <p:sp>
        <p:nvSpPr>
          <p:cNvPr id="18" name="Text"/>
          <p:cNvSpPr txBox="1"/>
          <p:nvPr/>
        </p:nvSpPr>
        <p:spPr>
          <a:xfrm>
            <a:off x="2667000" y="1847850"/>
            <a:ext cx="1485900" cy="409575"/>
          </a:xfrm>
          <a:prstGeom prst="rect">
            <a:avLst/>
          </a:prstGeom>
          <a:noFill/>
          <a:ln w="9525">
            <a:noFill/>
          </a:ln>
        </p:spPr>
        <p:txBody>
          <a:bodyPr wrap="none" lIns="0" tIns="0" rIns="0" bIns="0" anchor="t">
            <a:noAutofit/>
          </a:bodyPr>
          <a:lstStyle/>
          <a:p>
            <a:pPr marL="0" indent="0" algn="ctr">
              <a:lnSpc>
                <a:spcPts val="2719"/>
              </a:lnSpc>
              <a:spcAft>
                <a:spcPts val="0"/>
              </a:spcAft>
              <a:buNone/>
            </a:pPr>
            <a:r>
              <a:rPr lang="en-US" sz="2175" b="1">
                <a:solidFill>
                  <a:srgbClr val="435D74"/>
                </a:solidFill>
                <a:latin typeface="Fira Sans Extra Condensed"/>
                <a:ea typeface="Fira Sans Extra Condensed"/>
                <a:cs typeface="Fira Sans Extra Condensed"/>
              </a:rPr>
              <a:t>Next week</a:t>
            </a:r>
            <a:endParaRPr lang="en-US" sz="2175"/>
          </a:p>
        </p:txBody>
      </p:sp>
      <p:sp>
        <p:nvSpPr>
          <p:cNvPr id="19" name="Text"/>
          <p:cNvSpPr txBox="1"/>
          <p:nvPr/>
        </p:nvSpPr>
        <p:spPr>
          <a:xfrm>
            <a:off x="2619375" y="2762250"/>
            <a:ext cx="1752600" cy="876300"/>
          </a:xfrm>
          <a:prstGeom prst="rect">
            <a:avLst/>
          </a:prstGeom>
          <a:noFill/>
          <a:ln w="9525">
            <a:noFill/>
          </a:ln>
        </p:spPr>
        <p:txBody>
          <a:bodyPr wrap="none" lIns="0" tIns="0" rIns="0" bIns="0" anchor="t">
            <a:noAutofit/>
          </a:bodyPr>
          <a:lstStyle/>
          <a:p>
            <a:pPr marL="0" indent="0" algn="ctr">
              <a:lnSpc>
                <a:spcPts val="1875"/>
              </a:lnSpc>
              <a:spcAft>
                <a:spcPts val="0"/>
              </a:spcAft>
              <a:buNone/>
            </a:pPr>
            <a:r>
              <a:rPr lang="en-US" sz="1500" b="0">
                <a:solidFill>
                  <a:srgbClr val="435D74"/>
                </a:solidFill>
                <a:latin typeface="Roboto"/>
                <a:ea typeface="Roboto"/>
                <a:cs typeface="Roboto"/>
              </a:rPr>
              <a:t>Plan working</a:t>
            </a:r>
            <a:endParaRPr lang="en-US" sz="1500"/>
          </a:p>
          <a:p>
            <a:pPr marL="0" indent="0" algn="ctr">
              <a:lnSpc>
                <a:spcPts val="1875"/>
              </a:lnSpc>
              <a:spcAft>
                <a:spcPts val="0"/>
              </a:spcAft>
              <a:buNone/>
            </a:pPr>
            <a:r>
              <a:rPr lang="en-US" sz="1500" b="0">
                <a:solidFill>
                  <a:srgbClr val="435D74"/>
                </a:solidFill>
                <a:latin typeface="Roboto"/>
                <a:ea typeface="Roboto"/>
                <a:cs typeface="Roboto"/>
              </a:rPr>
              <a:t>hours.</a:t>
            </a:r>
            <a:endParaRPr lang="en-US" sz="1500"/>
          </a:p>
        </p:txBody>
      </p:sp>
      <p:grpSp>
        <p:nvGrpSpPr>
          <p:cNvPr id="20" name="Slidesgo vector icon"/>
          <p:cNvGrpSpPr/>
          <p:nvPr/>
        </p:nvGrpSpPr>
        <p:grpSpPr>
          <a:xfrm>
            <a:off x="5514975" y="1285875"/>
            <a:ext cx="419100" cy="419111"/>
            <a:chOff x="-2571737" y="2403625"/>
            <a:chExt cx="292225" cy="291425"/>
          </a:xfrm>
        </p:grpSpPr>
        <p:sp>
          <p:nvSpPr>
            <p:cNvPr id="21" name="Slidesgo vector icon"/>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Slidesgo vector icon"/>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Slidesgo vector icon"/>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Slidesgo vector icon"/>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Slidesgo vector icon"/>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Slidesgo vector icon"/>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Slidesgo vector icon"/>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8" name="Circle"/>
          <p:cNvSpPr/>
          <p:nvPr/>
        </p:nvSpPr>
        <p:spPr>
          <a:xfrm>
            <a:off x="5648325" y="2286000"/>
            <a:ext cx="152400" cy="152400"/>
          </a:xfrm>
          <a:prstGeom prst="ellipse">
            <a:avLst/>
          </a:prstGeom>
          <a:solidFill>
            <a:srgbClr val="435D74"/>
          </a:solidFill>
          <a:ln w="9525">
            <a:noFill/>
          </a:ln>
        </p:spPr>
        <p:txBody>
          <a:bodyPr/>
          <a:lstStyle/>
          <a:p>
            <a:endParaRPr lang="en-US"/>
          </a:p>
        </p:txBody>
      </p:sp>
      <p:sp>
        <p:nvSpPr>
          <p:cNvPr id="29" name="Text"/>
          <p:cNvSpPr txBox="1"/>
          <p:nvPr/>
        </p:nvSpPr>
        <p:spPr>
          <a:xfrm>
            <a:off x="4981575" y="1847850"/>
            <a:ext cx="1485900" cy="409575"/>
          </a:xfrm>
          <a:prstGeom prst="rect">
            <a:avLst/>
          </a:prstGeom>
          <a:noFill/>
          <a:ln w="9525">
            <a:noFill/>
          </a:ln>
        </p:spPr>
        <p:txBody>
          <a:bodyPr wrap="none" lIns="0" tIns="0" rIns="0" bIns="0" anchor="t">
            <a:noAutofit/>
          </a:bodyPr>
          <a:lstStyle/>
          <a:p>
            <a:pPr marL="0" indent="0" algn="ctr">
              <a:lnSpc>
                <a:spcPts val="2719"/>
              </a:lnSpc>
              <a:spcAft>
                <a:spcPts val="0"/>
              </a:spcAft>
              <a:buNone/>
            </a:pPr>
            <a:r>
              <a:rPr lang="en-US" sz="2175" b="1">
                <a:solidFill>
                  <a:srgbClr val="435D74"/>
                </a:solidFill>
                <a:latin typeface="Fira Sans Extra Condensed"/>
                <a:ea typeface="Fira Sans Extra Condensed"/>
                <a:cs typeface="Fira Sans Extra Condensed"/>
              </a:rPr>
              <a:t>Next month</a:t>
            </a:r>
            <a:endParaRPr lang="en-US" sz="2175"/>
          </a:p>
        </p:txBody>
      </p:sp>
      <p:sp>
        <p:nvSpPr>
          <p:cNvPr id="30" name="Text"/>
          <p:cNvSpPr txBox="1"/>
          <p:nvPr/>
        </p:nvSpPr>
        <p:spPr>
          <a:xfrm>
            <a:off x="4933950" y="2762250"/>
            <a:ext cx="1752600" cy="876300"/>
          </a:xfrm>
          <a:prstGeom prst="rect">
            <a:avLst/>
          </a:prstGeom>
          <a:noFill/>
          <a:ln w="9525">
            <a:noFill/>
          </a:ln>
        </p:spPr>
        <p:txBody>
          <a:bodyPr wrap="none" lIns="0" tIns="0" rIns="0" bIns="0" anchor="t">
            <a:noAutofit/>
          </a:bodyPr>
          <a:lstStyle/>
          <a:p>
            <a:pPr marL="0" indent="0" algn="ctr">
              <a:lnSpc>
                <a:spcPts val="1875"/>
              </a:lnSpc>
              <a:spcAft>
                <a:spcPts val="0"/>
              </a:spcAft>
              <a:buNone/>
            </a:pPr>
            <a:r>
              <a:rPr lang="en-US" sz="1500" b="0">
                <a:solidFill>
                  <a:srgbClr val="435D74"/>
                </a:solidFill>
                <a:latin typeface="Roboto"/>
                <a:ea typeface="Roboto"/>
                <a:cs typeface="Roboto"/>
              </a:rPr>
              <a:t>Decide how much</a:t>
            </a:r>
            <a:endParaRPr lang="en-US" sz="1500"/>
          </a:p>
          <a:p>
            <a:pPr marL="0" indent="0" algn="ctr">
              <a:lnSpc>
                <a:spcPts val="1875"/>
              </a:lnSpc>
              <a:spcAft>
                <a:spcPts val="0"/>
              </a:spcAft>
              <a:buNone/>
            </a:pPr>
            <a:r>
              <a:rPr lang="en-US" sz="1500" b="0">
                <a:solidFill>
                  <a:srgbClr val="435D74"/>
                </a:solidFill>
                <a:latin typeface="Roboto"/>
                <a:ea typeface="Roboto"/>
                <a:cs typeface="Roboto"/>
              </a:rPr>
              <a:t>stock</a:t>
            </a:r>
            <a:endParaRPr lang="en-US" sz="1500"/>
          </a:p>
          <a:p>
            <a:pPr marL="0" indent="0" algn="ctr">
              <a:lnSpc>
                <a:spcPts val="1875"/>
              </a:lnSpc>
              <a:spcAft>
                <a:spcPts val="0"/>
              </a:spcAft>
              <a:buNone/>
            </a:pPr>
            <a:r>
              <a:rPr lang="en-US" sz="1500" b="0">
                <a:solidFill>
                  <a:srgbClr val="435D74"/>
                </a:solidFill>
                <a:latin typeface="Roboto"/>
                <a:ea typeface="Roboto"/>
                <a:cs typeface="Roboto"/>
              </a:rPr>
              <a:t>each store receives.</a:t>
            </a:r>
            <a:endParaRPr lang="en-US" sz="1500"/>
          </a:p>
        </p:txBody>
      </p:sp>
      <p:grpSp>
        <p:nvGrpSpPr>
          <p:cNvPr id="31" name="Slidesgo vector icon"/>
          <p:cNvGrpSpPr/>
          <p:nvPr/>
        </p:nvGrpSpPr>
        <p:grpSpPr>
          <a:xfrm>
            <a:off x="7829550" y="1285875"/>
            <a:ext cx="419100" cy="476847"/>
            <a:chOff x="1529350" y="258825"/>
            <a:chExt cx="423475" cy="481825"/>
          </a:xfrm>
        </p:grpSpPr>
        <p:sp>
          <p:nvSpPr>
            <p:cNvPr id="32" name="Slidesgo vector icon"/>
            <p:cNvSpPr/>
            <p:nvPr/>
          </p:nvSpPr>
          <p:spPr>
            <a:xfrm>
              <a:off x="1585800" y="258825"/>
              <a:ext cx="310650" cy="430550"/>
            </a:xfrm>
            <a:custGeom>
              <a:avLst/>
              <a:gdLst/>
              <a:ahLst/>
              <a:cxnLst/>
              <a:rect l="l" t="t" r="r" b="b"/>
              <a:pathLst>
                <a:path w="12426" h="17222" extrusionOk="0">
                  <a:moveTo>
                    <a:pt x="6213" y="3388"/>
                  </a:moveTo>
                  <a:cubicBezTo>
                    <a:pt x="7354" y="3388"/>
                    <a:pt x="8384" y="4074"/>
                    <a:pt x="8821" y="5131"/>
                  </a:cubicBezTo>
                  <a:cubicBezTo>
                    <a:pt x="9257" y="6185"/>
                    <a:pt x="9016" y="7399"/>
                    <a:pt x="8206" y="8206"/>
                  </a:cubicBezTo>
                  <a:cubicBezTo>
                    <a:pt x="7666" y="8748"/>
                    <a:pt x="6945" y="9035"/>
                    <a:pt x="6210" y="9035"/>
                  </a:cubicBezTo>
                  <a:cubicBezTo>
                    <a:pt x="5847" y="9035"/>
                    <a:pt x="5481" y="8965"/>
                    <a:pt x="5132" y="8820"/>
                  </a:cubicBezTo>
                  <a:cubicBezTo>
                    <a:pt x="4075" y="8383"/>
                    <a:pt x="3388" y="7354"/>
                    <a:pt x="3388" y="6212"/>
                  </a:cubicBezTo>
                  <a:cubicBezTo>
                    <a:pt x="3391" y="4652"/>
                    <a:pt x="4653" y="3391"/>
                    <a:pt x="6213" y="3388"/>
                  </a:cubicBezTo>
                  <a:close/>
                  <a:moveTo>
                    <a:pt x="6213" y="0"/>
                  </a:moveTo>
                  <a:cubicBezTo>
                    <a:pt x="2825" y="0"/>
                    <a:pt x="1" y="2728"/>
                    <a:pt x="1" y="6212"/>
                  </a:cubicBezTo>
                  <a:cubicBezTo>
                    <a:pt x="1" y="7537"/>
                    <a:pt x="398" y="8718"/>
                    <a:pt x="1163" y="9826"/>
                  </a:cubicBezTo>
                  <a:lnTo>
                    <a:pt x="5737" y="16959"/>
                  </a:lnTo>
                  <a:cubicBezTo>
                    <a:pt x="5847" y="17134"/>
                    <a:pt x="6029" y="17221"/>
                    <a:pt x="6211" y="17221"/>
                  </a:cubicBezTo>
                  <a:cubicBezTo>
                    <a:pt x="6394" y="17221"/>
                    <a:pt x="6576" y="17134"/>
                    <a:pt x="6686" y="16959"/>
                  </a:cubicBezTo>
                  <a:lnTo>
                    <a:pt x="11278" y="9802"/>
                  </a:lnTo>
                  <a:cubicBezTo>
                    <a:pt x="12025" y="8751"/>
                    <a:pt x="12425" y="7498"/>
                    <a:pt x="12422" y="6212"/>
                  </a:cubicBezTo>
                  <a:cubicBezTo>
                    <a:pt x="12422" y="2786"/>
                    <a:pt x="9637" y="0"/>
                    <a:pt x="6213"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007D8B"/>
                </a:solidFill>
              </a:endParaRPr>
            </a:p>
          </p:txBody>
        </p:sp>
        <p:sp>
          <p:nvSpPr>
            <p:cNvPr id="33" name="Slidesgo vector icon"/>
            <p:cNvSpPr/>
            <p:nvPr/>
          </p:nvSpPr>
          <p:spPr>
            <a:xfrm>
              <a:off x="1529350" y="583200"/>
              <a:ext cx="423475" cy="157450"/>
            </a:xfrm>
            <a:custGeom>
              <a:avLst/>
              <a:gdLst/>
              <a:ahLst/>
              <a:cxnLst/>
              <a:rect l="l" t="t" r="r" b="b"/>
              <a:pathLst>
                <a:path w="16939" h="6298" extrusionOk="0">
                  <a:moveTo>
                    <a:pt x="4050" y="1"/>
                  </a:moveTo>
                  <a:cubicBezTo>
                    <a:pt x="1545" y="582"/>
                    <a:pt x="0" y="1642"/>
                    <a:pt x="0" y="2909"/>
                  </a:cubicBezTo>
                  <a:cubicBezTo>
                    <a:pt x="0" y="5111"/>
                    <a:pt x="4364" y="6297"/>
                    <a:pt x="8471" y="6297"/>
                  </a:cubicBezTo>
                  <a:cubicBezTo>
                    <a:pt x="12575" y="6297"/>
                    <a:pt x="16938" y="5111"/>
                    <a:pt x="16938" y="2909"/>
                  </a:cubicBezTo>
                  <a:cubicBezTo>
                    <a:pt x="16938" y="1642"/>
                    <a:pt x="15391" y="579"/>
                    <a:pt x="12882" y="1"/>
                  </a:cubicBezTo>
                  <a:lnTo>
                    <a:pt x="10040" y="4445"/>
                  </a:lnTo>
                  <a:cubicBezTo>
                    <a:pt x="9673" y="5018"/>
                    <a:pt x="9071" y="5305"/>
                    <a:pt x="8469" y="5305"/>
                  </a:cubicBezTo>
                  <a:cubicBezTo>
                    <a:pt x="7867" y="5305"/>
                    <a:pt x="7265" y="5018"/>
                    <a:pt x="6899" y="4445"/>
                  </a:cubicBezTo>
                  <a:lnTo>
                    <a:pt x="4050" y="1"/>
                  </a:ln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007D8B"/>
                </a:solidFill>
              </a:endParaRPr>
            </a:p>
          </p:txBody>
        </p:sp>
      </p:grpSp>
      <p:sp>
        <p:nvSpPr>
          <p:cNvPr id="34" name="Circle"/>
          <p:cNvSpPr/>
          <p:nvPr/>
        </p:nvSpPr>
        <p:spPr>
          <a:xfrm>
            <a:off x="7962900" y="2286000"/>
            <a:ext cx="152400" cy="152400"/>
          </a:xfrm>
          <a:prstGeom prst="ellipse">
            <a:avLst/>
          </a:prstGeom>
          <a:solidFill>
            <a:srgbClr val="435D74"/>
          </a:solidFill>
          <a:ln w="9525">
            <a:noFill/>
          </a:ln>
        </p:spPr>
        <p:txBody>
          <a:bodyPr/>
          <a:lstStyle/>
          <a:p>
            <a:endParaRPr lang="en-US"/>
          </a:p>
        </p:txBody>
      </p:sp>
      <p:sp>
        <p:nvSpPr>
          <p:cNvPr id="35" name="Text"/>
          <p:cNvSpPr txBox="1"/>
          <p:nvPr/>
        </p:nvSpPr>
        <p:spPr>
          <a:xfrm>
            <a:off x="7296150" y="1847850"/>
            <a:ext cx="1485900" cy="409575"/>
          </a:xfrm>
          <a:prstGeom prst="rect">
            <a:avLst/>
          </a:prstGeom>
          <a:noFill/>
          <a:ln w="9525">
            <a:noFill/>
          </a:ln>
        </p:spPr>
        <p:txBody>
          <a:bodyPr wrap="none" lIns="0" tIns="0" rIns="0" bIns="0" anchor="t">
            <a:noAutofit/>
          </a:bodyPr>
          <a:lstStyle/>
          <a:p>
            <a:pPr marL="0" indent="0" algn="ctr">
              <a:lnSpc>
                <a:spcPts val="2719"/>
              </a:lnSpc>
              <a:spcAft>
                <a:spcPts val="0"/>
              </a:spcAft>
              <a:buNone/>
            </a:pPr>
            <a:r>
              <a:rPr lang="en-US" sz="2175" b="1">
                <a:solidFill>
                  <a:srgbClr val="435D74"/>
                </a:solidFill>
                <a:latin typeface="Fira Sans Extra Condensed"/>
                <a:ea typeface="Fira Sans Extra Condensed"/>
                <a:cs typeface="Fira Sans Extra Condensed"/>
              </a:rPr>
              <a:t>Next year</a:t>
            </a:r>
            <a:endParaRPr lang="en-US" sz="2175"/>
          </a:p>
        </p:txBody>
      </p:sp>
      <p:sp>
        <p:nvSpPr>
          <p:cNvPr id="36" name="Text"/>
          <p:cNvSpPr txBox="1"/>
          <p:nvPr/>
        </p:nvSpPr>
        <p:spPr>
          <a:xfrm>
            <a:off x="7248525" y="2762250"/>
            <a:ext cx="1752600" cy="876300"/>
          </a:xfrm>
          <a:prstGeom prst="rect">
            <a:avLst/>
          </a:prstGeom>
          <a:noFill/>
          <a:ln w="9525">
            <a:noFill/>
          </a:ln>
        </p:spPr>
        <p:txBody>
          <a:bodyPr wrap="none" lIns="0" tIns="0" rIns="0" bIns="0" anchor="t">
            <a:noAutofit/>
          </a:bodyPr>
          <a:lstStyle/>
          <a:p>
            <a:pPr marL="0" indent="0" algn="ctr">
              <a:lnSpc>
                <a:spcPts val="1875"/>
              </a:lnSpc>
              <a:spcAft>
                <a:spcPts val="0"/>
              </a:spcAft>
              <a:buNone/>
            </a:pPr>
            <a:r>
              <a:rPr lang="en-US" sz="1500" b="0">
                <a:solidFill>
                  <a:srgbClr val="435D74"/>
                </a:solidFill>
                <a:latin typeface="Roboto"/>
                <a:ea typeface="Roboto"/>
                <a:cs typeface="Roboto"/>
              </a:rPr>
              <a:t>Choose where to</a:t>
            </a:r>
            <a:endParaRPr lang="en-US" sz="1500"/>
          </a:p>
          <a:p>
            <a:pPr marL="0" indent="0" algn="ctr">
              <a:lnSpc>
                <a:spcPts val="1875"/>
              </a:lnSpc>
              <a:spcAft>
                <a:spcPts val="0"/>
              </a:spcAft>
              <a:buNone/>
            </a:pPr>
            <a:r>
              <a:rPr lang="en-US" sz="1500" b="0">
                <a:solidFill>
                  <a:srgbClr val="435D74"/>
                </a:solidFill>
                <a:latin typeface="Roboto"/>
                <a:ea typeface="Roboto"/>
                <a:cs typeface="Roboto"/>
              </a:rPr>
              <a:t>add</a:t>
            </a:r>
            <a:endParaRPr lang="en-US" sz="1500"/>
          </a:p>
          <a:p>
            <a:pPr marL="0" indent="0" algn="ctr">
              <a:lnSpc>
                <a:spcPts val="1875"/>
              </a:lnSpc>
              <a:spcAft>
                <a:spcPts val="0"/>
              </a:spcAft>
              <a:buNone/>
            </a:pPr>
            <a:r>
              <a:rPr lang="en-US" sz="1500" b="0">
                <a:solidFill>
                  <a:srgbClr val="435D74"/>
                </a:solidFill>
                <a:latin typeface="Roboto"/>
                <a:ea typeface="Roboto"/>
                <a:cs typeface="Roboto"/>
              </a:rPr>
              <a:t>storage space.</a:t>
            </a:r>
            <a:endParaRPr lang="en-US" sz="1500"/>
          </a:p>
        </p:txBody>
      </p:sp>
      <p:sp>
        <p:nvSpPr>
          <p:cNvPr id="37" name="Panel"/>
          <p:cNvSpPr/>
          <p:nvPr/>
        </p:nvSpPr>
        <p:spPr>
          <a:xfrm>
            <a:off x="495300" y="4219575"/>
            <a:ext cx="8153400" cy="400050"/>
          </a:xfrm>
          <a:prstGeom prst="roundRect">
            <a:avLst>
              <a:gd name="adj" fmla="val 10000"/>
            </a:avLst>
          </a:prstGeom>
          <a:solidFill>
            <a:srgbClr val="F3F6F8"/>
          </a:solidFill>
          <a:ln w="9525">
            <a:noFill/>
          </a:ln>
        </p:spPr>
        <p:txBody>
          <a:bodyPr/>
          <a:lstStyle/>
          <a:p>
            <a:endParaRPr lang="en-US"/>
          </a:p>
        </p:txBody>
      </p:sp>
      <p:sp>
        <p:nvSpPr>
          <p:cNvPr id="38" name="Text"/>
          <p:cNvSpPr txBox="1"/>
          <p:nvPr/>
        </p:nvSpPr>
        <p:spPr>
          <a:xfrm>
            <a:off x="666750" y="4295775"/>
            <a:ext cx="7810500" cy="2952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a:solidFill>
                  <a:srgbClr val="435D74"/>
                </a:solidFill>
                <a:latin typeface="Roboto"/>
                <a:ea typeface="Roboto"/>
                <a:cs typeface="Roboto"/>
              </a:rPr>
              <a:t>Long-term decisions need estimates about conditions further in the future.</a:t>
            </a:r>
            <a:endParaRPr lang="en-US" sz="135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Sp="0">
  <p:cSld name="Connected decisions">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Connected decisions</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algn="r">
              <a:lnSpc>
                <a:spcPts val="1031"/>
              </a:lnSpc>
            </a:pPr>
            <a:r>
              <a:rPr lang="en-US" sz="825" b="0" dirty="0">
                <a:solidFill>
                  <a:srgbClr val="6D8495"/>
                </a:solidFill>
                <a:latin typeface="Roboto"/>
                <a:ea typeface="Roboto"/>
                <a:cs typeface="Roboto"/>
              </a:rPr>
              <a:t>12 / </a:t>
            </a:r>
            <a:r>
              <a:rPr lang="en-US" sz="825" dirty="0">
                <a:solidFill>
                  <a:srgbClr val="6D8495"/>
                </a:solidFill>
                <a:latin typeface="Roboto"/>
                <a:ea typeface="Roboto"/>
                <a:cs typeface="Roboto"/>
              </a:rPr>
              <a:t> 14</a:t>
            </a:r>
            <a:endParaRPr lang="en-US" sz="825" dirty="0"/>
          </a:p>
        </p:txBody>
      </p:sp>
      <p:sp>
        <p:nvSpPr>
          <p:cNvPr id="7" name="Text"/>
          <p:cNvSpPr txBox="1"/>
          <p:nvPr/>
        </p:nvSpPr>
        <p:spPr>
          <a:xfrm>
            <a:off x="495300" y="1047750"/>
            <a:ext cx="7981950" cy="290762"/>
          </a:xfrm>
          <a:prstGeom prst="rect">
            <a:avLst/>
          </a:prstGeom>
          <a:noFill/>
          <a:ln w="9525">
            <a:noFill/>
          </a:ln>
        </p:spPr>
        <p:txBody>
          <a:bodyPr wrap="none" lIns="0" tIns="0" rIns="0" bIns="0" anchor="t">
            <a:noAutofit/>
          </a:bodyPr>
          <a:lstStyle/>
          <a:p>
            <a:pPr marL="0" indent="0" algn="l">
              <a:lnSpc>
                <a:spcPts val="2625"/>
              </a:lnSpc>
              <a:spcAft>
                <a:spcPts val="0"/>
              </a:spcAft>
              <a:buNone/>
            </a:pPr>
            <a:r>
              <a:rPr lang="en-US" sz="2100" b="1" dirty="0">
                <a:solidFill>
                  <a:srgbClr val="007D8B"/>
                </a:solidFill>
                <a:latin typeface="Fira Sans Extra Condensed"/>
                <a:ea typeface="Fira Sans Extra Condensed"/>
                <a:cs typeface="Fira Sans Extra Condensed"/>
              </a:rPr>
              <a:t>One decision can affect another.</a:t>
            </a:r>
            <a:endParaRPr lang="en-US" sz="2100" dirty="0"/>
          </a:p>
        </p:txBody>
      </p:sp>
      <p:grpSp>
        <p:nvGrpSpPr>
          <p:cNvPr id="8" name="Slidesgo vector icon"/>
          <p:cNvGrpSpPr/>
          <p:nvPr/>
        </p:nvGrpSpPr>
        <p:grpSpPr>
          <a:xfrm>
            <a:off x="638175" y="1685925"/>
            <a:ext cx="409575" cy="409586"/>
            <a:chOff x="-2571737" y="2403625"/>
            <a:chExt cx="292225" cy="291425"/>
          </a:xfrm>
        </p:grpSpPr>
        <p:sp>
          <p:nvSpPr>
            <p:cNvPr id="9" name="Slidesgo vector icon"/>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Slidesgo vector icon"/>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Slidesgo vector icon"/>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Slidesgo vector icon"/>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Slidesgo vector icon"/>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Slidesgo vector icon"/>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Slidesgo vector icon"/>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 name="Text"/>
          <p:cNvSpPr txBox="1"/>
          <p:nvPr/>
        </p:nvSpPr>
        <p:spPr>
          <a:xfrm>
            <a:off x="1352550" y="1685925"/>
            <a:ext cx="2914650" cy="428625"/>
          </a:xfrm>
          <a:prstGeom prst="rect">
            <a:avLst/>
          </a:prstGeom>
          <a:noFill/>
          <a:ln w="9525">
            <a:noFill/>
          </a:ln>
        </p:spPr>
        <p:txBody>
          <a:bodyPr wrap="none" lIns="0" tIns="0" rIns="0" bIns="0" anchor="t">
            <a:noAutofit/>
          </a:bodyPr>
          <a:lstStyle/>
          <a:p>
            <a:pPr marL="0" indent="0" algn="l">
              <a:lnSpc>
                <a:spcPts val="2531"/>
              </a:lnSpc>
              <a:spcAft>
                <a:spcPts val="0"/>
              </a:spcAft>
              <a:buNone/>
            </a:pPr>
            <a:r>
              <a:rPr lang="en-US" sz="2025" b="1">
                <a:solidFill>
                  <a:srgbClr val="435D74"/>
                </a:solidFill>
                <a:latin typeface="Fira Sans Extra Condensed"/>
                <a:ea typeface="Fira Sans Extra Condensed"/>
                <a:cs typeface="Fira Sans Extra Condensed"/>
              </a:rPr>
              <a:t>More products</a:t>
            </a:r>
            <a:endParaRPr lang="en-US" sz="2025"/>
          </a:p>
        </p:txBody>
      </p:sp>
      <p:cxnSp>
        <p:nvCxnSpPr>
          <p:cNvPr id="17" name="Connector"/>
          <p:cNvCxnSpPr/>
          <p:nvPr/>
        </p:nvCxnSpPr>
        <p:spPr>
          <a:xfrm>
            <a:off x="4343400" y="1905000"/>
            <a:ext cx="561975" cy="95"/>
          </a:xfrm>
          <a:prstGeom prst="line">
            <a:avLst/>
          </a:prstGeom>
          <a:ln w="19050">
            <a:solidFill>
              <a:srgbClr val="007D8B"/>
            </a:solidFill>
            <a:tailEnd type="triangle" w="sm" len="sm"/>
          </a:ln>
        </p:spPr>
      </p:cxnSp>
      <p:sp>
        <p:nvSpPr>
          <p:cNvPr id="18" name="Text"/>
          <p:cNvSpPr txBox="1"/>
          <p:nvPr/>
        </p:nvSpPr>
        <p:spPr>
          <a:xfrm>
            <a:off x="5238750" y="1685925"/>
            <a:ext cx="3390900" cy="428625"/>
          </a:xfrm>
          <a:prstGeom prst="rect">
            <a:avLst/>
          </a:prstGeom>
          <a:noFill/>
          <a:ln w="9525">
            <a:noFill/>
          </a:ln>
        </p:spPr>
        <p:txBody>
          <a:bodyPr wrap="none" lIns="0" tIns="0" rIns="0" bIns="0" anchor="t">
            <a:noAutofit/>
          </a:bodyPr>
          <a:lstStyle/>
          <a:p>
            <a:pPr marL="0" indent="0" algn="l">
              <a:lnSpc>
                <a:spcPts val="2531"/>
              </a:lnSpc>
              <a:spcAft>
                <a:spcPts val="0"/>
              </a:spcAft>
              <a:buNone/>
            </a:pPr>
            <a:r>
              <a:rPr lang="en-US" sz="2025" b="1">
                <a:solidFill>
                  <a:srgbClr val="435D74"/>
                </a:solidFill>
                <a:latin typeface="Fira Sans Extra Condensed"/>
                <a:ea typeface="Fira Sans Extra Condensed"/>
                <a:cs typeface="Fira Sans Extra Condensed"/>
              </a:rPr>
              <a:t>More storage space</a:t>
            </a:r>
            <a:endParaRPr lang="en-US" sz="2025"/>
          </a:p>
        </p:txBody>
      </p:sp>
      <p:cxnSp>
        <p:nvCxnSpPr>
          <p:cNvPr id="19" name="Connector"/>
          <p:cNvCxnSpPr/>
          <p:nvPr/>
        </p:nvCxnSpPr>
        <p:spPr>
          <a:xfrm>
            <a:off x="1352550" y="2266950"/>
            <a:ext cx="7296150" cy="95"/>
          </a:xfrm>
          <a:prstGeom prst="line">
            <a:avLst/>
          </a:prstGeom>
          <a:ln w="9525">
            <a:solidFill>
              <a:srgbClr val="D8E2E8"/>
            </a:solidFill>
          </a:ln>
        </p:spPr>
      </p:cxnSp>
      <p:grpSp>
        <p:nvGrpSpPr>
          <p:cNvPr id="20" name="Slidesgo vector icon"/>
          <p:cNvGrpSpPr/>
          <p:nvPr/>
        </p:nvGrpSpPr>
        <p:grpSpPr>
          <a:xfrm>
            <a:off x="638175" y="2447925"/>
            <a:ext cx="409575" cy="407548"/>
            <a:chOff x="-63679950" y="3360375"/>
            <a:chExt cx="318225" cy="316650"/>
          </a:xfrm>
        </p:grpSpPr>
        <p:sp>
          <p:nvSpPr>
            <p:cNvPr id="21" name="Slidesgo vector icon"/>
            <p:cNvSpPr/>
            <p:nvPr/>
          </p:nvSpPr>
          <p:spPr>
            <a:xfrm>
              <a:off x="-63497200" y="3423400"/>
              <a:ext cx="40975" cy="40975"/>
            </a:xfrm>
            <a:custGeom>
              <a:avLst/>
              <a:gdLst/>
              <a:ahLst/>
              <a:cxnLst/>
              <a:rect l="l" t="t" r="r" b="b"/>
              <a:pathLst>
                <a:path w="1639" h="1639" extrusionOk="0">
                  <a:moveTo>
                    <a:pt x="819" y="0"/>
                  </a:moveTo>
                  <a:cubicBezTo>
                    <a:pt x="378" y="0"/>
                    <a:pt x="0" y="378"/>
                    <a:pt x="0" y="819"/>
                  </a:cubicBezTo>
                  <a:cubicBezTo>
                    <a:pt x="0" y="1260"/>
                    <a:pt x="378" y="1638"/>
                    <a:pt x="819" y="1638"/>
                  </a:cubicBezTo>
                  <a:cubicBezTo>
                    <a:pt x="1260" y="1638"/>
                    <a:pt x="1638" y="1260"/>
                    <a:pt x="1638" y="819"/>
                  </a:cubicBezTo>
                  <a:cubicBezTo>
                    <a:pt x="1638" y="378"/>
                    <a:pt x="1260" y="0"/>
                    <a:pt x="819"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Slidesgo vector icon"/>
            <p:cNvSpPr/>
            <p:nvPr/>
          </p:nvSpPr>
          <p:spPr>
            <a:xfrm>
              <a:off x="-63516900" y="3485625"/>
              <a:ext cx="79575" cy="29950"/>
            </a:xfrm>
            <a:custGeom>
              <a:avLst/>
              <a:gdLst/>
              <a:ahLst/>
              <a:cxnLst/>
              <a:rect l="l" t="t" r="r" b="b"/>
              <a:pathLst>
                <a:path w="3183" h="1198" extrusionOk="0">
                  <a:moveTo>
                    <a:pt x="1607" y="0"/>
                  </a:moveTo>
                  <a:cubicBezTo>
                    <a:pt x="820" y="0"/>
                    <a:pt x="190" y="504"/>
                    <a:pt x="1" y="1197"/>
                  </a:cubicBezTo>
                  <a:lnTo>
                    <a:pt x="3183" y="1197"/>
                  </a:lnTo>
                  <a:cubicBezTo>
                    <a:pt x="3025" y="504"/>
                    <a:pt x="2395" y="0"/>
                    <a:pt x="160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Slidesgo vector icon"/>
            <p:cNvSpPr/>
            <p:nvPr/>
          </p:nvSpPr>
          <p:spPr>
            <a:xfrm>
              <a:off x="-63618500" y="3360375"/>
              <a:ext cx="256775" cy="256600"/>
            </a:xfrm>
            <a:custGeom>
              <a:avLst/>
              <a:gdLst/>
              <a:ahLst/>
              <a:cxnLst/>
              <a:rect l="l" t="t" r="r" b="b"/>
              <a:pathLst>
                <a:path w="10271" h="10264" extrusionOk="0">
                  <a:moveTo>
                    <a:pt x="5703" y="1639"/>
                  </a:moveTo>
                  <a:cubicBezTo>
                    <a:pt x="6616" y="1639"/>
                    <a:pt x="7373" y="2395"/>
                    <a:pt x="7373" y="3309"/>
                  </a:cubicBezTo>
                  <a:cubicBezTo>
                    <a:pt x="7373" y="3750"/>
                    <a:pt x="7215" y="4128"/>
                    <a:pt x="6900" y="4443"/>
                  </a:cubicBezTo>
                  <a:cubicBezTo>
                    <a:pt x="7625" y="4884"/>
                    <a:pt x="8192" y="5672"/>
                    <a:pt x="8192" y="6617"/>
                  </a:cubicBezTo>
                  <a:cubicBezTo>
                    <a:pt x="8160" y="6900"/>
                    <a:pt x="8003" y="7058"/>
                    <a:pt x="7751" y="7058"/>
                  </a:cubicBezTo>
                  <a:lnTo>
                    <a:pt x="3623" y="7058"/>
                  </a:lnTo>
                  <a:cubicBezTo>
                    <a:pt x="3371" y="7058"/>
                    <a:pt x="3214" y="6837"/>
                    <a:pt x="3214" y="6617"/>
                  </a:cubicBezTo>
                  <a:cubicBezTo>
                    <a:pt x="3214" y="5672"/>
                    <a:pt x="3749" y="4884"/>
                    <a:pt x="4537" y="4443"/>
                  </a:cubicBezTo>
                  <a:cubicBezTo>
                    <a:pt x="4254" y="4128"/>
                    <a:pt x="4065" y="3718"/>
                    <a:pt x="4065" y="3309"/>
                  </a:cubicBezTo>
                  <a:cubicBezTo>
                    <a:pt x="4065" y="2395"/>
                    <a:pt x="4789" y="1639"/>
                    <a:pt x="5703" y="1639"/>
                  </a:cubicBezTo>
                  <a:close/>
                  <a:moveTo>
                    <a:pt x="5703" y="1"/>
                  </a:moveTo>
                  <a:cubicBezTo>
                    <a:pt x="3182" y="1"/>
                    <a:pt x="1135" y="2049"/>
                    <a:pt x="1135" y="4569"/>
                  </a:cubicBezTo>
                  <a:cubicBezTo>
                    <a:pt x="1135" y="5609"/>
                    <a:pt x="1481" y="6648"/>
                    <a:pt x="2206" y="7467"/>
                  </a:cubicBezTo>
                  <a:lnTo>
                    <a:pt x="1607" y="8066"/>
                  </a:lnTo>
                  <a:lnTo>
                    <a:pt x="756" y="7184"/>
                  </a:lnTo>
                  <a:cubicBezTo>
                    <a:pt x="678" y="7121"/>
                    <a:pt x="567" y="7089"/>
                    <a:pt x="457" y="7089"/>
                  </a:cubicBezTo>
                  <a:cubicBezTo>
                    <a:pt x="347" y="7089"/>
                    <a:pt x="237" y="7121"/>
                    <a:pt x="158" y="7184"/>
                  </a:cubicBezTo>
                  <a:cubicBezTo>
                    <a:pt x="0" y="7341"/>
                    <a:pt x="0" y="7625"/>
                    <a:pt x="158" y="7783"/>
                  </a:cubicBezTo>
                  <a:lnTo>
                    <a:pt x="1324" y="8980"/>
                  </a:lnTo>
                  <a:lnTo>
                    <a:pt x="2521" y="10145"/>
                  </a:lnTo>
                  <a:cubicBezTo>
                    <a:pt x="2600" y="10224"/>
                    <a:pt x="2710" y="10264"/>
                    <a:pt x="2820" y="10264"/>
                  </a:cubicBezTo>
                  <a:cubicBezTo>
                    <a:pt x="2930" y="10264"/>
                    <a:pt x="3041" y="10224"/>
                    <a:pt x="3119" y="10145"/>
                  </a:cubicBezTo>
                  <a:cubicBezTo>
                    <a:pt x="3277" y="9988"/>
                    <a:pt x="3277" y="9704"/>
                    <a:pt x="3119" y="9547"/>
                  </a:cubicBezTo>
                  <a:lnTo>
                    <a:pt x="2237" y="8696"/>
                  </a:lnTo>
                  <a:lnTo>
                    <a:pt x="2836" y="8098"/>
                  </a:lnTo>
                  <a:cubicBezTo>
                    <a:pt x="3655" y="8759"/>
                    <a:pt x="4695" y="9169"/>
                    <a:pt x="5734" y="9169"/>
                  </a:cubicBezTo>
                  <a:cubicBezTo>
                    <a:pt x="8255" y="9169"/>
                    <a:pt x="10271" y="7121"/>
                    <a:pt x="10271" y="4632"/>
                  </a:cubicBezTo>
                  <a:cubicBezTo>
                    <a:pt x="10239" y="2049"/>
                    <a:pt x="8223" y="1"/>
                    <a:pt x="570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Slidesgo vector icon"/>
            <p:cNvSpPr/>
            <p:nvPr/>
          </p:nvSpPr>
          <p:spPr>
            <a:xfrm>
              <a:off x="-63679950" y="3576200"/>
              <a:ext cx="102425" cy="100825"/>
            </a:xfrm>
            <a:custGeom>
              <a:avLst/>
              <a:gdLst/>
              <a:ahLst/>
              <a:cxnLst/>
              <a:rect l="l" t="t" r="r" b="b"/>
              <a:pathLst>
                <a:path w="4097" h="4033" extrusionOk="0">
                  <a:moveTo>
                    <a:pt x="2332" y="0"/>
                  </a:moveTo>
                  <a:lnTo>
                    <a:pt x="159" y="2142"/>
                  </a:lnTo>
                  <a:cubicBezTo>
                    <a:pt x="1" y="2300"/>
                    <a:pt x="1" y="2584"/>
                    <a:pt x="159" y="2741"/>
                  </a:cubicBezTo>
                  <a:lnTo>
                    <a:pt x="1356" y="3938"/>
                  </a:lnTo>
                  <a:cubicBezTo>
                    <a:pt x="1434" y="4001"/>
                    <a:pt x="1545" y="4033"/>
                    <a:pt x="1655" y="4033"/>
                  </a:cubicBezTo>
                  <a:cubicBezTo>
                    <a:pt x="1765" y="4033"/>
                    <a:pt x="1876" y="4001"/>
                    <a:pt x="1954" y="3938"/>
                  </a:cubicBezTo>
                  <a:lnTo>
                    <a:pt x="4097" y="1764"/>
                  </a:lnTo>
                  <a:lnTo>
                    <a:pt x="2332"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5" name="Text"/>
          <p:cNvSpPr txBox="1"/>
          <p:nvPr/>
        </p:nvSpPr>
        <p:spPr>
          <a:xfrm>
            <a:off x="1352550" y="2447925"/>
            <a:ext cx="2914650" cy="428625"/>
          </a:xfrm>
          <a:prstGeom prst="rect">
            <a:avLst/>
          </a:prstGeom>
          <a:noFill/>
          <a:ln w="9525">
            <a:noFill/>
          </a:ln>
        </p:spPr>
        <p:txBody>
          <a:bodyPr wrap="none" lIns="0" tIns="0" rIns="0" bIns="0" anchor="t">
            <a:noAutofit/>
          </a:bodyPr>
          <a:lstStyle/>
          <a:p>
            <a:pPr marL="0" indent="0" algn="l">
              <a:lnSpc>
                <a:spcPts val="2531"/>
              </a:lnSpc>
              <a:spcAft>
                <a:spcPts val="0"/>
              </a:spcAft>
              <a:buNone/>
            </a:pPr>
            <a:r>
              <a:rPr lang="en-US" sz="2025" b="1">
                <a:solidFill>
                  <a:srgbClr val="435D74"/>
                </a:solidFill>
                <a:latin typeface="Fira Sans Extra Condensed"/>
                <a:ea typeface="Fira Sans Extra Condensed"/>
                <a:cs typeface="Fira Sans Extra Condensed"/>
              </a:rPr>
              <a:t>More sales</a:t>
            </a:r>
            <a:endParaRPr lang="en-US" sz="2025"/>
          </a:p>
        </p:txBody>
      </p:sp>
      <p:cxnSp>
        <p:nvCxnSpPr>
          <p:cNvPr id="26" name="Connector"/>
          <p:cNvCxnSpPr/>
          <p:nvPr/>
        </p:nvCxnSpPr>
        <p:spPr>
          <a:xfrm>
            <a:off x="4343400" y="2667000"/>
            <a:ext cx="561975" cy="95"/>
          </a:xfrm>
          <a:prstGeom prst="line">
            <a:avLst/>
          </a:prstGeom>
          <a:ln w="19050">
            <a:solidFill>
              <a:srgbClr val="007D8B"/>
            </a:solidFill>
            <a:tailEnd type="triangle" w="sm" len="sm"/>
          </a:ln>
        </p:spPr>
      </p:cxnSp>
      <p:sp>
        <p:nvSpPr>
          <p:cNvPr id="27" name="Text"/>
          <p:cNvSpPr txBox="1"/>
          <p:nvPr/>
        </p:nvSpPr>
        <p:spPr>
          <a:xfrm>
            <a:off x="5238750" y="2447925"/>
            <a:ext cx="3390900" cy="428625"/>
          </a:xfrm>
          <a:prstGeom prst="rect">
            <a:avLst/>
          </a:prstGeom>
          <a:noFill/>
          <a:ln w="9525">
            <a:noFill/>
          </a:ln>
        </p:spPr>
        <p:txBody>
          <a:bodyPr wrap="none" lIns="0" tIns="0" rIns="0" bIns="0" anchor="t">
            <a:noAutofit/>
          </a:bodyPr>
          <a:lstStyle/>
          <a:p>
            <a:pPr marL="0" indent="0" algn="l">
              <a:lnSpc>
                <a:spcPts val="2531"/>
              </a:lnSpc>
              <a:spcAft>
                <a:spcPts val="0"/>
              </a:spcAft>
              <a:buNone/>
            </a:pPr>
            <a:r>
              <a:rPr lang="en-US" sz="2025" b="1">
                <a:solidFill>
                  <a:srgbClr val="435D74"/>
                </a:solidFill>
                <a:latin typeface="Fira Sans Extra Condensed"/>
                <a:ea typeface="Fira Sans Extra Condensed"/>
                <a:cs typeface="Fira Sans Extra Condensed"/>
              </a:rPr>
              <a:t>More workers</a:t>
            </a:r>
            <a:endParaRPr lang="en-US" sz="2025"/>
          </a:p>
        </p:txBody>
      </p:sp>
      <p:cxnSp>
        <p:nvCxnSpPr>
          <p:cNvPr id="28" name="Connector"/>
          <p:cNvCxnSpPr/>
          <p:nvPr/>
        </p:nvCxnSpPr>
        <p:spPr>
          <a:xfrm>
            <a:off x="1352550" y="3028950"/>
            <a:ext cx="7296150" cy="95"/>
          </a:xfrm>
          <a:prstGeom prst="line">
            <a:avLst/>
          </a:prstGeom>
          <a:ln w="9525">
            <a:solidFill>
              <a:srgbClr val="D8E2E8"/>
            </a:solidFill>
          </a:ln>
        </p:spPr>
      </p:cxnSp>
      <p:grpSp>
        <p:nvGrpSpPr>
          <p:cNvPr id="29" name="Slidesgo vector icon"/>
          <p:cNvGrpSpPr/>
          <p:nvPr/>
        </p:nvGrpSpPr>
        <p:grpSpPr>
          <a:xfrm>
            <a:off x="638175" y="3209925"/>
            <a:ext cx="409575" cy="426643"/>
            <a:chOff x="-65129950" y="2646800"/>
            <a:chExt cx="311125" cy="317425"/>
          </a:xfrm>
        </p:grpSpPr>
        <p:sp>
          <p:nvSpPr>
            <p:cNvPr id="30" name="Slidesgo vector icon"/>
            <p:cNvSpPr/>
            <p:nvPr/>
          </p:nvSpPr>
          <p:spPr>
            <a:xfrm>
              <a:off x="-65129950" y="2646800"/>
              <a:ext cx="311125" cy="317425"/>
            </a:xfrm>
            <a:custGeom>
              <a:avLst/>
              <a:gdLst/>
              <a:ahLst/>
              <a:cxnLst/>
              <a:rect l="l" t="t" r="r" b="b"/>
              <a:pathLst>
                <a:path w="12445" h="12697" extrusionOk="0">
                  <a:moveTo>
                    <a:pt x="6648" y="851"/>
                  </a:moveTo>
                  <a:lnTo>
                    <a:pt x="6648" y="1954"/>
                  </a:lnTo>
                  <a:lnTo>
                    <a:pt x="5860" y="1954"/>
                  </a:lnTo>
                  <a:lnTo>
                    <a:pt x="5860" y="851"/>
                  </a:lnTo>
                  <a:close/>
                  <a:moveTo>
                    <a:pt x="1261" y="1954"/>
                  </a:moveTo>
                  <a:cubicBezTo>
                    <a:pt x="1355" y="1954"/>
                    <a:pt x="1450" y="1985"/>
                    <a:pt x="1544" y="2080"/>
                  </a:cubicBezTo>
                  <a:cubicBezTo>
                    <a:pt x="1733" y="2237"/>
                    <a:pt x="1733" y="2521"/>
                    <a:pt x="1576" y="2678"/>
                  </a:cubicBezTo>
                  <a:cubicBezTo>
                    <a:pt x="1497" y="2757"/>
                    <a:pt x="1387" y="2797"/>
                    <a:pt x="1276" y="2797"/>
                  </a:cubicBezTo>
                  <a:cubicBezTo>
                    <a:pt x="1166" y="2797"/>
                    <a:pt x="1056" y="2757"/>
                    <a:pt x="977" y="2678"/>
                  </a:cubicBezTo>
                  <a:cubicBezTo>
                    <a:pt x="819" y="2521"/>
                    <a:pt x="819" y="2237"/>
                    <a:pt x="977" y="2080"/>
                  </a:cubicBezTo>
                  <a:cubicBezTo>
                    <a:pt x="1072" y="1985"/>
                    <a:pt x="1198" y="1954"/>
                    <a:pt x="1261" y="1954"/>
                  </a:cubicBezTo>
                  <a:close/>
                  <a:moveTo>
                    <a:pt x="11216" y="1954"/>
                  </a:moveTo>
                  <a:cubicBezTo>
                    <a:pt x="11468" y="1954"/>
                    <a:pt x="11626" y="2143"/>
                    <a:pt x="11626" y="2395"/>
                  </a:cubicBezTo>
                  <a:cubicBezTo>
                    <a:pt x="11626" y="2615"/>
                    <a:pt x="11437" y="2836"/>
                    <a:pt x="11216" y="2836"/>
                  </a:cubicBezTo>
                  <a:cubicBezTo>
                    <a:pt x="11027" y="2836"/>
                    <a:pt x="10807" y="2615"/>
                    <a:pt x="10807" y="2395"/>
                  </a:cubicBezTo>
                  <a:cubicBezTo>
                    <a:pt x="10807" y="2143"/>
                    <a:pt x="10996" y="1954"/>
                    <a:pt x="11216" y="1954"/>
                  </a:cubicBezTo>
                  <a:close/>
                  <a:moveTo>
                    <a:pt x="6270" y="2773"/>
                  </a:moveTo>
                  <a:cubicBezTo>
                    <a:pt x="8759" y="2773"/>
                    <a:pt x="10807" y="4821"/>
                    <a:pt x="10807" y="7341"/>
                  </a:cubicBezTo>
                  <a:cubicBezTo>
                    <a:pt x="10807" y="9861"/>
                    <a:pt x="8759" y="11909"/>
                    <a:pt x="6270" y="11909"/>
                  </a:cubicBezTo>
                  <a:cubicBezTo>
                    <a:pt x="3781" y="11909"/>
                    <a:pt x="1733" y="9861"/>
                    <a:pt x="1733" y="7341"/>
                  </a:cubicBezTo>
                  <a:cubicBezTo>
                    <a:pt x="1733" y="4821"/>
                    <a:pt x="3781" y="2773"/>
                    <a:pt x="6270" y="2773"/>
                  </a:cubicBezTo>
                  <a:close/>
                  <a:moveTo>
                    <a:pt x="4663" y="0"/>
                  </a:moveTo>
                  <a:cubicBezTo>
                    <a:pt x="4411" y="0"/>
                    <a:pt x="4254" y="189"/>
                    <a:pt x="4254" y="410"/>
                  </a:cubicBezTo>
                  <a:cubicBezTo>
                    <a:pt x="4254" y="662"/>
                    <a:pt x="4474" y="851"/>
                    <a:pt x="4663" y="851"/>
                  </a:cubicBezTo>
                  <a:lnTo>
                    <a:pt x="5104" y="851"/>
                  </a:lnTo>
                  <a:lnTo>
                    <a:pt x="5104" y="2111"/>
                  </a:lnTo>
                  <a:cubicBezTo>
                    <a:pt x="4254" y="2300"/>
                    <a:pt x="3466" y="2710"/>
                    <a:pt x="2836" y="3245"/>
                  </a:cubicBezTo>
                  <a:lnTo>
                    <a:pt x="2489" y="2899"/>
                  </a:lnTo>
                  <a:cubicBezTo>
                    <a:pt x="2741" y="2426"/>
                    <a:pt x="2647" y="1891"/>
                    <a:pt x="2269" y="1481"/>
                  </a:cubicBezTo>
                  <a:cubicBezTo>
                    <a:pt x="2032" y="1245"/>
                    <a:pt x="1717" y="1127"/>
                    <a:pt x="1394" y="1127"/>
                  </a:cubicBezTo>
                  <a:cubicBezTo>
                    <a:pt x="1072" y="1127"/>
                    <a:pt x="741" y="1245"/>
                    <a:pt x="473" y="1481"/>
                  </a:cubicBezTo>
                  <a:cubicBezTo>
                    <a:pt x="0" y="1954"/>
                    <a:pt x="0" y="2741"/>
                    <a:pt x="473" y="3245"/>
                  </a:cubicBezTo>
                  <a:cubicBezTo>
                    <a:pt x="725" y="3498"/>
                    <a:pt x="1040" y="3624"/>
                    <a:pt x="1355" y="3624"/>
                  </a:cubicBezTo>
                  <a:cubicBezTo>
                    <a:pt x="1544" y="3624"/>
                    <a:pt x="1702" y="3561"/>
                    <a:pt x="1891" y="3498"/>
                  </a:cubicBezTo>
                  <a:lnTo>
                    <a:pt x="2269" y="3844"/>
                  </a:lnTo>
                  <a:cubicBezTo>
                    <a:pt x="1481" y="4789"/>
                    <a:pt x="946" y="6018"/>
                    <a:pt x="946" y="7341"/>
                  </a:cubicBezTo>
                  <a:cubicBezTo>
                    <a:pt x="946" y="10303"/>
                    <a:pt x="3371" y="12697"/>
                    <a:pt x="6301" y="12697"/>
                  </a:cubicBezTo>
                  <a:cubicBezTo>
                    <a:pt x="9263" y="12697"/>
                    <a:pt x="11657" y="10303"/>
                    <a:pt x="11657" y="7341"/>
                  </a:cubicBezTo>
                  <a:cubicBezTo>
                    <a:pt x="11657" y="6018"/>
                    <a:pt x="11185" y="4789"/>
                    <a:pt x="10365" y="3844"/>
                  </a:cubicBezTo>
                  <a:lnTo>
                    <a:pt x="10712" y="3498"/>
                  </a:lnTo>
                  <a:cubicBezTo>
                    <a:pt x="10838" y="3561"/>
                    <a:pt x="11027" y="3624"/>
                    <a:pt x="11216" y="3624"/>
                  </a:cubicBezTo>
                  <a:cubicBezTo>
                    <a:pt x="11909" y="3624"/>
                    <a:pt x="12445" y="3056"/>
                    <a:pt x="12445" y="2363"/>
                  </a:cubicBezTo>
                  <a:cubicBezTo>
                    <a:pt x="12445" y="1670"/>
                    <a:pt x="11909" y="1135"/>
                    <a:pt x="11216" y="1135"/>
                  </a:cubicBezTo>
                  <a:cubicBezTo>
                    <a:pt x="10555" y="1135"/>
                    <a:pt x="10019" y="1670"/>
                    <a:pt x="10019" y="2363"/>
                  </a:cubicBezTo>
                  <a:cubicBezTo>
                    <a:pt x="10019" y="2552"/>
                    <a:pt x="10050" y="2710"/>
                    <a:pt x="10113" y="2899"/>
                  </a:cubicBezTo>
                  <a:lnTo>
                    <a:pt x="9767" y="3245"/>
                  </a:lnTo>
                  <a:cubicBezTo>
                    <a:pt x="9137" y="2710"/>
                    <a:pt x="8349" y="2300"/>
                    <a:pt x="7530" y="2111"/>
                  </a:cubicBezTo>
                  <a:lnTo>
                    <a:pt x="7530" y="851"/>
                  </a:lnTo>
                  <a:lnTo>
                    <a:pt x="7971" y="851"/>
                  </a:lnTo>
                  <a:cubicBezTo>
                    <a:pt x="8192" y="851"/>
                    <a:pt x="8349" y="662"/>
                    <a:pt x="8349" y="410"/>
                  </a:cubicBezTo>
                  <a:cubicBezTo>
                    <a:pt x="8349" y="189"/>
                    <a:pt x="8160" y="0"/>
                    <a:pt x="7971"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Slidesgo vector icon"/>
            <p:cNvSpPr/>
            <p:nvPr/>
          </p:nvSpPr>
          <p:spPr>
            <a:xfrm>
              <a:off x="-65066950" y="2738175"/>
              <a:ext cx="187475" cy="185100"/>
            </a:xfrm>
            <a:custGeom>
              <a:avLst/>
              <a:gdLst/>
              <a:ahLst/>
              <a:cxnLst/>
              <a:rect l="l" t="t" r="r" b="b"/>
              <a:pathLst>
                <a:path w="7499" h="7404" extrusionOk="0">
                  <a:moveTo>
                    <a:pt x="3309" y="819"/>
                  </a:moveTo>
                  <a:lnTo>
                    <a:pt x="3309" y="3686"/>
                  </a:lnTo>
                  <a:cubicBezTo>
                    <a:pt x="3309" y="3938"/>
                    <a:pt x="3498" y="4127"/>
                    <a:pt x="3718" y="4127"/>
                  </a:cubicBezTo>
                  <a:lnTo>
                    <a:pt x="6612" y="4127"/>
                  </a:lnTo>
                  <a:cubicBezTo>
                    <a:pt x="6410" y="5529"/>
                    <a:pt x="5188" y="6585"/>
                    <a:pt x="3750" y="6585"/>
                  </a:cubicBezTo>
                  <a:cubicBezTo>
                    <a:pt x="2143" y="6585"/>
                    <a:pt x="820" y="5261"/>
                    <a:pt x="820" y="3686"/>
                  </a:cubicBezTo>
                  <a:cubicBezTo>
                    <a:pt x="820" y="2237"/>
                    <a:pt x="1891" y="1008"/>
                    <a:pt x="3309" y="819"/>
                  </a:cubicBezTo>
                  <a:close/>
                  <a:moveTo>
                    <a:pt x="3750" y="0"/>
                  </a:moveTo>
                  <a:cubicBezTo>
                    <a:pt x="1702" y="0"/>
                    <a:pt x="1" y="1638"/>
                    <a:pt x="1" y="3686"/>
                  </a:cubicBezTo>
                  <a:cubicBezTo>
                    <a:pt x="1" y="5734"/>
                    <a:pt x="1671" y="7404"/>
                    <a:pt x="3750" y="7404"/>
                  </a:cubicBezTo>
                  <a:cubicBezTo>
                    <a:pt x="5798" y="7404"/>
                    <a:pt x="7499" y="5734"/>
                    <a:pt x="7499" y="3686"/>
                  </a:cubicBezTo>
                  <a:cubicBezTo>
                    <a:pt x="7499" y="3466"/>
                    <a:pt x="7278" y="3277"/>
                    <a:pt x="7058" y="3277"/>
                  </a:cubicBezTo>
                  <a:lnTo>
                    <a:pt x="4128" y="3277"/>
                  </a:lnTo>
                  <a:lnTo>
                    <a:pt x="4128" y="378"/>
                  </a:lnTo>
                  <a:cubicBezTo>
                    <a:pt x="4128" y="158"/>
                    <a:pt x="3939" y="0"/>
                    <a:pt x="3750"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2" name="Text"/>
          <p:cNvSpPr txBox="1"/>
          <p:nvPr/>
        </p:nvSpPr>
        <p:spPr>
          <a:xfrm>
            <a:off x="1352550" y="3209925"/>
            <a:ext cx="2914650" cy="428625"/>
          </a:xfrm>
          <a:prstGeom prst="rect">
            <a:avLst/>
          </a:prstGeom>
          <a:noFill/>
          <a:ln w="9525">
            <a:noFill/>
          </a:ln>
        </p:spPr>
        <p:txBody>
          <a:bodyPr wrap="none" lIns="0" tIns="0" rIns="0" bIns="0" anchor="t">
            <a:noAutofit/>
          </a:bodyPr>
          <a:lstStyle/>
          <a:p>
            <a:pPr marL="0" indent="0" algn="l">
              <a:lnSpc>
                <a:spcPts val="2531"/>
              </a:lnSpc>
              <a:spcAft>
                <a:spcPts val="0"/>
              </a:spcAft>
              <a:buNone/>
            </a:pPr>
            <a:r>
              <a:rPr lang="en-US" sz="2025" b="1" dirty="0">
                <a:solidFill>
                  <a:srgbClr val="435D74"/>
                </a:solidFill>
                <a:latin typeface="Fira Sans Extra Condensed"/>
                <a:ea typeface="Fira Sans Extra Condensed"/>
                <a:cs typeface="Fira Sans Extra Condensed"/>
              </a:rPr>
              <a:t>Faster delivery</a:t>
            </a:r>
            <a:endParaRPr lang="en-US" sz="2025" dirty="0"/>
          </a:p>
        </p:txBody>
      </p:sp>
      <p:cxnSp>
        <p:nvCxnSpPr>
          <p:cNvPr id="33" name="Connector"/>
          <p:cNvCxnSpPr/>
          <p:nvPr/>
        </p:nvCxnSpPr>
        <p:spPr>
          <a:xfrm>
            <a:off x="4343400" y="3429000"/>
            <a:ext cx="561975" cy="95"/>
          </a:xfrm>
          <a:prstGeom prst="line">
            <a:avLst/>
          </a:prstGeom>
          <a:ln w="19050">
            <a:solidFill>
              <a:srgbClr val="007D8B"/>
            </a:solidFill>
            <a:tailEnd type="triangle" w="sm" len="sm"/>
          </a:ln>
        </p:spPr>
      </p:cxnSp>
      <p:sp>
        <p:nvSpPr>
          <p:cNvPr id="34" name="Text"/>
          <p:cNvSpPr txBox="1"/>
          <p:nvPr/>
        </p:nvSpPr>
        <p:spPr>
          <a:xfrm>
            <a:off x="5238750" y="3209925"/>
            <a:ext cx="3390900" cy="428625"/>
          </a:xfrm>
          <a:prstGeom prst="rect">
            <a:avLst/>
          </a:prstGeom>
          <a:noFill/>
          <a:ln w="9525">
            <a:noFill/>
          </a:ln>
        </p:spPr>
        <p:txBody>
          <a:bodyPr wrap="none" lIns="0" tIns="0" rIns="0" bIns="0" anchor="t">
            <a:noAutofit/>
          </a:bodyPr>
          <a:lstStyle/>
          <a:p>
            <a:pPr marL="0" indent="0" algn="l">
              <a:lnSpc>
                <a:spcPts val="2531"/>
              </a:lnSpc>
              <a:spcAft>
                <a:spcPts val="0"/>
              </a:spcAft>
              <a:buNone/>
            </a:pPr>
            <a:r>
              <a:rPr lang="en-US" sz="2025" b="1">
                <a:solidFill>
                  <a:srgbClr val="435D74"/>
                </a:solidFill>
                <a:latin typeface="Fira Sans Extra Condensed"/>
                <a:ea typeface="Fira Sans Extra Condensed"/>
                <a:cs typeface="Fira Sans Extra Condensed"/>
              </a:rPr>
              <a:t>Possibly higher cost</a:t>
            </a:r>
            <a:endParaRPr lang="en-US" sz="2025"/>
          </a:p>
        </p:txBody>
      </p:sp>
      <p:sp>
        <p:nvSpPr>
          <p:cNvPr id="35" name="Panel"/>
          <p:cNvSpPr/>
          <p:nvPr/>
        </p:nvSpPr>
        <p:spPr>
          <a:xfrm>
            <a:off x="495300" y="4219575"/>
            <a:ext cx="8153400" cy="400050"/>
          </a:xfrm>
          <a:prstGeom prst="roundRect">
            <a:avLst>
              <a:gd name="adj" fmla="val 10000"/>
            </a:avLst>
          </a:prstGeom>
          <a:solidFill>
            <a:srgbClr val="F3F6F8"/>
          </a:solidFill>
          <a:ln w="9525">
            <a:noFill/>
          </a:ln>
        </p:spPr>
        <p:txBody>
          <a:bodyPr/>
          <a:lstStyle/>
          <a:p>
            <a:endParaRPr lang="en-US"/>
          </a:p>
        </p:txBody>
      </p:sp>
      <p:sp>
        <p:nvSpPr>
          <p:cNvPr id="36" name="Text"/>
          <p:cNvSpPr txBox="1"/>
          <p:nvPr/>
        </p:nvSpPr>
        <p:spPr>
          <a:xfrm>
            <a:off x="666750" y="4295775"/>
            <a:ext cx="7810500" cy="2952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dirty="0">
                <a:solidFill>
                  <a:srgbClr val="435D74"/>
                </a:solidFill>
                <a:latin typeface="Roboto"/>
                <a:ea typeface="Roboto"/>
                <a:cs typeface="Roboto"/>
              </a:rPr>
              <a:t>Considering the connections helps avoid creating a new problem.</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MasterSp="0">
  <p:cSld name="How machine learning helps">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How machine learning helps</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algn="r">
              <a:lnSpc>
                <a:spcPts val="1031"/>
              </a:lnSpc>
            </a:pPr>
            <a:r>
              <a:rPr lang="en-US" sz="825" b="0">
                <a:solidFill>
                  <a:srgbClr val="6D8495"/>
                </a:solidFill>
                <a:latin typeface="Roboto"/>
                <a:ea typeface="Roboto"/>
                <a:cs typeface="Roboto"/>
              </a:rPr>
              <a:t>13 </a:t>
            </a:r>
            <a:r>
              <a:rPr lang="en-US" sz="825">
                <a:solidFill>
                  <a:srgbClr val="6D8495"/>
                </a:solidFill>
                <a:latin typeface="Roboto"/>
                <a:ea typeface="Roboto"/>
                <a:cs typeface="Roboto"/>
              </a:rPr>
              <a:t>/ 14</a:t>
            </a:r>
            <a:endParaRPr lang="en-US" sz="825" dirty="0"/>
          </a:p>
        </p:txBody>
      </p:sp>
      <p:sp>
        <p:nvSpPr>
          <p:cNvPr id="7" name="Panel"/>
          <p:cNvSpPr/>
          <p:nvPr/>
        </p:nvSpPr>
        <p:spPr>
          <a:xfrm>
            <a:off x="495300" y="1104900"/>
            <a:ext cx="3762375" cy="495300"/>
          </a:xfrm>
          <a:prstGeom prst="roundRect">
            <a:avLst>
              <a:gd name="adj" fmla="val 10000"/>
            </a:avLst>
          </a:prstGeom>
          <a:solidFill>
            <a:srgbClr val="F3F6F8"/>
          </a:solidFill>
          <a:ln w="9525">
            <a:noFill/>
          </a:ln>
        </p:spPr>
        <p:txBody>
          <a:bodyPr/>
          <a:lstStyle/>
          <a:p>
            <a:endParaRPr lang="en-US"/>
          </a:p>
        </p:txBody>
      </p:sp>
      <p:sp>
        <p:nvSpPr>
          <p:cNvPr id="8" name="Text"/>
          <p:cNvSpPr txBox="1"/>
          <p:nvPr/>
        </p:nvSpPr>
        <p:spPr>
          <a:xfrm>
            <a:off x="685800" y="1209675"/>
            <a:ext cx="3381375" cy="371475"/>
          </a:xfrm>
          <a:prstGeom prst="rect">
            <a:avLst/>
          </a:prstGeom>
          <a:noFill/>
          <a:ln w="9525">
            <a:noFill/>
          </a:ln>
        </p:spPr>
        <p:txBody>
          <a:bodyPr wrap="none" lIns="0" tIns="0" rIns="0" bIns="0" anchor="t">
            <a:noAutofit/>
          </a:bodyPr>
          <a:lstStyle/>
          <a:p>
            <a:pPr marL="0" indent="0" algn="l">
              <a:lnSpc>
                <a:spcPts val="2719"/>
              </a:lnSpc>
              <a:spcAft>
                <a:spcPts val="0"/>
              </a:spcAft>
              <a:buNone/>
            </a:pPr>
            <a:r>
              <a:rPr lang="en-US" sz="2175" b="1">
                <a:solidFill>
                  <a:srgbClr val="435D74"/>
                </a:solidFill>
                <a:latin typeface="Fira Sans Extra Condensed"/>
                <a:ea typeface="Fira Sans Extra Condensed"/>
                <a:cs typeface="Fira Sans Extra Condensed"/>
              </a:rPr>
              <a:t>Machine learning estimates</a:t>
            </a:r>
            <a:endParaRPr lang="en-US" sz="2175"/>
          </a:p>
        </p:txBody>
      </p:sp>
      <p:sp>
        <p:nvSpPr>
          <p:cNvPr id="9" name="Panel"/>
          <p:cNvSpPr/>
          <p:nvPr/>
        </p:nvSpPr>
        <p:spPr>
          <a:xfrm>
            <a:off x="4857750" y="1104900"/>
            <a:ext cx="3790950" cy="495300"/>
          </a:xfrm>
          <a:prstGeom prst="roundRect">
            <a:avLst>
              <a:gd name="adj" fmla="val 10000"/>
            </a:avLst>
          </a:prstGeom>
          <a:solidFill>
            <a:srgbClr val="435D74"/>
          </a:solidFill>
          <a:ln w="9525">
            <a:noFill/>
          </a:ln>
        </p:spPr>
        <p:txBody>
          <a:bodyPr/>
          <a:lstStyle/>
          <a:p>
            <a:endParaRPr lang="en-US"/>
          </a:p>
        </p:txBody>
      </p:sp>
      <p:sp>
        <p:nvSpPr>
          <p:cNvPr id="10" name="Text"/>
          <p:cNvSpPr txBox="1"/>
          <p:nvPr/>
        </p:nvSpPr>
        <p:spPr>
          <a:xfrm>
            <a:off x="5048250" y="1209675"/>
            <a:ext cx="3381375" cy="371475"/>
          </a:xfrm>
          <a:prstGeom prst="rect">
            <a:avLst/>
          </a:prstGeom>
          <a:noFill/>
          <a:ln w="9525">
            <a:noFill/>
          </a:ln>
        </p:spPr>
        <p:txBody>
          <a:bodyPr wrap="none" lIns="0" tIns="0" rIns="0" bIns="0" anchor="t">
            <a:noAutofit/>
          </a:bodyPr>
          <a:lstStyle/>
          <a:p>
            <a:pPr marL="0" indent="0" algn="l">
              <a:lnSpc>
                <a:spcPts val="2719"/>
              </a:lnSpc>
              <a:spcAft>
                <a:spcPts val="0"/>
              </a:spcAft>
              <a:buNone/>
            </a:pPr>
            <a:r>
              <a:rPr lang="en-US" sz="2175" b="1">
                <a:solidFill>
                  <a:srgbClr val="FFFFFF"/>
                </a:solidFill>
                <a:latin typeface="Fira Sans Extra Condensed"/>
                <a:ea typeface="Fira Sans Extra Condensed"/>
                <a:cs typeface="Fira Sans Extra Condensed"/>
              </a:rPr>
              <a:t>Prescriptive model suggests</a:t>
            </a:r>
            <a:endParaRPr lang="en-US" sz="2175"/>
          </a:p>
        </p:txBody>
      </p:sp>
      <p:grpSp>
        <p:nvGrpSpPr>
          <p:cNvPr id="11" name="Slidesgo vector icon"/>
          <p:cNvGrpSpPr/>
          <p:nvPr/>
        </p:nvGrpSpPr>
        <p:grpSpPr>
          <a:xfrm>
            <a:off x="619125" y="1905000"/>
            <a:ext cx="333375" cy="333384"/>
            <a:chOff x="-2571737" y="2403625"/>
            <a:chExt cx="292225" cy="291425"/>
          </a:xfrm>
        </p:grpSpPr>
        <p:sp>
          <p:nvSpPr>
            <p:cNvPr id="12" name="Slidesgo vector icon"/>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Slidesgo vector icon"/>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Slidesgo vector icon"/>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Slidesgo vector icon"/>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Slidesgo vector icon"/>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Slidesgo vector icon"/>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Slidesgo vector icon"/>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9" name="Text"/>
          <p:cNvSpPr txBox="1"/>
          <p:nvPr/>
        </p:nvSpPr>
        <p:spPr>
          <a:xfrm>
            <a:off x="1143000" y="1895475"/>
            <a:ext cx="3009900" cy="5905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0">
                <a:solidFill>
                  <a:srgbClr val="435D74"/>
                </a:solidFill>
                <a:latin typeface="Roboto"/>
                <a:ea typeface="Roboto"/>
                <a:cs typeface="Roboto"/>
              </a:rPr>
              <a:t>How much customers will buy</a:t>
            </a:r>
            <a:endParaRPr lang="en-US" sz="1500"/>
          </a:p>
        </p:txBody>
      </p:sp>
      <p:cxnSp>
        <p:nvCxnSpPr>
          <p:cNvPr id="20" name="Connector"/>
          <p:cNvCxnSpPr/>
          <p:nvPr/>
        </p:nvCxnSpPr>
        <p:spPr>
          <a:xfrm>
            <a:off x="4343400" y="2114550"/>
            <a:ext cx="381000" cy="95"/>
          </a:xfrm>
          <a:prstGeom prst="line">
            <a:avLst/>
          </a:prstGeom>
          <a:ln w="14288">
            <a:solidFill>
              <a:srgbClr val="869FB2"/>
            </a:solidFill>
            <a:tailEnd type="triangle" w="sm" len="sm"/>
          </a:ln>
        </p:spPr>
      </p:cxnSp>
      <p:sp>
        <p:nvSpPr>
          <p:cNvPr id="21" name="Text"/>
          <p:cNvSpPr txBox="1"/>
          <p:nvPr/>
        </p:nvSpPr>
        <p:spPr>
          <a:xfrm>
            <a:off x="5057775" y="1895475"/>
            <a:ext cx="3381375" cy="5905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0">
                <a:solidFill>
                  <a:srgbClr val="435D74"/>
                </a:solidFill>
                <a:latin typeface="Roboto"/>
                <a:ea typeface="Roboto"/>
                <a:cs typeface="Roboto"/>
              </a:rPr>
              <a:t>How much stock to order</a:t>
            </a:r>
            <a:endParaRPr lang="en-US" sz="1500"/>
          </a:p>
        </p:txBody>
      </p:sp>
      <p:grpSp>
        <p:nvGrpSpPr>
          <p:cNvPr id="22" name="Slidesgo vector icon"/>
          <p:cNvGrpSpPr/>
          <p:nvPr/>
        </p:nvGrpSpPr>
        <p:grpSpPr>
          <a:xfrm>
            <a:off x="619125" y="2619375"/>
            <a:ext cx="333375" cy="333367"/>
            <a:chOff x="1412450" y="1954475"/>
            <a:chExt cx="297750" cy="296175"/>
          </a:xfrm>
        </p:grpSpPr>
        <p:sp>
          <p:nvSpPr>
            <p:cNvPr id="23" name="Slidesgo vector icon"/>
            <p:cNvSpPr/>
            <p:nvPr/>
          </p:nvSpPr>
          <p:spPr>
            <a:xfrm>
              <a:off x="1483350" y="2023800"/>
              <a:ext cx="155975" cy="155975"/>
            </a:xfrm>
            <a:custGeom>
              <a:avLst/>
              <a:gdLst/>
              <a:ahLst/>
              <a:cxnLst/>
              <a:rect l="l" t="t" r="r" b="b"/>
              <a:pathLst>
                <a:path w="6239" h="6239" extrusionOk="0">
                  <a:moveTo>
                    <a:pt x="3119" y="2079"/>
                  </a:moveTo>
                  <a:cubicBezTo>
                    <a:pt x="3529" y="2079"/>
                    <a:pt x="3844" y="2395"/>
                    <a:pt x="3844" y="2773"/>
                  </a:cubicBezTo>
                  <a:cubicBezTo>
                    <a:pt x="3844" y="3182"/>
                    <a:pt x="3529" y="3497"/>
                    <a:pt x="3119" y="3497"/>
                  </a:cubicBezTo>
                  <a:cubicBezTo>
                    <a:pt x="2741" y="3497"/>
                    <a:pt x="2426" y="3182"/>
                    <a:pt x="2426" y="2773"/>
                  </a:cubicBezTo>
                  <a:cubicBezTo>
                    <a:pt x="2426" y="2395"/>
                    <a:pt x="2741" y="2079"/>
                    <a:pt x="3119" y="2079"/>
                  </a:cubicBezTo>
                  <a:close/>
                  <a:moveTo>
                    <a:pt x="3119" y="725"/>
                  </a:moveTo>
                  <a:cubicBezTo>
                    <a:pt x="4474" y="725"/>
                    <a:pt x="5577" y="1827"/>
                    <a:pt x="5577" y="3182"/>
                  </a:cubicBezTo>
                  <a:cubicBezTo>
                    <a:pt x="5577" y="3686"/>
                    <a:pt x="5388" y="4159"/>
                    <a:pt x="5136" y="4537"/>
                  </a:cubicBezTo>
                  <a:cubicBezTo>
                    <a:pt x="4884" y="4190"/>
                    <a:pt x="4537" y="3907"/>
                    <a:pt x="4191" y="3718"/>
                  </a:cubicBezTo>
                  <a:cubicBezTo>
                    <a:pt x="4411" y="3497"/>
                    <a:pt x="4537" y="3182"/>
                    <a:pt x="4537" y="2804"/>
                  </a:cubicBezTo>
                  <a:cubicBezTo>
                    <a:pt x="4537" y="2079"/>
                    <a:pt x="3907" y="1449"/>
                    <a:pt x="3151" y="1449"/>
                  </a:cubicBezTo>
                  <a:cubicBezTo>
                    <a:pt x="2426" y="1449"/>
                    <a:pt x="1796" y="2079"/>
                    <a:pt x="1796" y="2804"/>
                  </a:cubicBezTo>
                  <a:cubicBezTo>
                    <a:pt x="1796" y="3182"/>
                    <a:pt x="1891" y="3497"/>
                    <a:pt x="2143" y="3718"/>
                  </a:cubicBezTo>
                  <a:cubicBezTo>
                    <a:pt x="1733" y="3907"/>
                    <a:pt x="1418" y="4190"/>
                    <a:pt x="1198" y="4537"/>
                  </a:cubicBezTo>
                  <a:cubicBezTo>
                    <a:pt x="914" y="4159"/>
                    <a:pt x="756" y="3686"/>
                    <a:pt x="756" y="3182"/>
                  </a:cubicBezTo>
                  <a:cubicBezTo>
                    <a:pt x="662" y="1796"/>
                    <a:pt x="1796" y="725"/>
                    <a:pt x="3119" y="725"/>
                  </a:cubicBezTo>
                  <a:close/>
                  <a:moveTo>
                    <a:pt x="3119" y="4190"/>
                  </a:moveTo>
                  <a:cubicBezTo>
                    <a:pt x="3749" y="4190"/>
                    <a:pt x="4317" y="4505"/>
                    <a:pt x="4632" y="5041"/>
                  </a:cubicBezTo>
                  <a:cubicBezTo>
                    <a:pt x="4222" y="5387"/>
                    <a:pt x="3686" y="5577"/>
                    <a:pt x="3119" y="5577"/>
                  </a:cubicBezTo>
                  <a:cubicBezTo>
                    <a:pt x="2584" y="5577"/>
                    <a:pt x="2017" y="5387"/>
                    <a:pt x="1639" y="5041"/>
                  </a:cubicBezTo>
                  <a:cubicBezTo>
                    <a:pt x="1954" y="4505"/>
                    <a:pt x="2489" y="4190"/>
                    <a:pt x="3119" y="4190"/>
                  </a:cubicBezTo>
                  <a:close/>
                  <a:moveTo>
                    <a:pt x="3119" y="0"/>
                  </a:moveTo>
                  <a:cubicBezTo>
                    <a:pt x="1387" y="0"/>
                    <a:pt x="0" y="1418"/>
                    <a:pt x="0" y="3119"/>
                  </a:cubicBezTo>
                  <a:cubicBezTo>
                    <a:pt x="0" y="4852"/>
                    <a:pt x="1387" y="6238"/>
                    <a:pt x="3119" y="6238"/>
                  </a:cubicBezTo>
                  <a:cubicBezTo>
                    <a:pt x="4852" y="6238"/>
                    <a:pt x="6238" y="4820"/>
                    <a:pt x="6238" y="3119"/>
                  </a:cubicBezTo>
                  <a:cubicBezTo>
                    <a:pt x="6238" y="1386"/>
                    <a:pt x="4821" y="0"/>
                    <a:pt x="3119"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Slidesgo vector icon"/>
            <p:cNvSpPr/>
            <p:nvPr/>
          </p:nvSpPr>
          <p:spPr>
            <a:xfrm>
              <a:off x="1412450" y="1954475"/>
              <a:ext cx="297750" cy="296175"/>
            </a:xfrm>
            <a:custGeom>
              <a:avLst/>
              <a:gdLst/>
              <a:ahLst/>
              <a:cxnLst/>
              <a:rect l="l" t="t" r="r" b="b"/>
              <a:pathLst>
                <a:path w="11910" h="11847" extrusionOk="0">
                  <a:moveTo>
                    <a:pt x="6365" y="662"/>
                  </a:moveTo>
                  <a:lnTo>
                    <a:pt x="6522" y="1513"/>
                  </a:lnTo>
                  <a:cubicBezTo>
                    <a:pt x="6554" y="1702"/>
                    <a:pt x="6617" y="1765"/>
                    <a:pt x="6774" y="1797"/>
                  </a:cubicBezTo>
                  <a:cubicBezTo>
                    <a:pt x="7342" y="1923"/>
                    <a:pt x="7814" y="2112"/>
                    <a:pt x="8287" y="2427"/>
                  </a:cubicBezTo>
                  <a:cubicBezTo>
                    <a:pt x="8350" y="2474"/>
                    <a:pt x="8421" y="2498"/>
                    <a:pt x="8488" y="2498"/>
                  </a:cubicBezTo>
                  <a:cubicBezTo>
                    <a:pt x="8554" y="2498"/>
                    <a:pt x="8618" y="2474"/>
                    <a:pt x="8665" y="2427"/>
                  </a:cubicBezTo>
                  <a:lnTo>
                    <a:pt x="9389" y="1923"/>
                  </a:lnTo>
                  <a:lnTo>
                    <a:pt x="9925" y="2490"/>
                  </a:lnTo>
                  <a:lnTo>
                    <a:pt x="9421" y="3183"/>
                  </a:lnTo>
                  <a:cubicBezTo>
                    <a:pt x="9358" y="3309"/>
                    <a:pt x="9358" y="3466"/>
                    <a:pt x="9421" y="3592"/>
                  </a:cubicBezTo>
                  <a:cubicBezTo>
                    <a:pt x="9736" y="4065"/>
                    <a:pt x="9925" y="4537"/>
                    <a:pt x="10051" y="5073"/>
                  </a:cubicBezTo>
                  <a:cubicBezTo>
                    <a:pt x="10082" y="5231"/>
                    <a:pt x="10209" y="5294"/>
                    <a:pt x="10335" y="5357"/>
                  </a:cubicBezTo>
                  <a:lnTo>
                    <a:pt x="11185" y="5514"/>
                  </a:lnTo>
                  <a:lnTo>
                    <a:pt x="11185" y="6302"/>
                  </a:lnTo>
                  <a:lnTo>
                    <a:pt x="10335" y="6459"/>
                  </a:lnTo>
                  <a:cubicBezTo>
                    <a:pt x="10177" y="6491"/>
                    <a:pt x="10082" y="6585"/>
                    <a:pt x="10051" y="6743"/>
                  </a:cubicBezTo>
                  <a:cubicBezTo>
                    <a:pt x="9925" y="7278"/>
                    <a:pt x="9736" y="7751"/>
                    <a:pt x="9421" y="8224"/>
                  </a:cubicBezTo>
                  <a:cubicBezTo>
                    <a:pt x="9358" y="8350"/>
                    <a:pt x="9358" y="8507"/>
                    <a:pt x="9421" y="8633"/>
                  </a:cubicBezTo>
                  <a:lnTo>
                    <a:pt x="9925" y="9326"/>
                  </a:lnTo>
                  <a:lnTo>
                    <a:pt x="9389" y="9893"/>
                  </a:lnTo>
                  <a:lnTo>
                    <a:pt x="8665" y="9358"/>
                  </a:lnTo>
                  <a:cubicBezTo>
                    <a:pt x="8618" y="9326"/>
                    <a:pt x="8554" y="9310"/>
                    <a:pt x="8488" y="9310"/>
                  </a:cubicBezTo>
                  <a:cubicBezTo>
                    <a:pt x="8421" y="9310"/>
                    <a:pt x="8350" y="9326"/>
                    <a:pt x="8287" y="9358"/>
                  </a:cubicBezTo>
                  <a:cubicBezTo>
                    <a:pt x="7814" y="9673"/>
                    <a:pt x="7342" y="9893"/>
                    <a:pt x="6774" y="9988"/>
                  </a:cubicBezTo>
                  <a:cubicBezTo>
                    <a:pt x="6617" y="10051"/>
                    <a:pt x="6554" y="10145"/>
                    <a:pt x="6522" y="10271"/>
                  </a:cubicBezTo>
                  <a:lnTo>
                    <a:pt x="6365" y="11153"/>
                  </a:lnTo>
                  <a:lnTo>
                    <a:pt x="5577" y="11153"/>
                  </a:lnTo>
                  <a:lnTo>
                    <a:pt x="5420" y="10271"/>
                  </a:lnTo>
                  <a:cubicBezTo>
                    <a:pt x="5357" y="10114"/>
                    <a:pt x="5294" y="10051"/>
                    <a:pt x="5136" y="9988"/>
                  </a:cubicBezTo>
                  <a:cubicBezTo>
                    <a:pt x="4569" y="9893"/>
                    <a:pt x="4097" y="9673"/>
                    <a:pt x="3624" y="9358"/>
                  </a:cubicBezTo>
                  <a:cubicBezTo>
                    <a:pt x="3561" y="9326"/>
                    <a:pt x="3498" y="9310"/>
                    <a:pt x="3435" y="9310"/>
                  </a:cubicBezTo>
                  <a:cubicBezTo>
                    <a:pt x="3372" y="9310"/>
                    <a:pt x="3309" y="9326"/>
                    <a:pt x="3246" y="9358"/>
                  </a:cubicBezTo>
                  <a:lnTo>
                    <a:pt x="2521" y="9893"/>
                  </a:lnTo>
                  <a:lnTo>
                    <a:pt x="1986" y="9326"/>
                  </a:lnTo>
                  <a:lnTo>
                    <a:pt x="2490" y="8633"/>
                  </a:lnTo>
                  <a:cubicBezTo>
                    <a:pt x="2584" y="8507"/>
                    <a:pt x="2584" y="8350"/>
                    <a:pt x="2490" y="8224"/>
                  </a:cubicBezTo>
                  <a:cubicBezTo>
                    <a:pt x="2175" y="7751"/>
                    <a:pt x="1986" y="7278"/>
                    <a:pt x="1860" y="6743"/>
                  </a:cubicBezTo>
                  <a:cubicBezTo>
                    <a:pt x="1828" y="6585"/>
                    <a:pt x="1702" y="6491"/>
                    <a:pt x="1576" y="6459"/>
                  </a:cubicBezTo>
                  <a:lnTo>
                    <a:pt x="726" y="6302"/>
                  </a:lnTo>
                  <a:lnTo>
                    <a:pt x="726" y="5514"/>
                  </a:lnTo>
                  <a:lnTo>
                    <a:pt x="1576" y="5357"/>
                  </a:lnTo>
                  <a:cubicBezTo>
                    <a:pt x="1734" y="5325"/>
                    <a:pt x="1828" y="5231"/>
                    <a:pt x="1860" y="5073"/>
                  </a:cubicBezTo>
                  <a:cubicBezTo>
                    <a:pt x="1986" y="4506"/>
                    <a:pt x="2175" y="4065"/>
                    <a:pt x="2490" y="3592"/>
                  </a:cubicBezTo>
                  <a:cubicBezTo>
                    <a:pt x="2584" y="3466"/>
                    <a:pt x="2584" y="3309"/>
                    <a:pt x="2490" y="3183"/>
                  </a:cubicBezTo>
                  <a:lnTo>
                    <a:pt x="1986" y="2490"/>
                  </a:lnTo>
                  <a:lnTo>
                    <a:pt x="2521" y="1923"/>
                  </a:lnTo>
                  <a:lnTo>
                    <a:pt x="3246" y="2427"/>
                  </a:lnTo>
                  <a:cubicBezTo>
                    <a:pt x="3309" y="2474"/>
                    <a:pt x="3372" y="2498"/>
                    <a:pt x="3435" y="2498"/>
                  </a:cubicBezTo>
                  <a:cubicBezTo>
                    <a:pt x="3498" y="2498"/>
                    <a:pt x="3561" y="2474"/>
                    <a:pt x="3624" y="2427"/>
                  </a:cubicBezTo>
                  <a:cubicBezTo>
                    <a:pt x="4097" y="2112"/>
                    <a:pt x="4569" y="1923"/>
                    <a:pt x="5136" y="1797"/>
                  </a:cubicBezTo>
                  <a:cubicBezTo>
                    <a:pt x="5294" y="1765"/>
                    <a:pt x="5357" y="1639"/>
                    <a:pt x="5420" y="1513"/>
                  </a:cubicBezTo>
                  <a:lnTo>
                    <a:pt x="5577" y="662"/>
                  </a:lnTo>
                  <a:close/>
                  <a:moveTo>
                    <a:pt x="5262" y="1"/>
                  </a:moveTo>
                  <a:cubicBezTo>
                    <a:pt x="5073" y="1"/>
                    <a:pt x="4916" y="127"/>
                    <a:pt x="4884" y="284"/>
                  </a:cubicBezTo>
                  <a:lnTo>
                    <a:pt x="4727" y="1166"/>
                  </a:lnTo>
                  <a:cubicBezTo>
                    <a:pt x="4254" y="1292"/>
                    <a:pt x="3813" y="1481"/>
                    <a:pt x="3435" y="1734"/>
                  </a:cubicBezTo>
                  <a:lnTo>
                    <a:pt x="2679" y="1229"/>
                  </a:lnTo>
                  <a:cubicBezTo>
                    <a:pt x="2610" y="1174"/>
                    <a:pt x="2541" y="1149"/>
                    <a:pt x="2474" y="1149"/>
                  </a:cubicBezTo>
                  <a:cubicBezTo>
                    <a:pt x="2389" y="1149"/>
                    <a:pt x="2309" y="1190"/>
                    <a:pt x="2238" y="1261"/>
                  </a:cubicBezTo>
                  <a:lnTo>
                    <a:pt x="1261" y="2238"/>
                  </a:lnTo>
                  <a:cubicBezTo>
                    <a:pt x="1135" y="2364"/>
                    <a:pt x="1135" y="2553"/>
                    <a:pt x="1230" y="2679"/>
                  </a:cubicBezTo>
                  <a:lnTo>
                    <a:pt x="1734" y="3435"/>
                  </a:lnTo>
                  <a:cubicBezTo>
                    <a:pt x="1513" y="3813"/>
                    <a:pt x="1324" y="4254"/>
                    <a:pt x="1198" y="4726"/>
                  </a:cubicBezTo>
                  <a:lnTo>
                    <a:pt x="284" y="4884"/>
                  </a:lnTo>
                  <a:cubicBezTo>
                    <a:pt x="127" y="4915"/>
                    <a:pt x="1" y="5042"/>
                    <a:pt x="1" y="5231"/>
                  </a:cubicBezTo>
                  <a:lnTo>
                    <a:pt x="1" y="6617"/>
                  </a:lnTo>
                  <a:cubicBezTo>
                    <a:pt x="64" y="6774"/>
                    <a:pt x="158" y="6932"/>
                    <a:pt x="316" y="6963"/>
                  </a:cubicBezTo>
                  <a:lnTo>
                    <a:pt x="1230" y="7121"/>
                  </a:lnTo>
                  <a:cubicBezTo>
                    <a:pt x="1356" y="7593"/>
                    <a:pt x="1545" y="8034"/>
                    <a:pt x="1797" y="8413"/>
                  </a:cubicBezTo>
                  <a:lnTo>
                    <a:pt x="1261" y="9169"/>
                  </a:lnTo>
                  <a:cubicBezTo>
                    <a:pt x="1167" y="9295"/>
                    <a:pt x="1198" y="9484"/>
                    <a:pt x="1324" y="9610"/>
                  </a:cubicBezTo>
                  <a:lnTo>
                    <a:pt x="2301" y="10586"/>
                  </a:lnTo>
                  <a:cubicBezTo>
                    <a:pt x="2368" y="10654"/>
                    <a:pt x="2454" y="10685"/>
                    <a:pt x="2533" y="10685"/>
                  </a:cubicBezTo>
                  <a:cubicBezTo>
                    <a:pt x="2602" y="10685"/>
                    <a:pt x="2666" y="10662"/>
                    <a:pt x="2710" y="10618"/>
                  </a:cubicBezTo>
                  <a:lnTo>
                    <a:pt x="3466" y="10114"/>
                  </a:lnTo>
                  <a:cubicBezTo>
                    <a:pt x="3876" y="10366"/>
                    <a:pt x="4286" y="10555"/>
                    <a:pt x="4790" y="10681"/>
                  </a:cubicBezTo>
                  <a:lnTo>
                    <a:pt x="4947" y="11563"/>
                  </a:lnTo>
                  <a:cubicBezTo>
                    <a:pt x="4979" y="11721"/>
                    <a:pt x="5105" y="11847"/>
                    <a:pt x="5294" y="11847"/>
                  </a:cubicBezTo>
                  <a:lnTo>
                    <a:pt x="6680" y="11847"/>
                  </a:lnTo>
                  <a:cubicBezTo>
                    <a:pt x="6837" y="11847"/>
                    <a:pt x="6995" y="11721"/>
                    <a:pt x="7027" y="11563"/>
                  </a:cubicBezTo>
                  <a:lnTo>
                    <a:pt x="7184" y="10681"/>
                  </a:lnTo>
                  <a:cubicBezTo>
                    <a:pt x="7657" y="10555"/>
                    <a:pt x="8098" y="10366"/>
                    <a:pt x="8476" y="10114"/>
                  </a:cubicBezTo>
                  <a:lnTo>
                    <a:pt x="9232" y="10618"/>
                  </a:lnTo>
                  <a:cubicBezTo>
                    <a:pt x="9301" y="10673"/>
                    <a:pt x="9370" y="10698"/>
                    <a:pt x="9436" y="10698"/>
                  </a:cubicBezTo>
                  <a:cubicBezTo>
                    <a:pt x="9521" y="10698"/>
                    <a:pt x="9602" y="10657"/>
                    <a:pt x="9673" y="10586"/>
                  </a:cubicBezTo>
                  <a:lnTo>
                    <a:pt x="10650" y="9610"/>
                  </a:lnTo>
                  <a:cubicBezTo>
                    <a:pt x="10776" y="9484"/>
                    <a:pt x="10776" y="9295"/>
                    <a:pt x="10681" y="9169"/>
                  </a:cubicBezTo>
                  <a:lnTo>
                    <a:pt x="10177" y="8413"/>
                  </a:lnTo>
                  <a:cubicBezTo>
                    <a:pt x="10398" y="8034"/>
                    <a:pt x="10618" y="7593"/>
                    <a:pt x="10713" y="7121"/>
                  </a:cubicBezTo>
                  <a:lnTo>
                    <a:pt x="11626" y="6963"/>
                  </a:lnTo>
                  <a:cubicBezTo>
                    <a:pt x="11784" y="6932"/>
                    <a:pt x="11910" y="6806"/>
                    <a:pt x="11910" y="6617"/>
                  </a:cubicBezTo>
                  <a:lnTo>
                    <a:pt x="11910" y="5231"/>
                  </a:lnTo>
                  <a:cubicBezTo>
                    <a:pt x="11910" y="5073"/>
                    <a:pt x="11784" y="4915"/>
                    <a:pt x="11626" y="4884"/>
                  </a:cubicBezTo>
                  <a:lnTo>
                    <a:pt x="10713" y="4726"/>
                  </a:lnTo>
                  <a:cubicBezTo>
                    <a:pt x="10618" y="4254"/>
                    <a:pt x="10398" y="3813"/>
                    <a:pt x="10177" y="3403"/>
                  </a:cubicBezTo>
                  <a:lnTo>
                    <a:pt x="10681" y="2679"/>
                  </a:lnTo>
                  <a:cubicBezTo>
                    <a:pt x="10807" y="2553"/>
                    <a:pt x="10776" y="2364"/>
                    <a:pt x="10650" y="2238"/>
                  </a:cubicBezTo>
                  <a:lnTo>
                    <a:pt x="9673" y="1261"/>
                  </a:lnTo>
                  <a:cubicBezTo>
                    <a:pt x="9605" y="1193"/>
                    <a:pt x="9520" y="1162"/>
                    <a:pt x="9435" y="1162"/>
                  </a:cubicBezTo>
                  <a:cubicBezTo>
                    <a:pt x="9362" y="1162"/>
                    <a:pt x="9290" y="1186"/>
                    <a:pt x="9232" y="1229"/>
                  </a:cubicBezTo>
                  <a:lnTo>
                    <a:pt x="8476" y="1734"/>
                  </a:lnTo>
                  <a:cubicBezTo>
                    <a:pt x="8098" y="1481"/>
                    <a:pt x="7657" y="1292"/>
                    <a:pt x="7184" y="1166"/>
                  </a:cubicBezTo>
                  <a:lnTo>
                    <a:pt x="6995" y="284"/>
                  </a:lnTo>
                  <a:cubicBezTo>
                    <a:pt x="6932" y="127"/>
                    <a:pt x="6837" y="1"/>
                    <a:pt x="6617"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5" name="Text"/>
          <p:cNvSpPr txBox="1"/>
          <p:nvPr/>
        </p:nvSpPr>
        <p:spPr>
          <a:xfrm>
            <a:off x="1143000" y="2609850"/>
            <a:ext cx="3009900" cy="5905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0">
                <a:solidFill>
                  <a:srgbClr val="435D74"/>
                </a:solidFill>
                <a:latin typeface="Roboto"/>
                <a:ea typeface="Roboto"/>
                <a:cs typeface="Roboto"/>
              </a:rPr>
              <a:t>When a machine may fail</a:t>
            </a:r>
            <a:endParaRPr lang="en-US" sz="1500"/>
          </a:p>
        </p:txBody>
      </p:sp>
      <p:cxnSp>
        <p:nvCxnSpPr>
          <p:cNvPr id="26" name="Connector"/>
          <p:cNvCxnSpPr/>
          <p:nvPr/>
        </p:nvCxnSpPr>
        <p:spPr>
          <a:xfrm>
            <a:off x="4343400" y="2828925"/>
            <a:ext cx="381000" cy="95"/>
          </a:xfrm>
          <a:prstGeom prst="line">
            <a:avLst/>
          </a:prstGeom>
          <a:ln w="14288">
            <a:solidFill>
              <a:srgbClr val="869FB2"/>
            </a:solidFill>
            <a:tailEnd type="triangle" w="sm" len="sm"/>
          </a:ln>
        </p:spPr>
      </p:cxnSp>
      <p:sp>
        <p:nvSpPr>
          <p:cNvPr id="27" name="Text"/>
          <p:cNvSpPr txBox="1"/>
          <p:nvPr/>
        </p:nvSpPr>
        <p:spPr>
          <a:xfrm>
            <a:off x="5057775" y="2609850"/>
            <a:ext cx="3381375" cy="5905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0">
                <a:solidFill>
                  <a:srgbClr val="435D74"/>
                </a:solidFill>
                <a:latin typeface="Roboto"/>
                <a:ea typeface="Roboto"/>
                <a:cs typeface="Roboto"/>
              </a:rPr>
              <a:t>When to plan a repair</a:t>
            </a:r>
            <a:endParaRPr lang="en-US" sz="1500"/>
          </a:p>
        </p:txBody>
      </p:sp>
      <p:grpSp>
        <p:nvGrpSpPr>
          <p:cNvPr id="28" name="Slidesgo vector icon"/>
          <p:cNvGrpSpPr/>
          <p:nvPr/>
        </p:nvGrpSpPr>
        <p:grpSpPr>
          <a:xfrm>
            <a:off x="619125" y="3333750"/>
            <a:ext cx="333375" cy="331725"/>
            <a:chOff x="-63679950" y="3360375"/>
            <a:chExt cx="318225" cy="316650"/>
          </a:xfrm>
        </p:grpSpPr>
        <p:sp>
          <p:nvSpPr>
            <p:cNvPr id="29" name="Slidesgo vector icon"/>
            <p:cNvSpPr/>
            <p:nvPr/>
          </p:nvSpPr>
          <p:spPr>
            <a:xfrm>
              <a:off x="-63497200" y="3423400"/>
              <a:ext cx="40975" cy="40975"/>
            </a:xfrm>
            <a:custGeom>
              <a:avLst/>
              <a:gdLst/>
              <a:ahLst/>
              <a:cxnLst/>
              <a:rect l="l" t="t" r="r" b="b"/>
              <a:pathLst>
                <a:path w="1639" h="1639" extrusionOk="0">
                  <a:moveTo>
                    <a:pt x="819" y="0"/>
                  </a:moveTo>
                  <a:cubicBezTo>
                    <a:pt x="378" y="0"/>
                    <a:pt x="0" y="378"/>
                    <a:pt x="0" y="819"/>
                  </a:cubicBezTo>
                  <a:cubicBezTo>
                    <a:pt x="0" y="1260"/>
                    <a:pt x="378" y="1638"/>
                    <a:pt x="819" y="1638"/>
                  </a:cubicBezTo>
                  <a:cubicBezTo>
                    <a:pt x="1260" y="1638"/>
                    <a:pt x="1638" y="1260"/>
                    <a:pt x="1638" y="819"/>
                  </a:cubicBezTo>
                  <a:cubicBezTo>
                    <a:pt x="1638" y="378"/>
                    <a:pt x="1260" y="0"/>
                    <a:pt x="819"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Slidesgo vector icon"/>
            <p:cNvSpPr/>
            <p:nvPr/>
          </p:nvSpPr>
          <p:spPr>
            <a:xfrm>
              <a:off x="-63516900" y="3485625"/>
              <a:ext cx="79575" cy="29950"/>
            </a:xfrm>
            <a:custGeom>
              <a:avLst/>
              <a:gdLst/>
              <a:ahLst/>
              <a:cxnLst/>
              <a:rect l="l" t="t" r="r" b="b"/>
              <a:pathLst>
                <a:path w="3183" h="1198" extrusionOk="0">
                  <a:moveTo>
                    <a:pt x="1607" y="0"/>
                  </a:moveTo>
                  <a:cubicBezTo>
                    <a:pt x="820" y="0"/>
                    <a:pt x="190" y="504"/>
                    <a:pt x="1" y="1197"/>
                  </a:cubicBezTo>
                  <a:lnTo>
                    <a:pt x="3183" y="1197"/>
                  </a:lnTo>
                  <a:cubicBezTo>
                    <a:pt x="3025" y="504"/>
                    <a:pt x="2395" y="0"/>
                    <a:pt x="1607"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Slidesgo vector icon"/>
            <p:cNvSpPr/>
            <p:nvPr/>
          </p:nvSpPr>
          <p:spPr>
            <a:xfrm>
              <a:off x="-63618500" y="3360375"/>
              <a:ext cx="256775" cy="256600"/>
            </a:xfrm>
            <a:custGeom>
              <a:avLst/>
              <a:gdLst/>
              <a:ahLst/>
              <a:cxnLst/>
              <a:rect l="l" t="t" r="r" b="b"/>
              <a:pathLst>
                <a:path w="10271" h="10264" extrusionOk="0">
                  <a:moveTo>
                    <a:pt x="5703" y="1639"/>
                  </a:moveTo>
                  <a:cubicBezTo>
                    <a:pt x="6616" y="1639"/>
                    <a:pt x="7373" y="2395"/>
                    <a:pt x="7373" y="3309"/>
                  </a:cubicBezTo>
                  <a:cubicBezTo>
                    <a:pt x="7373" y="3750"/>
                    <a:pt x="7215" y="4128"/>
                    <a:pt x="6900" y="4443"/>
                  </a:cubicBezTo>
                  <a:cubicBezTo>
                    <a:pt x="7625" y="4884"/>
                    <a:pt x="8192" y="5672"/>
                    <a:pt x="8192" y="6617"/>
                  </a:cubicBezTo>
                  <a:cubicBezTo>
                    <a:pt x="8160" y="6900"/>
                    <a:pt x="8003" y="7058"/>
                    <a:pt x="7751" y="7058"/>
                  </a:cubicBezTo>
                  <a:lnTo>
                    <a:pt x="3623" y="7058"/>
                  </a:lnTo>
                  <a:cubicBezTo>
                    <a:pt x="3371" y="7058"/>
                    <a:pt x="3214" y="6837"/>
                    <a:pt x="3214" y="6617"/>
                  </a:cubicBezTo>
                  <a:cubicBezTo>
                    <a:pt x="3214" y="5672"/>
                    <a:pt x="3749" y="4884"/>
                    <a:pt x="4537" y="4443"/>
                  </a:cubicBezTo>
                  <a:cubicBezTo>
                    <a:pt x="4254" y="4128"/>
                    <a:pt x="4065" y="3718"/>
                    <a:pt x="4065" y="3309"/>
                  </a:cubicBezTo>
                  <a:cubicBezTo>
                    <a:pt x="4065" y="2395"/>
                    <a:pt x="4789" y="1639"/>
                    <a:pt x="5703" y="1639"/>
                  </a:cubicBezTo>
                  <a:close/>
                  <a:moveTo>
                    <a:pt x="5703" y="1"/>
                  </a:moveTo>
                  <a:cubicBezTo>
                    <a:pt x="3182" y="1"/>
                    <a:pt x="1135" y="2049"/>
                    <a:pt x="1135" y="4569"/>
                  </a:cubicBezTo>
                  <a:cubicBezTo>
                    <a:pt x="1135" y="5609"/>
                    <a:pt x="1481" y="6648"/>
                    <a:pt x="2206" y="7467"/>
                  </a:cubicBezTo>
                  <a:lnTo>
                    <a:pt x="1607" y="8066"/>
                  </a:lnTo>
                  <a:lnTo>
                    <a:pt x="756" y="7184"/>
                  </a:lnTo>
                  <a:cubicBezTo>
                    <a:pt x="678" y="7121"/>
                    <a:pt x="567" y="7089"/>
                    <a:pt x="457" y="7089"/>
                  </a:cubicBezTo>
                  <a:cubicBezTo>
                    <a:pt x="347" y="7089"/>
                    <a:pt x="237" y="7121"/>
                    <a:pt x="158" y="7184"/>
                  </a:cubicBezTo>
                  <a:cubicBezTo>
                    <a:pt x="0" y="7341"/>
                    <a:pt x="0" y="7625"/>
                    <a:pt x="158" y="7783"/>
                  </a:cubicBezTo>
                  <a:lnTo>
                    <a:pt x="1324" y="8980"/>
                  </a:lnTo>
                  <a:lnTo>
                    <a:pt x="2521" y="10145"/>
                  </a:lnTo>
                  <a:cubicBezTo>
                    <a:pt x="2600" y="10224"/>
                    <a:pt x="2710" y="10264"/>
                    <a:pt x="2820" y="10264"/>
                  </a:cubicBezTo>
                  <a:cubicBezTo>
                    <a:pt x="2930" y="10264"/>
                    <a:pt x="3041" y="10224"/>
                    <a:pt x="3119" y="10145"/>
                  </a:cubicBezTo>
                  <a:cubicBezTo>
                    <a:pt x="3277" y="9988"/>
                    <a:pt x="3277" y="9704"/>
                    <a:pt x="3119" y="9547"/>
                  </a:cubicBezTo>
                  <a:lnTo>
                    <a:pt x="2237" y="8696"/>
                  </a:lnTo>
                  <a:lnTo>
                    <a:pt x="2836" y="8098"/>
                  </a:lnTo>
                  <a:cubicBezTo>
                    <a:pt x="3655" y="8759"/>
                    <a:pt x="4695" y="9169"/>
                    <a:pt x="5734" y="9169"/>
                  </a:cubicBezTo>
                  <a:cubicBezTo>
                    <a:pt x="8255" y="9169"/>
                    <a:pt x="10271" y="7121"/>
                    <a:pt x="10271" y="4632"/>
                  </a:cubicBezTo>
                  <a:cubicBezTo>
                    <a:pt x="10239" y="2049"/>
                    <a:pt x="8223" y="1"/>
                    <a:pt x="5703"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Slidesgo vector icon"/>
            <p:cNvSpPr/>
            <p:nvPr/>
          </p:nvSpPr>
          <p:spPr>
            <a:xfrm>
              <a:off x="-63679950" y="3576200"/>
              <a:ext cx="102425" cy="100825"/>
            </a:xfrm>
            <a:custGeom>
              <a:avLst/>
              <a:gdLst/>
              <a:ahLst/>
              <a:cxnLst/>
              <a:rect l="l" t="t" r="r" b="b"/>
              <a:pathLst>
                <a:path w="4097" h="4033" extrusionOk="0">
                  <a:moveTo>
                    <a:pt x="2332" y="0"/>
                  </a:moveTo>
                  <a:lnTo>
                    <a:pt x="159" y="2142"/>
                  </a:lnTo>
                  <a:cubicBezTo>
                    <a:pt x="1" y="2300"/>
                    <a:pt x="1" y="2584"/>
                    <a:pt x="159" y="2741"/>
                  </a:cubicBezTo>
                  <a:lnTo>
                    <a:pt x="1356" y="3938"/>
                  </a:lnTo>
                  <a:cubicBezTo>
                    <a:pt x="1434" y="4001"/>
                    <a:pt x="1545" y="4033"/>
                    <a:pt x="1655" y="4033"/>
                  </a:cubicBezTo>
                  <a:cubicBezTo>
                    <a:pt x="1765" y="4033"/>
                    <a:pt x="1876" y="4001"/>
                    <a:pt x="1954" y="3938"/>
                  </a:cubicBezTo>
                  <a:lnTo>
                    <a:pt x="4097" y="1764"/>
                  </a:lnTo>
                  <a:lnTo>
                    <a:pt x="2332" y="0"/>
                  </a:ln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3" name="Text"/>
          <p:cNvSpPr txBox="1"/>
          <p:nvPr/>
        </p:nvSpPr>
        <p:spPr>
          <a:xfrm>
            <a:off x="1143000" y="3324225"/>
            <a:ext cx="3009900" cy="5905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0">
                <a:solidFill>
                  <a:srgbClr val="435D74"/>
                </a:solidFill>
                <a:latin typeface="Roboto"/>
                <a:ea typeface="Roboto"/>
                <a:cs typeface="Roboto"/>
              </a:rPr>
              <a:t>How many requests may arrive</a:t>
            </a:r>
            <a:endParaRPr lang="en-US" sz="1500"/>
          </a:p>
        </p:txBody>
      </p:sp>
      <p:cxnSp>
        <p:nvCxnSpPr>
          <p:cNvPr id="34" name="Connector"/>
          <p:cNvCxnSpPr/>
          <p:nvPr/>
        </p:nvCxnSpPr>
        <p:spPr>
          <a:xfrm>
            <a:off x="4343400" y="3543300"/>
            <a:ext cx="381000" cy="95"/>
          </a:xfrm>
          <a:prstGeom prst="line">
            <a:avLst/>
          </a:prstGeom>
          <a:ln w="14288">
            <a:solidFill>
              <a:srgbClr val="869FB2"/>
            </a:solidFill>
            <a:tailEnd type="triangle" w="sm" len="sm"/>
          </a:ln>
        </p:spPr>
      </p:cxnSp>
      <p:sp>
        <p:nvSpPr>
          <p:cNvPr id="35" name="Text"/>
          <p:cNvSpPr txBox="1"/>
          <p:nvPr/>
        </p:nvSpPr>
        <p:spPr>
          <a:xfrm>
            <a:off x="5057775" y="3324225"/>
            <a:ext cx="3381375" cy="5905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0">
                <a:solidFill>
                  <a:srgbClr val="435D74"/>
                </a:solidFill>
                <a:latin typeface="Roboto"/>
                <a:ea typeface="Roboto"/>
                <a:cs typeface="Roboto"/>
              </a:rPr>
              <a:t>How many workers to assign</a:t>
            </a:r>
            <a:endParaRPr lang="en-US" sz="1500"/>
          </a:p>
        </p:txBody>
      </p:sp>
      <p:sp>
        <p:nvSpPr>
          <p:cNvPr id="36" name="Panel"/>
          <p:cNvSpPr/>
          <p:nvPr/>
        </p:nvSpPr>
        <p:spPr>
          <a:xfrm>
            <a:off x="495300" y="4219575"/>
            <a:ext cx="8153400" cy="400050"/>
          </a:xfrm>
          <a:prstGeom prst="roundRect">
            <a:avLst>
              <a:gd name="adj" fmla="val 10000"/>
            </a:avLst>
          </a:prstGeom>
          <a:solidFill>
            <a:srgbClr val="F3F6F8"/>
          </a:solidFill>
          <a:ln w="9525">
            <a:noFill/>
          </a:ln>
        </p:spPr>
        <p:txBody>
          <a:bodyPr/>
          <a:lstStyle/>
          <a:p>
            <a:endParaRPr lang="en-US"/>
          </a:p>
        </p:txBody>
      </p:sp>
      <p:sp>
        <p:nvSpPr>
          <p:cNvPr id="37" name="Text"/>
          <p:cNvSpPr txBox="1"/>
          <p:nvPr/>
        </p:nvSpPr>
        <p:spPr>
          <a:xfrm>
            <a:off x="666750" y="4295775"/>
            <a:ext cx="7810500" cy="295275"/>
          </a:xfrm>
          <a:prstGeom prst="rect">
            <a:avLst/>
          </a:prstGeom>
          <a:noFill/>
          <a:ln w="9525">
            <a:noFill/>
          </a:ln>
        </p:spPr>
        <p:txBody>
          <a:bodyPr wrap="none" lIns="0" tIns="0" rIns="0" bIns="0" anchor="t">
            <a:noAutofit/>
          </a:bodyPr>
          <a:lstStyle/>
          <a:p>
            <a:pPr marL="0" indent="0" algn="l">
              <a:lnSpc>
                <a:spcPts val="1641"/>
              </a:lnSpc>
              <a:spcAft>
                <a:spcPts val="0"/>
              </a:spcAft>
              <a:buNone/>
            </a:pPr>
            <a:r>
              <a:rPr lang="en-US" sz="1312" b="0">
                <a:solidFill>
                  <a:srgbClr val="435D74"/>
                </a:solidFill>
                <a:latin typeface="Roboto"/>
                <a:ea typeface="Roboto"/>
                <a:cs typeface="Roboto"/>
              </a:rPr>
              <a:t>Predictions are inputs. Estimates can also come from people or other methods.</a:t>
            </a:r>
            <a:endParaRPr lang="en-US" sz="1312"/>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Root">
          <a:extLst>
            <a:ext uri="{FF2B5EF4-FFF2-40B4-BE49-F238E27FC236}">
              <a16:creationId xmlns:a16="http://schemas.microsoft.com/office/drawing/2014/main" id="{49B883FB-59AA-61C2-7CCC-52D1B478485B}"/>
            </a:ext>
          </a:extLst>
        </p:cNvPr>
        <p:cNvGrpSpPr/>
        <p:nvPr/>
      </p:nvGrpSpPr>
      <p:grpSpPr>
        <a:xfrm>
          <a:off x="0" y="0"/>
          <a:ext cx="0" cy="0"/>
          <a:chOff x="0" y="0"/>
          <a:chExt cx="0" cy="0"/>
        </a:xfrm>
      </p:grpSpPr>
      <p:cxnSp>
        <p:nvCxnSpPr>
          <p:cNvPr id="3" name="Connector">
            <a:extLst>
              <a:ext uri="{FF2B5EF4-FFF2-40B4-BE49-F238E27FC236}">
                <a16:creationId xmlns:a16="http://schemas.microsoft.com/office/drawing/2014/main" id="{1F6F1DD7-9C27-2067-E159-24DBF3A1B124}"/>
              </a:ext>
            </a:extLst>
          </p:cNvPr>
          <p:cNvCxnSpPr/>
          <p:nvPr/>
        </p:nvCxnSpPr>
        <p:spPr>
          <a:xfrm>
            <a:off x="495300" y="4762500"/>
            <a:ext cx="8153400" cy="95"/>
          </a:xfrm>
          <a:prstGeom prst="line">
            <a:avLst/>
          </a:prstGeom>
          <a:ln w="6191">
            <a:solidFill>
              <a:srgbClr val="D8E2E8"/>
            </a:solidFill>
          </a:ln>
        </p:spPr>
      </p:cxnSp>
      <p:sp>
        <p:nvSpPr>
          <p:cNvPr id="4" name="Text">
            <a:extLst>
              <a:ext uri="{FF2B5EF4-FFF2-40B4-BE49-F238E27FC236}">
                <a16:creationId xmlns:a16="http://schemas.microsoft.com/office/drawing/2014/main" id="{0C6390FA-3996-05C3-EB82-7E1EB5F70CAC}"/>
              </a:ext>
            </a:extLst>
          </p:cNvPr>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6" name="Text">
            <a:extLst>
              <a:ext uri="{FF2B5EF4-FFF2-40B4-BE49-F238E27FC236}">
                <a16:creationId xmlns:a16="http://schemas.microsoft.com/office/drawing/2014/main" id="{8BE238E8-78E0-D554-C2D7-59227F0105BB}"/>
              </a:ext>
            </a:extLst>
          </p:cNvPr>
          <p:cNvSpPr txBox="1"/>
          <p:nvPr/>
        </p:nvSpPr>
        <p:spPr>
          <a:xfrm>
            <a:off x="8048625" y="4867275"/>
            <a:ext cx="600075" cy="171450"/>
          </a:xfrm>
          <a:prstGeom prst="rect">
            <a:avLst/>
          </a:prstGeom>
          <a:noFill/>
          <a:ln w="9525">
            <a:noFill/>
          </a:ln>
        </p:spPr>
        <p:txBody>
          <a:bodyPr wrap="none" lIns="0" tIns="0" rIns="0" bIns="0" anchor="t">
            <a:noAutofit/>
          </a:bodyPr>
          <a:lstStyle/>
          <a:p>
            <a:pPr marL="0" indent="0" algn="r">
              <a:lnSpc>
                <a:spcPts val="1031"/>
              </a:lnSpc>
              <a:spcAft>
                <a:spcPts val="0"/>
              </a:spcAft>
              <a:buNone/>
            </a:pPr>
            <a:r>
              <a:rPr lang="en-US" sz="825" b="0" dirty="0">
                <a:solidFill>
                  <a:srgbClr val="6D8495"/>
                </a:solidFill>
                <a:latin typeface="Roboto"/>
                <a:ea typeface="Roboto"/>
                <a:cs typeface="Roboto"/>
              </a:rPr>
              <a:t>14 / 14</a:t>
            </a:r>
            <a:endParaRPr lang="en-US" sz="825" dirty="0"/>
          </a:p>
        </p:txBody>
      </p:sp>
      <p:sp>
        <p:nvSpPr>
          <p:cNvPr id="22" name="Text">
            <a:extLst>
              <a:ext uri="{FF2B5EF4-FFF2-40B4-BE49-F238E27FC236}">
                <a16:creationId xmlns:a16="http://schemas.microsoft.com/office/drawing/2014/main" id="{402E276F-AAF5-DEAF-EC9D-95A2775EB50E}"/>
              </a:ext>
            </a:extLst>
          </p:cNvPr>
          <p:cNvSpPr txBox="1"/>
          <p:nvPr/>
        </p:nvSpPr>
        <p:spPr>
          <a:xfrm>
            <a:off x="1794424" y="1347538"/>
            <a:ext cx="6222044" cy="2007554"/>
          </a:xfrm>
          <a:prstGeom prst="rect">
            <a:avLst/>
          </a:prstGeom>
          <a:noFill/>
          <a:ln w="9525">
            <a:noFill/>
          </a:ln>
        </p:spPr>
        <p:txBody>
          <a:bodyPr wrap="none" lIns="0" tIns="0" rIns="0" bIns="0" anchor="t">
            <a:noAutofit/>
          </a:bodyPr>
          <a:lstStyle/>
          <a:p>
            <a:pPr marL="0" indent="0" algn="l">
              <a:lnSpc>
                <a:spcPts val="3938"/>
              </a:lnSpc>
              <a:spcAft>
                <a:spcPts val="0"/>
              </a:spcAft>
              <a:buNone/>
            </a:pPr>
            <a:endParaRPr lang="en-US" sz="9600" b="1" dirty="0">
              <a:solidFill>
                <a:srgbClr val="435D74"/>
              </a:solidFill>
              <a:latin typeface="Fira Sans Extra Condensed"/>
              <a:ea typeface="Fira Sans Extra Condensed"/>
              <a:cs typeface="Fira Sans Extra Condensed"/>
            </a:endParaRPr>
          </a:p>
          <a:p>
            <a:pPr marL="0" indent="0" algn="l">
              <a:lnSpc>
                <a:spcPts val="3938"/>
              </a:lnSpc>
              <a:spcAft>
                <a:spcPts val="0"/>
              </a:spcAft>
              <a:buNone/>
            </a:pPr>
            <a:endParaRPr lang="en-US" sz="9600" b="1" dirty="0">
              <a:solidFill>
                <a:srgbClr val="435D74"/>
              </a:solidFill>
              <a:latin typeface="Fira Sans Extra Condensed"/>
              <a:ea typeface="Fira Sans Extra Condensed"/>
              <a:cs typeface="Fira Sans Extra Condensed"/>
            </a:endParaRPr>
          </a:p>
          <a:p>
            <a:pPr marL="0" indent="0" algn="l">
              <a:lnSpc>
                <a:spcPts val="3938"/>
              </a:lnSpc>
              <a:spcAft>
                <a:spcPts val="0"/>
              </a:spcAft>
              <a:buNone/>
            </a:pPr>
            <a:r>
              <a:rPr lang="en-US" sz="9600" b="1" dirty="0">
                <a:solidFill>
                  <a:srgbClr val="435D74"/>
                </a:solidFill>
                <a:latin typeface="Fira Sans Extra Condensed"/>
                <a:ea typeface="Fira Sans Extra Condensed"/>
                <a:cs typeface="Fira Sans Extra Condensed"/>
              </a:rPr>
              <a:t>Thank You !</a:t>
            </a:r>
            <a:endParaRPr lang="en-US" sz="9600" dirty="0"/>
          </a:p>
        </p:txBody>
      </p:sp>
    </p:spTree>
    <p:extLst>
      <p:ext uri="{BB962C8B-B14F-4D97-AF65-F5344CB8AC3E}">
        <p14:creationId xmlns:p14="http://schemas.microsoft.com/office/powerpoint/2010/main" val="4170041916"/>
      </p:ext>
    </p:extLst>
  </p:cSld>
  <p:clrMapOvr>
    <a:masterClrMapping/>
  </p:clrMapOvr>
</p:sld>
</file>

<file path=ppt/theme/theme1.xml><?xml version="1.0" encoding="utf-8"?>
<a:theme xmlns:a="http://schemas.openxmlformats.org/drawingml/2006/main" name="Big Data Infographics by Slidesgo">
  <a:themeElements>
    <a:clrScheme name="Simple Light">
      <a:dk1>
        <a:srgbClr val="000000"/>
      </a:dk1>
      <a:lt1>
        <a:srgbClr val="FFFFFF"/>
      </a:lt1>
      <a:dk2>
        <a:srgbClr val="595959"/>
      </a:dk2>
      <a:lt2>
        <a:srgbClr val="EEEEEE"/>
      </a:lt2>
      <a:accent1>
        <a:srgbClr val="FFC64E"/>
      </a:accent1>
      <a:accent2>
        <a:srgbClr val="FF8001"/>
      </a:accent2>
      <a:accent3>
        <a:srgbClr val="5FD0DB"/>
      </a:accent3>
      <a:accent4>
        <a:srgbClr val="32AAD9"/>
      </a:accent4>
      <a:accent5>
        <a:srgbClr val="1A569C"/>
      </a:accent5>
      <a:accent6>
        <a:srgbClr val="D55800"/>
      </a:accent6>
      <a:hlink>
        <a:srgbClr val="000000"/>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lidesgo Final Pages">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154</TotalTime>
  <Words>3588</Words>
  <Application>Microsoft Office PowerPoint</Application>
  <PresentationFormat>On-screen Show (16:9)</PresentationFormat>
  <Paragraphs>490</Paragraphs>
  <Slides>14</Slides>
  <Notes>14</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14</vt:i4>
      </vt:variant>
    </vt:vector>
  </HeadingPairs>
  <TitlesOfParts>
    <vt:vector size="22" baseType="lpstr">
      <vt:lpstr>Roboto</vt:lpstr>
      <vt:lpstr>Proxima Nova Semibold</vt:lpstr>
      <vt:lpstr>Proxima Nova</vt:lpstr>
      <vt:lpstr>Arial</vt:lpstr>
      <vt:lpstr>Fira Sans Extra Condensed SemiBold</vt:lpstr>
      <vt:lpstr>Fira Sans Extra Condensed</vt:lpstr>
      <vt:lpstr>Big Data Infographics by Slidesgo</vt:lpstr>
      <vt:lpstr>Slidesgo Final Pages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Ali Omar</cp:lastModifiedBy>
  <cp:revision>4</cp:revision>
  <dcterms:modified xsi:type="dcterms:W3CDTF">2026-10-11T14:49:06Z</dcterms:modified>
</cp:coreProperties>
</file>