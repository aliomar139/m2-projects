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73" r:id="rId3"/>
    <p:sldId id="257" r:id="rId4"/>
    <p:sldId id="258" r:id="rId5"/>
    <p:sldId id="259" r:id="rId6"/>
    <p:sldId id="260" r:id="rId7"/>
    <p:sldId id="261" r:id="rId8"/>
    <p:sldId id="262" r:id="rId9"/>
    <p:sldId id="263" r:id="rId10"/>
    <p:sldId id="264" r:id="rId11"/>
    <p:sldId id="274" r:id="rId12"/>
    <p:sldId id="266" r:id="rId13"/>
    <p:sldId id="267" r:id="rId14"/>
    <p:sldId id="268" r:id="rId15"/>
    <p:sldId id="272" r:id="rId16"/>
  </p:sldIdLst>
  <p:sldSz cx="9144000" cy="5143500" type="screen16x9"/>
  <p:notesSz cx="6858000" cy="9144000"/>
  <p:embeddedFontLst>
    <p:embeddedFont>
      <p:font typeface="Fira Sans Extra Condensed" panose="020B0503050000020004" pitchFamily="34" charset="0"/>
      <p:regular r:id="rId18"/>
      <p:bold r:id="rId19"/>
      <p:italic r:id="rId20"/>
      <p:boldItalic r:id="rId21"/>
    </p:embeddedFont>
    <p:embeddedFont>
      <p:font typeface="Fira Sans Extra Condensed SemiBold" panose="020B0603050000020004" pitchFamily="34" charset="0"/>
      <p:regular r:id="rId22"/>
      <p:bold r:id="rId23"/>
      <p:italic r:id="rId24"/>
      <p:boldItalic r:id="rId25"/>
    </p:embeddedFont>
    <p:embeddedFont>
      <p:font typeface="Proxima Nova" panose="020B0604020202020204" charset="0"/>
      <p:regular r:id="rId26"/>
      <p:bold r:id="rId27"/>
      <p:italic r:id="rId28"/>
      <p:boldItalic r:id="rId29"/>
    </p:embeddedFont>
    <p:embeddedFont>
      <p:font typeface="Proxima Nova Semibold" panose="020B0604020202020204" charset="0"/>
      <p:regular r:id="rId30"/>
      <p:bold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latin typeface="Roboto"/>
              </a:rPr>
              <a:t>Hello everyone, and thank you for being here. The data science life cycle has several stages: understanding the problem, preparing data, building models, checking results, and using them in practice. Prescriptive analytics helps us use this work to make a decision.</a:t>
            </a:r>
          </a:p>
          <a:p>
            <a:endParaRPr lang="en-US" sz="1200">
              <a:latin typeface="Roboto"/>
            </a:endParaRPr>
          </a:p>
          <a:p>
            <a:r>
              <a:rPr lang="en-US" sz="1200">
                <a:latin typeface="Roboto"/>
              </a:rPr>
              <a:t>--- Full content from the approved Markdown ---</a:t>
            </a:r>
          </a:p>
          <a:p>
            <a:r>
              <a:rPr lang="en-US" sz="1200">
                <a:latin typeface="Roboto"/>
              </a:rPr>
              <a:t># Prescriptive analytics</a:t>
            </a:r>
          </a:p>
          <a:p>
            <a:r>
              <a:rPr lang="en-US" sz="1200">
                <a:latin typeface="Roboto"/>
              </a:rPr>
              <a:t>### Decision-making in the data science life cycle</a:t>
            </a:r>
          </a:p>
          <a:p>
            <a:endParaRPr lang="en-US" sz="1200">
              <a:latin typeface="Roboto"/>
            </a:endParaRPr>
          </a:p>
          <a:p>
            <a:r>
              <a:rPr lang="en-US" sz="1200">
                <a:latin typeface="Roboto"/>
              </a:rPr>
              <a:t>The data science life cycle includes understanding a problem, preparing data, building models, checking results, and using them in practice.</a:t>
            </a:r>
          </a:p>
          <a:p>
            <a:endParaRPr lang="en-US" sz="1200">
              <a:latin typeface="Roboto"/>
            </a:endParaRPr>
          </a:p>
          <a:p>
            <a:r>
              <a:rPr lang="en-US" sz="1200">
                <a:latin typeface="Roboto"/>
              </a:rPr>
              <a:t>**Prescriptive analytics uses data, goals, and limits to suggest what to do.**</a:t>
            </a:r>
          </a:p>
          <a:p>
            <a:endParaRPr lang="en-US" sz="1200">
              <a:latin typeface="Roboto"/>
            </a:endParaRPr>
          </a:p>
          <a:p>
            <a:endParaRPr lang="en-US" sz="1200">
              <a:latin typeface="Roboto"/>
            </a:endParaRPr>
          </a:p>
          <a:p>
            <a:r>
              <a:rPr lang="en-US" sz="1200">
                <a:latin typeface="Roboto"/>
              </a:rPr>
              <a:t>Speaker opening: Hello everyone, and thank you for being here.</a:t>
            </a:r>
          </a:p>
          <a:p>
            <a:endParaRPr lang="en-US" sz="1200">
              <a:latin typeface="Roboto"/>
            </a:endParaRPr>
          </a:p>
          <a:p>
            <a:endParaRPr lang="en-US" sz="1200">
              <a:latin typeface="Roboto"/>
            </a:endParaRPr>
          </a:p>
          <a:p>
            <a:r>
              <a:rPr lang="en-US" sz="1200">
                <a:latin typeface="Roboto"/>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The cycle starts with the business problem. We need to know what decision to make and how we will tell if it worked. We then study and prepare the data, build models, and check whether the results meet the goal. Deployment means using the results in practice.</a:t>
            </a:r>
          </a:p>
          <a:p>
            <a:endParaRPr lang="en-US" sz="1200"/>
          </a:p>
          <a:p>
            <a:r>
              <a:rPr lang="en-US" sz="1200"/>
              <a:t>Prescriptive analytics helps with modeling and decision-making during this cycle. We can go back to earlier stages: if the results show a problem, we may need to change the data, the model, or even the goal.</a:t>
            </a:r>
          </a:p>
          <a:p>
            <a:endParaRPr lang="en-US" sz="1200"/>
          </a:p>
          <a:p>
            <a:r>
              <a:rPr lang="en-US" sz="1200"/>
              <a:t>Source: [IBM CRISP-DM guide](https://www.ibm.com/docs/en/SS3RA7_18.5.0/pdf/ModelerCRISPDM.pdf).</a:t>
            </a:r>
          </a:p>
          <a:p>
            <a:endParaRPr lang="en-US" sz="1200"/>
          </a:p>
          <a:p>
            <a:r>
              <a:rPr lang="en-US" sz="1200"/>
              <a:t>--- Full content from the approved Markdown ---</a:t>
            </a:r>
          </a:p>
          <a:p>
            <a:r>
              <a:rPr lang="en-US" sz="1200"/>
              <a:t>## The data science life cycle</a:t>
            </a:r>
          </a:p>
          <a:p>
            <a:endParaRPr lang="en-US" sz="1200"/>
          </a:p>
          <a:p>
            <a:r>
              <a:rPr lang="en-US" sz="1200"/>
              <a:t>| Stage | Purpose |</a:t>
            </a:r>
          </a:p>
          <a:p>
            <a:r>
              <a:rPr lang="en-US" sz="1200"/>
              <a:t>|:--|:--|</a:t>
            </a:r>
          </a:p>
          <a:p>
            <a:r>
              <a:rPr lang="en-US" sz="1200"/>
              <a:t>| Business understanding | Understand the problem and set the goal |</a:t>
            </a:r>
          </a:p>
          <a:p>
            <a:r>
              <a:rPr lang="en-US" sz="1200"/>
              <a:t>| Data understanding and preparation | Study, clean, and organize the data |</a:t>
            </a:r>
          </a:p>
          <a:p>
            <a:r>
              <a:rPr lang="en-US" sz="1200"/>
              <a:t>| Modeling | Build models to answer the business questions |</a:t>
            </a:r>
          </a:p>
          <a:p>
            <a:r>
              <a:rPr lang="en-US" sz="1200"/>
              <a:t>| Evaluation | Check whether the results meet the goal |</a:t>
            </a:r>
          </a:p>
          <a:p>
            <a:r>
              <a:rPr lang="en-US" sz="1200"/>
              <a:t>| Deployment | Use the results in practice and check how well they work |</a:t>
            </a:r>
          </a:p>
          <a:p>
            <a:endParaRPr lang="en-US" sz="1200"/>
          </a:p>
          <a:p>
            <a:r>
              <a:rPr lang="en-US" sz="1200"/>
              <a:t>Prescriptive analytics helps teams make decisions during this cycle. Teams can return to earlier stages when the data, goals, or results change.</a:t>
            </a:r>
          </a:p>
          <a:p>
            <a:endParaRPr lang="en-US" sz="1200"/>
          </a:p>
          <a:p>
            <a:endParaRPr lang="en-US" sz="1200"/>
          </a:p>
          <a:p>
            <a:r>
              <a:rPr lang="en-US" sz="1200"/>
              <a:t>Source: IBM CRISP-DM guide, https://www.ibm.com/docs/en/SS3RA7_18.5.0/pdf/ModelerCRISPDM.pdf</a:t>
            </a:r>
          </a:p>
          <a:p>
            <a:endParaRPr lang="en-US" sz="1200"/>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Descriptive analytics gives a summary of the data. It tells us what happened, such as how much each store sold last month.</a:t>
            </a:r>
          </a:p>
          <a:p>
            <a:endParaRPr lang="en-US" sz="1200"/>
          </a:p>
          <a:p>
            <a:r>
              <a:rPr lang="en-US" sz="1200"/>
              <a:t>Diagnostic analytics looks for reasons behind a result. If stores sold fewer products, we might check whether they had enough products available. We need evidence to show whether this explains the lower sales.</a:t>
            </a:r>
          </a:p>
          <a:p>
            <a:endParaRPr lang="en-US" sz="1200"/>
          </a:p>
          <a:p>
            <a:r>
              <a:rPr lang="en-US" sz="1200"/>
              <a:t>Predictive analytics estimates what may happen next. For example, it can predict how much each store may sell next month. Demand means how much customers want to buy.</a:t>
            </a:r>
          </a:p>
          <a:p>
            <a:endParaRPr lang="en-US" sz="1200"/>
          </a:p>
          <a:p>
            <a:r>
              <a:rPr lang="en-US" sz="1200"/>
              <a:t>Prescriptive analytics suggests what to do. Stock means the products available. The model can use expected demand and available stock to suggest how much to send to each store. All four types can work together in the same data science project.</a:t>
            </a:r>
          </a:p>
          <a:p>
            <a:endParaRPr lang="en-US" sz="1200"/>
          </a:p>
          <a:p>
            <a:r>
              <a:rPr lang="en-US" sz="1200"/>
              <a:t>Source: [IBM Think: prescriptive analytics](https://www.ibm.com/think/topics/prescriptive-analytics).</a:t>
            </a:r>
          </a:p>
          <a:p>
            <a:endParaRPr lang="en-US" sz="1200"/>
          </a:p>
          <a:p>
            <a:r>
              <a:rPr lang="en-US" sz="1200"/>
              <a:t>--- Full content from the approved Markdown ---</a:t>
            </a:r>
          </a:p>
          <a:p>
            <a:r>
              <a:rPr lang="en-US" sz="1200"/>
              <a:t>## Four types of analytics</a:t>
            </a:r>
          </a:p>
          <a:p>
            <a:endParaRPr lang="en-US" sz="1200"/>
          </a:p>
          <a:p>
            <a:r>
              <a:rPr lang="en-US" sz="1200"/>
              <a:t>| Type | Role in data science | Store example |</a:t>
            </a:r>
          </a:p>
          <a:p>
            <a:r>
              <a:rPr lang="en-US" sz="1200"/>
              <a:t>|:--|:--|:--|</a:t>
            </a:r>
          </a:p>
          <a:p>
            <a:r>
              <a:rPr lang="en-US" sz="1200"/>
              <a:t>| Descriptive | Show what happened | Show last month's sales for each store |</a:t>
            </a:r>
          </a:p>
          <a:p>
            <a:r>
              <a:rPr lang="en-US" sz="1200"/>
              <a:t>| Diagnostic | Explain why it happened | Check whether stores sold less because products were not available |</a:t>
            </a:r>
          </a:p>
          <a:p>
            <a:r>
              <a:rPr lang="en-US" sz="1200"/>
              <a:t>| Predictive | Estimate what may happen | Predict next month's demand |</a:t>
            </a:r>
          </a:p>
          <a:p>
            <a:r>
              <a:rPr lang="en-US" sz="1200"/>
              <a:t>| **Prescriptive** | **Suggest what to do** | **Decide how much stock to send using the available supply** |</a:t>
            </a:r>
          </a:p>
          <a:p>
            <a:endParaRPr lang="en-US" sz="1200"/>
          </a:p>
          <a:p>
            <a:r>
              <a:rPr lang="en-US" sz="1200"/>
              <a:t>These types answer different questions in a project. They can work together, and teams do not always use them in the same order.</a:t>
            </a:r>
          </a:p>
          <a:p>
            <a:endParaRPr lang="en-US" sz="1200"/>
          </a:p>
          <a:p>
            <a:r>
              <a:rPr lang="en-US" sz="1200"/>
              <a:t>*Stock means the products available. Demand means how much customers want to buy.*</a:t>
            </a:r>
          </a:p>
          <a:p>
            <a:endParaRPr lang="en-US" sz="1200"/>
          </a:p>
          <a:p>
            <a:endParaRPr lang="en-US" sz="1200"/>
          </a:p>
          <a:p>
            <a:r>
              <a:rPr lang="en-US" sz="1200"/>
              <a:t>Source: IBM Think, https://www.ibm.com/think/topics/prescriptive-analytics</a:t>
            </a:r>
          </a:p>
          <a:p>
            <a:endParaRPr lang="en-US" sz="1200"/>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Let us focus on prescriptive analytics. A forecast is a prediction, such as how much people may buy. A prescriptive model helps us choose an action using that information. For stores, it may suggest how much stock to send. For deliveries, it can use predicted travel times to choose roads that allow delivery at the agreed time.</a:t>
            </a:r>
          </a:p>
          <a:p>
            <a:endParaRPr lang="en-US" sz="1200"/>
          </a:p>
          <a:p>
            <a:r>
              <a:rPr lang="en-US" sz="1200"/>
              <a:t>The suggestion should show what to do, what result to expect, and which limits affected the choice. This helps the person responsible check the plan.</a:t>
            </a:r>
          </a:p>
          <a:p>
            <a:endParaRPr lang="en-US" sz="1200"/>
          </a:p>
          <a:p>
            <a:r>
              <a:rPr lang="en-US" sz="1200"/>
              <a:t>--- Full content from the approved Markdown ---</a:t>
            </a:r>
          </a:p>
          <a:p>
            <a:r>
              <a:rPr lang="en-US" sz="1200"/>
              <a:t>## The role of prescriptive analytics</a:t>
            </a:r>
          </a:p>
          <a:p>
            <a:endParaRPr lang="en-US" sz="1200"/>
          </a:p>
          <a:p>
            <a:r>
              <a:rPr lang="en-US" sz="1200"/>
              <a:t>A forecast is a prediction, such as how much people may buy. A prescriptive model suggests what to do using that information.</a:t>
            </a:r>
          </a:p>
          <a:p>
            <a:endParaRPr lang="en-US" sz="1200"/>
          </a:p>
          <a:p>
            <a:r>
              <a:rPr lang="en-US" sz="1200"/>
              <a:t>**Stores:** use demand estimates to decide how much stock to send to each store.</a:t>
            </a:r>
          </a:p>
          <a:p>
            <a:endParaRPr lang="en-US" sz="1200"/>
          </a:p>
          <a:p>
            <a:r>
              <a:rPr lang="en-US" sz="1200"/>
              <a:t>**Delivery:** use predicted travel times to choose roads that allow delivery at the agreed time.</a:t>
            </a:r>
          </a:p>
          <a:p>
            <a:endParaRPr lang="en-US" sz="1200"/>
          </a:p>
          <a:p>
            <a:r>
              <a:rPr lang="en-US" sz="1200"/>
              <a:t>A suggestion should explain what to do, what result to expect, and which limits affected the choice.</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A decision model has four main parts. Decision variables are what we can change, such as the number of products sent to each store. The objective is the goal we want to improve. Constraints are the rules and limits we must follow. Inputs are the information the model uses.</a:t>
            </a:r>
          </a:p>
          <a:p>
            <a:endParaRPr lang="en-US" sz="1200"/>
          </a:p>
          <a:p>
            <a:r>
              <a:rPr lang="en-US" sz="1200"/>
              <a:t>A feasible plan follows all the rules. An optimal plan gives the best result for the goal among the choices allowed by the model. Assumptions are things the model treats as true, such as the available working hours. We still need to check whether these match the real situation.</a:t>
            </a:r>
          </a:p>
          <a:p>
            <a:endParaRPr lang="en-US" sz="1200"/>
          </a:p>
          <a:p>
            <a:r>
              <a:rPr lang="en-US" sz="1200"/>
              <a:t>--- Full content from the approved Markdown ---</a:t>
            </a:r>
          </a:p>
          <a:p>
            <a:r>
              <a:rPr lang="en-US" sz="1200"/>
              <a:t>## The decision model</a:t>
            </a:r>
          </a:p>
          <a:p>
            <a:endParaRPr lang="en-US" sz="1200"/>
          </a:p>
          <a:p>
            <a:r>
              <a:rPr lang="en-US" sz="1200"/>
              <a:t>| Part | Meaning | Stock example |</a:t>
            </a:r>
          </a:p>
          <a:p>
            <a:r>
              <a:rPr lang="en-US" sz="1200"/>
              <a:t>|:--|:--|:--|</a:t>
            </a:r>
          </a:p>
          <a:p>
            <a:r>
              <a:rPr lang="en-US" sz="1200"/>
              <a:t>| Decision variables | What the model can change | Number of products sent to each store |</a:t>
            </a:r>
          </a:p>
          <a:p>
            <a:r>
              <a:rPr lang="en-US" sz="1200"/>
              <a:t>| Objective | The goal to improve | Meet as much demand as possible |</a:t>
            </a:r>
          </a:p>
          <a:p>
            <a:r>
              <a:rPr lang="en-US" sz="1200"/>
              <a:t>| Constraints | Rules and limits the plan must follow | Available stock and how much each store can use |</a:t>
            </a:r>
          </a:p>
          <a:p>
            <a:r>
              <a:rPr lang="en-US" sz="1200"/>
              <a:t>| Inputs | Information the model uses | Expected demand and current stock |</a:t>
            </a:r>
          </a:p>
          <a:p>
            <a:endParaRPr lang="en-US" sz="1200"/>
          </a:p>
          <a:p>
            <a:r>
              <a:rPr lang="en-US" sz="1200"/>
              <a:t>A feasible plan follows all the rules. An optimal plan gives the best result for the goal within the model.</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First, agree on the decision with the person responsible. Prepare the data and estimate what may happen next. Then build a model that connects possible choices to their expected results and limits.</a:t>
            </a:r>
          </a:p>
          <a:p>
            <a:endParaRPr lang="en-US" sz="1200"/>
          </a:p>
          <a:p>
            <a:r>
              <a:rPr lang="en-US" sz="1200"/>
              <a:t>Compare the plans that follow the rules, and check what the model assumes before suggesting a plan. After the team uses the plan, measure what happened. Use these results to improve the next decision.</a:t>
            </a:r>
          </a:p>
          <a:p>
            <a:endParaRPr lang="en-US" sz="1200"/>
          </a:p>
          <a:p>
            <a:r>
              <a:rPr lang="en-US" sz="1200"/>
              <a:t>--- Full content from the approved Markdown ---</a:t>
            </a:r>
          </a:p>
          <a:p>
            <a:r>
              <a:rPr lang="en-US" sz="1200"/>
              <a:t>## The recommendation process</a:t>
            </a:r>
          </a:p>
          <a:p>
            <a:endParaRPr lang="en-US" sz="1200"/>
          </a:p>
          <a:p>
            <a:r>
              <a:rPr lang="en-US" sz="1200"/>
              <a:t>1. Agree on the decision, goal, and rules with the person responsible.</a:t>
            </a:r>
          </a:p>
          <a:p>
            <a:r>
              <a:rPr lang="en-US" sz="1200"/>
              <a:t>2. Prepare the data and estimate what may happen next.</a:t>
            </a:r>
          </a:p>
          <a:p>
            <a:r>
              <a:rPr lang="en-US" sz="1200"/>
              <a:t>3. Build a model that connects choices, results, and limits.</a:t>
            </a:r>
          </a:p>
          <a:p>
            <a:r>
              <a:rPr lang="en-US" sz="1200"/>
              <a:t>4. Compare plans that follow the rules and check what the model assumes.</a:t>
            </a:r>
          </a:p>
          <a:p>
            <a:r>
              <a:rPr lang="en-US" sz="1200"/>
              <a:t>5. Check the suggestion, use the plan, and measure the result.</a:t>
            </a:r>
          </a:p>
          <a:p>
            <a:endParaRPr lang="en-US" sz="1200"/>
          </a:p>
          <a:p>
            <a:r>
              <a:rPr lang="en-US" sz="1200"/>
              <a:t>Use the actual results to improve the next decision.</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Different decisions need different methods. Mathematical optimization finds the best result for a goal while following the rules. It can help decide how to share stock. Constraint programming finds plans that follow detailed rules, such as choosing working hours based on workers' skills and availability.</a:t>
            </a:r>
          </a:p>
          <a:p>
            <a:endParaRPr lang="en-US" sz="1200"/>
          </a:p>
          <a:p>
            <a:r>
              <a:rPr lang="en-US" sz="1200"/>
              <a:t>Simulation estimates how plans may work when conditions change, such as when demand rises or falls. We still need a rule or an optimization step to choose which plan to suggest. Teams can use these methods together when needed.</a:t>
            </a:r>
          </a:p>
          <a:p>
            <a:endParaRPr lang="en-US" sz="1200"/>
          </a:p>
          <a:p>
            <a:r>
              <a:rPr lang="en-US" sz="1200"/>
              <a:t>Sources: [Google OR-Tools](https://developers.google.com/optimization/introduction/cpp), [IBM: Monte Carlo simulation](https://www.ibm.com/think/topics/monte-carlo-simulation).</a:t>
            </a:r>
          </a:p>
          <a:p>
            <a:endParaRPr lang="en-US" sz="1200"/>
          </a:p>
          <a:p>
            <a:r>
              <a:rPr lang="en-US" sz="1200"/>
              <a:t>--- Full content from the approved Markdown ---</a:t>
            </a:r>
          </a:p>
          <a:p>
            <a:r>
              <a:rPr lang="en-US" sz="1200"/>
              <a:t>## Methods used in prescriptive analytics</a:t>
            </a:r>
          </a:p>
          <a:p>
            <a:endParaRPr lang="en-US" sz="1200"/>
          </a:p>
          <a:p>
            <a:r>
              <a:rPr lang="en-US" sz="1200"/>
              <a:t>| Method | What it does | Example |</a:t>
            </a:r>
          </a:p>
          <a:p>
            <a:r>
              <a:rPr lang="en-US" sz="1200"/>
              <a:t>|:--|:--|:--|</a:t>
            </a:r>
          </a:p>
          <a:p>
            <a:r>
              <a:rPr lang="en-US" sz="1200"/>
              <a:t>| Mathematical optimization | Finds the best result for a goal while following the rules | Decide how to share limited stock |</a:t>
            </a:r>
          </a:p>
          <a:p>
            <a:r>
              <a:rPr lang="en-US" sz="1200"/>
              <a:t>| Constraint programming | Finds a plan that follows detailed rules | Choose working hours based on workers' skills and availability |</a:t>
            </a:r>
          </a:p>
          <a:p>
            <a:r>
              <a:rPr lang="en-US" sz="1200"/>
              <a:t>| Simulation | Estimates results when conditions change or are uncertain | Compare staff plans for different demand levels |</a:t>
            </a:r>
          </a:p>
          <a:p>
            <a:endParaRPr lang="en-US" sz="1200"/>
          </a:p>
          <a:p>
            <a:r>
              <a:rPr lang="en-US" sz="1200"/>
              <a:t>Simulation helps test a plan. A rule for choosing plans or an optimization method decides which one to suggest.</a:t>
            </a:r>
          </a:p>
          <a:p>
            <a:endParaRPr lang="en-US" sz="1200"/>
          </a:p>
          <a:p>
            <a:endParaRPr lang="en-US" sz="1200"/>
          </a:p>
          <a:p>
            <a:r>
              <a:rPr lang="en-US" sz="1200"/>
              <a:t>Sources: Google OR-Tools, https://developers.google.com/optimization/introduction/cpp; IBM Monte Carlo simulation, https://www.ibm.com/think/topics/monte-carlo-simulation</a:t>
            </a:r>
          </a:p>
          <a:p>
            <a:endParaRPr lang="en-US" sz="1200"/>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The result should be something the team can use. It might be a work plan showing who works and when, an order plan showing what to buy, or a list showing which customer requests to answer first.</a:t>
            </a:r>
          </a:p>
          <a:p>
            <a:endParaRPr lang="en-US" sz="1200"/>
          </a:p>
          <a:p>
            <a:r>
              <a:rPr lang="en-US" sz="1200"/>
              <a:t>Sometimes the model gives several possible plans and their expected results. The team should also see the main reasons behind the suggestion, so people can understand and check it.</a:t>
            </a:r>
          </a:p>
          <a:p>
            <a:endParaRPr lang="en-US" sz="1200"/>
          </a:p>
          <a:p>
            <a:r>
              <a:rPr lang="en-US" sz="1200"/>
              <a:t>--- Full content from the approved Markdown ---</a:t>
            </a:r>
          </a:p>
          <a:p>
            <a:r>
              <a:rPr lang="en-US" sz="1200"/>
              <a:t>## What does the model produce?</a:t>
            </a:r>
          </a:p>
          <a:p>
            <a:endParaRPr lang="en-US" sz="1200"/>
          </a:p>
          <a:p>
            <a:r>
              <a:rPr lang="en-US" sz="1200"/>
              <a:t>The result should tell the team what action to take. It may be:</a:t>
            </a:r>
          </a:p>
          <a:p>
            <a:endParaRPr lang="en-US" sz="1200"/>
          </a:p>
          <a:p>
            <a:r>
              <a:rPr lang="en-US" sz="1200"/>
              <a:t>- A work plan showing who works and when</a:t>
            </a:r>
          </a:p>
          <a:p>
            <a:r>
              <a:rPr lang="en-US" sz="1200"/>
              <a:t>- An order plan showing which products to buy and how much</a:t>
            </a:r>
          </a:p>
          <a:p>
            <a:r>
              <a:rPr lang="en-US" sz="1200"/>
              <a:t>- A list showing which customer requests to answer first</a:t>
            </a:r>
          </a:p>
          <a:p>
            <a:r>
              <a:rPr lang="en-US" sz="1200"/>
              <a:t>- Several possible plans, with the expected result of each</a:t>
            </a:r>
          </a:p>
          <a:p>
            <a:endParaRPr lang="en-US" sz="1200"/>
          </a:p>
          <a:p>
            <a:r>
              <a:rPr lang="en-US" sz="1200"/>
              <a:t>The team should also see the main reasons for the suggestion.</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Prescriptive analytics can help answer practical questions. What should we buy? When should work happen? Where should products go? Which request should come first?</a:t>
            </a:r>
          </a:p>
          <a:p>
            <a:endParaRPr lang="en-US" sz="1200"/>
          </a:p>
          <a:p>
            <a:r>
              <a:rPr lang="en-US" sz="1200"/>
              <a:t>Each question leads to an action. For example, deciding when work should happen can produce a plan for tasks or repairs. The important point is that the team can use the answer to do something.</a:t>
            </a:r>
          </a:p>
          <a:p>
            <a:endParaRPr lang="en-US" sz="1200"/>
          </a:p>
          <a:p>
            <a:r>
              <a:rPr lang="en-US" sz="1200"/>
              <a:t>--- Full content from the approved Markdown ---</a:t>
            </a:r>
          </a:p>
          <a:p>
            <a:r>
              <a:rPr lang="en-US" sz="1200"/>
              <a:t>## Decisions prescriptive analytics can support</a:t>
            </a:r>
          </a:p>
          <a:p>
            <a:endParaRPr lang="en-US" sz="1200"/>
          </a:p>
          <a:p>
            <a:r>
              <a:rPr lang="en-US" sz="1200"/>
              <a:t>| Question | Possible action |</a:t>
            </a:r>
          </a:p>
          <a:p>
            <a:r>
              <a:rPr lang="en-US" sz="1200"/>
              <a:t>|:--|:--|</a:t>
            </a:r>
          </a:p>
          <a:p>
            <a:r>
              <a:rPr lang="en-US" sz="1200"/>
              <a:t>| What should we buy? | Choose products and order amounts |</a:t>
            </a:r>
          </a:p>
          <a:p>
            <a:r>
              <a:rPr lang="en-US" sz="1200"/>
              <a:t>| When should work happen? | Choose times for tasks or repairs |</a:t>
            </a:r>
          </a:p>
          <a:p>
            <a:r>
              <a:rPr lang="en-US" sz="1200"/>
              <a:t>| Where should products go? | Decide how much each store receives |</a:t>
            </a:r>
          </a:p>
          <a:p>
            <a:r>
              <a:rPr lang="en-US" sz="1200"/>
              <a:t>| Which request should come first? | Choose the order for answering requests |</a:t>
            </a:r>
          </a:p>
          <a:p>
            <a:endParaRPr lang="en-US" sz="1200"/>
          </a:p>
          <a:p>
            <a:r>
              <a:rPr lang="en-US" sz="1200"/>
              <a:t>Each question leads to a choice the team can act on.</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latin typeface="Roboto"/>
              </a:rPr>
              <a:t>The best choice depends on the goal. If we want lower costs, we compare how much each plan costs. If we want faster service, we compare waiting times. Other goals may include less waste or meeting more customer needs.</a:t>
            </a:r>
          </a:p>
          <a:p>
            <a:endParaRPr lang="en-US" sz="1200">
              <a:latin typeface="Roboto"/>
            </a:endParaRPr>
          </a:p>
          <a:p>
            <a:r>
              <a:rPr lang="en-US" sz="1200">
                <a:latin typeface="Roboto"/>
              </a:rPr>
              <a:t>A business can have several goals at once. People must decide how to balance them. The model then compares plans using those priorities and the rules it must follow.</a:t>
            </a:r>
          </a:p>
          <a:p>
            <a:endParaRPr lang="en-US" sz="1200">
              <a:latin typeface="Roboto"/>
            </a:endParaRPr>
          </a:p>
          <a:p>
            <a:r>
              <a:rPr lang="en-US" sz="1200">
                <a:latin typeface="Roboto"/>
              </a:rPr>
              <a:t>--- Full content from the approved Markdown ---</a:t>
            </a:r>
          </a:p>
          <a:p>
            <a:r>
              <a:rPr lang="en-US" sz="1200">
                <a:latin typeface="Roboto"/>
              </a:rPr>
              <a:t>## The meaning of the best choice</a:t>
            </a:r>
          </a:p>
          <a:p>
            <a:endParaRPr lang="en-US" sz="1200">
              <a:latin typeface="Roboto"/>
            </a:endParaRPr>
          </a:p>
          <a:p>
            <a:r>
              <a:rPr lang="en-US" sz="1200">
                <a:latin typeface="Roboto"/>
              </a:rPr>
              <a:t>The best choice depends on the goal.</a:t>
            </a:r>
          </a:p>
          <a:p>
            <a:endParaRPr lang="en-US" sz="1200">
              <a:latin typeface="Roboto"/>
            </a:endParaRPr>
          </a:p>
          <a:p>
            <a:r>
              <a:rPr lang="en-US" sz="1200">
                <a:latin typeface="Roboto"/>
              </a:rPr>
              <a:t>| Main goal | What matters most when comparing plans |</a:t>
            </a:r>
          </a:p>
          <a:p>
            <a:r>
              <a:rPr lang="en-US" sz="1200">
                <a:latin typeface="Roboto"/>
              </a:rPr>
              <a:t>|:--|:--|</a:t>
            </a:r>
          </a:p>
          <a:p>
            <a:r>
              <a:rPr lang="en-US" sz="1200">
                <a:latin typeface="Roboto"/>
              </a:rPr>
              <a:t>| Lower cost | Spending less money |</a:t>
            </a:r>
          </a:p>
          <a:p>
            <a:r>
              <a:rPr lang="en-US" sz="1200">
                <a:latin typeface="Roboto"/>
              </a:rPr>
              <a:t>| Faster service | Reducing waiting time |</a:t>
            </a:r>
          </a:p>
          <a:p>
            <a:r>
              <a:rPr lang="en-US" sz="1200">
                <a:latin typeface="Roboto"/>
              </a:rPr>
              <a:t>| Less waste | Using fewer materials unnecessarily |</a:t>
            </a:r>
          </a:p>
          <a:p>
            <a:r>
              <a:rPr lang="en-US" sz="1200">
                <a:latin typeface="Roboto"/>
              </a:rPr>
              <a:t>| Better customer service | Meeting more customer needs |</a:t>
            </a:r>
          </a:p>
          <a:p>
            <a:endParaRPr lang="en-US" sz="1200">
              <a:latin typeface="Roboto"/>
            </a:endParaRPr>
          </a:p>
          <a:p>
            <a:r>
              <a:rPr lang="en-US" sz="1200">
                <a:latin typeface="Roboto"/>
              </a:rPr>
              <a:t>A business may have several goals. It must decide how to balance them, while keeping the rules the plan must follow.</a:t>
            </a:r>
          </a:p>
          <a:p>
            <a:endParaRPr lang="en-US" sz="1200">
              <a:latin typeface="Roboto"/>
            </a:endParaRPr>
          </a:p>
          <a:p>
            <a:r>
              <a:rPr lang="en-US" sz="1200">
                <a:latin typeface="Roboto"/>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Prescriptive analytics can support decisions for today, next week, or further into the future. A daily decision might be choosing which tasks to complete first. A weekly decision might be planning working hours. A longer-term decision might be choosing where to add storage space.</a:t>
            </a:r>
          </a:p>
          <a:p>
            <a:endParaRPr lang="en-US" sz="1200"/>
          </a:p>
          <a:p>
            <a:r>
              <a:rPr lang="en-US" sz="1200"/>
              <a:t>The time period changes the information we need. For a decision about next year, we need estimates about conditions further into the future.</a:t>
            </a:r>
          </a:p>
          <a:p>
            <a:endParaRPr lang="en-US" sz="1200"/>
          </a:p>
          <a:p>
            <a:r>
              <a:rPr lang="en-US" sz="1200"/>
              <a:t>--- Full content from the approved Markdown ---</a:t>
            </a:r>
          </a:p>
          <a:p>
            <a:r>
              <a:rPr lang="en-US" sz="1200"/>
              <a:t>## Short-term and long-term decisions</a:t>
            </a:r>
          </a:p>
          <a:p>
            <a:endParaRPr lang="en-US" sz="1200"/>
          </a:p>
          <a:p>
            <a:r>
              <a:rPr lang="en-US" sz="1200"/>
              <a:t>Prescriptive analytics can support decisions for different periods of time.</a:t>
            </a:r>
          </a:p>
          <a:p>
            <a:endParaRPr lang="en-US" sz="1200"/>
          </a:p>
          <a:p>
            <a:r>
              <a:rPr lang="en-US" sz="1200"/>
              <a:t>| Time period | Example decision |</a:t>
            </a:r>
          </a:p>
          <a:p>
            <a:r>
              <a:rPr lang="en-US" sz="1200"/>
              <a:t>|:--|:--|</a:t>
            </a:r>
          </a:p>
          <a:p>
            <a:r>
              <a:rPr lang="en-US" sz="1200"/>
              <a:t>| Today | Which tasks should the team complete first? |</a:t>
            </a:r>
          </a:p>
          <a:p>
            <a:r>
              <a:rPr lang="en-US" sz="1200"/>
              <a:t>| Next week | How should working hours be planned? |</a:t>
            </a:r>
          </a:p>
          <a:p>
            <a:r>
              <a:rPr lang="en-US" sz="1200"/>
              <a:t>| Next month | How much stock should each store receive? |</a:t>
            </a:r>
          </a:p>
          <a:p>
            <a:r>
              <a:rPr lang="en-US" sz="1200"/>
              <a:t>| Next year | Where should the business add more storage space? |</a:t>
            </a:r>
          </a:p>
          <a:p>
            <a:endParaRPr lang="en-US" sz="1200"/>
          </a:p>
          <a:p>
            <a:r>
              <a:rPr lang="en-US" sz="1200"/>
              <a:t>Long-term decisions need estimates about conditions further into the future.</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Decisions often affect each other. If a store orders more products, it needs space to keep them. If it expects more sales, it may need more workers. Faster delivery may also cost more money.</a:t>
            </a:r>
          </a:p>
          <a:p>
            <a:endParaRPr lang="en-US" sz="1200"/>
          </a:p>
          <a:p>
            <a:r>
              <a:rPr lang="en-US" sz="1200"/>
              <a:t>A decision model can consider these connections together. This helps the team avoid solving one problem in a way that creates another.</a:t>
            </a:r>
          </a:p>
          <a:p>
            <a:endParaRPr lang="en-US" sz="1200"/>
          </a:p>
          <a:p>
            <a:r>
              <a:rPr lang="en-US" sz="1200"/>
              <a:t>--- Full content from the approved Markdown ---</a:t>
            </a:r>
          </a:p>
          <a:p>
            <a:r>
              <a:rPr lang="en-US" sz="1200"/>
              <a:t>## Connected decisions</a:t>
            </a:r>
          </a:p>
          <a:p>
            <a:endParaRPr lang="en-US" sz="1200"/>
          </a:p>
          <a:p>
            <a:r>
              <a:rPr lang="en-US" sz="1200"/>
              <a:t>One decision can affect another.</a:t>
            </a:r>
          </a:p>
          <a:p>
            <a:endParaRPr lang="en-US" sz="1200"/>
          </a:p>
          <a:p>
            <a:r>
              <a:rPr lang="en-US" sz="1200"/>
              <a:t>For a store:</a:t>
            </a:r>
          </a:p>
          <a:p>
            <a:endParaRPr lang="en-US" sz="1200"/>
          </a:p>
          <a:p>
            <a:r>
              <a:rPr lang="en-US" sz="1200"/>
              <a:t>- Ordering more products needs more storage space.</a:t>
            </a:r>
          </a:p>
          <a:p>
            <a:r>
              <a:rPr lang="en-US" sz="1200"/>
              <a:t>- Selling more products may need more workers.</a:t>
            </a:r>
          </a:p>
          <a:p>
            <a:r>
              <a:rPr lang="en-US" sz="1200"/>
              <a:t>- Faster delivery may cost more money.</a:t>
            </a:r>
          </a:p>
          <a:p>
            <a:endParaRPr lang="en-US" sz="1200"/>
          </a:p>
          <a:p>
            <a:r>
              <a:rPr lang="en-US" sz="1200"/>
              <a:t>A model can consider these connections together. This helps avoid a plan that solves one problem but creates another.</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p:txBody>
          <a:bodyPr/>
          <a:lstStyle/>
          <a:p>
            <a:r>
              <a:rPr lang="en-US" sz="1200"/>
              <a:t>Machine learning uses patterns in data to make predictions. It may estimate how much customers will buy, when a machine may fail, or how many customer requests will arrive.</a:t>
            </a:r>
          </a:p>
          <a:p>
            <a:endParaRPr lang="en-US" sz="1200"/>
          </a:p>
          <a:p>
            <a:r>
              <a:rPr lang="en-US" sz="1200"/>
              <a:t>A prescriptive model can use those predictions to suggest how much stock to order, when to plan a repair, or how many workers to assign. It can also use estimates from people or other methods. Machine learning is one possible source of information for the decision model.</a:t>
            </a:r>
          </a:p>
          <a:p>
            <a:endParaRPr lang="en-US" sz="1200"/>
          </a:p>
          <a:p>
            <a:r>
              <a:rPr lang="en-US" sz="1200"/>
              <a:t>--- Full content from the approved Markdown ---</a:t>
            </a:r>
          </a:p>
          <a:p>
            <a:r>
              <a:rPr lang="en-US" sz="1200"/>
              <a:t>## How machine learning helps</a:t>
            </a:r>
          </a:p>
          <a:p>
            <a:endParaRPr lang="en-US" sz="1200"/>
          </a:p>
          <a:p>
            <a:r>
              <a:rPr lang="en-US" sz="1200"/>
              <a:t>Machine learning uses patterns in data to make predictions.</a:t>
            </a:r>
          </a:p>
          <a:p>
            <a:endParaRPr lang="en-US" sz="1200"/>
          </a:p>
          <a:p>
            <a:r>
              <a:rPr lang="en-US" sz="1200"/>
              <a:t>| Machine learning may estimate | A prescriptive model may suggest |</a:t>
            </a:r>
          </a:p>
          <a:p>
            <a:r>
              <a:rPr lang="en-US" sz="1200"/>
              <a:t>|:--|:--|</a:t>
            </a:r>
          </a:p>
          <a:p>
            <a:r>
              <a:rPr lang="en-US" sz="1200"/>
              <a:t>| How much customers will buy | How much stock to order |</a:t>
            </a:r>
          </a:p>
          <a:p>
            <a:r>
              <a:rPr lang="en-US" sz="1200"/>
              <a:t>| When a machine may fail | When to plan a repair |</a:t>
            </a:r>
          </a:p>
          <a:p>
            <a:r>
              <a:rPr lang="en-US" sz="1200"/>
              <a:t>| How many requests may arrive | How many workers to assign |</a:t>
            </a:r>
          </a:p>
          <a:p>
            <a:endParaRPr lang="en-US" sz="1200"/>
          </a:p>
          <a:p>
            <a:r>
              <a:rPr lang="en-US" sz="1200"/>
              <a:t>The prediction becomes information for the decision model. Prescriptive analytics can also use estimates from people or other methods.</a:t>
            </a:r>
          </a:p>
          <a:p>
            <a:endParaRPr lang="en-US" sz="1200"/>
          </a:p>
          <a:p>
            <a:r>
              <a:rPr lang="en-US" sz="1200"/>
              <a:t>---</a:t>
            </a:r>
          </a:p>
          <a:p>
            <a:endParaRPr lang="en-US" sz="1200"/>
          </a:p>
          <a:p>
            <a:r>
              <a:rPr lang="en-US" sz="1200"/>
              <a:t>Design and native vector artwork adapted from Big Data Infographics by Slidesgo.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5BB8-6B39-3579-4D0B-F58F75F4BB1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A958E97C-2108-3EFD-BA3C-5FDB168CB0C3}"/>
              </a:ext>
            </a:extLst>
          </p:cNvPr>
          <p:cNvSpPr>
            <a:spLocks noGrp="1"/>
          </p:cNvSpPr>
          <p:nvPr>
            <p:ph type="body" idx="1"/>
          </p:nvPr>
        </p:nvSpPr>
        <p:spPr/>
        <p:txBody>
          <a:bodyPr/>
          <a:lstStyle/>
          <a:p>
            <a:r>
              <a:rPr lang="en-US" sz="1200"/>
              <a:t>A plan may meet the business goal but still affect people unfairly. For example, a work plan might give the same workers the busiest hours every week.</a:t>
            </a:r>
          </a:p>
          <a:p>
            <a:endParaRPr lang="en-US" sz="1200"/>
          </a:p>
          <a:p>
            <a:r>
              <a:rPr lang="en-US" sz="1200"/>
              <a:t>The team can include rules for breaks, reasonable working hours, and sharing difficult tasks fairly. People must decide what fairness means in that situation and include it in the model's goals or rules.</a:t>
            </a:r>
          </a:p>
          <a:p>
            <a:endParaRPr lang="en-US" sz="1200"/>
          </a:p>
          <a:p>
            <a:r>
              <a:rPr lang="en-US" sz="1200"/>
              <a:t>--- Full content from the approved Markdown ---</a:t>
            </a:r>
          </a:p>
          <a:p>
            <a:r>
              <a:rPr lang="en-US" sz="1200"/>
              <a:t>## Fairness in decision-making</a:t>
            </a:r>
          </a:p>
          <a:p>
            <a:endParaRPr lang="en-US" sz="1200"/>
          </a:p>
          <a:p>
            <a:r>
              <a:rPr lang="en-US" sz="1200"/>
              <a:t>A plan can meet a business goal and still affect people unfairly.</a:t>
            </a:r>
          </a:p>
          <a:p>
            <a:endParaRPr lang="en-US" sz="1200"/>
          </a:p>
          <a:p>
            <a:r>
              <a:rPr lang="en-US" sz="1200"/>
              <a:t>For example, a work plan might give the same workers the busiest hours every week.</a:t>
            </a:r>
          </a:p>
          <a:p>
            <a:endParaRPr lang="en-US" sz="1200"/>
          </a:p>
          <a:p>
            <a:r>
              <a:rPr lang="en-US" sz="1200"/>
              <a:t>The team can include rules for breaks, reasonable working hours, and sharing difficult tasks fairly.</a:t>
            </a:r>
          </a:p>
          <a:p>
            <a:endParaRPr lang="en-US" sz="1200"/>
          </a:p>
          <a:p>
            <a:r>
              <a:rPr lang="en-US" sz="1200"/>
              <a:t>**People must decide what fairness means for the decision and include it in the goals or rules.**</a:t>
            </a:r>
          </a:p>
          <a:p>
            <a:endParaRPr lang="en-US" sz="1200"/>
          </a:p>
          <a:p>
            <a:r>
              <a:rPr lang="en-US" sz="1200"/>
              <a:t>Design and native vector artwork adapted from Big Data Infographics by Slidesgo.</a:t>
            </a:r>
          </a:p>
        </p:txBody>
      </p:sp>
    </p:spTree>
    <p:extLst>
      <p:ext uri="{BB962C8B-B14F-4D97-AF65-F5344CB8AC3E}">
        <p14:creationId xmlns:p14="http://schemas.microsoft.com/office/powerpoint/2010/main" val="2206321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87356" y="1629550"/>
            <a:ext cx="3422400" cy="1524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987356" y="3147050"/>
            <a:ext cx="3607200" cy="366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latin typeface="Roboto"/>
                <a:ea typeface="Roboto"/>
                <a:cs typeface="Roboto"/>
                <a:sym typeface="Roboto"/>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6"/>
          <p:cNvSpPr txBox="1">
            <a:spLocks noGrp="1"/>
          </p:cNvSpPr>
          <p:nvPr>
            <p:ph type="title"/>
          </p:nvPr>
        </p:nvSpPr>
        <p:spPr>
          <a:xfrm>
            <a:off x="457200" y="411475"/>
            <a:ext cx="8229600" cy="481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9" name="Google Shape;2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3" name="Google Shape;3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sp>
        <p:nvSpPr>
          <p:cNvPr id="41" name="Google Shape;4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2" name="Google Shape;4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6" name="Google Shape;4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1" name="Google Shape;51;p1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cxnSp>
        <p:nvCxnSpPr>
          <p:cNvPr id="2" name="Connector"/>
          <p:cNvCxnSpPr/>
          <p:nvPr/>
        </p:nvCxnSpPr>
        <p:spPr>
          <a:xfrm>
            <a:off x="495300" y="4762500"/>
            <a:ext cx="8153400" cy="95"/>
          </a:xfrm>
          <a:prstGeom prst="line">
            <a:avLst/>
          </a:prstGeom>
          <a:ln w="6191">
            <a:solidFill>
              <a:srgbClr val="D8E2E8"/>
            </a:solidFill>
          </a:ln>
        </p:spPr>
      </p:cxnSp>
      <p:sp>
        <p:nvSpPr>
          <p:cNvPr id="3"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4" name="Text"/>
          <p:cNvSpPr txBox="1"/>
          <p:nvPr/>
        </p:nvSpPr>
        <p:spPr>
          <a:xfrm>
            <a:off x="8048625" y="4867275"/>
            <a:ext cx="600075" cy="171450"/>
          </a:xfrm>
          <a:prstGeom prst="rect">
            <a:avLst/>
          </a:prstGeom>
          <a:noFill/>
          <a:ln w="9525">
            <a:noFill/>
          </a:ln>
        </p:spPr>
        <p:txBody>
          <a:bodyPr wrap="none" lIns="0" tIns="0" rIns="0" bIns="0" anchor="t">
            <a:noAutofit/>
          </a:bodyPr>
          <a:lstStyle/>
          <a:p>
            <a:pPr marL="0" indent="0" algn="r">
              <a:lnSpc>
                <a:spcPts val="1031"/>
              </a:lnSpc>
              <a:spcAft>
                <a:spcPts val="0"/>
              </a:spcAft>
              <a:buNone/>
            </a:pPr>
            <a:r>
              <a:rPr lang="en-US" sz="825" b="0">
                <a:solidFill>
                  <a:srgbClr val="6D8495"/>
                </a:solidFill>
                <a:latin typeface="Roboto"/>
                <a:ea typeface="Roboto"/>
                <a:cs typeface="Roboto"/>
              </a:rPr>
              <a:t>01 / 14</a:t>
            </a:r>
            <a:endParaRPr lang="en-US" sz="825"/>
          </a:p>
        </p:txBody>
      </p:sp>
      <p:sp>
        <p:nvSpPr>
          <p:cNvPr id="5" name="Slide title"/>
          <p:cNvSpPr txBox="1"/>
          <p:nvPr/>
        </p:nvSpPr>
        <p:spPr>
          <a:xfrm>
            <a:off x="2764958" y="238116"/>
            <a:ext cx="4556522" cy="714375"/>
          </a:xfrm>
          <a:prstGeom prst="rect">
            <a:avLst/>
          </a:prstGeom>
          <a:noFill/>
          <a:ln w="9525">
            <a:noFill/>
          </a:ln>
        </p:spPr>
        <p:txBody>
          <a:bodyPr wrap="none" lIns="0" tIns="0" rIns="0" bIns="0" anchor="t">
            <a:noAutofit/>
          </a:bodyPr>
          <a:lstStyle/>
          <a:p>
            <a:pPr marL="0" indent="0" algn="l">
              <a:lnSpc>
                <a:spcPts val="5062"/>
              </a:lnSpc>
              <a:spcAft>
                <a:spcPts val="0"/>
              </a:spcAft>
              <a:buNone/>
            </a:pPr>
            <a:r>
              <a:rPr lang="en-US" sz="4050" b="1" dirty="0">
                <a:solidFill>
                  <a:srgbClr val="435D74"/>
                </a:solidFill>
                <a:latin typeface="Fira Sans Extra Condensed"/>
                <a:ea typeface="Fira Sans Extra Condensed"/>
                <a:cs typeface="Fira Sans Extra Condensed"/>
              </a:rPr>
              <a:t>Prescriptive analytics</a:t>
            </a:r>
            <a:endParaRPr lang="en-US" sz="4050" dirty="0"/>
          </a:p>
        </p:txBody>
      </p:sp>
      <p:cxnSp>
        <p:nvCxnSpPr>
          <p:cNvPr id="14" name="Connector"/>
          <p:cNvCxnSpPr>
            <a:cxnSpLocks/>
          </p:cNvCxnSpPr>
          <p:nvPr/>
        </p:nvCxnSpPr>
        <p:spPr>
          <a:xfrm flipV="1">
            <a:off x="3465095" y="2214668"/>
            <a:ext cx="0" cy="594161"/>
          </a:xfrm>
          <a:prstGeom prst="line">
            <a:avLst/>
          </a:prstGeom>
          <a:ln w="19050">
            <a:solidFill>
              <a:srgbClr val="869FB2"/>
            </a:solidFill>
          </a:ln>
        </p:spPr>
      </p:cxnSp>
      <p:cxnSp>
        <p:nvCxnSpPr>
          <p:cNvPr id="27" name="Connector"/>
          <p:cNvCxnSpPr>
            <a:cxnSpLocks/>
          </p:cNvCxnSpPr>
          <p:nvPr/>
        </p:nvCxnSpPr>
        <p:spPr>
          <a:xfrm flipV="1">
            <a:off x="6159145" y="2214668"/>
            <a:ext cx="0" cy="600618"/>
          </a:xfrm>
          <a:prstGeom prst="line">
            <a:avLst/>
          </a:prstGeom>
          <a:ln w="19050">
            <a:solidFill>
              <a:srgbClr val="869FB2"/>
            </a:solidFill>
          </a:ln>
        </p:spPr>
      </p:cxnSp>
      <p:cxnSp>
        <p:nvCxnSpPr>
          <p:cNvPr id="28" name="Connector"/>
          <p:cNvCxnSpPr>
            <a:cxnSpLocks/>
          </p:cNvCxnSpPr>
          <p:nvPr/>
        </p:nvCxnSpPr>
        <p:spPr>
          <a:xfrm flipH="1">
            <a:off x="3465095" y="2815286"/>
            <a:ext cx="2694050" cy="0"/>
          </a:xfrm>
          <a:prstGeom prst="line">
            <a:avLst/>
          </a:prstGeom>
          <a:ln w="19050">
            <a:solidFill>
              <a:srgbClr val="869FB2"/>
            </a:solidFill>
          </a:ln>
        </p:spPr>
      </p:cxnSp>
      <p:grpSp>
        <p:nvGrpSpPr>
          <p:cNvPr id="51" name="Group 50">
            <a:extLst>
              <a:ext uri="{FF2B5EF4-FFF2-40B4-BE49-F238E27FC236}">
                <a16:creationId xmlns:a16="http://schemas.microsoft.com/office/drawing/2014/main" id="{20E8FF80-48AF-6E8D-86E7-41F98FD1B643}"/>
              </a:ext>
            </a:extLst>
          </p:cNvPr>
          <p:cNvGrpSpPr/>
          <p:nvPr/>
        </p:nvGrpSpPr>
        <p:grpSpPr>
          <a:xfrm rot="5400000">
            <a:off x="4325197" y="2758213"/>
            <a:ext cx="1009650" cy="95"/>
            <a:chOff x="5072324" y="2194627"/>
            <a:chExt cx="1009650" cy="95"/>
          </a:xfrm>
        </p:grpSpPr>
        <p:cxnSp>
          <p:nvCxnSpPr>
            <p:cNvPr id="22" name="Connector"/>
            <p:cNvCxnSpPr>
              <a:cxnSpLocks/>
            </p:cNvCxnSpPr>
            <p:nvPr/>
          </p:nvCxnSpPr>
          <p:spPr>
            <a:xfrm>
              <a:off x="5072324" y="2194627"/>
              <a:ext cx="581025" cy="95"/>
            </a:xfrm>
            <a:prstGeom prst="line">
              <a:avLst/>
            </a:prstGeom>
            <a:ln w="19050">
              <a:solidFill>
                <a:srgbClr val="869FB2"/>
              </a:solidFill>
            </a:ln>
          </p:spPr>
        </p:cxnSp>
        <p:cxnSp>
          <p:nvCxnSpPr>
            <p:cNvPr id="29" name="Connector"/>
            <p:cNvCxnSpPr>
              <a:cxnSpLocks/>
            </p:cNvCxnSpPr>
            <p:nvPr/>
          </p:nvCxnSpPr>
          <p:spPr>
            <a:xfrm>
              <a:off x="5653349" y="2194627"/>
              <a:ext cx="428625" cy="95"/>
            </a:xfrm>
            <a:prstGeom prst="line">
              <a:avLst/>
            </a:prstGeom>
            <a:ln w="19050">
              <a:solidFill>
                <a:srgbClr val="007D8B"/>
              </a:solidFill>
              <a:tailEnd type="triangle" w="sm" len="sm"/>
            </a:ln>
          </p:spPr>
        </p:cxnSp>
      </p:grpSp>
      <p:sp>
        <p:nvSpPr>
          <p:cNvPr id="33" name="Text"/>
          <p:cNvSpPr txBox="1"/>
          <p:nvPr/>
        </p:nvSpPr>
        <p:spPr>
          <a:xfrm>
            <a:off x="5276581" y="3732205"/>
            <a:ext cx="1809750" cy="466725"/>
          </a:xfrm>
          <a:prstGeom prst="rect">
            <a:avLst/>
          </a:prstGeom>
          <a:noFill/>
          <a:ln w="9525">
            <a:noFill/>
          </a:ln>
        </p:spPr>
        <p:txBody>
          <a:bodyPr wrap="none" lIns="0" tIns="0" rIns="0" bIns="0" anchor="t">
            <a:noAutofit/>
          </a:bodyPr>
          <a:lstStyle/>
          <a:p>
            <a:pPr marL="0" indent="0" algn="ctr">
              <a:lnSpc>
                <a:spcPts val="2344"/>
              </a:lnSpc>
              <a:spcAft>
                <a:spcPts val="0"/>
              </a:spcAft>
              <a:buNone/>
            </a:pPr>
            <a:r>
              <a:rPr lang="en-US" sz="1875" b="1" dirty="0">
                <a:solidFill>
                  <a:srgbClr val="435D74"/>
                </a:solidFill>
                <a:latin typeface="Fira Sans Extra Condensed"/>
                <a:ea typeface="Fira Sans Extra Condensed"/>
                <a:cs typeface="Fira Sans Extra Condensed"/>
              </a:rPr>
              <a:t>Suggested action</a:t>
            </a:r>
            <a:endParaRPr lang="en-US" sz="1875" dirty="0"/>
          </a:p>
        </p:txBody>
      </p:sp>
      <p:grpSp>
        <p:nvGrpSpPr>
          <p:cNvPr id="40" name="Group 39">
            <a:extLst>
              <a:ext uri="{FF2B5EF4-FFF2-40B4-BE49-F238E27FC236}">
                <a16:creationId xmlns:a16="http://schemas.microsoft.com/office/drawing/2014/main" id="{939B5BBD-A877-6A35-8B74-694742FCBCCE}"/>
              </a:ext>
            </a:extLst>
          </p:cNvPr>
          <p:cNvGrpSpPr/>
          <p:nvPr/>
        </p:nvGrpSpPr>
        <p:grpSpPr>
          <a:xfrm>
            <a:off x="2696324" y="1343372"/>
            <a:ext cx="1333500" cy="676275"/>
            <a:chOff x="2671503" y="2169480"/>
            <a:chExt cx="1333500" cy="676275"/>
          </a:xfrm>
        </p:grpSpPr>
        <p:sp>
          <p:nvSpPr>
            <p:cNvPr id="68" name="Panel">
              <a:extLst>
                <a:ext uri="{FF2B5EF4-FFF2-40B4-BE49-F238E27FC236}">
                  <a16:creationId xmlns:a16="http://schemas.microsoft.com/office/drawing/2014/main" id="{76B64712-1503-6DA9-5F3A-F5BBD4156390}"/>
                </a:ext>
              </a:extLst>
            </p:cNvPr>
            <p:cNvSpPr/>
            <p:nvPr/>
          </p:nvSpPr>
          <p:spPr>
            <a:xfrm>
              <a:off x="2671503" y="2169480"/>
              <a:ext cx="1333500" cy="676275"/>
            </a:xfrm>
            <a:prstGeom prst="roundRect">
              <a:avLst>
                <a:gd name="adj" fmla="val 10000"/>
              </a:avLst>
            </a:prstGeom>
            <a:solidFill>
              <a:srgbClr val="294559"/>
            </a:solidFill>
            <a:ln w="9525">
              <a:noFill/>
            </a:ln>
          </p:spPr>
          <p:txBody>
            <a:bodyPr/>
            <a:lstStyle/>
            <a:p>
              <a:endParaRPr lang="en-US"/>
            </a:p>
          </p:txBody>
        </p:sp>
        <p:grpSp>
          <p:nvGrpSpPr>
            <p:cNvPr id="69" name="Slidesgo vector icon">
              <a:extLst>
                <a:ext uri="{FF2B5EF4-FFF2-40B4-BE49-F238E27FC236}">
                  <a16:creationId xmlns:a16="http://schemas.microsoft.com/office/drawing/2014/main" id="{BAC0D6DB-6BF6-63FE-6D4D-8A93553F8E90}"/>
                </a:ext>
              </a:extLst>
            </p:cNvPr>
            <p:cNvGrpSpPr/>
            <p:nvPr/>
          </p:nvGrpSpPr>
          <p:grpSpPr>
            <a:xfrm>
              <a:off x="2827605" y="2370368"/>
              <a:ext cx="285750" cy="285758"/>
              <a:chOff x="-2571737" y="2403625"/>
              <a:chExt cx="292225" cy="291425"/>
            </a:xfrm>
          </p:grpSpPr>
          <p:sp>
            <p:nvSpPr>
              <p:cNvPr id="70" name="Slidesgo vector icon">
                <a:extLst>
                  <a:ext uri="{FF2B5EF4-FFF2-40B4-BE49-F238E27FC236}">
                    <a16:creationId xmlns:a16="http://schemas.microsoft.com/office/drawing/2014/main" id="{0C83CEB6-43A7-4A15-1385-4CBB301ABE41}"/>
                  </a:ext>
                </a:extLst>
              </p:cNvPr>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Slidesgo vector icon">
                <a:extLst>
                  <a:ext uri="{FF2B5EF4-FFF2-40B4-BE49-F238E27FC236}">
                    <a16:creationId xmlns:a16="http://schemas.microsoft.com/office/drawing/2014/main" id="{EF5E70BC-8F9C-B66D-2D69-DC39DC4869C3}"/>
                  </a:ext>
                </a:extLst>
              </p:cNvPr>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Slidesgo vector icon">
                <a:extLst>
                  <a:ext uri="{FF2B5EF4-FFF2-40B4-BE49-F238E27FC236}">
                    <a16:creationId xmlns:a16="http://schemas.microsoft.com/office/drawing/2014/main" id="{9B725F86-B387-7443-17B5-A7D529D3BA3C}"/>
                  </a:ext>
                </a:extLst>
              </p:cNvPr>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Slidesgo vector icon">
                <a:extLst>
                  <a:ext uri="{FF2B5EF4-FFF2-40B4-BE49-F238E27FC236}">
                    <a16:creationId xmlns:a16="http://schemas.microsoft.com/office/drawing/2014/main" id="{280F64FD-CECA-743A-4D2B-B53067221410}"/>
                  </a:ext>
                </a:extLst>
              </p:cNvPr>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Slidesgo vector icon">
                <a:extLst>
                  <a:ext uri="{FF2B5EF4-FFF2-40B4-BE49-F238E27FC236}">
                    <a16:creationId xmlns:a16="http://schemas.microsoft.com/office/drawing/2014/main" id="{C29E5117-357A-EDB3-B8F0-02609EE375E4}"/>
                  </a:ext>
                </a:extLst>
              </p:cNvPr>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Slidesgo vector icon">
                <a:extLst>
                  <a:ext uri="{FF2B5EF4-FFF2-40B4-BE49-F238E27FC236}">
                    <a16:creationId xmlns:a16="http://schemas.microsoft.com/office/drawing/2014/main" id="{98501499-CC54-F24D-96B8-7ABF9DBBCA89}"/>
                  </a:ext>
                </a:extLst>
              </p:cNvPr>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Slidesgo vector icon">
                <a:extLst>
                  <a:ext uri="{FF2B5EF4-FFF2-40B4-BE49-F238E27FC236}">
                    <a16:creationId xmlns:a16="http://schemas.microsoft.com/office/drawing/2014/main" id="{BF3A17E8-73EE-5DE4-CF82-9FCD3B24C529}"/>
                  </a:ext>
                </a:extLst>
              </p:cNvPr>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Text">
              <a:extLst>
                <a:ext uri="{FF2B5EF4-FFF2-40B4-BE49-F238E27FC236}">
                  <a16:creationId xmlns:a16="http://schemas.microsoft.com/office/drawing/2014/main" id="{BFA5BE25-2ED1-D903-8E90-F7AAD5B384ED}"/>
                </a:ext>
              </a:extLst>
            </p:cNvPr>
            <p:cNvSpPr txBox="1"/>
            <p:nvPr/>
          </p:nvSpPr>
          <p:spPr>
            <a:xfrm>
              <a:off x="3231058" y="2398359"/>
              <a:ext cx="723900" cy="428625"/>
            </a:xfrm>
            <a:prstGeom prst="rect">
              <a:avLst/>
            </a:prstGeom>
            <a:noFill/>
            <a:ln w="9525">
              <a:noFill/>
            </a:ln>
          </p:spPr>
          <p:txBody>
            <a:bodyPr wrap="none" lIns="0" tIns="0" rIns="0" bIns="0" anchor="t">
              <a:noAutofit/>
            </a:bodyPr>
            <a:lstStyle/>
            <a:p>
              <a:pPr marL="0" indent="0" algn="l">
                <a:lnSpc>
                  <a:spcPts val="2156"/>
                </a:lnSpc>
                <a:spcAft>
                  <a:spcPts val="0"/>
                </a:spcAft>
                <a:buNone/>
              </a:pPr>
              <a:r>
                <a:rPr lang="en-US" sz="1800" b="1" dirty="0">
                  <a:solidFill>
                    <a:srgbClr val="FFFFFF"/>
                  </a:solidFill>
                  <a:latin typeface="Fira Sans Extra Condensed"/>
                  <a:ea typeface="Fira Sans Extra Condensed"/>
                  <a:cs typeface="Fira Sans Extra Condensed"/>
                </a:rPr>
                <a:t>Data</a:t>
              </a:r>
              <a:endParaRPr lang="en-US" sz="1800" dirty="0"/>
            </a:p>
          </p:txBody>
        </p:sp>
      </p:grpSp>
      <p:grpSp>
        <p:nvGrpSpPr>
          <p:cNvPr id="39" name="Group 38">
            <a:extLst>
              <a:ext uri="{FF2B5EF4-FFF2-40B4-BE49-F238E27FC236}">
                <a16:creationId xmlns:a16="http://schemas.microsoft.com/office/drawing/2014/main" id="{FB1F52E7-E646-D736-FBBF-FA6276A0AF49}"/>
              </a:ext>
            </a:extLst>
          </p:cNvPr>
          <p:cNvGrpSpPr/>
          <p:nvPr/>
        </p:nvGrpSpPr>
        <p:grpSpPr>
          <a:xfrm>
            <a:off x="5687820" y="1357250"/>
            <a:ext cx="1341146" cy="676275"/>
            <a:chOff x="2771681" y="3837297"/>
            <a:chExt cx="1341146" cy="676275"/>
          </a:xfrm>
        </p:grpSpPr>
        <p:sp>
          <p:nvSpPr>
            <p:cNvPr id="79" name="Panel">
              <a:extLst>
                <a:ext uri="{FF2B5EF4-FFF2-40B4-BE49-F238E27FC236}">
                  <a16:creationId xmlns:a16="http://schemas.microsoft.com/office/drawing/2014/main" id="{9254CAC6-CECE-E025-5A56-E4F7F1762FE8}"/>
                </a:ext>
              </a:extLst>
            </p:cNvPr>
            <p:cNvSpPr/>
            <p:nvPr/>
          </p:nvSpPr>
          <p:spPr>
            <a:xfrm>
              <a:off x="2771681" y="3837297"/>
              <a:ext cx="1333500" cy="676275"/>
            </a:xfrm>
            <a:prstGeom prst="roundRect">
              <a:avLst>
                <a:gd name="adj" fmla="val 10000"/>
              </a:avLst>
            </a:prstGeom>
            <a:solidFill>
              <a:srgbClr val="294559"/>
            </a:solidFill>
            <a:ln w="9525">
              <a:noFill/>
            </a:ln>
          </p:spPr>
          <p:txBody>
            <a:bodyPr/>
            <a:lstStyle/>
            <a:p>
              <a:endParaRPr lang="en-US"/>
            </a:p>
          </p:txBody>
        </p:sp>
        <p:grpSp>
          <p:nvGrpSpPr>
            <p:cNvPr id="80" name="Slidesgo vector icon">
              <a:extLst>
                <a:ext uri="{FF2B5EF4-FFF2-40B4-BE49-F238E27FC236}">
                  <a16:creationId xmlns:a16="http://schemas.microsoft.com/office/drawing/2014/main" id="{683036B3-E282-2E15-1C58-7F49FBEED0B5}"/>
                </a:ext>
              </a:extLst>
            </p:cNvPr>
            <p:cNvGrpSpPr/>
            <p:nvPr/>
          </p:nvGrpSpPr>
          <p:grpSpPr>
            <a:xfrm>
              <a:off x="2957256" y="4039749"/>
              <a:ext cx="285750" cy="283743"/>
              <a:chOff x="-63250675" y="3744075"/>
              <a:chExt cx="320350" cy="318100"/>
            </a:xfrm>
          </p:grpSpPr>
          <p:sp>
            <p:nvSpPr>
              <p:cNvPr id="81" name="Slidesgo vector icon">
                <a:extLst>
                  <a:ext uri="{FF2B5EF4-FFF2-40B4-BE49-F238E27FC236}">
                    <a16:creationId xmlns:a16="http://schemas.microsoft.com/office/drawing/2014/main" id="{481F657E-33C4-8226-36EA-1CFB6747AE27}"/>
                  </a:ext>
                </a:extLst>
              </p:cNvPr>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Slidesgo vector icon">
                <a:extLst>
                  <a:ext uri="{FF2B5EF4-FFF2-40B4-BE49-F238E27FC236}">
                    <a16:creationId xmlns:a16="http://schemas.microsoft.com/office/drawing/2014/main" id="{86DD95EA-03D3-45CC-709A-A2B3B20AA8E7}"/>
                  </a:ext>
                </a:extLst>
              </p:cNvPr>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Slidesgo vector icon">
                <a:extLst>
                  <a:ext uri="{FF2B5EF4-FFF2-40B4-BE49-F238E27FC236}">
                    <a16:creationId xmlns:a16="http://schemas.microsoft.com/office/drawing/2014/main" id="{B387EEB1-EAD0-6F59-B9C3-10AC3F717BE3}"/>
                  </a:ext>
                </a:extLst>
              </p:cNvPr>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Text">
              <a:extLst>
                <a:ext uri="{FF2B5EF4-FFF2-40B4-BE49-F238E27FC236}">
                  <a16:creationId xmlns:a16="http://schemas.microsoft.com/office/drawing/2014/main" id="{5E20359A-8CB1-DEBA-D453-0909D1EDED68}"/>
                </a:ext>
              </a:extLst>
            </p:cNvPr>
            <p:cNvSpPr txBox="1"/>
            <p:nvPr/>
          </p:nvSpPr>
          <p:spPr>
            <a:xfrm>
              <a:off x="3388927" y="4071069"/>
              <a:ext cx="723900" cy="428625"/>
            </a:xfrm>
            <a:prstGeom prst="rect">
              <a:avLst/>
            </a:prstGeom>
            <a:noFill/>
            <a:ln w="9525">
              <a:noFill/>
            </a:ln>
          </p:spPr>
          <p:txBody>
            <a:bodyPr wrap="none" lIns="0" tIns="0" rIns="0" bIns="0" anchor="t">
              <a:noAutofit/>
            </a:bodyPr>
            <a:lstStyle/>
            <a:p>
              <a:pPr marL="0" indent="0" algn="l">
                <a:lnSpc>
                  <a:spcPts val="2156"/>
                </a:lnSpc>
                <a:spcAft>
                  <a:spcPts val="0"/>
                </a:spcAft>
                <a:buNone/>
              </a:pPr>
              <a:r>
                <a:rPr lang="en-US" sz="1800" b="1" dirty="0">
                  <a:solidFill>
                    <a:srgbClr val="FFFFFF"/>
                  </a:solidFill>
                  <a:latin typeface="Fira Sans Extra Condensed"/>
                  <a:ea typeface="Fira Sans Extra Condensed"/>
                  <a:cs typeface="Fira Sans Extra Condensed"/>
                </a:rPr>
                <a:t>Goals</a:t>
              </a:r>
              <a:endParaRPr lang="en-US" sz="1800" dirty="0"/>
            </a:p>
          </p:txBody>
        </p:sp>
      </p:grpSp>
      <p:grpSp>
        <p:nvGrpSpPr>
          <p:cNvPr id="38" name="Group 37">
            <a:extLst>
              <a:ext uri="{FF2B5EF4-FFF2-40B4-BE49-F238E27FC236}">
                <a16:creationId xmlns:a16="http://schemas.microsoft.com/office/drawing/2014/main" id="{9070D538-8DE9-3F8B-AD9D-4E5621EFC16F}"/>
              </a:ext>
            </a:extLst>
          </p:cNvPr>
          <p:cNvGrpSpPr/>
          <p:nvPr/>
        </p:nvGrpSpPr>
        <p:grpSpPr>
          <a:xfrm>
            <a:off x="4176482" y="1333197"/>
            <a:ext cx="1333500" cy="676275"/>
            <a:chOff x="3515333" y="3147144"/>
            <a:chExt cx="1333500" cy="676275"/>
          </a:xfrm>
        </p:grpSpPr>
        <p:sp>
          <p:nvSpPr>
            <p:cNvPr id="86" name="Panel">
              <a:extLst>
                <a:ext uri="{FF2B5EF4-FFF2-40B4-BE49-F238E27FC236}">
                  <a16:creationId xmlns:a16="http://schemas.microsoft.com/office/drawing/2014/main" id="{EDC22F6E-0F73-CF49-F5FB-B3BCD31CB6A2}"/>
                </a:ext>
              </a:extLst>
            </p:cNvPr>
            <p:cNvSpPr/>
            <p:nvPr/>
          </p:nvSpPr>
          <p:spPr>
            <a:xfrm>
              <a:off x="3515333" y="3147144"/>
              <a:ext cx="1333500" cy="676275"/>
            </a:xfrm>
            <a:prstGeom prst="roundRect">
              <a:avLst>
                <a:gd name="adj" fmla="val 10000"/>
              </a:avLst>
            </a:prstGeom>
            <a:solidFill>
              <a:srgbClr val="294559"/>
            </a:solidFill>
            <a:ln w="9525">
              <a:noFill/>
            </a:ln>
          </p:spPr>
          <p:txBody>
            <a:bodyPr/>
            <a:lstStyle/>
            <a:p>
              <a:endParaRPr lang="en-US"/>
            </a:p>
          </p:txBody>
        </p:sp>
        <p:grpSp>
          <p:nvGrpSpPr>
            <p:cNvPr id="87" name="Slidesgo vector icon">
              <a:extLst>
                <a:ext uri="{FF2B5EF4-FFF2-40B4-BE49-F238E27FC236}">
                  <a16:creationId xmlns:a16="http://schemas.microsoft.com/office/drawing/2014/main" id="{CA399CEB-AC7D-BFED-D5B2-A7F8F56112B7}"/>
                </a:ext>
              </a:extLst>
            </p:cNvPr>
            <p:cNvGrpSpPr/>
            <p:nvPr/>
          </p:nvGrpSpPr>
          <p:grpSpPr>
            <a:xfrm>
              <a:off x="3615361" y="3350640"/>
              <a:ext cx="285750" cy="285750"/>
              <a:chOff x="-3137650" y="2408950"/>
              <a:chExt cx="291450" cy="292125"/>
            </a:xfrm>
          </p:grpSpPr>
          <p:sp>
            <p:nvSpPr>
              <p:cNvPr id="88" name="Slidesgo vector icon">
                <a:extLst>
                  <a:ext uri="{FF2B5EF4-FFF2-40B4-BE49-F238E27FC236}">
                    <a16:creationId xmlns:a16="http://schemas.microsoft.com/office/drawing/2014/main" id="{D82A9435-015D-48B2-04C9-F01CD559F540}"/>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Slidesgo vector icon">
                <a:extLst>
                  <a:ext uri="{FF2B5EF4-FFF2-40B4-BE49-F238E27FC236}">
                    <a16:creationId xmlns:a16="http://schemas.microsoft.com/office/drawing/2014/main" id="{1C75B90E-3124-8621-E69F-F9541526FC9D}"/>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Slidesgo vector icon">
                <a:extLst>
                  <a:ext uri="{FF2B5EF4-FFF2-40B4-BE49-F238E27FC236}">
                    <a16:creationId xmlns:a16="http://schemas.microsoft.com/office/drawing/2014/main" id="{599352D1-9182-F916-21D5-35147D526488}"/>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Slidesgo vector icon">
                <a:extLst>
                  <a:ext uri="{FF2B5EF4-FFF2-40B4-BE49-F238E27FC236}">
                    <a16:creationId xmlns:a16="http://schemas.microsoft.com/office/drawing/2014/main" id="{D101E69A-3DB1-54E5-3902-FA79BC9FE66D}"/>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Slidesgo vector icon">
                <a:extLst>
                  <a:ext uri="{FF2B5EF4-FFF2-40B4-BE49-F238E27FC236}">
                    <a16:creationId xmlns:a16="http://schemas.microsoft.com/office/drawing/2014/main" id="{09BA3F6E-7158-4D9D-166E-5B65520AAFE5}"/>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Text">
              <a:extLst>
                <a:ext uri="{FF2B5EF4-FFF2-40B4-BE49-F238E27FC236}">
                  <a16:creationId xmlns:a16="http://schemas.microsoft.com/office/drawing/2014/main" id="{460C0600-9A45-FAED-3473-507E0964F0BD}"/>
                </a:ext>
              </a:extLst>
            </p:cNvPr>
            <p:cNvSpPr txBox="1"/>
            <p:nvPr/>
          </p:nvSpPr>
          <p:spPr>
            <a:xfrm>
              <a:off x="4038401" y="3368677"/>
              <a:ext cx="723900" cy="428625"/>
            </a:xfrm>
            <a:prstGeom prst="rect">
              <a:avLst/>
            </a:prstGeom>
            <a:noFill/>
            <a:ln w="9525">
              <a:noFill/>
            </a:ln>
          </p:spPr>
          <p:txBody>
            <a:bodyPr wrap="none" lIns="0" tIns="0" rIns="0" bIns="0" anchor="t">
              <a:noAutofit/>
            </a:bodyPr>
            <a:lstStyle/>
            <a:p>
              <a:pPr marL="0" indent="0" algn="l">
                <a:lnSpc>
                  <a:spcPts val="2156"/>
                </a:lnSpc>
                <a:spcAft>
                  <a:spcPts val="0"/>
                </a:spcAft>
                <a:buNone/>
              </a:pPr>
              <a:r>
                <a:rPr lang="en-US" sz="1800" b="1" dirty="0">
                  <a:solidFill>
                    <a:srgbClr val="FFFFFF"/>
                  </a:solidFill>
                  <a:latin typeface="Fira Sans Extra Condensed"/>
                  <a:ea typeface="Fira Sans Extra Condensed"/>
                  <a:cs typeface="Fira Sans Extra Condensed"/>
                </a:rPr>
                <a:t>Limits</a:t>
              </a:r>
              <a:endParaRPr lang="en-US" sz="1800" dirty="0"/>
            </a:p>
          </p:txBody>
        </p:sp>
      </p:grpSp>
      <p:grpSp>
        <p:nvGrpSpPr>
          <p:cNvPr id="47" name="Group 46">
            <a:extLst>
              <a:ext uri="{FF2B5EF4-FFF2-40B4-BE49-F238E27FC236}">
                <a16:creationId xmlns:a16="http://schemas.microsoft.com/office/drawing/2014/main" id="{2D0D158D-A6B3-6592-332E-F3CD1F03E56C}"/>
              </a:ext>
            </a:extLst>
          </p:cNvPr>
          <p:cNvGrpSpPr/>
          <p:nvPr/>
        </p:nvGrpSpPr>
        <p:grpSpPr>
          <a:xfrm>
            <a:off x="4400282" y="3506308"/>
            <a:ext cx="876300" cy="876300"/>
            <a:chOff x="3850889" y="968065"/>
            <a:chExt cx="876300" cy="876300"/>
          </a:xfrm>
        </p:grpSpPr>
        <p:sp>
          <p:nvSpPr>
            <p:cNvPr id="97" name="Circle">
              <a:extLst>
                <a:ext uri="{FF2B5EF4-FFF2-40B4-BE49-F238E27FC236}">
                  <a16:creationId xmlns:a16="http://schemas.microsoft.com/office/drawing/2014/main" id="{0E68E301-BAC8-7A1E-1973-399100DE1A80}"/>
                </a:ext>
              </a:extLst>
            </p:cNvPr>
            <p:cNvSpPr/>
            <p:nvPr/>
          </p:nvSpPr>
          <p:spPr>
            <a:xfrm>
              <a:off x="3850889" y="968065"/>
              <a:ext cx="876300" cy="876300"/>
            </a:xfrm>
            <a:prstGeom prst="ellipse">
              <a:avLst/>
            </a:prstGeom>
            <a:solidFill>
              <a:srgbClr val="5FD0DB"/>
            </a:solidFill>
            <a:ln w="9525">
              <a:noFill/>
            </a:ln>
          </p:spPr>
          <p:txBody>
            <a:bodyPr/>
            <a:lstStyle/>
            <a:p>
              <a:endParaRPr lang="en-US"/>
            </a:p>
          </p:txBody>
        </p:sp>
        <p:grpSp>
          <p:nvGrpSpPr>
            <p:cNvPr id="98" name="Slidesgo vector icon">
              <a:extLst>
                <a:ext uri="{FF2B5EF4-FFF2-40B4-BE49-F238E27FC236}">
                  <a16:creationId xmlns:a16="http://schemas.microsoft.com/office/drawing/2014/main" id="{3A6B9F7E-57C1-5DF1-1694-00186F6D3725}"/>
                </a:ext>
              </a:extLst>
            </p:cNvPr>
            <p:cNvGrpSpPr/>
            <p:nvPr/>
          </p:nvGrpSpPr>
          <p:grpSpPr>
            <a:xfrm>
              <a:off x="4084251" y="1193962"/>
              <a:ext cx="409575" cy="409575"/>
              <a:chOff x="1487200" y="4993750"/>
              <a:chExt cx="483125" cy="483125"/>
            </a:xfrm>
          </p:grpSpPr>
          <p:sp>
            <p:nvSpPr>
              <p:cNvPr id="99" name="Slidesgo vector icon">
                <a:extLst>
                  <a:ext uri="{FF2B5EF4-FFF2-40B4-BE49-F238E27FC236}">
                    <a16:creationId xmlns:a16="http://schemas.microsoft.com/office/drawing/2014/main" id="{B88D9B61-E981-5903-3A80-F417EF3CF825}"/>
                  </a:ext>
                </a:extLst>
              </p:cNvPr>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0" name="Slidesgo vector icon">
                <a:extLst>
                  <a:ext uri="{FF2B5EF4-FFF2-40B4-BE49-F238E27FC236}">
                    <a16:creationId xmlns:a16="http://schemas.microsoft.com/office/drawing/2014/main" id="{222C4658-8484-0EC8-9E6C-9AAA9356D16E}"/>
                  </a:ext>
                </a:extLst>
              </p:cNvPr>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grpSp>
      <p:sp>
        <p:nvSpPr>
          <p:cNvPr id="34" name="Panel">
            <a:extLst>
              <a:ext uri="{FF2B5EF4-FFF2-40B4-BE49-F238E27FC236}">
                <a16:creationId xmlns:a16="http://schemas.microsoft.com/office/drawing/2014/main" id="{9F734626-9B71-0A53-F9EC-E23AAB6032C3}"/>
              </a:ext>
            </a:extLst>
          </p:cNvPr>
          <p:cNvSpPr/>
          <p:nvPr/>
        </p:nvSpPr>
        <p:spPr>
          <a:xfrm>
            <a:off x="212223" y="2590978"/>
            <a:ext cx="1691408" cy="821188"/>
          </a:xfrm>
          <a:prstGeom prst="roundRect">
            <a:avLst>
              <a:gd name="adj" fmla="val 10000"/>
            </a:avLst>
          </a:prstGeom>
          <a:solidFill>
            <a:srgbClr val="F3F6F8"/>
          </a:solidFill>
          <a:ln w="9525">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ts val="2062"/>
              </a:lnSpc>
            </a:pPr>
            <a:r>
              <a:rPr lang="en-US" b="1" dirty="0">
                <a:solidFill>
                  <a:srgbClr val="435D74"/>
                </a:solidFill>
                <a:latin typeface="Roboto"/>
                <a:ea typeface="Roboto"/>
                <a:cs typeface="Roboto"/>
              </a:rPr>
              <a:t>Presented By:</a:t>
            </a:r>
          </a:p>
          <a:p>
            <a:pPr>
              <a:lnSpc>
                <a:spcPts val="2062"/>
              </a:lnSpc>
            </a:pPr>
            <a:r>
              <a:rPr lang="en-US" b="1" dirty="0">
                <a:solidFill>
                  <a:srgbClr val="435D74"/>
                </a:solidFill>
                <a:latin typeface="Roboto"/>
                <a:ea typeface="Roboto"/>
                <a:cs typeface="Roboto"/>
              </a:rPr>
              <a:t>Ali Omar</a:t>
            </a:r>
          </a:p>
          <a:p>
            <a:pPr>
              <a:lnSpc>
                <a:spcPts val="2062"/>
              </a:lnSpc>
            </a:pPr>
            <a:r>
              <a:rPr lang="en-US" b="1" dirty="0">
                <a:solidFill>
                  <a:srgbClr val="435D74"/>
                </a:solidFill>
                <a:latin typeface="Roboto"/>
                <a:ea typeface="Roboto"/>
                <a:cs typeface="Roboto"/>
              </a:rPr>
              <a:t>Abdallah </a:t>
            </a:r>
            <a:r>
              <a:rPr lang="en-US" b="1" dirty="0" err="1">
                <a:solidFill>
                  <a:srgbClr val="435D74"/>
                </a:solidFill>
                <a:latin typeface="Roboto"/>
                <a:ea typeface="Roboto"/>
                <a:cs typeface="Roboto"/>
              </a:rPr>
              <a:t>Mestrah</a:t>
            </a:r>
            <a:endParaRPr lang="en-US" dirty="0"/>
          </a:p>
        </p:txBody>
      </p:sp>
      <p:sp>
        <p:nvSpPr>
          <p:cNvPr id="35" name="Panel">
            <a:extLst>
              <a:ext uri="{FF2B5EF4-FFF2-40B4-BE49-F238E27FC236}">
                <a16:creationId xmlns:a16="http://schemas.microsoft.com/office/drawing/2014/main" id="{A08C94ED-0C92-6B83-8183-682E3C7A682D}"/>
              </a:ext>
            </a:extLst>
          </p:cNvPr>
          <p:cNvSpPr/>
          <p:nvPr/>
        </p:nvSpPr>
        <p:spPr>
          <a:xfrm>
            <a:off x="212222" y="3632894"/>
            <a:ext cx="1691503" cy="749714"/>
          </a:xfrm>
          <a:prstGeom prst="roundRect">
            <a:avLst>
              <a:gd name="adj" fmla="val 10000"/>
            </a:avLst>
          </a:prstGeom>
          <a:solidFill>
            <a:srgbClr val="F3F6F8"/>
          </a:solidFill>
          <a:ln w="9525">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ts val="2062"/>
              </a:lnSpc>
            </a:pPr>
            <a:r>
              <a:rPr lang="en-US" b="1" dirty="0">
                <a:solidFill>
                  <a:srgbClr val="435D74"/>
                </a:solidFill>
                <a:latin typeface="Roboto"/>
                <a:ea typeface="Roboto"/>
                <a:cs typeface="Roboto"/>
              </a:rPr>
              <a:t>Supervisor: </a:t>
            </a:r>
            <a:br>
              <a:rPr lang="en-US" b="1" dirty="0">
                <a:solidFill>
                  <a:srgbClr val="435D74"/>
                </a:solidFill>
                <a:latin typeface="Roboto"/>
                <a:ea typeface="Roboto"/>
                <a:cs typeface="Roboto"/>
              </a:rPr>
            </a:br>
            <a:r>
              <a:rPr lang="en-US" b="1" dirty="0">
                <a:solidFill>
                  <a:srgbClr val="435D74"/>
                </a:solidFill>
                <a:latin typeface="Roboto"/>
                <a:ea typeface="Roboto"/>
                <a:cs typeface="Roboto"/>
              </a:rPr>
              <a:t>Dr. Ali Jaber</a:t>
            </a:r>
            <a:endParaRPr lang="en-US" dirty="0"/>
          </a:p>
        </p:txBody>
      </p:sp>
      <p:pic>
        <p:nvPicPr>
          <p:cNvPr id="37" name="Picture 36">
            <a:extLst>
              <a:ext uri="{FF2B5EF4-FFF2-40B4-BE49-F238E27FC236}">
                <a16:creationId xmlns:a16="http://schemas.microsoft.com/office/drawing/2014/main" id="{FDDF18D1-394C-9D32-9BDE-7DFEFB2BDB59}"/>
              </a:ext>
            </a:extLst>
          </p:cNvPr>
          <p:cNvPicPr>
            <a:picLocks noChangeAspect="1"/>
          </p:cNvPicPr>
          <p:nvPr/>
        </p:nvPicPr>
        <p:blipFill>
          <a:blip r:embed="rId3"/>
          <a:stretch>
            <a:fillRect/>
          </a:stretch>
        </p:blipFill>
        <p:spPr>
          <a:xfrm>
            <a:off x="-1" y="141634"/>
            <a:ext cx="1378821" cy="13689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The data science life cycle">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The data science life cycle</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02 </a:t>
            </a:r>
            <a:r>
              <a:rPr lang="en-US" sz="825" dirty="0">
                <a:solidFill>
                  <a:srgbClr val="6D8495"/>
                </a:solidFill>
                <a:latin typeface="Roboto"/>
                <a:ea typeface="Roboto"/>
                <a:cs typeface="Roboto"/>
              </a:rPr>
              <a:t>/ 14</a:t>
            </a:r>
            <a:endParaRPr lang="en-US" sz="825" dirty="0"/>
          </a:p>
        </p:txBody>
      </p:sp>
      <p:cxnSp>
        <p:nvCxnSpPr>
          <p:cNvPr id="7" name="Connector"/>
          <p:cNvCxnSpPr/>
          <p:nvPr/>
        </p:nvCxnSpPr>
        <p:spPr>
          <a:xfrm>
            <a:off x="2000250" y="1876425"/>
            <a:ext cx="2047875" cy="95"/>
          </a:xfrm>
          <a:prstGeom prst="line">
            <a:avLst/>
          </a:prstGeom>
          <a:ln w="19050">
            <a:solidFill>
              <a:srgbClr val="869FB2"/>
            </a:solidFill>
            <a:tailEnd type="triangle" w="sm" len="sm"/>
          </a:ln>
        </p:spPr>
      </p:cxnSp>
      <p:cxnSp>
        <p:nvCxnSpPr>
          <p:cNvPr id="8" name="Connector"/>
          <p:cNvCxnSpPr/>
          <p:nvPr/>
        </p:nvCxnSpPr>
        <p:spPr>
          <a:xfrm>
            <a:off x="5000625" y="1876425"/>
            <a:ext cx="2047875" cy="95"/>
          </a:xfrm>
          <a:prstGeom prst="line">
            <a:avLst/>
          </a:prstGeom>
          <a:ln w="19050">
            <a:solidFill>
              <a:srgbClr val="869FB2"/>
            </a:solidFill>
            <a:tailEnd type="triangle" w="sm" len="sm"/>
          </a:ln>
        </p:spPr>
      </p:cxnSp>
      <p:sp>
        <p:nvSpPr>
          <p:cNvPr id="9" name="Vector"/>
          <p:cNvSpPr/>
          <p:nvPr/>
        </p:nvSpPr>
        <p:spPr>
          <a:xfrm>
            <a:off x="6477000" y="1876425"/>
            <a:ext cx="2333625" cy="1123950"/>
          </a:xfrm>
          <a:custGeom>
            <a:avLst/>
            <a:gdLst/>
            <a:ahLst/>
            <a:cxnLst/>
            <a:rect l="l" t="t" r="r" b="b"/>
            <a:pathLst>
              <a:path w="2333625" h="1123950">
                <a:moveTo>
                  <a:pt x="1524000" y="0"/>
                </a:moveTo>
                <a:lnTo>
                  <a:pt x="2333625" y="0"/>
                </a:lnTo>
                <a:lnTo>
                  <a:pt x="2333625" y="1123950"/>
                </a:lnTo>
                <a:lnTo>
                  <a:pt x="0" y="1123950"/>
                </a:lnTo>
              </a:path>
            </a:pathLst>
          </a:custGeom>
          <a:noFill/>
          <a:ln w="19050" cap="rnd">
            <a:solidFill>
              <a:srgbClr val="869FB2"/>
            </a:solidFill>
            <a:round/>
          </a:ln>
        </p:spPr>
        <p:txBody>
          <a:bodyPr/>
          <a:lstStyle/>
          <a:p>
            <a:endParaRPr lang="en-US"/>
          </a:p>
        </p:txBody>
      </p:sp>
      <p:cxnSp>
        <p:nvCxnSpPr>
          <p:cNvPr id="10" name="Connector"/>
          <p:cNvCxnSpPr/>
          <p:nvPr/>
        </p:nvCxnSpPr>
        <p:spPr>
          <a:xfrm flipH="1">
            <a:off x="6477000" y="3000375"/>
            <a:ext cx="190500" cy="95"/>
          </a:xfrm>
          <a:prstGeom prst="line">
            <a:avLst/>
          </a:prstGeom>
          <a:ln w="19050">
            <a:solidFill>
              <a:srgbClr val="869FB2"/>
            </a:solidFill>
            <a:tailEnd type="triangle" w="sm" len="sm"/>
          </a:ln>
        </p:spPr>
      </p:cxnSp>
      <p:cxnSp>
        <p:nvCxnSpPr>
          <p:cNvPr id="11" name="Connector"/>
          <p:cNvCxnSpPr/>
          <p:nvPr/>
        </p:nvCxnSpPr>
        <p:spPr>
          <a:xfrm flipH="1">
            <a:off x="3524250" y="3000375"/>
            <a:ext cx="2000250" cy="95"/>
          </a:xfrm>
          <a:prstGeom prst="line">
            <a:avLst/>
          </a:prstGeom>
          <a:ln w="19050">
            <a:solidFill>
              <a:srgbClr val="869FB2"/>
            </a:solidFill>
            <a:tailEnd type="triangle" w="sm" len="sm"/>
          </a:ln>
        </p:spPr>
      </p:cxnSp>
      <p:sp>
        <p:nvSpPr>
          <p:cNvPr id="12" name="Vector"/>
          <p:cNvSpPr/>
          <p:nvPr/>
        </p:nvSpPr>
        <p:spPr>
          <a:xfrm>
            <a:off x="285750" y="1876425"/>
            <a:ext cx="2286000" cy="1123950"/>
          </a:xfrm>
          <a:custGeom>
            <a:avLst/>
            <a:gdLst/>
            <a:ahLst/>
            <a:cxnLst/>
            <a:rect l="l" t="t" r="r" b="b"/>
            <a:pathLst>
              <a:path w="2286000" h="1123950">
                <a:moveTo>
                  <a:pt x="2286000" y="1123950"/>
                </a:moveTo>
                <a:lnTo>
                  <a:pt x="0" y="1123950"/>
                </a:lnTo>
                <a:lnTo>
                  <a:pt x="0" y="0"/>
                </a:lnTo>
                <a:lnTo>
                  <a:pt x="762000" y="0"/>
                </a:lnTo>
              </a:path>
            </a:pathLst>
          </a:custGeom>
          <a:noFill/>
          <a:ln w="19050" cap="rnd">
            <a:solidFill>
              <a:srgbClr val="869FB2"/>
            </a:solidFill>
            <a:round/>
          </a:ln>
        </p:spPr>
        <p:txBody>
          <a:bodyPr/>
          <a:lstStyle/>
          <a:p>
            <a:endParaRPr lang="en-US"/>
          </a:p>
        </p:txBody>
      </p:sp>
      <p:cxnSp>
        <p:nvCxnSpPr>
          <p:cNvPr id="13" name="Connector"/>
          <p:cNvCxnSpPr/>
          <p:nvPr/>
        </p:nvCxnSpPr>
        <p:spPr>
          <a:xfrm>
            <a:off x="857250" y="1876425"/>
            <a:ext cx="190500" cy="95"/>
          </a:xfrm>
          <a:prstGeom prst="line">
            <a:avLst/>
          </a:prstGeom>
          <a:ln w="19050">
            <a:solidFill>
              <a:srgbClr val="869FB2"/>
            </a:solidFill>
            <a:tailEnd type="triangle" w="sm" len="sm"/>
          </a:ln>
        </p:spPr>
      </p:cxnSp>
      <p:sp>
        <p:nvSpPr>
          <p:cNvPr id="14" name="Circle"/>
          <p:cNvSpPr/>
          <p:nvPr/>
        </p:nvSpPr>
        <p:spPr>
          <a:xfrm>
            <a:off x="1114425" y="1466850"/>
            <a:ext cx="819150" cy="819150"/>
          </a:xfrm>
          <a:prstGeom prst="ellipse">
            <a:avLst/>
          </a:prstGeom>
          <a:solidFill>
            <a:srgbClr val="F3F6F8"/>
          </a:solidFill>
          <a:ln w="9525">
            <a:noFill/>
          </a:ln>
        </p:spPr>
        <p:txBody>
          <a:bodyPr/>
          <a:lstStyle/>
          <a:p>
            <a:endParaRPr lang="en-US"/>
          </a:p>
        </p:txBody>
      </p:sp>
      <p:grpSp>
        <p:nvGrpSpPr>
          <p:cNvPr id="15" name="Slidesgo vector icon"/>
          <p:cNvGrpSpPr/>
          <p:nvPr/>
        </p:nvGrpSpPr>
        <p:grpSpPr>
          <a:xfrm>
            <a:off x="1323975" y="1676400"/>
            <a:ext cx="400050" cy="398070"/>
            <a:chOff x="-63679950" y="3360375"/>
            <a:chExt cx="318225" cy="316650"/>
          </a:xfrm>
        </p:grpSpPr>
        <p:sp>
          <p:nvSpPr>
            <p:cNvPr id="16" name="Slidesgo vector icon"/>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sgo vector icon"/>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Text"/>
          <p:cNvSpPr txBox="1"/>
          <p:nvPr/>
        </p:nvSpPr>
        <p:spPr>
          <a:xfrm>
            <a:off x="495300" y="2381250"/>
            <a:ext cx="2057400" cy="638175"/>
          </a:xfrm>
          <a:prstGeom prst="rect">
            <a:avLst/>
          </a:prstGeom>
          <a:noFill/>
          <a:ln w="9525">
            <a:noFill/>
          </a:ln>
        </p:spPr>
        <p:txBody>
          <a:bodyPr wrap="none" lIns="0" tIns="0" rIns="0" bIns="0" anchor="t">
            <a:noAutofit/>
          </a:bodyPr>
          <a:lstStyle/>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Understand</a:t>
            </a:r>
            <a:endParaRPr lang="en-US" sz="1950"/>
          </a:p>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the problem</a:t>
            </a:r>
            <a:endParaRPr lang="en-US" sz="1950"/>
          </a:p>
        </p:txBody>
      </p:sp>
      <p:sp>
        <p:nvSpPr>
          <p:cNvPr id="21" name="Circle"/>
          <p:cNvSpPr/>
          <p:nvPr/>
        </p:nvSpPr>
        <p:spPr>
          <a:xfrm>
            <a:off x="4114800" y="1466850"/>
            <a:ext cx="819150" cy="819150"/>
          </a:xfrm>
          <a:prstGeom prst="ellipse">
            <a:avLst/>
          </a:prstGeom>
          <a:solidFill>
            <a:srgbClr val="F3F6F8"/>
          </a:solidFill>
          <a:ln w="9525">
            <a:noFill/>
          </a:ln>
        </p:spPr>
        <p:txBody>
          <a:bodyPr/>
          <a:lstStyle/>
          <a:p>
            <a:endParaRPr lang="en-US"/>
          </a:p>
        </p:txBody>
      </p:sp>
      <p:grpSp>
        <p:nvGrpSpPr>
          <p:cNvPr id="22" name="Slidesgo vector icon"/>
          <p:cNvGrpSpPr/>
          <p:nvPr/>
        </p:nvGrpSpPr>
        <p:grpSpPr>
          <a:xfrm>
            <a:off x="4324350" y="1676400"/>
            <a:ext cx="400050" cy="400061"/>
            <a:chOff x="-2571737" y="2403625"/>
            <a:chExt cx="292225" cy="291425"/>
          </a:xfrm>
        </p:grpSpPr>
        <p:sp>
          <p:nvSpPr>
            <p:cNvPr id="23"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Text"/>
          <p:cNvSpPr txBox="1"/>
          <p:nvPr/>
        </p:nvSpPr>
        <p:spPr>
          <a:xfrm>
            <a:off x="3495675" y="2381250"/>
            <a:ext cx="2057400" cy="638175"/>
          </a:xfrm>
          <a:prstGeom prst="rect">
            <a:avLst/>
          </a:prstGeom>
          <a:noFill/>
          <a:ln w="9525">
            <a:noFill/>
          </a:ln>
        </p:spPr>
        <p:txBody>
          <a:bodyPr wrap="none" lIns="0" tIns="0" rIns="0" bIns="0" anchor="t">
            <a:noAutofit/>
          </a:bodyPr>
          <a:lstStyle/>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Prepare</a:t>
            </a:r>
            <a:endParaRPr lang="en-US" sz="1950"/>
          </a:p>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the data</a:t>
            </a:r>
            <a:endParaRPr lang="en-US" sz="1950"/>
          </a:p>
        </p:txBody>
      </p:sp>
      <p:sp>
        <p:nvSpPr>
          <p:cNvPr id="31" name="Circle"/>
          <p:cNvSpPr/>
          <p:nvPr/>
        </p:nvSpPr>
        <p:spPr>
          <a:xfrm>
            <a:off x="7115175" y="1466850"/>
            <a:ext cx="819150" cy="819150"/>
          </a:xfrm>
          <a:prstGeom prst="ellipse">
            <a:avLst/>
          </a:prstGeom>
          <a:solidFill>
            <a:srgbClr val="F3F6F8"/>
          </a:solidFill>
          <a:ln w="9525">
            <a:noFill/>
          </a:ln>
        </p:spPr>
        <p:txBody>
          <a:bodyPr/>
          <a:lstStyle/>
          <a:p>
            <a:endParaRPr lang="en-US"/>
          </a:p>
        </p:txBody>
      </p:sp>
      <p:grpSp>
        <p:nvGrpSpPr>
          <p:cNvPr id="32" name="Slidesgo vector icon"/>
          <p:cNvGrpSpPr/>
          <p:nvPr/>
        </p:nvGrpSpPr>
        <p:grpSpPr>
          <a:xfrm>
            <a:off x="7324725" y="1676400"/>
            <a:ext cx="400050" cy="400040"/>
            <a:chOff x="1412450" y="1954475"/>
            <a:chExt cx="297750" cy="296175"/>
          </a:xfrm>
        </p:grpSpPr>
        <p:sp>
          <p:nvSpPr>
            <p:cNvPr id="33" name="Slidesgo vector icon"/>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Slidesgo vector icon"/>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Text"/>
          <p:cNvSpPr txBox="1"/>
          <p:nvPr/>
        </p:nvSpPr>
        <p:spPr>
          <a:xfrm>
            <a:off x="6496050" y="2381250"/>
            <a:ext cx="2057400" cy="638175"/>
          </a:xfrm>
          <a:prstGeom prst="rect">
            <a:avLst/>
          </a:prstGeom>
          <a:noFill/>
          <a:ln w="9525">
            <a:noFill/>
          </a:ln>
        </p:spPr>
        <p:txBody>
          <a:bodyPr wrap="none" lIns="0" tIns="0" rIns="0" bIns="0" anchor="t">
            <a:noAutofit/>
          </a:bodyPr>
          <a:lstStyle/>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Build</a:t>
            </a:r>
            <a:endParaRPr lang="en-US" sz="1950"/>
          </a:p>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a model</a:t>
            </a:r>
            <a:endParaRPr lang="en-US" sz="1950"/>
          </a:p>
        </p:txBody>
      </p:sp>
      <p:sp>
        <p:nvSpPr>
          <p:cNvPr id="36" name="Circle"/>
          <p:cNvSpPr/>
          <p:nvPr/>
        </p:nvSpPr>
        <p:spPr>
          <a:xfrm>
            <a:off x="5591175" y="2590800"/>
            <a:ext cx="819150" cy="819150"/>
          </a:xfrm>
          <a:prstGeom prst="ellipse">
            <a:avLst/>
          </a:prstGeom>
          <a:solidFill>
            <a:srgbClr val="F3F6F8"/>
          </a:solidFill>
          <a:ln w="9525">
            <a:noFill/>
          </a:ln>
        </p:spPr>
        <p:txBody>
          <a:bodyPr/>
          <a:lstStyle/>
          <a:p>
            <a:endParaRPr lang="en-US"/>
          </a:p>
        </p:txBody>
      </p:sp>
      <p:grpSp>
        <p:nvGrpSpPr>
          <p:cNvPr id="37" name="Slidesgo vector icon"/>
          <p:cNvGrpSpPr/>
          <p:nvPr/>
        </p:nvGrpSpPr>
        <p:grpSpPr>
          <a:xfrm>
            <a:off x="5800725" y="2800350"/>
            <a:ext cx="400050" cy="400050"/>
            <a:chOff x="1487200" y="4993750"/>
            <a:chExt cx="483125" cy="483125"/>
          </a:xfrm>
        </p:grpSpPr>
        <p:sp>
          <p:nvSpPr>
            <p:cNvPr id="38" name="Slidesgo vector icon"/>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 name="Slidesgo vector icon"/>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0" name="Text"/>
          <p:cNvSpPr txBox="1"/>
          <p:nvPr/>
        </p:nvSpPr>
        <p:spPr>
          <a:xfrm>
            <a:off x="4972050" y="3505200"/>
            <a:ext cx="2057400" cy="638175"/>
          </a:xfrm>
          <a:prstGeom prst="rect">
            <a:avLst/>
          </a:prstGeom>
          <a:noFill/>
          <a:ln w="9525">
            <a:noFill/>
          </a:ln>
        </p:spPr>
        <p:txBody>
          <a:bodyPr wrap="none" lIns="0" tIns="0" rIns="0" bIns="0" anchor="t">
            <a:noAutofit/>
          </a:bodyPr>
          <a:lstStyle/>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Check</a:t>
            </a:r>
            <a:endParaRPr lang="en-US" sz="1950"/>
          </a:p>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the results</a:t>
            </a:r>
            <a:endParaRPr lang="en-US" sz="1950"/>
          </a:p>
        </p:txBody>
      </p:sp>
      <p:sp>
        <p:nvSpPr>
          <p:cNvPr id="41" name="Circle"/>
          <p:cNvSpPr/>
          <p:nvPr/>
        </p:nvSpPr>
        <p:spPr>
          <a:xfrm>
            <a:off x="2638425" y="2590800"/>
            <a:ext cx="819150" cy="819150"/>
          </a:xfrm>
          <a:prstGeom prst="ellipse">
            <a:avLst/>
          </a:prstGeom>
          <a:solidFill>
            <a:srgbClr val="F3F6F8"/>
          </a:solidFill>
          <a:ln w="9525">
            <a:noFill/>
          </a:ln>
        </p:spPr>
        <p:txBody>
          <a:bodyPr/>
          <a:lstStyle/>
          <a:p>
            <a:endParaRPr lang="en-US"/>
          </a:p>
        </p:txBody>
      </p:sp>
      <p:grpSp>
        <p:nvGrpSpPr>
          <p:cNvPr id="42" name="Slidesgo vector icon"/>
          <p:cNvGrpSpPr/>
          <p:nvPr/>
        </p:nvGrpSpPr>
        <p:grpSpPr>
          <a:xfrm>
            <a:off x="2847975" y="2800350"/>
            <a:ext cx="400050" cy="400027"/>
            <a:chOff x="-2060175" y="2768875"/>
            <a:chExt cx="291450" cy="292225"/>
          </a:xfrm>
        </p:grpSpPr>
        <p:sp>
          <p:nvSpPr>
            <p:cNvPr id="43" name="Slidesgo vector icon"/>
            <p:cNvSpPr/>
            <p:nvPr/>
          </p:nvSpPr>
          <p:spPr>
            <a:xfrm>
              <a:off x="-2060175" y="2768875"/>
              <a:ext cx="291450" cy="292225"/>
            </a:xfrm>
            <a:custGeom>
              <a:avLst/>
              <a:gdLst/>
              <a:ahLst/>
              <a:cxnLst/>
              <a:rect l="l" t="t" r="r" b="b"/>
              <a:pathLst>
                <a:path w="11658" h="11689" extrusionOk="0">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Slidesgo vector icon"/>
            <p:cNvSpPr/>
            <p:nvPr/>
          </p:nvSpPr>
          <p:spPr>
            <a:xfrm>
              <a:off x="-2008975" y="2855525"/>
              <a:ext cx="189050" cy="84500"/>
            </a:xfrm>
            <a:custGeom>
              <a:avLst/>
              <a:gdLst/>
              <a:ahLst/>
              <a:cxnLst/>
              <a:rect l="l" t="t" r="r" b="b"/>
              <a:pathLst>
                <a:path w="7562" h="3380" extrusionOk="0">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Text"/>
          <p:cNvSpPr txBox="1"/>
          <p:nvPr/>
        </p:nvSpPr>
        <p:spPr>
          <a:xfrm>
            <a:off x="2019300" y="3505200"/>
            <a:ext cx="2057400" cy="638175"/>
          </a:xfrm>
          <a:prstGeom prst="rect">
            <a:avLst/>
          </a:prstGeom>
          <a:noFill/>
          <a:ln w="9525">
            <a:noFill/>
          </a:ln>
        </p:spPr>
        <p:txBody>
          <a:bodyPr wrap="none" lIns="0" tIns="0" rIns="0" bIns="0" anchor="t">
            <a:noAutofit/>
          </a:bodyPr>
          <a:lstStyle/>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Use results</a:t>
            </a:r>
            <a:endParaRPr lang="en-US" sz="1950"/>
          </a:p>
          <a:p>
            <a:pPr marL="0" indent="0" algn="ctr">
              <a:lnSpc>
                <a:spcPts val="2438"/>
              </a:lnSpc>
              <a:spcAft>
                <a:spcPts val="0"/>
              </a:spcAft>
              <a:buNone/>
            </a:pPr>
            <a:r>
              <a:rPr lang="en-US" sz="1950" b="1">
                <a:solidFill>
                  <a:srgbClr val="435D74"/>
                </a:solidFill>
                <a:latin typeface="Fira Sans Extra Condensed"/>
                <a:ea typeface="Fira Sans Extra Condensed"/>
                <a:cs typeface="Fira Sans Extra Condensed"/>
              </a:rPr>
              <a:t>in practice</a:t>
            </a:r>
            <a:endParaRPr lang="en-US" sz="1950"/>
          </a:p>
        </p:txBody>
      </p:sp>
      <p:sp>
        <p:nvSpPr>
          <p:cNvPr id="46"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47"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Teams can return to earlier stages when data, goals, or results change.</a:t>
            </a:r>
            <a:endParaRPr lang="en-US" sz="13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Four types of analytic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Four types of analytics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dirty="0">
                <a:solidFill>
                  <a:srgbClr val="6D8495"/>
                </a:solidFill>
                <a:latin typeface="Roboto"/>
                <a:ea typeface="Roboto"/>
                <a:cs typeface="Roboto"/>
              </a:rPr>
              <a:t>03 / 14</a:t>
            </a:r>
            <a:endParaRPr lang="en-US" sz="825" dirty="0"/>
          </a:p>
        </p:txBody>
      </p:sp>
      <p:grpSp>
        <p:nvGrpSpPr>
          <p:cNvPr id="7" name="Slidesgo vector icon"/>
          <p:cNvGrpSpPr/>
          <p:nvPr/>
        </p:nvGrpSpPr>
        <p:grpSpPr>
          <a:xfrm>
            <a:off x="647700" y="1181100"/>
            <a:ext cx="361950" cy="359999"/>
            <a:chOff x="-4211975" y="2046625"/>
            <a:chExt cx="292250" cy="290675"/>
          </a:xfrm>
        </p:grpSpPr>
        <p:sp>
          <p:nvSpPr>
            <p:cNvPr id="8" name="Slidesgo vector icon"/>
            <p:cNvSpPr/>
            <p:nvPr/>
          </p:nvSpPr>
          <p:spPr>
            <a:xfrm>
              <a:off x="-4211975" y="2081300"/>
              <a:ext cx="256025" cy="256000"/>
            </a:xfrm>
            <a:custGeom>
              <a:avLst/>
              <a:gdLst/>
              <a:ahLst/>
              <a:cxnLst/>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Slidesgo vector icon"/>
            <p:cNvSpPr/>
            <p:nvPr/>
          </p:nvSpPr>
          <p:spPr>
            <a:xfrm>
              <a:off x="-4057600" y="2046625"/>
              <a:ext cx="137875" cy="137875"/>
            </a:xfrm>
            <a:custGeom>
              <a:avLst/>
              <a:gdLst/>
              <a:ahLst/>
              <a:cxnLst/>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
          <p:cNvSpPr txBox="1"/>
          <p:nvPr/>
        </p:nvSpPr>
        <p:spPr>
          <a:xfrm>
            <a:off x="1228725" y="1104900"/>
            <a:ext cx="186690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Descriptive</a:t>
            </a:r>
            <a:endParaRPr lang="en-US" sz="2175"/>
          </a:p>
        </p:txBody>
      </p:sp>
      <p:sp>
        <p:nvSpPr>
          <p:cNvPr id="11" name="Text"/>
          <p:cNvSpPr txBox="1"/>
          <p:nvPr/>
        </p:nvSpPr>
        <p:spPr>
          <a:xfrm>
            <a:off x="3095625" y="1114425"/>
            <a:ext cx="2209800" cy="371475"/>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1">
                <a:solidFill>
                  <a:srgbClr val="435D74"/>
                </a:solidFill>
                <a:latin typeface="Roboto"/>
                <a:ea typeface="Roboto"/>
                <a:cs typeface="Roboto"/>
              </a:rPr>
              <a:t>What happened?</a:t>
            </a:r>
            <a:endParaRPr lang="en-US" sz="1650"/>
          </a:p>
        </p:txBody>
      </p:sp>
      <p:sp>
        <p:nvSpPr>
          <p:cNvPr id="12" name="Text"/>
          <p:cNvSpPr txBox="1"/>
          <p:nvPr/>
        </p:nvSpPr>
        <p:spPr>
          <a:xfrm>
            <a:off x="5410200" y="1104900"/>
            <a:ext cx="3067050" cy="5619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Show last month's sales for each store.</a:t>
            </a:r>
            <a:endParaRPr lang="en-US" sz="1350"/>
          </a:p>
        </p:txBody>
      </p:sp>
      <p:cxnSp>
        <p:nvCxnSpPr>
          <p:cNvPr id="13" name="Connector"/>
          <p:cNvCxnSpPr/>
          <p:nvPr/>
        </p:nvCxnSpPr>
        <p:spPr>
          <a:xfrm>
            <a:off x="1228725" y="1743075"/>
            <a:ext cx="7419975" cy="95"/>
          </a:xfrm>
          <a:prstGeom prst="line">
            <a:avLst/>
          </a:prstGeom>
          <a:ln w="9525">
            <a:solidFill>
              <a:srgbClr val="D8E2E8"/>
            </a:solidFill>
          </a:ln>
        </p:spPr>
      </p:cxnSp>
      <p:grpSp>
        <p:nvGrpSpPr>
          <p:cNvPr id="14" name="Slidesgo vector icon"/>
          <p:cNvGrpSpPr/>
          <p:nvPr/>
        </p:nvGrpSpPr>
        <p:grpSpPr>
          <a:xfrm>
            <a:off x="647700" y="1933575"/>
            <a:ext cx="361950" cy="360159"/>
            <a:chOff x="-63679950" y="3360375"/>
            <a:chExt cx="318225" cy="316650"/>
          </a:xfrm>
        </p:grpSpPr>
        <p:sp>
          <p:nvSpPr>
            <p:cNvPr id="15" name="Slidesgo vector icon"/>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Slidesgo vector icon"/>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
          <p:cNvSpPr txBox="1"/>
          <p:nvPr/>
        </p:nvSpPr>
        <p:spPr>
          <a:xfrm>
            <a:off x="1228725" y="1857375"/>
            <a:ext cx="186690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Diagnostic</a:t>
            </a:r>
            <a:endParaRPr lang="en-US" sz="2175"/>
          </a:p>
        </p:txBody>
      </p:sp>
      <p:sp>
        <p:nvSpPr>
          <p:cNvPr id="20" name="Text"/>
          <p:cNvSpPr txBox="1"/>
          <p:nvPr/>
        </p:nvSpPr>
        <p:spPr>
          <a:xfrm>
            <a:off x="3095625" y="1866900"/>
            <a:ext cx="2209800" cy="371475"/>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1">
                <a:solidFill>
                  <a:srgbClr val="435D74"/>
                </a:solidFill>
                <a:latin typeface="Roboto"/>
                <a:ea typeface="Roboto"/>
                <a:cs typeface="Roboto"/>
              </a:rPr>
              <a:t>Why did it happen?</a:t>
            </a:r>
            <a:endParaRPr lang="en-US" sz="1650"/>
          </a:p>
        </p:txBody>
      </p:sp>
      <p:sp>
        <p:nvSpPr>
          <p:cNvPr id="21" name="Text"/>
          <p:cNvSpPr txBox="1"/>
          <p:nvPr/>
        </p:nvSpPr>
        <p:spPr>
          <a:xfrm>
            <a:off x="5410200" y="1857375"/>
            <a:ext cx="3067050" cy="5619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Check if missing products caused lower</a:t>
            </a:r>
            <a:endParaRPr lang="en-US" sz="1350"/>
          </a:p>
          <a:p>
            <a:pPr marL="0" indent="0" algn="l">
              <a:lnSpc>
                <a:spcPts val="1688"/>
              </a:lnSpc>
              <a:spcAft>
                <a:spcPts val="0"/>
              </a:spcAft>
              <a:buNone/>
            </a:pPr>
            <a:r>
              <a:rPr lang="en-US" sz="1350" b="0">
                <a:solidFill>
                  <a:srgbClr val="435D74"/>
                </a:solidFill>
                <a:latin typeface="Roboto"/>
                <a:ea typeface="Roboto"/>
                <a:cs typeface="Roboto"/>
              </a:rPr>
              <a:t>sales.</a:t>
            </a:r>
            <a:endParaRPr lang="en-US" sz="1350"/>
          </a:p>
        </p:txBody>
      </p:sp>
      <p:cxnSp>
        <p:nvCxnSpPr>
          <p:cNvPr id="22" name="Connector"/>
          <p:cNvCxnSpPr/>
          <p:nvPr/>
        </p:nvCxnSpPr>
        <p:spPr>
          <a:xfrm>
            <a:off x="1228725" y="2495550"/>
            <a:ext cx="7419975" cy="95"/>
          </a:xfrm>
          <a:prstGeom prst="line">
            <a:avLst/>
          </a:prstGeom>
          <a:ln w="9525">
            <a:solidFill>
              <a:srgbClr val="D8E2E8"/>
            </a:solidFill>
          </a:ln>
        </p:spPr>
      </p:cxnSp>
      <p:grpSp>
        <p:nvGrpSpPr>
          <p:cNvPr id="23" name="Slidesgo vector icon"/>
          <p:cNvGrpSpPr/>
          <p:nvPr/>
        </p:nvGrpSpPr>
        <p:grpSpPr>
          <a:xfrm>
            <a:off x="647700" y="2686050"/>
            <a:ext cx="361950" cy="362912"/>
            <a:chOff x="-1333200" y="2770450"/>
            <a:chExt cx="291450" cy="292225"/>
          </a:xfrm>
        </p:grpSpPr>
        <p:sp>
          <p:nvSpPr>
            <p:cNvPr id="24" name="Slidesgo vector icon"/>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Slidesgo vector icon"/>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Text"/>
          <p:cNvSpPr txBox="1"/>
          <p:nvPr/>
        </p:nvSpPr>
        <p:spPr>
          <a:xfrm>
            <a:off x="1228725" y="2609850"/>
            <a:ext cx="186690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Predictive</a:t>
            </a:r>
            <a:endParaRPr lang="en-US" sz="2175"/>
          </a:p>
        </p:txBody>
      </p:sp>
      <p:sp>
        <p:nvSpPr>
          <p:cNvPr id="27" name="Text"/>
          <p:cNvSpPr txBox="1"/>
          <p:nvPr/>
        </p:nvSpPr>
        <p:spPr>
          <a:xfrm>
            <a:off x="3095625" y="2619375"/>
            <a:ext cx="2209800" cy="371475"/>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1">
                <a:solidFill>
                  <a:srgbClr val="435D74"/>
                </a:solidFill>
                <a:latin typeface="Roboto"/>
                <a:ea typeface="Roboto"/>
                <a:cs typeface="Roboto"/>
              </a:rPr>
              <a:t>What may happen?</a:t>
            </a:r>
            <a:endParaRPr lang="en-US" sz="1650"/>
          </a:p>
        </p:txBody>
      </p:sp>
      <p:sp>
        <p:nvSpPr>
          <p:cNvPr id="28" name="Text"/>
          <p:cNvSpPr txBox="1"/>
          <p:nvPr/>
        </p:nvSpPr>
        <p:spPr>
          <a:xfrm>
            <a:off x="5410200" y="2609850"/>
            <a:ext cx="3067050" cy="5619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Predict next month's demand.</a:t>
            </a:r>
            <a:endParaRPr lang="en-US" sz="1350"/>
          </a:p>
        </p:txBody>
      </p:sp>
      <p:cxnSp>
        <p:nvCxnSpPr>
          <p:cNvPr id="29" name="Connector"/>
          <p:cNvCxnSpPr/>
          <p:nvPr/>
        </p:nvCxnSpPr>
        <p:spPr>
          <a:xfrm>
            <a:off x="1228725" y="3248025"/>
            <a:ext cx="7419975" cy="95"/>
          </a:xfrm>
          <a:prstGeom prst="line">
            <a:avLst/>
          </a:prstGeom>
          <a:ln w="9525">
            <a:solidFill>
              <a:srgbClr val="D8E2E8"/>
            </a:solidFill>
          </a:ln>
        </p:spPr>
      </p:cxnSp>
      <p:sp>
        <p:nvSpPr>
          <p:cNvPr id="30" name="Panel"/>
          <p:cNvSpPr/>
          <p:nvPr/>
        </p:nvSpPr>
        <p:spPr>
          <a:xfrm>
            <a:off x="495300" y="3305175"/>
            <a:ext cx="8153400" cy="704850"/>
          </a:xfrm>
          <a:prstGeom prst="roundRect">
            <a:avLst>
              <a:gd name="adj" fmla="val 10000"/>
            </a:avLst>
          </a:prstGeom>
          <a:solidFill>
            <a:srgbClr val="435D74"/>
          </a:solidFill>
          <a:ln w="9525">
            <a:noFill/>
          </a:ln>
        </p:spPr>
        <p:txBody>
          <a:bodyPr/>
          <a:lstStyle/>
          <a:p>
            <a:endParaRPr lang="en-US"/>
          </a:p>
        </p:txBody>
      </p:sp>
      <p:grpSp>
        <p:nvGrpSpPr>
          <p:cNvPr id="31" name="Slidesgo vector icon"/>
          <p:cNvGrpSpPr/>
          <p:nvPr/>
        </p:nvGrpSpPr>
        <p:grpSpPr>
          <a:xfrm>
            <a:off x="647700" y="3438525"/>
            <a:ext cx="361950" cy="359408"/>
            <a:chOff x="-63250675" y="3744075"/>
            <a:chExt cx="320350" cy="318100"/>
          </a:xfrm>
        </p:grpSpPr>
        <p:sp>
          <p:nvSpPr>
            <p:cNvPr id="32" name="Slidesgo vector icon"/>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Slidesgo vector icon"/>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Slidesgo vector icon"/>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Text"/>
          <p:cNvSpPr txBox="1"/>
          <p:nvPr/>
        </p:nvSpPr>
        <p:spPr>
          <a:xfrm>
            <a:off x="1228725" y="3362325"/>
            <a:ext cx="186690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FFFFFF"/>
                </a:solidFill>
                <a:latin typeface="Fira Sans Extra Condensed"/>
                <a:ea typeface="Fira Sans Extra Condensed"/>
                <a:cs typeface="Fira Sans Extra Condensed"/>
              </a:rPr>
              <a:t>Prescriptive</a:t>
            </a:r>
            <a:endParaRPr lang="en-US" sz="2175"/>
          </a:p>
        </p:txBody>
      </p:sp>
      <p:sp>
        <p:nvSpPr>
          <p:cNvPr id="36" name="Text"/>
          <p:cNvSpPr txBox="1"/>
          <p:nvPr/>
        </p:nvSpPr>
        <p:spPr>
          <a:xfrm>
            <a:off x="3095625" y="3371850"/>
            <a:ext cx="2209800" cy="371475"/>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1">
                <a:solidFill>
                  <a:srgbClr val="5FD0DB"/>
                </a:solidFill>
                <a:latin typeface="Roboto"/>
                <a:ea typeface="Roboto"/>
                <a:cs typeface="Roboto"/>
              </a:rPr>
              <a:t>What should we do?</a:t>
            </a:r>
            <a:endParaRPr lang="en-US" sz="1650"/>
          </a:p>
        </p:txBody>
      </p:sp>
      <p:sp>
        <p:nvSpPr>
          <p:cNvPr id="37" name="Text"/>
          <p:cNvSpPr txBox="1"/>
          <p:nvPr/>
        </p:nvSpPr>
        <p:spPr>
          <a:xfrm>
            <a:off x="5410200" y="3362325"/>
            <a:ext cx="3067050" cy="5619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FFFFFF"/>
                </a:solidFill>
                <a:latin typeface="Roboto"/>
                <a:ea typeface="Roboto"/>
                <a:cs typeface="Roboto"/>
              </a:rPr>
              <a:t>Decide how much stock to send to each</a:t>
            </a:r>
            <a:endParaRPr lang="en-US" sz="1350"/>
          </a:p>
          <a:p>
            <a:pPr marL="0" indent="0" algn="l">
              <a:lnSpc>
                <a:spcPts val="1688"/>
              </a:lnSpc>
              <a:spcAft>
                <a:spcPts val="0"/>
              </a:spcAft>
              <a:buNone/>
            </a:pPr>
            <a:r>
              <a:rPr lang="en-US" sz="1350" b="0">
                <a:solidFill>
                  <a:srgbClr val="FFFFFF"/>
                </a:solidFill>
                <a:latin typeface="Roboto"/>
                <a:ea typeface="Roboto"/>
                <a:cs typeface="Roboto"/>
              </a:rPr>
              <a:t>store.</a:t>
            </a:r>
            <a:endParaRPr lang="en-US" sz="1350"/>
          </a:p>
        </p:txBody>
      </p:sp>
      <p:sp>
        <p:nvSpPr>
          <p:cNvPr id="38" name="Text"/>
          <p:cNvSpPr txBox="1"/>
          <p:nvPr/>
        </p:nvSpPr>
        <p:spPr>
          <a:xfrm>
            <a:off x="495300" y="4295775"/>
            <a:ext cx="8153400" cy="323850"/>
          </a:xfrm>
          <a:prstGeom prst="rect">
            <a:avLst/>
          </a:prstGeom>
          <a:noFill/>
          <a:ln w="9525">
            <a:noFill/>
          </a:ln>
        </p:spPr>
        <p:txBody>
          <a:bodyPr wrap="none" lIns="0" tIns="0" rIns="0" bIns="0" anchor="t">
            <a:noAutofit/>
          </a:bodyPr>
          <a:lstStyle/>
          <a:p>
            <a:pPr marL="0" indent="0" algn="l">
              <a:lnSpc>
                <a:spcPts val="1594"/>
              </a:lnSpc>
              <a:spcAft>
                <a:spcPts val="0"/>
              </a:spcAft>
              <a:buNone/>
            </a:pPr>
            <a:r>
              <a:rPr lang="en-US" sz="1275" b="0">
                <a:solidFill>
                  <a:srgbClr val="6D8495"/>
                </a:solidFill>
                <a:latin typeface="Roboto"/>
                <a:ea typeface="Roboto"/>
                <a:cs typeface="Roboto"/>
              </a:rPr>
              <a:t>Stock = products available. Demand = how much customers want to buy.</a:t>
            </a:r>
            <a:endParaRPr lang="en-US" sz="12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The role of prescriptive analytic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The role of prescriptive analytics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04 </a:t>
            </a:r>
            <a:r>
              <a:rPr lang="en-US" sz="825" dirty="0">
                <a:solidFill>
                  <a:srgbClr val="6D8495"/>
                </a:solidFill>
                <a:latin typeface="Roboto"/>
                <a:ea typeface="Roboto"/>
                <a:cs typeface="Roboto"/>
              </a:rPr>
              <a:t>/ 14</a:t>
            </a:r>
            <a:endParaRPr lang="en-US" sz="825" dirty="0"/>
          </a:p>
        </p:txBody>
      </p:sp>
      <p:sp>
        <p:nvSpPr>
          <p:cNvPr id="7" name="Panel"/>
          <p:cNvSpPr/>
          <p:nvPr/>
        </p:nvSpPr>
        <p:spPr>
          <a:xfrm>
            <a:off x="495300" y="1200150"/>
            <a:ext cx="3390900" cy="1238250"/>
          </a:xfrm>
          <a:prstGeom prst="roundRect">
            <a:avLst>
              <a:gd name="adj" fmla="val 10000"/>
            </a:avLst>
          </a:prstGeom>
          <a:solidFill>
            <a:srgbClr val="F3F6F8"/>
          </a:solidFill>
          <a:ln w="9525">
            <a:noFill/>
          </a:ln>
        </p:spPr>
        <p:txBody>
          <a:bodyPr/>
          <a:lstStyle/>
          <a:p>
            <a:endParaRPr lang="en-US"/>
          </a:p>
        </p:txBody>
      </p:sp>
      <p:grpSp>
        <p:nvGrpSpPr>
          <p:cNvPr id="8" name="Slidesgo vector icon"/>
          <p:cNvGrpSpPr/>
          <p:nvPr/>
        </p:nvGrpSpPr>
        <p:grpSpPr>
          <a:xfrm>
            <a:off x="742950" y="1438275"/>
            <a:ext cx="438150" cy="439314"/>
            <a:chOff x="-1333200" y="2770450"/>
            <a:chExt cx="291450" cy="292225"/>
          </a:xfrm>
        </p:grpSpPr>
        <p:sp>
          <p:nvSpPr>
            <p:cNvPr id="9" name="Slidesgo vector icon"/>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Text"/>
          <p:cNvSpPr txBox="1"/>
          <p:nvPr/>
        </p:nvSpPr>
        <p:spPr>
          <a:xfrm>
            <a:off x="1381125" y="1381125"/>
            <a:ext cx="2247900" cy="466725"/>
          </a:xfrm>
          <a:prstGeom prst="rect">
            <a:avLst/>
          </a:prstGeom>
          <a:noFill/>
          <a:ln w="9525">
            <a:noFill/>
          </a:ln>
        </p:spPr>
        <p:txBody>
          <a:bodyPr wrap="none" lIns="0" tIns="0" rIns="0" bIns="0" anchor="t">
            <a:noAutofit/>
          </a:bodyPr>
          <a:lstStyle/>
          <a:p>
            <a:pPr marL="0" indent="0" algn="l">
              <a:lnSpc>
                <a:spcPts val="3000"/>
              </a:lnSpc>
              <a:spcAft>
                <a:spcPts val="0"/>
              </a:spcAft>
              <a:buNone/>
            </a:pPr>
            <a:r>
              <a:rPr lang="en-US" sz="2400" b="1">
                <a:solidFill>
                  <a:srgbClr val="435D74"/>
                </a:solidFill>
                <a:latin typeface="Fira Sans Extra Condensed"/>
                <a:ea typeface="Fira Sans Extra Condensed"/>
                <a:cs typeface="Fira Sans Extra Condensed"/>
              </a:rPr>
              <a:t>Prediction</a:t>
            </a:r>
            <a:endParaRPr lang="en-US" sz="2400"/>
          </a:p>
        </p:txBody>
      </p:sp>
      <p:sp>
        <p:nvSpPr>
          <p:cNvPr id="12" name="Text"/>
          <p:cNvSpPr txBox="1"/>
          <p:nvPr/>
        </p:nvSpPr>
        <p:spPr>
          <a:xfrm>
            <a:off x="742950" y="1971675"/>
            <a:ext cx="2924175" cy="3619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Estimates what may happen.</a:t>
            </a:r>
            <a:endParaRPr lang="en-US" sz="1575"/>
          </a:p>
        </p:txBody>
      </p:sp>
      <p:cxnSp>
        <p:nvCxnSpPr>
          <p:cNvPr id="13" name="Connector"/>
          <p:cNvCxnSpPr/>
          <p:nvPr/>
        </p:nvCxnSpPr>
        <p:spPr>
          <a:xfrm>
            <a:off x="4114800" y="1838325"/>
            <a:ext cx="714375" cy="95"/>
          </a:xfrm>
          <a:prstGeom prst="line">
            <a:avLst/>
          </a:prstGeom>
          <a:ln w="28575">
            <a:solidFill>
              <a:srgbClr val="007D8B"/>
            </a:solidFill>
            <a:tailEnd type="triangle" w="sm" len="sm"/>
          </a:ln>
        </p:spPr>
      </p:cxnSp>
      <p:sp>
        <p:nvSpPr>
          <p:cNvPr id="14" name="Panel"/>
          <p:cNvSpPr/>
          <p:nvPr/>
        </p:nvSpPr>
        <p:spPr>
          <a:xfrm>
            <a:off x="5048250" y="1200150"/>
            <a:ext cx="3600450" cy="1238250"/>
          </a:xfrm>
          <a:prstGeom prst="roundRect">
            <a:avLst>
              <a:gd name="adj" fmla="val 10000"/>
            </a:avLst>
          </a:prstGeom>
          <a:solidFill>
            <a:srgbClr val="435D74"/>
          </a:solidFill>
          <a:ln w="9525">
            <a:noFill/>
          </a:ln>
        </p:spPr>
        <p:txBody>
          <a:bodyPr/>
          <a:lstStyle/>
          <a:p>
            <a:endParaRPr lang="en-US"/>
          </a:p>
        </p:txBody>
      </p:sp>
      <p:grpSp>
        <p:nvGrpSpPr>
          <p:cNvPr id="15" name="Slidesgo vector icon"/>
          <p:cNvGrpSpPr/>
          <p:nvPr/>
        </p:nvGrpSpPr>
        <p:grpSpPr>
          <a:xfrm>
            <a:off x="5286375" y="1438275"/>
            <a:ext cx="438150" cy="435073"/>
            <a:chOff x="-63250675" y="3744075"/>
            <a:chExt cx="320350" cy="318100"/>
          </a:xfrm>
        </p:grpSpPr>
        <p:sp>
          <p:nvSpPr>
            <p:cNvPr id="16" name="Slidesgo vector icon"/>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
          <p:cNvSpPr txBox="1"/>
          <p:nvPr/>
        </p:nvSpPr>
        <p:spPr>
          <a:xfrm>
            <a:off x="5943600" y="1381125"/>
            <a:ext cx="2466975" cy="466725"/>
          </a:xfrm>
          <a:prstGeom prst="rect">
            <a:avLst/>
          </a:prstGeom>
          <a:noFill/>
          <a:ln w="9525">
            <a:noFill/>
          </a:ln>
        </p:spPr>
        <p:txBody>
          <a:bodyPr wrap="none" lIns="0" tIns="0" rIns="0" bIns="0" anchor="t">
            <a:noAutofit/>
          </a:bodyPr>
          <a:lstStyle/>
          <a:p>
            <a:pPr marL="0" indent="0" algn="l">
              <a:lnSpc>
                <a:spcPts val="3000"/>
              </a:lnSpc>
              <a:spcAft>
                <a:spcPts val="0"/>
              </a:spcAft>
              <a:buNone/>
            </a:pPr>
            <a:r>
              <a:rPr lang="en-US" sz="2400" b="1">
                <a:solidFill>
                  <a:srgbClr val="FFFFFF"/>
                </a:solidFill>
                <a:latin typeface="Fira Sans Extra Condensed"/>
                <a:ea typeface="Fira Sans Extra Condensed"/>
                <a:cs typeface="Fira Sans Extra Condensed"/>
              </a:rPr>
              <a:t>Recommendation</a:t>
            </a:r>
            <a:endParaRPr lang="en-US" sz="2400"/>
          </a:p>
        </p:txBody>
      </p:sp>
      <p:sp>
        <p:nvSpPr>
          <p:cNvPr id="20" name="Text"/>
          <p:cNvSpPr txBox="1"/>
          <p:nvPr/>
        </p:nvSpPr>
        <p:spPr>
          <a:xfrm>
            <a:off x="5286375" y="1971675"/>
            <a:ext cx="3057525" cy="3619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FFFFFF"/>
                </a:solidFill>
                <a:latin typeface="Roboto"/>
                <a:ea typeface="Roboto"/>
                <a:cs typeface="Roboto"/>
              </a:rPr>
              <a:t>Suggests what to do.</a:t>
            </a:r>
            <a:endParaRPr lang="en-US" sz="1575"/>
          </a:p>
        </p:txBody>
      </p:sp>
      <p:sp>
        <p:nvSpPr>
          <p:cNvPr id="21" name="Text"/>
          <p:cNvSpPr txBox="1"/>
          <p:nvPr/>
        </p:nvSpPr>
        <p:spPr>
          <a:xfrm>
            <a:off x="495300" y="2876550"/>
            <a:ext cx="363855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Stores</a:t>
            </a:r>
            <a:endParaRPr lang="en-US" sz="2175"/>
          </a:p>
        </p:txBody>
      </p:sp>
      <p:sp>
        <p:nvSpPr>
          <p:cNvPr id="22" name="Text"/>
          <p:cNvSpPr txBox="1"/>
          <p:nvPr/>
        </p:nvSpPr>
        <p:spPr>
          <a:xfrm>
            <a:off x="495300" y="3352800"/>
            <a:ext cx="3695700" cy="704850"/>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0">
                <a:solidFill>
                  <a:srgbClr val="435D74"/>
                </a:solidFill>
                <a:latin typeface="Roboto"/>
                <a:ea typeface="Roboto"/>
                <a:cs typeface="Roboto"/>
              </a:rPr>
              <a:t>Use expected demand to decide</a:t>
            </a:r>
            <a:endParaRPr lang="en-US" sz="1650"/>
          </a:p>
          <a:p>
            <a:pPr marL="0" indent="0" algn="l">
              <a:lnSpc>
                <a:spcPts val="2062"/>
              </a:lnSpc>
              <a:spcAft>
                <a:spcPts val="0"/>
              </a:spcAft>
              <a:buNone/>
            </a:pPr>
            <a:r>
              <a:rPr lang="en-US" sz="1650" b="0">
                <a:solidFill>
                  <a:srgbClr val="435D74"/>
                </a:solidFill>
                <a:latin typeface="Roboto"/>
                <a:ea typeface="Roboto"/>
                <a:cs typeface="Roboto"/>
              </a:rPr>
              <a:t>how much stock to send.</a:t>
            </a:r>
            <a:endParaRPr lang="en-US" sz="1650"/>
          </a:p>
        </p:txBody>
      </p:sp>
      <p:sp>
        <p:nvSpPr>
          <p:cNvPr id="23" name="Text"/>
          <p:cNvSpPr txBox="1"/>
          <p:nvPr/>
        </p:nvSpPr>
        <p:spPr>
          <a:xfrm>
            <a:off x="5048250" y="2876550"/>
            <a:ext cx="3600450" cy="400050"/>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Delivery</a:t>
            </a:r>
            <a:endParaRPr lang="en-US" sz="2175"/>
          </a:p>
        </p:txBody>
      </p:sp>
      <p:sp>
        <p:nvSpPr>
          <p:cNvPr id="24" name="Text"/>
          <p:cNvSpPr txBox="1"/>
          <p:nvPr/>
        </p:nvSpPr>
        <p:spPr>
          <a:xfrm>
            <a:off x="5048250" y="3352800"/>
            <a:ext cx="3600450" cy="704850"/>
          </a:xfrm>
          <a:prstGeom prst="rect">
            <a:avLst/>
          </a:prstGeom>
          <a:noFill/>
          <a:ln w="9525">
            <a:noFill/>
          </a:ln>
        </p:spPr>
        <p:txBody>
          <a:bodyPr wrap="none" lIns="0" tIns="0" rIns="0" bIns="0" anchor="t">
            <a:noAutofit/>
          </a:bodyPr>
          <a:lstStyle/>
          <a:p>
            <a:pPr marL="0" indent="0" algn="l">
              <a:lnSpc>
                <a:spcPts val="2062"/>
              </a:lnSpc>
              <a:spcAft>
                <a:spcPts val="0"/>
              </a:spcAft>
              <a:buNone/>
            </a:pPr>
            <a:r>
              <a:rPr lang="en-US" sz="1650" b="0">
                <a:solidFill>
                  <a:srgbClr val="435D74"/>
                </a:solidFill>
                <a:latin typeface="Roboto"/>
                <a:ea typeface="Roboto"/>
                <a:cs typeface="Roboto"/>
              </a:rPr>
              <a:t>Use predicted travel times to</a:t>
            </a:r>
            <a:endParaRPr lang="en-US" sz="1650"/>
          </a:p>
          <a:p>
            <a:pPr marL="0" indent="0" algn="l">
              <a:lnSpc>
                <a:spcPts val="2062"/>
              </a:lnSpc>
              <a:spcAft>
                <a:spcPts val="0"/>
              </a:spcAft>
              <a:buNone/>
            </a:pPr>
            <a:r>
              <a:rPr lang="en-US" sz="1650" b="0">
                <a:solidFill>
                  <a:srgbClr val="435D74"/>
                </a:solidFill>
                <a:latin typeface="Roboto"/>
                <a:ea typeface="Roboto"/>
                <a:cs typeface="Roboto"/>
              </a:rPr>
              <a:t>choose roads for on-time delivery.</a:t>
            </a:r>
            <a:endParaRPr lang="en-US" sz="1650"/>
          </a:p>
        </p:txBody>
      </p:sp>
      <p:sp>
        <p:nvSpPr>
          <p:cNvPr id="25"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26"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Show the action, the expected result, and the limits behind the choice.</a:t>
            </a:r>
            <a:endParaRPr lang="en-US" sz="13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The decision model">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The decision model</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05 </a:t>
            </a:r>
            <a:r>
              <a:rPr lang="en-US" sz="825" dirty="0">
                <a:solidFill>
                  <a:srgbClr val="6D8495"/>
                </a:solidFill>
                <a:latin typeface="Roboto"/>
                <a:ea typeface="Roboto"/>
                <a:cs typeface="Roboto"/>
              </a:rPr>
              <a:t>/ 14</a:t>
            </a:r>
            <a:endParaRPr lang="en-US" sz="825" dirty="0"/>
          </a:p>
        </p:txBody>
      </p:sp>
      <p:grpSp>
        <p:nvGrpSpPr>
          <p:cNvPr id="7" name="Slidesgo vector icon"/>
          <p:cNvGrpSpPr/>
          <p:nvPr/>
        </p:nvGrpSpPr>
        <p:grpSpPr>
          <a:xfrm>
            <a:off x="495300" y="1219200"/>
            <a:ext cx="400050" cy="400061"/>
            <a:chOff x="-2571737" y="2403625"/>
            <a:chExt cx="292225" cy="291425"/>
          </a:xfrm>
        </p:grpSpPr>
        <p:sp>
          <p:nvSpPr>
            <p:cNvPr id="8"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
          <p:cNvSpPr txBox="1"/>
          <p:nvPr/>
        </p:nvSpPr>
        <p:spPr>
          <a:xfrm>
            <a:off x="1095375" y="1190625"/>
            <a:ext cx="3209925" cy="476250"/>
          </a:xfrm>
          <a:prstGeom prst="rect">
            <a:avLst/>
          </a:prstGeom>
          <a:noFill/>
          <a:ln w="9525">
            <a:noFill/>
          </a:ln>
        </p:spPr>
        <p:txBody>
          <a:bodyPr wrap="none" lIns="0" tIns="0" rIns="0" bIns="0" anchor="t">
            <a:noAutofit/>
          </a:bodyPr>
          <a:lstStyle/>
          <a:p>
            <a:pPr marL="0" indent="0" algn="l">
              <a:lnSpc>
                <a:spcPts val="2906"/>
              </a:lnSpc>
              <a:spcAft>
                <a:spcPts val="0"/>
              </a:spcAft>
              <a:buNone/>
            </a:pPr>
            <a:r>
              <a:rPr lang="en-US" sz="2325" b="1">
                <a:solidFill>
                  <a:srgbClr val="435D74"/>
                </a:solidFill>
                <a:latin typeface="Fira Sans Extra Condensed"/>
                <a:ea typeface="Fira Sans Extra Condensed"/>
                <a:cs typeface="Fira Sans Extra Condensed"/>
              </a:rPr>
              <a:t>Decision variables</a:t>
            </a:r>
            <a:endParaRPr lang="en-US" sz="2325"/>
          </a:p>
        </p:txBody>
      </p:sp>
      <p:sp>
        <p:nvSpPr>
          <p:cNvPr id="16" name="Text"/>
          <p:cNvSpPr txBox="1"/>
          <p:nvPr/>
        </p:nvSpPr>
        <p:spPr>
          <a:xfrm>
            <a:off x="1095375" y="1685925"/>
            <a:ext cx="3209925" cy="34290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1">
                <a:solidFill>
                  <a:srgbClr val="435D74"/>
                </a:solidFill>
                <a:latin typeface="Roboto"/>
                <a:ea typeface="Roboto"/>
                <a:cs typeface="Roboto"/>
              </a:rPr>
              <a:t>What can change?</a:t>
            </a:r>
            <a:endParaRPr lang="en-US" sz="1575"/>
          </a:p>
        </p:txBody>
      </p:sp>
      <p:sp>
        <p:nvSpPr>
          <p:cNvPr id="17" name="Text"/>
          <p:cNvSpPr txBox="1"/>
          <p:nvPr/>
        </p:nvSpPr>
        <p:spPr>
          <a:xfrm>
            <a:off x="1095375" y="2085975"/>
            <a:ext cx="3209925" cy="381000"/>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6D8495"/>
                </a:solidFill>
                <a:latin typeface="Roboto"/>
                <a:ea typeface="Roboto"/>
                <a:cs typeface="Roboto"/>
              </a:rPr>
              <a:t>Products sent to each store</a:t>
            </a:r>
            <a:endParaRPr lang="en-US" sz="1425"/>
          </a:p>
        </p:txBody>
      </p:sp>
      <p:grpSp>
        <p:nvGrpSpPr>
          <p:cNvPr id="18" name="Slidesgo vector icon"/>
          <p:cNvGrpSpPr/>
          <p:nvPr/>
        </p:nvGrpSpPr>
        <p:grpSpPr>
          <a:xfrm>
            <a:off x="4810125" y="1219200"/>
            <a:ext cx="400050" cy="397240"/>
            <a:chOff x="-63250675" y="3744075"/>
            <a:chExt cx="320350" cy="318100"/>
          </a:xfrm>
        </p:grpSpPr>
        <p:sp>
          <p:nvSpPr>
            <p:cNvPr id="19" name="Slidesgo vector icon"/>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Slidesgo vector icon"/>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Slidesgo vector icon"/>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Text"/>
          <p:cNvSpPr txBox="1"/>
          <p:nvPr/>
        </p:nvSpPr>
        <p:spPr>
          <a:xfrm>
            <a:off x="5410200" y="1190625"/>
            <a:ext cx="3209925" cy="476250"/>
          </a:xfrm>
          <a:prstGeom prst="rect">
            <a:avLst/>
          </a:prstGeom>
          <a:noFill/>
          <a:ln w="9525">
            <a:noFill/>
          </a:ln>
        </p:spPr>
        <p:txBody>
          <a:bodyPr wrap="none" lIns="0" tIns="0" rIns="0" bIns="0" anchor="t">
            <a:noAutofit/>
          </a:bodyPr>
          <a:lstStyle/>
          <a:p>
            <a:pPr marL="0" indent="0" algn="l">
              <a:lnSpc>
                <a:spcPts val="2906"/>
              </a:lnSpc>
              <a:spcAft>
                <a:spcPts val="0"/>
              </a:spcAft>
              <a:buNone/>
            </a:pPr>
            <a:r>
              <a:rPr lang="en-US" sz="2325" b="1">
                <a:solidFill>
                  <a:srgbClr val="435D74"/>
                </a:solidFill>
                <a:latin typeface="Fira Sans Extra Condensed"/>
                <a:ea typeface="Fira Sans Extra Condensed"/>
                <a:cs typeface="Fira Sans Extra Condensed"/>
              </a:rPr>
              <a:t>Objective</a:t>
            </a:r>
            <a:endParaRPr lang="en-US" sz="2325"/>
          </a:p>
        </p:txBody>
      </p:sp>
      <p:sp>
        <p:nvSpPr>
          <p:cNvPr id="23" name="Text"/>
          <p:cNvSpPr txBox="1"/>
          <p:nvPr/>
        </p:nvSpPr>
        <p:spPr>
          <a:xfrm>
            <a:off x="5410200" y="1685925"/>
            <a:ext cx="3209925" cy="34290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1">
                <a:solidFill>
                  <a:srgbClr val="435D74"/>
                </a:solidFill>
                <a:latin typeface="Roboto"/>
                <a:ea typeface="Roboto"/>
                <a:cs typeface="Roboto"/>
              </a:rPr>
              <a:t>What should improve?</a:t>
            </a:r>
            <a:endParaRPr lang="en-US" sz="1575"/>
          </a:p>
        </p:txBody>
      </p:sp>
      <p:sp>
        <p:nvSpPr>
          <p:cNvPr id="24" name="Text"/>
          <p:cNvSpPr txBox="1"/>
          <p:nvPr/>
        </p:nvSpPr>
        <p:spPr>
          <a:xfrm>
            <a:off x="5410200" y="2085975"/>
            <a:ext cx="3209925" cy="381000"/>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6D8495"/>
                </a:solidFill>
                <a:latin typeface="Roboto"/>
                <a:ea typeface="Roboto"/>
                <a:cs typeface="Roboto"/>
              </a:rPr>
              <a:t>Meet as much demand as possible</a:t>
            </a:r>
            <a:endParaRPr lang="en-US" sz="1425"/>
          </a:p>
        </p:txBody>
      </p:sp>
      <p:grpSp>
        <p:nvGrpSpPr>
          <p:cNvPr id="25" name="Slidesgo vector icon"/>
          <p:cNvGrpSpPr/>
          <p:nvPr/>
        </p:nvGrpSpPr>
        <p:grpSpPr>
          <a:xfrm>
            <a:off x="495300" y="2762250"/>
            <a:ext cx="400050" cy="400050"/>
            <a:chOff x="-3137650" y="2408950"/>
            <a:chExt cx="291450" cy="292125"/>
          </a:xfrm>
        </p:grpSpPr>
        <p:sp>
          <p:nvSpPr>
            <p:cNvPr id="26" name="Slidesgo vector icon"/>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Slidesgo vector icon"/>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Slidesgo vector icon"/>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Slidesgo vector icon"/>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Slidesgo vector icon"/>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Text"/>
          <p:cNvSpPr txBox="1"/>
          <p:nvPr/>
        </p:nvSpPr>
        <p:spPr>
          <a:xfrm>
            <a:off x="1095375" y="2733675"/>
            <a:ext cx="3209925" cy="476250"/>
          </a:xfrm>
          <a:prstGeom prst="rect">
            <a:avLst/>
          </a:prstGeom>
          <a:noFill/>
          <a:ln w="9525">
            <a:noFill/>
          </a:ln>
        </p:spPr>
        <p:txBody>
          <a:bodyPr wrap="none" lIns="0" tIns="0" rIns="0" bIns="0" anchor="t">
            <a:noAutofit/>
          </a:bodyPr>
          <a:lstStyle/>
          <a:p>
            <a:pPr marL="0" indent="0" algn="l">
              <a:lnSpc>
                <a:spcPts val="2906"/>
              </a:lnSpc>
              <a:spcAft>
                <a:spcPts val="0"/>
              </a:spcAft>
              <a:buNone/>
            </a:pPr>
            <a:r>
              <a:rPr lang="en-US" sz="2325" b="1">
                <a:solidFill>
                  <a:srgbClr val="435D74"/>
                </a:solidFill>
                <a:latin typeface="Fira Sans Extra Condensed"/>
                <a:ea typeface="Fira Sans Extra Condensed"/>
                <a:cs typeface="Fira Sans Extra Condensed"/>
              </a:rPr>
              <a:t>Constraints</a:t>
            </a:r>
            <a:endParaRPr lang="en-US" sz="2325"/>
          </a:p>
        </p:txBody>
      </p:sp>
      <p:sp>
        <p:nvSpPr>
          <p:cNvPr id="32" name="Text"/>
          <p:cNvSpPr txBox="1"/>
          <p:nvPr/>
        </p:nvSpPr>
        <p:spPr>
          <a:xfrm>
            <a:off x="1095375" y="3228975"/>
            <a:ext cx="3209925" cy="34290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1">
                <a:solidFill>
                  <a:srgbClr val="435D74"/>
                </a:solidFill>
                <a:latin typeface="Roboto"/>
                <a:ea typeface="Roboto"/>
                <a:cs typeface="Roboto"/>
              </a:rPr>
              <a:t>What rules must we follow?</a:t>
            </a:r>
            <a:endParaRPr lang="en-US" sz="1575"/>
          </a:p>
        </p:txBody>
      </p:sp>
      <p:sp>
        <p:nvSpPr>
          <p:cNvPr id="33" name="Text"/>
          <p:cNvSpPr txBox="1"/>
          <p:nvPr/>
        </p:nvSpPr>
        <p:spPr>
          <a:xfrm>
            <a:off x="1095375" y="3629025"/>
            <a:ext cx="3209925" cy="381000"/>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6D8495"/>
                </a:solidFill>
                <a:latin typeface="Roboto"/>
                <a:ea typeface="Roboto"/>
                <a:cs typeface="Roboto"/>
              </a:rPr>
              <a:t>Available stock and store limits</a:t>
            </a:r>
            <a:endParaRPr lang="en-US" sz="1425"/>
          </a:p>
        </p:txBody>
      </p:sp>
      <p:grpSp>
        <p:nvGrpSpPr>
          <p:cNvPr id="34" name="Slidesgo vector icon"/>
          <p:cNvGrpSpPr/>
          <p:nvPr/>
        </p:nvGrpSpPr>
        <p:grpSpPr>
          <a:xfrm>
            <a:off x="4810125" y="2762250"/>
            <a:ext cx="400050" cy="401113"/>
            <a:chOff x="-1333200" y="2770450"/>
            <a:chExt cx="291450" cy="292225"/>
          </a:xfrm>
        </p:grpSpPr>
        <p:sp>
          <p:nvSpPr>
            <p:cNvPr id="35" name="Slidesgo vector icon"/>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Slidesgo vector icon"/>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Text"/>
          <p:cNvSpPr txBox="1"/>
          <p:nvPr/>
        </p:nvSpPr>
        <p:spPr>
          <a:xfrm>
            <a:off x="5410200" y="2733675"/>
            <a:ext cx="3209925" cy="476250"/>
          </a:xfrm>
          <a:prstGeom prst="rect">
            <a:avLst/>
          </a:prstGeom>
          <a:noFill/>
          <a:ln w="9525">
            <a:noFill/>
          </a:ln>
        </p:spPr>
        <p:txBody>
          <a:bodyPr wrap="none" lIns="0" tIns="0" rIns="0" bIns="0" anchor="t">
            <a:noAutofit/>
          </a:bodyPr>
          <a:lstStyle/>
          <a:p>
            <a:pPr marL="0" indent="0" algn="l">
              <a:lnSpc>
                <a:spcPts val="2906"/>
              </a:lnSpc>
              <a:spcAft>
                <a:spcPts val="0"/>
              </a:spcAft>
              <a:buNone/>
            </a:pPr>
            <a:r>
              <a:rPr lang="en-US" sz="2325" b="1">
                <a:solidFill>
                  <a:srgbClr val="435D74"/>
                </a:solidFill>
                <a:latin typeface="Fira Sans Extra Condensed"/>
                <a:ea typeface="Fira Sans Extra Condensed"/>
                <a:cs typeface="Fira Sans Extra Condensed"/>
              </a:rPr>
              <a:t>Inputs</a:t>
            </a:r>
            <a:endParaRPr lang="en-US" sz="2325"/>
          </a:p>
        </p:txBody>
      </p:sp>
      <p:sp>
        <p:nvSpPr>
          <p:cNvPr id="38" name="Text"/>
          <p:cNvSpPr txBox="1"/>
          <p:nvPr/>
        </p:nvSpPr>
        <p:spPr>
          <a:xfrm>
            <a:off x="5410200" y="3228975"/>
            <a:ext cx="3209925" cy="34290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1">
                <a:solidFill>
                  <a:srgbClr val="435D74"/>
                </a:solidFill>
                <a:latin typeface="Roboto"/>
                <a:ea typeface="Roboto"/>
                <a:cs typeface="Roboto"/>
              </a:rPr>
              <a:t>What information is available?</a:t>
            </a:r>
            <a:endParaRPr lang="en-US" sz="1575"/>
          </a:p>
        </p:txBody>
      </p:sp>
      <p:sp>
        <p:nvSpPr>
          <p:cNvPr id="39" name="Text"/>
          <p:cNvSpPr txBox="1"/>
          <p:nvPr/>
        </p:nvSpPr>
        <p:spPr>
          <a:xfrm>
            <a:off x="5410200" y="3629025"/>
            <a:ext cx="3209925" cy="381000"/>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6D8495"/>
                </a:solidFill>
                <a:latin typeface="Roboto"/>
                <a:ea typeface="Roboto"/>
                <a:cs typeface="Roboto"/>
              </a:rPr>
              <a:t>Expected demand and current stock</a:t>
            </a:r>
            <a:endParaRPr lang="en-US" sz="1425"/>
          </a:p>
        </p:txBody>
      </p:sp>
      <p:cxnSp>
        <p:nvCxnSpPr>
          <p:cNvPr id="40" name="Connector"/>
          <p:cNvCxnSpPr/>
          <p:nvPr/>
        </p:nvCxnSpPr>
        <p:spPr>
          <a:xfrm>
            <a:off x="4572000" y="1238250"/>
            <a:ext cx="95" cy="2771775"/>
          </a:xfrm>
          <a:prstGeom prst="line">
            <a:avLst/>
          </a:prstGeom>
          <a:ln w="9525">
            <a:solidFill>
              <a:srgbClr val="D8E2E8"/>
            </a:solidFill>
          </a:ln>
        </p:spPr>
      </p:cxnSp>
      <p:cxnSp>
        <p:nvCxnSpPr>
          <p:cNvPr id="41" name="Connector"/>
          <p:cNvCxnSpPr/>
          <p:nvPr/>
        </p:nvCxnSpPr>
        <p:spPr>
          <a:xfrm>
            <a:off x="495300" y="2590800"/>
            <a:ext cx="8153400" cy="95"/>
          </a:xfrm>
          <a:prstGeom prst="line">
            <a:avLst/>
          </a:prstGeom>
          <a:ln w="9525">
            <a:solidFill>
              <a:srgbClr val="D8E2E8"/>
            </a:solidFill>
          </a:ln>
        </p:spPr>
      </p:cxnSp>
      <p:sp>
        <p:nvSpPr>
          <p:cNvPr id="42"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43"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Feasible = follows the rules. Optimal = best result within the model.</a:t>
            </a:r>
            <a:endParaRPr lang="en-US" sz="13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The recommendation proces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The recommendation process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06 </a:t>
            </a:r>
            <a:r>
              <a:rPr lang="en-US" sz="825" dirty="0">
                <a:solidFill>
                  <a:srgbClr val="6D8495"/>
                </a:solidFill>
                <a:latin typeface="Roboto"/>
                <a:ea typeface="Roboto"/>
                <a:cs typeface="Roboto"/>
              </a:rPr>
              <a:t>/ 14</a:t>
            </a:r>
            <a:endParaRPr lang="en-US" sz="825" dirty="0"/>
          </a:p>
        </p:txBody>
      </p:sp>
      <p:sp>
        <p:nvSpPr>
          <p:cNvPr id="7" name="Circle"/>
          <p:cNvSpPr/>
          <p:nvPr/>
        </p:nvSpPr>
        <p:spPr>
          <a:xfrm>
            <a:off x="866775" y="1381125"/>
            <a:ext cx="742950" cy="742950"/>
          </a:xfrm>
          <a:prstGeom prst="ellipse">
            <a:avLst/>
          </a:prstGeom>
          <a:solidFill>
            <a:srgbClr val="F3F6F8"/>
          </a:solidFill>
          <a:ln w="9525">
            <a:noFill/>
          </a:ln>
        </p:spPr>
        <p:txBody>
          <a:bodyPr/>
          <a:lstStyle/>
          <a:p>
            <a:endParaRPr lang="en-US"/>
          </a:p>
        </p:txBody>
      </p:sp>
      <p:grpSp>
        <p:nvGrpSpPr>
          <p:cNvPr id="8" name="Slidesgo vector icon"/>
          <p:cNvGrpSpPr/>
          <p:nvPr/>
        </p:nvGrpSpPr>
        <p:grpSpPr>
          <a:xfrm>
            <a:off x="1076325" y="1571625"/>
            <a:ext cx="333375" cy="331725"/>
            <a:chOff x="-63679950" y="3360375"/>
            <a:chExt cx="318225" cy="316650"/>
          </a:xfrm>
        </p:grpSpPr>
        <p:sp>
          <p:nvSpPr>
            <p:cNvPr id="9" name="Slidesgo vector icon"/>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Slidesgo vector icon"/>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Slidesgo vector icon"/>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
          <p:cNvSpPr txBox="1"/>
          <p:nvPr/>
        </p:nvSpPr>
        <p:spPr>
          <a:xfrm>
            <a:off x="495300" y="2381250"/>
            <a:ext cx="1524000" cy="447675"/>
          </a:xfrm>
          <a:prstGeom prst="rect">
            <a:avLst/>
          </a:prstGeom>
          <a:noFill/>
          <a:ln w="9525">
            <a:noFill/>
          </a:ln>
        </p:spPr>
        <p:txBody>
          <a:bodyPr wrap="none" lIns="0" tIns="0" rIns="0" bIns="0" anchor="t">
            <a:noAutofit/>
          </a:bodyPr>
          <a:lstStyle/>
          <a:p>
            <a:pPr marL="0" indent="0" algn="ctr">
              <a:lnSpc>
                <a:spcPts val="2812"/>
              </a:lnSpc>
              <a:spcAft>
                <a:spcPts val="0"/>
              </a:spcAft>
              <a:buNone/>
            </a:pPr>
            <a:r>
              <a:rPr lang="en-US" sz="2250" b="1">
                <a:solidFill>
                  <a:srgbClr val="435D74"/>
                </a:solidFill>
                <a:latin typeface="Fira Sans Extra Condensed"/>
                <a:ea typeface="Fira Sans Extra Condensed"/>
                <a:cs typeface="Fira Sans Extra Condensed"/>
              </a:rPr>
              <a:t>01 Define</a:t>
            </a:r>
            <a:endParaRPr lang="en-US" sz="2250"/>
          </a:p>
        </p:txBody>
      </p:sp>
      <p:sp>
        <p:nvSpPr>
          <p:cNvPr id="14" name="Text"/>
          <p:cNvSpPr txBox="1"/>
          <p:nvPr/>
        </p:nvSpPr>
        <p:spPr>
          <a:xfrm>
            <a:off x="504825" y="3000375"/>
            <a:ext cx="1504950" cy="866775"/>
          </a:xfrm>
          <a:prstGeom prst="rect">
            <a:avLst/>
          </a:prstGeom>
          <a:noFill/>
          <a:ln w="9525">
            <a:noFill/>
          </a:ln>
        </p:spPr>
        <p:txBody>
          <a:bodyPr wrap="none" lIns="0" tIns="0" rIns="0" bIns="0" anchor="t">
            <a:noAutofit/>
          </a:bodyPr>
          <a:lstStyle/>
          <a:p>
            <a:pPr marL="0" indent="0" algn="ctr">
              <a:lnSpc>
                <a:spcPts val="1688"/>
              </a:lnSpc>
              <a:spcAft>
                <a:spcPts val="0"/>
              </a:spcAft>
              <a:buNone/>
            </a:pPr>
            <a:r>
              <a:rPr lang="en-US" sz="1350" b="0">
                <a:solidFill>
                  <a:srgbClr val="435D74"/>
                </a:solidFill>
                <a:latin typeface="Roboto"/>
                <a:ea typeface="Roboto"/>
                <a:cs typeface="Roboto"/>
              </a:rPr>
              <a:t>Agree on the</a:t>
            </a:r>
            <a:endParaRPr lang="en-US" sz="1350"/>
          </a:p>
          <a:p>
            <a:pPr marL="0" indent="0" algn="ctr">
              <a:lnSpc>
                <a:spcPts val="1688"/>
              </a:lnSpc>
              <a:spcAft>
                <a:spcPts val="0"/>
              </a:spcAft>
              <a:buNone/>
            </a:pPr>
            <a:r>
              <a:rPr lang="en-US" sz="1350" b="0">
                <a:solidFill>
                  <a:srgbClr val="435D74"/>
                </a:solidFill>
                <a:latin typeface="Roboto"/>
                <a:ea typeface="Roboto"/>
                <a:cs typeface="Roboto"/>
              </a:rPr>
              <a:t>decision,</a:t>
            </a:r>
            <a:endParaRPr lang="en-US" sz="1350"/>
          </a:p>
          <a:p>
            <a:pPr marL="0" indent="0" algn="ctr">
              <a:lnSpc>
                <a:spcPts val="1688"/>
              </a:lnSpc>
              <a:spcAft>
                <a:spcPts val="0"/>
              </a:spcAft>
              <a:buNone/>
            </a:pPr>
            <a:r>
              <a:rPr lang="en-US" sz="1350" b="0">
                <a:solidFill>
                  <a:srgbClr val="435D74"/>
                </a:solidFill>
                <a:latin typeface="Roboto"/>
                <a:ea typeface="Roboto"/>
                <a:cs typeface="Roboto"/>
              </a:rPr>
              <a:t>goal, and rules.</a:t>
            </a:r>
            <a:endParaRPr lang="en-US" sz="1350"/>
          </a:p>
        </p:txBody>
      </p:sp>
      <p:cxnSp>
        <p:nvCxnSpPr>
          <p:cNvPr id="15" name="Connector"/>
          <p:cNvCxnSpPr/>
          <p:nvPr/>
        </p:nvCxnSpPr>
        <p:spPr>
          <a:xfrm>
            <a:off x="1657350" y="1752600"/>
            <a:ext cx="447675" cy="95"/>
          </a:xfrm>
          <a:prstGeom prst="line">
            <a:avLst/>
          </a:prstGeom>
          <a:ln w="19050">
            <a:solidFill>
              <a:srgbClr val="869FB2"/>
            </a:solidFill>
            <a:tailEnd type="triangle" w="sm" len="sm"/>
          </a:ln>
        </p:spPr>
      </p:cxnSp>
      <p:sp>
        <p:nvSpPr>
          <p:cNvPr id="16" name="Circle"/>
          <p:cNvSpPr/>
          <p:nvPr/>
        </p:nvSpPr>
        <p:spPr>
          <a:xfrm>
            <a:off x="2524125" y="1381125"/>
            <a:ext cx="742950" cy="742950"/>
          </a:xfrm>
          <a:prstGeom prst="ellipse">
            <a:avLst/>
          </a:prstGeom>
          <a:solidFill>
            <a:srgbClr val="F3F6F8"/>
          </a:solidFill>
          <a:ln w="9525">
            <a:noFill/>
          </a:ln>
        </p:spPr>
        <p:txBody>
          <a:bodyPr/>
          <a:lstStyle/>
          <a:p>
            <a:endParaRPr lang="en-US"/>
          </a:p>
        </p:txBody>
      </p:sp>
      <p:grpSp>
        <p:nvGrpSpPr>
          <p:cNvPr id="17" name="Slidesgo vector icon"/>
          <p:cNvGrpSpPr/>
          <p:nvPr/>
        </p:nvGrpSpPr>
        <p:grpSpPr>
          <a:xfrm>
            <a:off x="2733675" y="1571625"/>
            <a:ext cx="333375" cy="333384"/>
            <a:chOff x="-2571737" y="2403625"/>
            <a:chExt cx="292225" cy="291425"/>
          </a:xfrm>
        </p:grpSpPr>
        <p:sp>
          <p:nvSpPr>
            <p:cNvPr id="18"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cNvSpPr txBox="1"/>
          <p:nvPr/>
        </p:nvSpPr>
        <p:spPr>
          <a:xfrm>
            <a:off x="2152650" y="2381250"/>
            <a:ext cx="1524000" cy="447675"/>
          </a:xfrm>
          <a:prstGeom prst="rect">
            <a:avLst/>
          </a:prstGeom>
          <a:noFill/>
          <a:ln w="9525">
            <a:noFill/>
          </a:ln>
        </p:spPr>
        <p:txBody>
          <a:bodyPr wrap="none" lIns="0" tIns="0" rIns="0" bIns="0" anchor="t">
            <a:noAutofit/>
          </a:bodyPr>
          <a:lstStyle/>
          <a:p>
            <a:pPr marL="0" indent="0" algn="ctr">
              <a:lnSpc>
                <a:spcPts val="2812"/>
              </a:lnSpc>
              <a:spcAft>
                <a:spcPts val="0"/>
              </a:spcAft>
              <a:buNone/>
            </a:pPr>
            <a:r>
              <a:rPr lang="en-US" sz="2250" b="1">
                <a:solidFill>
                  <a:srgbClr val="435D74"/>
                </a:solidFill>
                <a:latin typeface="Fira Sans Extra Condensed"/>
                <a:ea typeface="Fira Sans Extra Condensed"/>
                <a:cs typeface="Fira Sans Extra Condensed"/>
              </a:rPr>
              <a:t>02 Prepare</a:t>
            </a:r>
            <a:endParaRPr lang="en-US" sz="2250"/>
          </a:p>
        </p:txBody>
      </p:sp>
      <p:sp>
        <p:nvSpPr>
          <p:cNvPr id="26" name="Text"/>
          <p:cNvSpPr txBox="1"/>
          <p:nvPr/>
        </p:nvSpPr>
        <p:spPr>
          <a:xfrm>
            <a:off x="2162175" y="3000375"/>
            <a:ext cx="1504950" cy="866775"/>
          </a:xfrm>
          <a:prstGeom prst="rect">
            <a:avLst/>
          </a:prstGeom>
          <a:noFill/>
          <a:ln w="9525">
            <a:noFill/>
          </a:ln>
        </p:spPr>
        <p:txBody>
          <a:bodyPr wrap="none" lIns="0" tIns="0" rIns="0" bIns="0" anchor="t">
            <a:noAutofit/>
          </a:bodyPr>
          <a:lstStyle/>
          <a:p>
            <a:pPr marL="0" indent="0" algn="ctr">
              <a:lnSpc>
                <a:spcPts val="1688"/>
              </a:lnSpc>
              <a:spcAft>
                <a:spcPts val="0"/>
              </a:spcAft>
              <a:buNone/>
            </a:pPr>
            <a:r>
              <a:rPr lang="en-US" sz="1350" b="0">
                <a:solidFill>
                  <a:srgbClr val="435D74"/>
                </a:solidFill>
                <a:latin typeface="Roboto"/>
                <a:ea typeface="Roboto"/>
                <a:cs typeface="Roboto"/>
              </a:rPr>
              <a:t>Prepare data and</a:t>
            </a:r>
            <a:endParaRPr lang="en-US" sz="1350"/>
          </a:p>
          <a:p>
            <a:pPr marL="0" indent="0" algn="ctr">
              <a:lnSpc>
                <a:spcPts val="1688"/>
              </a:lnSpc>
              <a:spcAft>
                <a:spcPts val="0"/>
              </a:spcAft>
              <a:buNone/>
            </a:pPr>
            <a:r>
              <a:rPr lang="en-US" sz="1350" b="0">
                <a:solidFill>
                  <a:srgbClr val="435D74"/>
                </a:solidFill>
                <a:latin typeface="Roboto"/>
                <a:ea typeface="Roboto"/>
                <a:cs typeface="Roboto"/>
              </a:rPr>
              <a:t>estimate future</a:t>
            </a:r>
            <a:endParaRPr lang="en-US" sz="1350"/>
          </a:p>
          <a:p>
            <a:pPr marL="0" indent="0" algn="ctr">
              <a:lnSpc>
                <a:spcPts val="1688"/>
              </a:lnSpc>
              <a:spcAft>
                <a:spcPts val="0"/>
              </a:spcAft>
              <a:buNone/>
            </a:pPr>
            <a:r>
              <a:rPr lang="en-US" sz="1350" b="0">
                <a:solidFill>
                  <a:srgbClr val="435D74"/>
                </a:solidFill>
                <a:latin typeface="Roboto"/>
                <a:ea typeface="Roboto"/>
                <a:cs typeface="Roboto"/>
              </a:rPr>
              <a:t>conditions.</a:t>
            </a:r>
            <a:endParaRPr lang="en-US" sz="1350"/>
          </a:p>
        </p:txBody>
      </p:sp>
      <p:cxnSp>
        <p:nvCxnSpPr>
          <p:cNvPr id="27" name="Connector"/>
          <p:cNvCxnSpPr/>
          <p:nvPr/>
        </p:nvCxnSpPr>
        <p:spPr>
          <a:xfrm>
            <a:off x="3314700" y="1752600"/>
            <a:ext cx="447675" cy="95"/>
          </a:xfrm>
          <a:prstGeom prst="line">
            <a:avLst/>
          </a:prstGeom>
          <a:ln w="19050">
            <a:solidFill>
              <a:srgbClr val="869FB2"/>
            </a:solidFill>
            <a:tailEnd type="triangle" w="sm" len="sm"/>
          </a:ln>
        </p:spPr>
      </p:cxnSp>
      <p:sp>
        <p:nvSpPr>
          <p:cNvPr id="28" name="Circle"/>
          <p:cNvSpPr/>
          <p:nvPr/>
        </p:nvSpPr>
        <p:spPr>
          <a:xfrm>
            <a:off x="4181475" y="1381125"/>
            <a:ext cx="742950" cy="742950"/>
          </a:xfrm>
          <a:prstGeom prst="ellipse">
            <a:avLst/>
          </a:prstGeom>
          <a:solidFill>
            <a:srgbClr val="F3F6F8"/>
          </a:solidFill>
          <a:ln w="9525">
            <a:noFill/>
          </a:ln>
        </p:spPr>
        <p:txBody>
          <a:bodyPr/>
          <a:lstStyle/>
          <a:p>
            <a:endParaRPr lang="en-US"/>
          </a:p>
        </p:txBody>
      </p:sp>
      <p:grpSp>
        <p:nvGrpSpPr>
          <p:cNvPr id="29" name="Slidesgo vector icon"/>
          <p:cNvGrpSpPr/>
          <p:nvPr/>
        </p:nvGrpSpPr>
        <p:grpSpPr>
          <a:xfrm>
            <a:off x="4391025" y="1571625"/>
            <a:ext cx="333375" cy="333367"/>
            <a:chOff x="1412450" y="1954475"/>
            <a:chExt cx="297750" cy="296175"/>
          </a:xfrm>
        </p:grpSpPr>
        <p:sp>
          <p:nvSpPr>
            <p:cNvPr id="30" name="Slidesgo vector icon"/>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Slidesgo vector icon"/>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Text"/>
          <p:cNvSpPr txBox="1"/>
          <p:nvPr/>
        </p:nvSpPr>
        <p:spPr>
          <a:xfrm>
            <a:off x="3810000" y="2381250"/>
            <a:ext cx="1524000" cy="447675"/>
          </a:xfrm>
          <a:prstGeom prst="rect">
            <a:avLst/>
          </a:prstGeom>
          <a:noFill/>
          <a:ln w="9525">
            <a:noFill/>
          </a:ln>
        </p:spPr>
        <p:txBody>
          <a:bodyPr wrap="none" lIns="0" tIns="0" rIns="0" bIns="0" anchor="t">
            <a:noAutofit/>
          </a:bodyPr>
          <a:lstStyle/>
          <a:p>
            <a:pPr marL="0" indent="0" algn="ctr">
              <a:lnSpc>
                <a:spcPts val="2812"/>
              </a:lnSpc>
              <a:spcAft>
                <a:spcPts val="0"/>
              </a:spcAft>
              <a:buNone/>
            </a:pPr>
            <a:r>
              <a:rPr lang="en-US" sz="2250" b="1">
                <a:solidFill>
                  <a:srgbClr val="435D74"/>
                </a:solidFill>
                <a:latin typeface="Fira Sans Extra Condensed"/>
                <a:ea typeface="Fira Sans Extra Condensed"/>
                <a:cs typeface="Fira Sans Extra Condensed"/>
              </a:rPr>
              <a:t>03 Model</a:t>
            </a:r>
            <a:endParaRPr lang="en-US" sz="2250"/>
          </a:p>
        </p:txBody>
      </p:sp>
      <p:sp>
        <p:nvSpPr>
          <p:cNvPr id="33" name="Text"/>
          <p:cNvSpPr txBox="1"/>
          <p:nvPr/>
        </p:nvSpPr>
        <p:spPr>
          <a:xfrm>
            <a:off x="3819525" y="3000375"/>
            <a:ext cx="1504950" cy="866775"/>
          </a:xfrm>
          <a:prstGeom prst="rect">
            <a:avLst/>
          </a:prstGeom>
          <a:noFill/>
          <a:ln w="9525">
            <a:noFill/>
          </a:ln>
        </p:spPr>
        <p:txBody>
          <a:bodyPr wrap="none" lIns="0" tIns="0" rIns="0" bIns="0" anchor="t">
            <a:noAutofit/>
          </a:bodyPr>
          <a:lstStyle/>
          <a:p>
            <a:pPr marL="0" indent="0" algn="ctr">
              <a:lnSpc>
                <a:spcPts val="1688"/>
              </a:lnSpc>
              <a:spcAft>
                <a:spcPts val="0"/>
              </a:spcAft>
              <a:buNone/>
            </a:pPr>
            <a:r>
              <a:rPr lang="en-US" sz="1350" b="0">
                <a:solidFill>
                  <a:srgbClr val="435D74"/>
                </a:solidFill>
                <a:latin typeface="Roboto"/>
                <a:ea typeface="Roboto"/>
                <a:cs typeface="Roboto"/>
              </a:rPr>
              <a:t>Connect choices,</a:t>
            </a:r>
            <a:endParaRPr lang="en-US" sz="1350"/>
          </a:p>
          <a:p>
            <a:pPr marL="0" indent="0" algn="ctr">
              <a:lnSpc>
                <a:spcPts val="1688"/>
              </a:lnSpc>
              <a:spcAft>
                <a:spcPts val="0"/>
              </a:spcAft>
              <a:buNone/>
            </a:pPr>
            <a:r>
              <a:rPr lang="en-US" sz="1350" b="0">
                <a:solidFill>
                  <a:srgbClr val="435D74"/>
                </a:solidFill>
                <a:latin typeface="Roboto"/>
                <a:ea typeface="Roboto"/>
                <a:cs typeface="Roboto"/>
              </a:rPr>
              <a:t>results, and limits.</a:t>
            </a:r>
            <a:endParaRPr lang="en-US" sz="1350"/>
          </a:p>
        </p:txBody>
      </p:sp>
      <p:cxnSp>
        <p:nvCxnSpPr>
          <p:cNvPr id="34" name="Connector"/>
          <p:cNvCxnSpPr/>
          <p:nvPr/>
        </p:nvCxnSpPr>
        <p:spPr>
          <a:xfrm>
            <a:off x="4972050" y="1752600"/>
            <a:ext cx="447675" cy="95"/>
          </a:xfrm>
          <a:prstGeom prst="line">
            <a:avLst/>
          </a:prstGeom>
          <a:ln w="19050">
            <a:solidFill>
              <a:srgbClr val="869FB2"/>
            </a:solidFill>
            <a:tailEnd type="triangle" w="sm" len="sm"/>
          </a:ln>
        </p:spPr>
      </p:cxnSp>
      <p:sp>
        <p:nvSpPr>
          <p:cNvPr id="35" name="Circle"/>
          <p:cNvSpPr/>
          <p:nvPr/>
        </p:nvSpPr>
        <p:spPr>
          <a:xfrm>
            <a:off x="5838825" y="1381125"/>
            <a:ext cx="742950" cy="742950"/>
          </a:xfrm>
          <a:prstGeom prst="ellipse">
            <a:avLst/>
          </a:prstGeom>
          <a:solidFill>
            <a:srgbClr val="F3F6F8"/>
          </a:solidFill>
          <a:ln w="9525">
            <a:noFill/>
          </a:ln>
        </p:spPr>
        <p:txBody>
          <a:bodyPr/>
          <a:lstStyle/>
          <a:p>
            <a:endParaRPr lang="en-US"/>
          </a:p>
        </p:txBody>
      </p:sp>
      <p:grpSp>
        <p:nvGrpSpPr>
          <p:cNvPr id="36" name="Slidesgo vector icon"/>
          <p:cNvGrpSpPr/>
          <p:nvPr/>
        </p:nvGrpSpPr>
        <p:grpSpPr>
          <a:xfrm>
            <a:off x="6048375" y="1571625"/>
            <a:ext cx="333375" cy="331578"/>
            <a:chOff x="-4211975" y="2046625"/>
            <a:chExt cx="292250" cy="290675"/>
          </a:xfrm>
        </p:grpSpPr>
        <p:sp>
          <p:nvSpPr>
            <p:cNvPr id="37" name="Slidesgo vector icon"/>
            <p:cNvSpPr/>
            <p:nvPr/>
          </p:nvSpPr>
          <p:spPr>
            <a:xfrm>
              <a:off x="-4211975" y="2081300"/>
              <a:ext cx="256025" cy="256000"/>
            </a:xfrm>
            <a:custGeom>
              <a:avLst/>
              <a:gdLst/>
              <a:ahLst/>
              <a:cxnLst/>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Slidesgo vector icon"/>
            <p:cNvSpPr/>
            <p:nvPr/>
          </p:nvSpPr>
          <p:spPr>
            <a:xfrm>
              <a:off x="-4057600" y="2046625"/>
              <a:ext cx="137875" cy="137875"/>
            </a:xfrm>
            <a:custGeom>
              <a:avLst/>
              <a:gdLst/>
              <a:ahLst/>
              <a:cxnLst/>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Text"/>
          <p:cNvSpPr txBox="1"/>
          <p:nvPr/>
        </p:nvSpPr>
        <p:spPr>
          <a:xfrm>
            <a:off x="5467350" y="2381250"/>
            <a:ext cx="1524000" cy="447675"/>
          </a:xfrm>
          <a:prstGeom prst="rect">
            <a:avLst/>
          </a:prstGeom>
          <a:noFill/>
          <a:ln w="9525">
            <a:noFill/>
          </a:ln>
        </p:spPr>
        <p:txBody>
          <a:bodyPr wrap="none" lIns="0" tIns="0" rIns="0" bIns="0" anchor="t">
            <a:noAutofit/>
          </a:bodyPr>
          <a:lstStyle/>
          <a:p>
            <a:pPr marL="0" indent="0" algn="ctr">
              <a:lnSpc>
                <a:spcPts val="2812"/>
              </a:lnSpc>
              <a:spcAft>
                <a:spcPts val="0"/>
              </a:spcAft>
              <a:buNone/>
            </a:pPr>
            <a:r>
              <a:rPr lang="en-US" sz="2250" b="1">
                <a:solidFill>
                  <a:srgbClr val="435D74"/>
                </a:solidFill>
                <a:latin typeface="Fira Sans Extra Condensed"/>
                <a:ea typeface="Fira Sans Extra Condensed"/>
                <a:cs typeface="Fira Sans Extra Condensed"/>
              </a:rPr>
              <a:t>04 Compare</a:t>
            </a:r>
            <a:endParaRPr lang="en-US" sz="2250"/>
          </a:p>
        </p:txBody>
      </p:sp>
      <p:sp>
        <p:nvSpPr>
          <p:cNvPr id="40" name="Text"/>
          <p:cNvSpPr txBox="1"/>
          <p:nvPr/>
        </p:nvSpPr>
        <p:spPr>
          <a:xfrm>
            <a:off x="5476875" y="3000375"/>
            <a:ext cx="1504950" cy="866775"/>
          </a:xfrm>
          <a:prstGeom prst="rect">
            <a:avLst/>
          </a:prstGeom>
          <a:noFill/>
          <a:ln w="9525">
            <a:noFill/>
          </a:ln>
        </p:spPr>
        <p:txBody>
          <a:bodyPr wrap="none" lIns="0" tIns="0" rIns="0" bIns="0" anchor="t">
            <a:noAutofit/>
          </a:bodyPr>
          <a:lstStyle/>
          <a:p>
            <a:pPr marL="0" indent="0" algn="ctr">
              <a:lnSpc>
                <a:spcPts val="1688"/>
              </a:lnSpc>
              <a:spcAft>
                <a:spcPts val="0"/>
              </a:spcAft>
              <a:buNone/>
            </a:pPr>
            <a:r>
              <a:rPr lang="en-US" sz="1350" b="0">
                <a:solidFill>
                  <a:srgbClr val="435D74"/>
                </a:solidFill>
                <a:latin typeface="Roboto"/>
                <a:ea typeface="Roboto"/>
                <a:cs typeface="Roboto"/>
              </a:rPr>
              <a:t>Check plans and</a:t>
            </a:r>
            <a:endParaRPr lang="en-US" sz="1350"/>
          </a:p>
          <a:p>
            <a:pPr marL="0" indent="0" algn="ctr">
              <a:lnSpc>
                <a:spcPts val="1688"/>
              </a:lnSpc>
              <a:spcAft>
                <a:spcPts val="0"/>
              </a:spcAft>
              <a:buNone/>
            </a:pPr>
            <a:r>
              <a:rPr lang="en-US" sz="1350" b="0">
                <a:solidFill>
                  <a:srgbClr val="435D74"/>
                </a:solidFill>
                <a:latin typeface="Roboto"/>
                <a:ea typeface="Roboto"/>
                <a:cs typeface="Roboto"/>
              </a:rPr>
              <a:t>what the model</a:t>
            </a:r>
            <a:endParaRPr lang="en-US" sz="1350"/>
          </a:p>
          <a:p>
            <a:pPr marL="0" indent="0" algn="ctr">
              <a:lnSpc>
                <a:spcPts val="1688"/>
              </a:lnSpc>
              <a:spcAft>
                <a:spcPts val="0"/>
              </a:spcAft>
              <a:buNone/>
            </a:pPr>
            <a:r>
              <a:rPr lang="en-US" sz="1350" b="0">
                <a:solidFill>
                  <a:srgbClr val="435D74"/>
                </a:solidFill>
                <a:latin typeface="Roboto"/>
                <a:ea typeface="Roboto"/>
                <a:cs typeface="Roboto"/>
              </a:rPr>
              <a:t>assumes.</a:t>
            </a:r>
            <a:endParaRPr lang="en-US" sz="1350"/>
          </a:p>
        </p:txBody>
      </p:sp>
      <p:cxnSp>
        <p:nvCxnSpPr>
          <p:cNvPr id="41" name="Connector"/>
          <p:cNvCxnSpPr/>
          <p:nvPr/>
        </p:nvCxnSpPr>
        <p:spPr>
          <a:xfrm>
            <a:off x="6629400" y="1752600"/>
            <a:ext cx="447675" cy="95"/>
          </a:xfrm>
          <a:prstGeom prst="line">
            <a:avLst/>
          </a:prstGeom>
          <a:ln w="19050">
            <a:solidFill>
              <a:srgbClr val="869FB2"/>
            </a:solidFill>
            <a:tailEnd type="triangle" w="sm" len="sm"/>
          </a:ln>
        </p:spPr>
      </p:cxnSp>
      <p:sp>
        <p:nvSpPr>
          <p:cNvPr id="42" name="Circle"/>
          <p:cNvSpPr/>
          <p:nvPr/>
        </p:nvSpPr>
        <p:spPr>
          <a:xfrm>
            <a:off x="7496175" y="1381125"/>
            <a:ext cx="742950" cy="742950"/>
          </a:xfrm>
          <a:prstGeom prst="ellipse">
            <a:avLst/>
          </a:prstGeom>
          <a:solidFill>
            <a:srgbClr val="435D74"/>
          </a:solidFill>
          <a:ln w="9525">
            <a:noFill/>
          </a:ln>
        </p:spPr>
        <p:txBody>
          <a:bodyPr/>
          <a:lstStyle/>
          <a:p>
            <a:endParaRPr lang="en-US"/>
          </a:p>
        </p:txBody>
      </p:sp>
      <p:grpSp>
        <p:nvGrpSpPr>
          <p:cNvPr id="43" name="Slidesgo vector icon"/>
          <p:cNvGrpSpPr/>
          <p:nvPr/>
        </p:nvGrpSpPr>
        <p:grpSpPr>
          <a:xfrm>
            <a:off x="7705725" y="1571625"/>
            <a:ext cx="333375" cy="333375"/>
            <a:chOff x="1487200" y="4993750"/>
            <a:chExt cx="483125" cy="483125"/>
          </a:xfrm>
        </p:grpSpPr>
        <p:sp>
          <p:nvSpPr>
            <p:cNvPr id="44" name="Slidesgo vector icon"/>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FD0DB"/>
                </a:solidFill>
              </a:endParaRPr>
            </a:p>
          </p:txBody>
        </p:sp>
        <p:sp>
          <p:nvSpPr>
            <p:cNvPr id="45" name="Slidesgo vector icon"/>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FD0DB"/>
                </a:solidFill>
              </a:endParaRPr>
            </a:p>
          </p:txBody>
        </p:sp>
      </p:grpSp>
      <p:sp>
        <p:nvSpPr>
          <p:cNvPr id="46" name="Text"/>
          <p:cNvSpPr txBox="1"/>
          <p:nvPr/>
        </p:nvSpPr>
        <p:spPr>
          <a:xfrm>
            <a:off x="7124700" y="2381250"/>
            <a:ext cx="1524000" cy="447675"/>
          </a:xfrm>
          <a:prstGeom prst="rect">
            <a:avLst/>
          </a:prstGeom>
          <a:noFill/>
          <a:ln w="9525">
            <a:noFill/>
          </a:ln>
        </p:spPr>
        <p:txBody>
          <a:bodyPr wrap="none" lIns="0" tIns="0" rIns="0" bIns="0" anchor="t">
            <a:noAutofit/>
          </a:bodyPr>
          <a:lstStyle/>
          <a:p>
            <a:pPr marL="0" indent="0" algn="ctr">
              <a:lnSpc>
                <a:spcPts val="2812"/>
              </a:lnSpc>
              <a:spcAft>
                <a:spcPts val="0"/>
              </a:spcAft>
              <a:buNone/>
            </a:pPr>
            <a:r>
              <a:rPr lang="en-US" sz="2250" b="1">
                <a:solidFill>
                  <a:srgbClr val="435D74"/>
                </a:solidFill>
                <a:latin typeface="Fira Sans Extra Condensed"/>
                <a:ea typeface="Fira Sans Extra Condensed"/>
                <a:cs typeface="Fira Sans Extra Condensed"/>
              </a:rPr>
              <a:t>05 Act</a:t>
            </a:r>
            <a:endParaRPr lang="en-US" sz="2250"/>
          </a:p>
        </p:txBody>
      </p:sp>
      <p:sp>
        <p:nvSpPr>
          <p:cNvPr id="47" name="Text"/>
          <p:cNvSpPr txBox="1"/>
          <p:nvPr/>
        </p:nvSpPr>
        <p:spPr>
          <a:xfrm>
            <a:off x="7134225" y="3000375"/>
            <a:ext cx="1504950" cy="866775"/>
          </a:xfrm>
          <a:prstGeom prst="rect">
            <a:avLst/>
          </a:prstGeom>
          <a:noFill/>
          <a:ln w="9525">
            <a:noFill/>
          </a:ln>
        </p:spPr>
        <p:txBody>
          <a:bodyPr wrap="none" lIns="0" tIns="0" rIns="0" bIns="0" anchor="t">
            <a:noAutofit/>
          </a:bodyPr>
          <a:lstStyle/>
          <a:p>
            <a:pPr marL="0" indent="0" algn="ctr">
              <a:lnSpc>
                <a:spcPts val="1688"/>
              </a:lnSpc>
              <a:spcAft>
                <a:spcPts val="0"/>
              </a:spcAft>
              <a:buNone/>
            </a:pPr>
            <a:r>
              <a:rPr lang="en-US" sz="1350" b="0">
                <a:solidFill>
                  <a:srgbClr val="435D74"/>
                </a:solidFill>
                <a:latin typeface="Roboto"/>
                <a:ea typeface="Roboto"/>
                <a:cs typeface="Roboto"/>
              </a:rPr>
              <a:t>Use the plan and</a:t>
            </a:r>
            <a:endParaRPr lang="en-US" sz="1350"/>
          </a:p>
          <a:p>
            <a:pPr marL="0" indent="0" algn="ctr">
              <a:lnSpc>
                <a:spcPts val="1688"/>
              </a:lnSpc>
              <a:spcAft>
                <a:spcPts val="0"/>
              </a:spcAft>
              <a:buNone/>
            </a:pPr>
            <a:r>
              <a:rPr lang="en-US" sz="1350" b="0">
                <a:solidFill>
                  <a:srgbClr val="435D74"/>
                </a:solidFill>
                <a:latin typeface="Roboto"/>
                <a:ea typeface="Roboto"/>
                <a:cs typeface="Roboto"/>
              </a:rPr>
              <a:t>measure the result.</a:t>
            </a:r>
            <a:endParaRPr lang="en-US" sz="1350"/>
          </a:p>
        </p:txBody>
      </p:sp>
      <p:sp>
        <p:nvSpPr>
          <p:cNvPr id="48" name="Vector"/>
          <p:cNvSpPr/>
          <p:nvPr/>
        </p:nvSpPr>
        <p:spPr>
          <a:xfrm>
            <a:off x="1247775" y="3962400"/>
            <a:ext cx="6734175" cy="342900"/>
          </a:xfrm>
          <a:custGeom>
            <a:avLst/>
            <a:gdLst/>
            <a:ahLst/>
            <a:cxnLst/>
            <a:rect l="l" t="t" r="r" b="b"/>
            <a:pathLst>
              <a:path w="6734175" h="342900">
                <a:moveTo>
                  <a:pt x="6734175" y="9525"/>
                </a:moveTo>
                <a:lnTo>
                  <a:pt x="6734175" y="342900"/>
                </a:lnTo>
                <a:lnTo>
                  <a:pt x="0" y="342900"/>
                </a:lnTo>
                <a:lnTo>
                  <a:pt x="0" y="0"/>
                </a:lnTo>
              </a:path>
            </a:pathLst>
          </a:custGeom>
          <a:noFill/>
          <a:ln w="14288" cap="rnd">
            <a:solidFill>
              <a:srgbClr val="007D8B"/>
            </a:solidFill>
            <a:round/>
          </a:ln>
        </p:spPr>
        <p:txBody>
          <a:bodyPr/>
          <a:lstStyle/>
          <a:p>
            <a:endParaRPr lang="en-US"/>
          </a:p>
        </p:txBody>
      </p:sp>
      <p:cxnSp>
        <p:nvCxnSpPr>
          <p:cNvPr id="49" name="Connector"/>
          <p:cNvCxnSpPr/>
          <p:nvPr/>
        </p:nvCxnSpPr>
        <p:spPr>
          <a:xfrm flipV="1">
            <a:off x="1247775" y="3962400"/>
            <a:ext cx="95" cy="266700"/>
          </a:xfrm>
          <a:prstGeom prst="line">
            <a:avLst/>
          </a:prstGeom>
          <a:ln w="14288">
            <a:solidFill>
              <a:srgbClr val="007D8B"/>
            </a:solidFill>
            <a:tailEnd type="triangle" w="sm" len="sm"/>
          </a:ln>
        </p:spPr>
      </p:cxnSp>
      <p:sp>
        <p:nvSpPr>
          <p:cNvPr id="50" name="Panel"/>
          <p:cNvSpPr/>
          <p:nvPr/>
        </p:nvSpPr>
        <p:spPr>
          <a:xfrm>
            <a:off x="2971800" y="4124325"/>
            <a:ext cx="3238500" cy="361950"/>
          </a:xfrm>
          <a:prstGeom prst="rect">
            <a:avLst/>
          </a:prstGeom>
          <a:solidFill>
            <a:srgbClr val="FFFFFF"/>
          </a:solidFill>
          <a:ln w="9525">
            <a:noFill/>
          </a:ln>
        </p:spPr>
        <p:txBody>
          <a:bodyPr/>
          <a:lstStyle/>
          <a:p>
            <a:endParaRPr lang="en-US"/>
          </a:p>
        </p:txBody>
      </p:sp>
      <p:sp>
        <p:nvSpPr>
          <p:cNvPr id="51" name="Text"/>
          <p:cNvSpPr txBox="1"/>
          <p:nvPr/>
        </p:nvSpPr>
        <p:spPr>
          <a:xfrm>
            <a:off x="2971800" y="4191000"/>
            <a:ext cx="3238500" cy="295275"/>
          </a:xfrm>
          <a:prstGeom prst="rect">
            <a:avLst/>
          </a:prstGeom>
          <a:noFill/>
          <a:ln w="9525">
            <a:noFill/>
          </a:ln>
        </p:spPr>
        <p:txBody>
          <a:bodyPr wrap="none" lIns="0" tIns="0" rIns="0" bIns="0" anchor="t">
            <a:noAutofit/>
          </a:bodyPr>
          <a:lstStyle/>
          <a:p>
            <a:pPr marL="0" indent="0" algn="ctr">
              <a:lnSpc>
                <a:spcPts val="1594"/>
              </a:lnSpc>
              <a:spcAft>
                <a:spcPts val="0"/>
              </a:spcAft>
              <a:buNone/>
            </a:pPr>
            <a:r>
              <a:rPr lang="en-US" sz="1275" b="0">
                <a:solidFill>
                  <a:srgbClr val="007D8B"/>
                </a:solidFill>
                <a:latin typeface="Roboto"/>
                <a:ea typeface="Roboto"/>
                <a:cs typeface="Roboto"/>
              </a:rPr>
              <a:t>Use results to improve the next decision.</a:t>
            </a:r>
            <a:endParaRPr lang="en-US" sz="12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Methods used in prescriptive analytic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Methods used in prescriptive analytics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dirty="0">
                <a:solidFill>
                  <a:srgbClr val="6D8495"/>
                </a:solidFill>
                <a:latin typeface="Roboto"/>
                <a:ea typeface="Roboto"/>
                <a:cs typeface="Roboto"/>
              </a:rPr>
              <a:t>07 / 14</a:t>
            </a:r>
            <a:endParaRPr lang="en-US" sz="825" dirty="0"/>
          </a:p>
        </p:txBody>
      </p:sp>
      <p:sp>
        <p:nvSpPr>
          <p:cNvPr id="7" name="Text"/>
          <p:cNvSpPr txBox="1"/>
          <p:nvPr/>
        </p:nvSpPr>
        <p:spPr>
          <a:xfrm>
            <a:off x="495300" y="1190625"/>
            <a:ext cx="523875" cy="523875"/>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01</a:t>
            </a:r>
            <a:endParaRPr lang="en-US" sz="3150"/>
          </a:p>
        </p:txBody>
      </p:sp>
      <p:grpSp>
        <p:nvGrpSpPr>
          <p:cNvPr id="8" name="Slidesgo vector icon"/>
          <p:cNvGrpSpPr/>
          <p:nvPr/>
        </p:nvGrpSpPr>
        <p:grpSpPr>
          <a:xfrm>
            <a:off x="2543175" y="1219200"/>
            <a:ext cx="333375" cy="331034"/>
            <a:chOff x="-63250675" y="3744075"/>
            <a:chExt cx="320350" cy="318100"/>
          </a:xfrm>
        </p:grpSpPr>
        <p:sp>
          <p:nvSpPr>
            <p:cNvPr id="9" name="Slidesgo vector icon"/>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Slidesgo vector icon"/>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
          <p:cNvSpPr txBox="1"/>
          <p:nvPr/>
        </p:nvSpPr>
        <p:spPr>
          <a:xfrm>
            <a:off x="495300" y="1809750"/>
            <a:ext cx="2476500" cy="709612"/>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Mathematical</a:t>
            </a:r>
            <a:endParaRPr lang="en-US" sz="2175"/>
          </a:p>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optimization</a:t>
            </a:r>
            <a:endParaRPr lang="en-US" sz="2175"/>
          </a:p>
        </p:txBody>
      </p:sp>
      <p:sp>
        <p:nvSpPr>
          <p:cNvPr id="13" name="Text"/>
          <p:cNvSpPr txBox="1"/>
          <p:nvPr/>
        </p:nvSpPr>
        <p:spPr>
          <a:xfrm>
            <a:off x="495300" y="2714625"/>
            <a:ext cx="2476500" cy="809625"/>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435D74"/>
                </a:solidFill>
                <a:latin typeface="Roboto"/>
                <a:ea typeface="Roboto"/>
                <a:cs typeface="Roboto"/>
              </a:rPr>
              <a:t>Finds the best result for a goal</a:t>
            </a:r>
            <a:endParaRPr lang="en-US" sz="1425"/>
          </a:p>
          <a:p>
            <a:pPr marL="0" indent="0" algn="l">
              <a:lnSpc>
                <a:spcPts val="1781"/>
              </a:lnSpc>
              <a:spcAft>
                <a:spcPts val="0"/>
              </a:spcAft>
              <a:buNone/>
            </a:pPr>
            <a:r>
              <a:rPr lang="en-US" sz="1425" b="0">
                <a:solidFill>
                  <a:srgbClr val="435D74"/>
                </a:solidFill>
                <a:latin typeface="Roboto"/>
                <a:ea typeface="Roboto"/>
                <a:cs typeface="Roboto"/>
              </a:rPr>
              <a:t>while following the rules.</a:t>
            </a:r>
            <a:endParaRPr lang="en-US" sz="1425"/>
          </a:p>
        </p:txBody>
      </p:sp>
      <p:sp>
        <p:nvSpPr>
          <p:cNvPr id="14" name="Text"/>
          <p:cNvSpPr txBox="1"/>
          <p:nvPr/>
        </p:nvSpPr>
        <p:spPr>
          <a:xfrm>
            <a:off x="3381375" y="1190625"/>
            <a:ext cx="523875" cy="523875"/>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02</a:t>
            </a:r>
            <a:endParaRPr lang="en-US" sz="3150"/>
          </a:p>
        </p:txBody>
      </p:sp>
      <p:grpSp>
        <p:nvGrpSpPr>
          <p:cNvPr id="15" name="Slidesgo vector icon"/>
          <p:cNvGrpSpPr/>
          <p:nvPr/>
        </p:nvGrpSpPr>
        <p:grpSpPr>
          <a:xfrm>
            <a:off x="5429250" y="1219200"/>
            <a:ext cx="333375" cy="333375"/>
            <a:chOff x="-3137650" y="2408950"/>
            <a:chExt cx="291450" cy="292125"/>
          </a:xfrm>
        </p:grpSpPr>
        <p:sp>
          <p:nvSpPr>
            <p:cNvPr id="16" name="Slidesgo vector icon"/>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sgo vector icon"/>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Slidesgo vector icon"/>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
          <p:cNvSpPr txBox="1"/>
          <p:nvPr/>
        </p:nvSpPr>
        <p:spPr>
          <a:xfrm>
            <a:off x="3381375" y="1809750"/>
            <a:ext cx="2476500" cy="709612"/>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Constraint</a:t>
            </a:r>
            <a:endParaRPr lang="en-US" sz="2175"/>
          </a:p>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programming</a:t>
            </a:r>
            <a:endParaRPr lang="en-US" sz="2175"/>
          </a:p>
        </p:txBody>
      </p:sp>
      <p:sp>
        <p:nvSpPr>
          <p:cNvPr id="22" name="Text"/>
          <p:cNvSpPr txBox="1"/>
          <p:nvPr/>
        </p:nvSpPr>
        <p:spPr>
          <a:xfrm>
            <a:off x="3381375" y="2714625"/>
            <a:ext cx="2476500" cy="809625"/>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435D74"/>
                </a:solidFill>
                <a:latin typeface="Roboto"/>
                <a:ea typeface="Roboto"/>
                <a:cs typeface="Roboto"/>
              </a:rPr>
              <a:t>Finds a plan that follows</a:t>
            </a:r>
            <a:endParaRPr lang="en-US" sz="1425"/>
          </a:p>
          <a:p>
            <a:pPr marL="0" indent="0" algn="l">
              <a:lnSpc>
                <a:spcPts val="1781"/>
              </a:lnSpc>
              <a:spcAft>
                <a:spcPts val="0"/>
              </a:spcAft>
              <a:buNone/>
            </a:pPr>
            <a:r>
              <a:rPr lang="en-US" sz="1425" b="0">
                <a:solidFill>
                  <a:srgbClr val="435D74"/>
                </a:solidFill>
                <a:latin typeface="Roboto"/>
                <a:ea typeface="Roboto"/>
                <a:cs typeface="Roboto"/>
              </a:rPr>
              <a:t>detailed rules.</a:t>
            </a:r>
            <a:endParaRPr lang="en-US" sz="1425"/>
          </a:p>
        </p:txBody>
      </p:sp>
      <p:sp>
        <p:nvSpPr>
          <p:cNvPr id="23" name="Text"/>
          <p:cNvSpPr txBox="1"/>
          <p:nvPr/>
        </p:nvSpPr>
        <p:spPr>
          <a:xfrm>
            <a:off x="6267450" y="1190625"/>
            <a:ext cx="523875" cy="523875"/>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03</a:t>
            </a:r>
            <a:endParaRPr lang="en-US" sz="3150"/>
          </a:p>
        </p:txBody>
      </p:sp>
      <p:grpSp>
        <p:nvGrpSpPr>
          <p:cNvPr id="24" name="Slidesgo vector icon"/>
          <p:cNvGrpSpPr/>
          <p:nvPr/>
        </p:nvGrpSpPr>
        <p:grpSpPr>
          <a:xfrm>
            <a:off x="8220075" y="1219200"/>
            <a:ext cx="333375" cy="334261"/>
            <a:chOff x="-1333200" y="2770450"/>
            <a:chExt cx="291450" cy="292225"/>
          </a:xfrm>
        </p:grpSpPr>
        <p:sp>
          <p:nvSpPr>
            <p:cNvPr id="25" name="Slidesgo vector icon"/>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Slidesgo vector icon"/>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Text"/>
          <p:cNvSpPr txBox="1"/>
          <p:nvPr/>
        </p:nvSpPr>
        <p:spPr>
          <a:xfrm>
            <a:off x="6267450" y="1809750"/>
            <a:ext cx="2381250" cy="523875"/>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Simulation</a:t>
            </a:r>
            <a:endParaRPr lang="en-US" sz="2175"/>
          </a:p>
        </p:txBody>
      </p:sp>
      <p:sp>
        <p:nvSpPr>
          <p:cNvPr id="28" name="Text"/>
          <p:cNvSpPr txBox="1"/>
          <p:nvPr/>
        </p:nvSpPr>
        <p:spPr>
          <a:xfrm>
            <a:off x="6267450" y="2714625"/>
            <a:ext cx="2381250" cy="809625"/>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435D74"/>
                </a:solidFill>
                <a:latin typeface="Roboto"/>
                <a:ea typeface="Roboto"/>
                <a:cs typeface="Roboto"/>
              </a:rPr>
              <a:t>Tests possible results when</a:t>
            </a:r>
            <a:endParaRPr lang="en-US" sz="1425"/>
          </a:p>
          <a:p>
            <a:pPr marL="0" indent="0" algn="l">
              <a:lnSpc>
                <a:spcPts val="1781"/>
              </a:lnSpc>
              <a:spcAft>
                <a:spcPts val="0"/>
              </a:spcAft>
              <a:buNone/>
            </a:pPr>
            <a:r>
              <a:rPr lang="en-US" sz="1425" b="0">
                <a:solidFill>
                  <a:srgbClr val="435D74"/>
                </a:solidFill>
                <a:latin typeface="Roboto"/>
                <a:ea typeface="Roboto"/>
                <a:cs typeface="Roboto"/>
              </a:rPr>
              <a:t>conditions change.</a:t>
            </a:r>
            <a:endParaRPr lang="en-US" sz="1425"/>
          </a:p>
        </p:txBody>
      </p:sp>
      <p:cxnSp>
        <p:nvCxnSpPr>
          <p:cNvPr id="29" name="Connector"/>
          <p:cNvCxnSpPr/>
          <p:nvPr/>
        </p:nvCxnSpPr>
        <p:spPr>
          <a:xfrm>
            <a:off x="3143250" y="1209675"/>
            <a:ext cx="95" cy="2800350"/>
          </a:xfrm>
          <a:prstGeom prst="line">
            <a:avLst/>
          </a:prstGeom>
          <a:ln w="9525">
            <a:solidFill>
              <a:srgbClr val="D8E2E8"/>
            </a:solidFill>
          </a:ln>
        </p:spPr>
      </p:cxnSp>
      <p:cxnSp>
        <p:nvCxnSpPr>
          <p:cNvPr id="30" name="Connector"/>
          <p:cNvCxnSpPr/>
          <p:nvPr/>
        </p:nvCxnSpPr>
        <p:spPr>
          <a:xfrm>
            <a:off x="6029325" y="1209675"/>
            <a:ext cx="95" cy="2800350"/>
          </a:xfrm>
          <a:prstGeom prst="line">
            <a:avLst/>
          </a:prstGeom>
          <a:ln w="9525">
            <a:solidFill>
              <a:srgbClr val="D8E2E8"/>
            </a:solidFill>
          </a:ln>
        </p:spPr>
      </p:cxnSp>
      <p:sp>
        <p:nvSpPr>
          <p:cNvPr id="31" name="Text"/>
          <p:cNvSpPr txBox="1"/>
          <p:nvPr/>
        </p:nvSpPr>
        <p:spPr>
          <a:xfrm>
            <a:off x="495300" y="3429000"/>
            <a:ext cx="2476500" cy="5143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1">
                <a:solidFill>
                  <a:srgbClr val="007D8B"/>
                </a:solidFill>
                <a:latin typeface="Roboto"/>
                <a:ea typeface="Roboto"/>
                <a:cs typeface="Roboto"/>
              </a:rPr>
              <a:t>Share limited stock</a:t>
            </a:r>
            <a:endParaRPr lang="en-US" sz="1500"/>
          </a:p>
        </p:txBody>
      </p:sp>
      <p:sp>
        <p:nvSpPr>
          <p:cNvPr id="32" name="Text"/>
          <p:cNvSpPr txBox="1"/>
          <p:nvPr/>
        </p:nvSpPr>
        <p:spPr>
          <a:xfrm>
            <a:off x="3381375" y="3429000"/>
            <a:ext cx="2476500" cy="5143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1">
                <a:solidFill>
                  <a:srgbClr val="007D8B"/>
                </a:solidFill>
                <a:latin typeface="Roboto"/>
                <a:ea typeface="Roboto"/>
                <a:cs typeface="Roboto"/>
              </a:rPr>
              <a:t>Plan working hours</a:t>
            </a:r>
            <a:endParaRPr lang="en-US" sz="1500"/>
          </a:p>
        </p:txBody>
      </p:sp>
      <p:sp>
        <p:nvSpPr>
          <p:cNvPr id="33" name="Text"/>
          <p:cNvSpPr txBox="1"/>
          <p:nvPr/>
        </p:nvSpPr>
        <p:spPr>
          <a:xfrm>
            <a:off x="6267450" y="3429000"/>
            <a:ext cx="2381250" cy="5143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1">
                <a:solidFill>
                  <a:srgbClr val="007D8B"/>
                </a:solidFill>
                <a:latin typeface="Roboto"/>
                <a:ea typeface="Roboto"/>
                <a:cs typeface="Roboto"/>
              </a:rPr>
              <a:t>Compare staff plans</a:t>
            </a:r>
            <a:endParaRPr lang="en-US" sz="1500"/>
          </a:p>
        </p:txBody>
      </p:sp>
      <p:sp>
        <p:nvSpPr>
          <p:cNvPr id="34"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35"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Simulation tests plans; a rule or optimization method selects a plan.</a:t>
            </a:r>
            <a:endParaRPr lang="en-US" sz="13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What does the model produce?">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What does the model produce?</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08 </a:t>
            </a:r>
            <a:r>
              <a:rPr lang="en-US" sz="825" dirty="0">
                <a:solidFill>
                  <a:srgbClr val="6D8495"/>
                </a:solidFill>
                <a:latin typeface="Roboto"/>
                <a:ea typeface="Roboto"/>
                <a:cs typeface="Roboto"/>
              </a:rPr>
              <a:t>/ 14</a:t>
            </a:r>
            <a:endParaRPr lang="en-US" sz="825" dirty="0"/>
          </a:p>
        </p:txBody>
      </p:sp>
      <p:sp>
        <p:nvSpPr>
          <p:cNvPr id="7" name="Text"/>
          <p:cNvSpPr txBox="1"/>
          <p:nvPr/>
        </p:nvSpPr>
        <p:spPr>
          <a:xfrm>
            <a:off x="495300" y="1066800"/>
            <a:ext cx="8153400" cy="466725"/>
          </a:xfrm>
          <a:prstGeom prst="rect">
            <a:avLst/>
          </a:prstGeom>
          <a:noFill/>
          <a:ln w="9525">
            <a:noFill/>
          </a:ln>
        </p:spPr>
        <p:txBody>
          <a:bodyPr wrap="none" lIns="0" tIns="0" rIns="0" bIns="0" anchor="t">
            <a:noAutofit/>
          </a:bodyPr>
          <a:lstStyle/>
          <a:p>
            <a:pPr marL="0" indent="0" algn="l">
              <a:lnSpc>
                <a:spcPts val="2906"/>
              </a:lnSpc>
              <a:spcAft>
                <a:spcPts val="0"/>
              </a:spcAft>
              <a:buNone/>
            </a:pPr>
            <a:r>
              <a:rPr lang="en-US" sz="2325" b="1">
                <a:solidFill>
                  <a:srgbClr val="007D8B"/>
                </a:solidFill>
                <a:latin typeface="Fira Sans Extra Condensed"/>
                <a:ea typeface="Fira Sans Extra Condensed"/>
                <a:cs typeface="Fira Sans Extra Condensed"/>
              </a:rPr>
              <a:t>An action the team can use</a:t>
            </a:r>
            <a:endParaRPr lang="en-US" sz="2325"/>
          </a:p>
        </p:txBody>
      </p:sp>
      <p:grpSp>
        <p:nvGrpSpPr>
          <p:cNvPr id="8" name="Slidesgo vector icon"/>
          <p:cNvGrpSpPr/>
          <p:nvPr/>
        </p:nvGrpSpPr>
        <p:grpSpPr>
          <a:xfrm>
            <a:off x="495300" y="1885950"/>
            <a:ext cx="476250" cy="473691"/>
            <a:chOff x="-5635200" y="2037975"/>
            <a:chExt cx="293025" cy="291450"/>
          </a:xfrm>
        </p:grpSpPr>
        <p:sp>
          <p:nvSpPr>
            <p:cNvPr id="9" name="Slidesgo vector icon"/>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Text"/>
          <p:cNvSpPr txBox="1"/>
          <p:nvPr/>
        </p:nvSpPr>
        <p:spPr>
          <a:xfrm>
            <a:off x="1209675" y="1866900"/>
            <a:ext cx="3095625" cy="40957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Work plan</a:t>
            </a:r>
            <a:endParaRPr lang="en-US" sz="2250"/>
          </a:p>
        </p:txBody>
      </p:sp>
      <p:sp>
        <p:nvSpPr>
          <p:cNvPr id="12" name="Text"/>
          <p:cNvSpPr txBox="1"/>
          <p:nvPr/>
        </p:nvSpPr>
        <p:spPr>
          <a:xfrm>
            <a:off x="1209675" y="2390775"/>
            <a:ext cx="3095625" cy="5905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Who works and when</a:t>
            </a:r>
            <a:endParaRPr lang="en-US" sz="1575"/>
          </a:p>
        </p:txBody>
      </p:sp>
      <p:grpSp>
        <p:nvGrpSpPr>
          <p:cNvPr id="13" name="Slidesgo vector icon"/>
          <p:cNvGrpSpPr/>
          <p:nvPr/>
        </p:nvGrpSpPr>
        <p:grpSpPr>
          <a:xfrm>
            <a:off x="4781550" y="1885950"/>
            <a:ext cx="476250" cy="476263"/>
            <a:chOff x="-2571737" y="2403625"/>
            <a:chExt cx="292225" cy="291425"/>
          </a:xfrm>
        </p:grpSpPr>
        <p:sp>
          <p:nvSpPr>
            <p:cNvPr id="14"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
          <p:cNvSpPr txBox="1"/>
          <p:nvPr/>
        </p:nvSpPr>
        <p:spPr>
          <a:xfrm>
            <a:off x="5495925" y="1866900"/>
            <a:ext cx="3095625" cy="40957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Order plan</a:t>
            </a:r>
            <a:endParaRPr lang="en-US" sz="2250"/>
          </a:p>
        </p:txBody>
      </p:sp>
      <p:sp>
        <p:nvSpPr>
          <p:cNvPr id="22" name="Text"/>
          <p:cNvSpPr txBox="1"/>
          <p:nvPr/>
        </p:nvSpPr>
        <p:spPr>
          <a:xfrm>
            <a:off x="5495925" y="2390775"/>
            <a:ext cx="3095625" cy="5905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What to buy and how much</a:t>
            </a:r>
            <a:endParaRPr lang="en-US" sz="1575"/>
          </a:p>
        </p:txBody>
      </p:sp>
      <p:grpSp>
        <p:nvGrpSpPr>
          <p:cNvPr id="23" name="Slidesgo vector icon"/>
          <p:cNvGrpSpPr/>
          <p:nvPr/>
        </p:nvGrpSpPr>
        <p:grpSpPr>
          <a:xfrm>
            <a:off x="495300" y="3162300"/>
            <a:ext cx="476250" cy="466126"/>
            <a:chOff x="-6713450" y="2397900"/>
            <a:chExt cx="295375" cy="291450"/>
          </a:xfrm>
        </p:grpSpPr>
        <p:sp>
          <p:nvSpPr>
            <p:cNvPr id="24" name="Slidesgo vector icon"/>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Slidesgo vector icon"/>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Text"/>
          <p:cNvSpPr txBox="1"/>
          <p:nvPr/>
        </p:nvSpPr>
        <p:spPr>
          <a:xfrm>
            <a:off x="1209675" y="3143250"/>
            <a:ext cx="3095625" cy="40957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Request list</a:t>
            </a:r>
            <a:endParaRPr lang="en-US" sz="2250"/>
          </a:p>
        </p:txBody>
      </p:sp>
      <p:sp>
        <p:nvSpPr>
          <p:cNvPr id="27" name="Text"/>
          <p:cNvSpPr txBox="1"/>
          <p:nvPr/>
        </p:nvSpPr>
        <p:spPr>
          <a:xfrm>
            <a:off x="1209675" y="3667125"/>
            <a:ext cx="3095625" cy="5905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Which requests to answer first</a:t>
            </a:r>
            <a:endParaRPr lang="en-US" sz="1575"/>
          </a:p>
        </p:txBody>
      </p:sp>
      <p:grpSp>
        <p:nvGrpSpPr>
          <p:cNvPr id="28" name="Slidesgo vector icon"/>
          <p:cNvGrpSpPr/>
          <p:nvPr/>
        </p:nvGrpSpPr>
        <p:grpSpPr>
          <a:xfrm>
            <a:off x="4781550" y="3162300"/>
            <a:ext cx="476250" cy="473683"/>
            <a:chOff x="-4211975" y="2046625"/>
            <a:chExt cx="292250" cy="290675"/>
          </a:xfrm>
        </p:grpSpPr>
        <p:sp>
          <p:nvSpPr>
            <p:cNvPr id="29" name="Slidesgo vector icon"/>
            <p:cNvSpPr/>
            <p:nvPr/>
          </p:nvSpPr>
          <p:spPr>
            <a:xfrm>
              <a:off x="-4211975" y="2081300"/>
              <a:ext cx="256025" cy="256000"/>
            </a:xfrm>
            <a:custGeom>
              <a:avLst/>
              <a:gdLst/>
              <a:ahLst/>
              <a:cxnLst/>
              <a:rect l="l" t="t" r="r" b="b"/>
              <a:pathLst>
                <a:path w="10241" h="10240" extrusionOk="0">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Slidesgo vector icon"/>
            <p:cNvSpPr/>
            <p:nvPr/>
          </p:nvSpPr>
          <p:spPr>
            <a:xfrm>
              <a:off x="-4057600" y="2046625"/>
              <a:ext cx="137875" cy="137875"/>
            </a:xfrm>
            <a:custGeom>
              <a:avLst/>
              <a:gdLst/>
              <a:ahLst/>
              <a:cxnLst/>
              <a:rect l="l" t="t" r="r" b="b"/>
              <a:pathLst>
                <a:path w="5515" h="5515" extrusionOk="0">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Text"/>
          <p:cNvSpPr txBox="1"/>
          <p:nvPr/>
        </p:nvSpPr>
        <p:spPr>
          <a:xfrm>
            <a:off x="5495925" y="3143250"/>
            <a:ext cx="3095625" cy="40957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Plan options</a:t>
            </a:r>
            <a:endParaRPr lang="en-US" sz="2250"/>
          </a:p>
        </p:txBody>
      </p:sp>
      <p:sp>
        <p:nvSpPr>
          <p:cNvPr id="32" name="Text"/>
          <p:cNvSpPr txBox="1"/>
          <p:nvPr/>
        </p:nvSpPr>
        <p:spPr>
          <a:xfrm>
            <a:off x="5495925" y="3667125"/>
            <a:ext cx="3095625" cy="590550"/>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Several plans and expected</a:t>
            </a:r>
            <a:endParaRPr lang="en-US" sz="1575"/>
          </a:p>
          <a:p>
            <a:pPr marL="0" indent="0" algn="l">
              <a:lnSpc>
                <a:spcPts val="1969"/>
              </a:lnSpc>
              <a:spcAft>
                <a:spcPts val="0"/>
              </a:spcAft>
              <a:buNone/>
            </a:pPr>
            <a:r>
              <a:rPr lang="en-US" sz="1575" b="0">
                <a:solidFill>
                  <a:srgbClr val="435D74"/>
                </a:solidFill>
                <a:latin typeface="Roboto"/>
                <a:ea typeface="Roboto"/>
                <a:cs typeface="Roboto"/>
              </a:rPr>
              <a:t>results</a:t>
            </a:r>
            <a:endParaRPr lang="en-US" sz="1575"/>
          </a:p>
        </p:txBody>
      </p:sp>
      <p:sp>
        <p:nvSpPr>
          <p:cNvPr id="33" name="Panel"/>
          <p:cNvSpPr/>
          <p:nvPr/>
        </p:nvSpPr>
        <p:spPr>
          <a:xfrm>
            <a:off x="495300" y="4257675"/>
            <a:ext cx="8153400" cy="400050"/>
          </a:xfrm>
          <a:prstGeom prst="roundRect">
            <a:avLst>
              <a:gd name="adj" fmla="val 10000"/>
            </a:avLst>
          </a:prstGeom>
          <a:solidFill>
            <a:srgbClr val="F3F6F8"/>
          </a:solidFill>
          <a:ln w="9525">
            <a:noFill/>
          </a:ln>
        </p:spPr>
        <p:txBody>
          <a:bodyPr/>
          <a:lstStyle/>
          <a:p>
            <a:endParaRPr lang="en-US"/>
          </a:p>
        </p:txBody>
      </p:sp>
      <p:sp>
        <p:nvSpPr>
          <p:cNvPr id="34" name="Text"/>
          <p:cNvSpPr txBox="1"/>
          <p:nvPr/>
        </p:nvSpPr>
        <p:spPr>
          <a:xfrm>
            <a:off x="666750" y="43338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The team should also see the main reasons behind the suggestion.</a:t>
            </a:r>
            <a:endParaRPr lang="en-US" sz="13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Decisions prescriptive analytics can support">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Decisions prescriptive analytics can support</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09 </a:t>
            </a:r>
            <a:r>
              <a:rPr lang="en-US" sz="825" dirty="0">
                <a:solidFill>
                  <a:srgbClr val="6D8495"/>
                </a:solidFill>
                <a:latin typeface="Roboto"/>
                <a:ea typeface="Roboto"/>
                <a:cs typeface="Roboto"/>
              </a:rPr>
              <a:t>/ 14</a:t>
            </a:r>
            <a:endParaRPr lang="en-US" sz="825" dirty="0"/>
          </a:p>
        </p:txBody>
      </p:sp>
      <p:grpSp>
        <p:nvGrpSpPr>
          <p:cNvPr id="7" name="Slidesgo vector icon"/>
          <p:cNvGrpSpPr/>
          <p:nvPr/>
        </p:nvGrpSpPr>
        <p:grpSpPr>
          <a:xfrm>
            <a:off x="590550" y="1209675"/>
            <a:ext cx="371475" cy="371485"/>
            <a:chOff x="-2571737" y="2403625"/>
            <a:chExt cx="292225" cy="291425"/>
          </a:xfrm>
        </p:grpSpPr>
        <p:sp>
          <p:nvSpPr>
            <p:cNvPr id="8"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
          <p:cNvSpPr txBox="1"/>
          <p:nvPr/>
        </p:nvSpPr>
        <p:spPr>
          <a:xfrm>
            <a:off x="1228725" y="1143000"/>
            <a:ext cx="3429000" cy="44767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What should we buy?</a:t>
            </a:r>
            <a:endParaRPr lang="en-US" sz="2025"/>
          </a:p>
        </p:txBody>
      </p:sp>
      <p:cxnSp>
        <p:nvCxnSpPr>
          <p:cNvPr id="16" name="Connector"/>
          <p:cNvCxnSpPr/>
          <p:nvPr/>
        </p:nvCxnSpPr>
        <p:spPr>
          <a:xfrm>
            <a:off x="4972050" y="1390650"/>
            <a:ext cx="361950" cy="95"/>
          </a:xfrm>
          <a:prstGeom prst="line">
            <a:avLst/>
          </a:prstGeom>
          <a:ln w="14288">
            <a:solidFill>
              <a:srgbClr val="869FB2"/>
            </a:solidFill>
            <a:tailEnd type="triangle" w="sm" len="sm"/>
          </a:ln>
        </p:spPr>
      </p:cxnSp>
      <p:sp>
        <p:nvSpPr>
          <p:cNvPr id="17" name="Text"/>
          <p:cNvSpPr txBox="1"/>
          <p:nvPr/>
        </p:nvSpPr>
        <p:spPr>
          <a:xfrm>
            <a:off x="5600700" y="1152525"/>
            <a:ext cx="3048000" cy="6286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Choose products and order</a:t>
            </a:r>
            <a:endParaRPr lang="en-US" sz="1500"/>
          </a:p>
          <a:p>
            <a:pPr marL="0" indent="0" algn="l">
              <a:lnSpc>
                <a:spcPts val="1875"/>
              </a:lnSpc>
              <a:spcAft>
                <a:spcPts val="0"/>
              </a:spcAft>
              <a:buNone/>
            </a:pPr>
            <a:r>
              <a:rPr lang="en-US" sz="1500" b="0">
                <a:solidFill>
                  <a:srgbClr val="435D74"/>
                </a:solidFill>
                <a:latin typeface="Roboto"/>
                <a:ea typeface="Roboto"/>
                <a:cs typeface="Roboto"/>
              </a:rPr>
              <a:t>amounts.</a:t>
            </a:r>
            <a:endParaRPr lang="en-US" sz="1500"/>
          </a:p>
        </p:txBody>
      </p:sp>
      <p:cxnSp>
        <p:nvCxnSpPr>
          <p:cNvPr id="18" name="Connector"/>
          <p:cNvCxnSpPr/>
          <p:nvPr/>
        </p:nvCxnSpPr>
        <p:spPr>
          <a:xfrm>
            <a:off x="1228725" y="1838325"/>
            <a:ext cx="7419975" cy="95"/>
          </a:xfrm>
          <a:prstGeom prst="line">
            <a:avLst/>
          </a:prstGeom>
          <a:ln w="9525">
            <a:solidFill>
              <a:srgbClr val="D8E2E8"/>
            </a:solidFill>
          </a:ln>
        </p:spPr>
      </p:cxnSp>
      <p:grpSp>
        <p:nvGrpSpPr>
          <p:cNvPr id="19" name="Slidesgo vector icon"/>
          <p:cNvGrpSpPr/>
          <p:nvPr/>
        </p:nvGrpSpPr>
        <p:grpSpPr>
          <a:xfrm>
            <a:off x="590550" y="2000250"/>
            <a:ext cx="371475" cy="386956"/>
            <a:chOff x="-65129950" y="2646800"/>
            <a:chExt cx="311125" cy="317425"/>
          </a:xfrm>
        </p:grpSpPr>
        <p:sp>
          <p:nvSpPr>
            <p:cNvPr id="20" name="Slidesgo vector icon"/>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Slidesgo vector icon"/>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Text"/>
          <p:cNvSpPr txBox="1"/>
          <p:nvPr/>
        </p:nvSpPr>
        <p:spPr>
          <a:xfrm>
            <a:off x="1228725" y="1933575"/>
            <a:ext cx="3429000" cy="44767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When should work happen?</a:t>
            </a:r>
            <a:endParaRPr lang="en-US" sz="2025"/>
          </a:p>
        </p:txBody>
      </p:sp>
      <p:cxnSp>
        <p:nvCxnSpPr>
          <p:cNvPr id="23" name="Connector"/>
          <p:cNvCxnSpPr/>
          <p:nvPr/>
        </p:nvCxnSpPr>
        <p:spPr>
          <a:xfrm>
            <a:off x="4972050" y="2181225"/>
            <a:ext cx="361950" cy="95"/>
          </a:xfrm>
          <a:prstGeom prst="line">
            <a:avLst/>
          </a:prstGeom>
          <a:ln w="14288">
            <a:solidFill>
              <a:srgbClr val="869FB2"/>
            </a:solidFill>
            <a:tailEnd type="triangle" w="sm" len="sm"/>
          </a:ln>
        </p:spPr>
      </p:cxnSp>
      <p:sp>
        <p:nvSpPr>
          <p:cNvPr id="24" name="Text"/>
          <p:cNvSpPr txBox="1"/>
          <p:nvPr/>
        </p:nvSpPr>
        <p:spPr>
          <a:xfrm>
            <a:off x="5600700" y="1943100"/>
            <a:ext cx="3048000" cy="6286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Choose times for tasks or repairs.</a:t>
            </a:r>
            <a:endParaRPr lang="en-US" sz="1500"/>
          </a:p>
        </p:txBody>
      </p:sp>
      <p:cxnSp>
        <p:nvCxnSpPr>
          <p:cNvPr id="25" name="Connector"/>
          <p:cNvCxnSpPr/>
          <p:nvPr/>
        </p:nvCxnSpPr>
        <p:spPr>
          <a:xfrm>
            <a:off x="1228725" y="2628900"/>
            <a:ext cx="7419975" cy="95"/>
          </a:xfrm>
          <a:prstGeom prst="line">
            <a:avLst/>
          </a:prstGeom>
          <a:ln w="9525">
            <a:solidFill>
              <a:srgbClr val="D8E2E8"/>
            </a:solidFill>
          </a:ln>
        </p:spPr>
      </p:cxnSp>
      <p:grpSp>
        <p:nvGrpSpPr>
          <p:cNvPr id="26" name="Slidesgo vector icon"/>
          <p:cNvGrpSpPr/>
          <p:nvPr/>
        </p:nvGrpSpPr>
        <p:grpSpPr>
          <a:xfrm>
            <a:off x="590550" y="2790825"/>
            <a:ext cx="371475" cy="422660"/>
            <a:chOff x="1529350" y="258825"/>
            <a:chExt cx="423475" cy="481825"/>
          </a:xfrm>
        </p:grpSpPr>
        <p:sp>
          <p:nvSpPr>
            <p:cNvPr id="27" name="Slidesgo vector icon"/>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7D8B"/>
                </a:solidFill>
              </a:endParaRPr>
            </a:p>
          </p:txBody>
        </p:sp>
        <p:sp>
          <p:nvSpPr>
            <p:cNvPr id="28" name="Slidesgo vector icon"/>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7D8B"/>
                </a:solidFill>
              </a:endParaRPr>
            </a:p>
          </p:txBody>
        </p:sp>
      </p:grpSp>
      <p:sp>
        <p:nvSpPr>
          <p:cNvPr id="29" name="Text"/>
          <p:cNvSpPr txBox="1"/>
          <p:nvPr/>
        </p:nvSpPr>
        <p:spPr>
          <a:xfrm>
            <a:off x="1228725" y="2724150"/>
            <a:ext cx="3429000" cy="44767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Where should products go?</a:t>
            </a:r>
            <a:endParaRPr lang="en-US" sz="2025"/>
          </a:p>
        </p:txBody>
      </p:sp>
      <p:cxnSp>
        <p:nvCxnSpPr>
          <p:cNvPr id="30" name="Connector"/>
          <p:cNvCxnSpPr/>
          <p:nvPr/>
        </p:nvCxnSpPr>
        <p:spPr>
          <a:xfrm>
            <a:off x="4972050" y="2971800"/>
            <a:ext cx="361950" cy="95"/>
          </a:xfrm>
          <a:prstGeom prst="line">
            <a:avLst/>
          </a:prstGeom>
          <a:ln w="14288">
            <a:solidFill>
              <a:srgbClr val="869FB2"/>
            </a:solidFill>
            <a:tailEnd type="triangle" w="sm" len="sm"/>
          </a:ln>
        </p:spPr>
      </p:cxnSp>
      <p:sp>
        <p:nvSpPr>
          <p:cNvPr id="31" name="Text"/>
          <p:cNvSpPr txBox="1"/>
          <p:nvPr/>
        </p:nvSpPr>
        <p:spPr>
          <a:xfrm>
            <a:off x="5600700" y="2733675"/>
            <a:ext cx="3048000" cy="6286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Decide how much each store</a:t>
            </a:r>
            <a:endParaRPr lang="en-US" sz="1500"/>
          </a:p>
          <a:p>
            <a:pPr marL="0" indent="0" algn="l">
              <a:lnSpc>
                <a:spcPts val="1875"/>
              </a:lnSpc>
              <a:spcAft>
                <a:spcPts val="0"/>
              </a:spcAft>
              <a:buNone/>
            </a:pPr>
            <a:r>
              <a:rPr lang="en-US" sz="1500" b="0">
                <a:solidFill>
                  <a:srgbClr val="435D74"/>
                </a:solidFill>
                <a:latin typeface="Roboto"/>
                <a:ea typeface="Roboto"/>
                <a:cs typeface="Roboto"/>
              </a:rPr>
              <a:t>receives.</a:t>
            </a:r>
            <a:endParaRPr lang="en-US" sz="1500"/>
          </a:p>
        </p:txBody>
      </p:sp>
      <p:cxnSp>
        <p:nvCxnSpPr>
          <p:cNvPr id="32" name="Connector"/>
          <p:cNvCxnSpPr/>
          <p:nvPr/>
        </p:nvCxnSpPr>
        <p:spPr>
          <a:xfrm>
            <a:off x="1228725" y="3419475"/>
            <a:ext cx="7419975" cy="95"/>
          </a:xfrm>
          <a:prstGeom prst="line">
            <a:avLst/>
          </a:prstGeom>
          <a:ln w="9525">
            <a:solidFill>
              <a:srgbClr val="D8E2E8"/>
            </a:solidFill>
          </a:ln>
        </p:spPr>
      </p:cxnSp>
      <p:grpSp>
        <p:nvGrpSpPr>
          <p:cNvPr id="33" name="Slidesgo vector icon"/>
          <p:cNvGrpSpPr/>
          <p:nvPr/>
        </p:nvGrpSpPr>
        <p:grpSpPr>
          <a:xfrm>
            <a:off x="590550" y="3581400"/>
            <a:ext cx="371475" cy="363579"/>
            <a:chOff x="-6713450" y="2397900"/>
            <a:chExt cx="295375" cy="291450"/>
          </a:xfrm>
        </p:grpSpPr>
        <p:sp>
          <p:nvSpPr>
            <p:cNvPr id="34" name="Slidesgo vector icon"/>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Slidesgo vector icon"/>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Text"/>
          <p:cNvSpPr txBox="1"/>
          <p:nvPr/>
        </p:nvSpPr>
        <p:spPr>
          <a:xfrm>
            <a:off x="1228725" y="3514725"/>
            <a:ext cx="3429000" cy="44767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Which request should come first?</a:t>
            </a:r>
            <a:endParaRPr lang="en-US" sz="2025"/>
          </a:p>
        </p:txBody>
      </p:sp>
      <p:cxnSp>
        <p:nvCxnSpPr>
          <p:cNvPr id="37" name="Connector"/>
          <p:cNvCxnSpPr/>
          <p:nvPr/>
        </p:nvCxnSpPr>
        <p:spPr>
          <a:xfrm>
            <a:off x="4972050" y="3762375"/>
            <a:ext cx="361950" cy="95"/>
          </a:xfrm>
          <a:prstGeom prst="line">
            <a:avLst/>
          </a:prstGeom>
          <a:ln w="14288">
            <a:solidFill>
              <a:srgbClr val="869FB2"/>
            </a:solidFill>
            <a:tailEnd type="triangle" w="sm" len="sm"/>
          </a:ln>
        </p:spPr>
      </p:cxnSp>
      <p:sp>
        <p:nvSpPr>
          <p:cNvPr id="38" name="Text"/>
          <p:cNvSpPr txBox="1"/>
          <p:nvPr/>
        </p:nvSpPr>
        <p:spPr>
          <a:xfrm>
            <a:off x="5600700" y="3524250"/>
            <a:ext cx="3048000" cy="6286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Choose the order for answering</a:t>
            </a:r>
            <a:endParaRPr lang="en-US" sz="1500"/>
          </a:p>
          <a:p>
            <a:pPr marL="0" indent="0" algn="l">
              <a:lnSpc>
                <a:spcPts val="1875"/>
              </a:lnSpc>
              <a:spcAft>
                <a:spcPts val="0"/>
              </a:spcAft>
              <a:buNone/>
            </a:pPr>
            <a:r>
              <a:rPr lang="en-US" sz="1500" b="0">
                <a:solidFill>
                  <a:srgbClr val="435D74"/>
                </a:solidFill>
                <a:latin typeface="Roboto"/>
                <a:ea typeface="Roboto"/>
                <a:cs typeface="Roboto"/>
              </a:rPr>
              <a:t>requests.</a:t>
            </a:r>
            <a:endParaRPr lang="en-US" sz="1500"/>
          </a:p>
        </p:txBody>
      </p:sp>
      <p:sp>
        <p:nvSpPr>
          <p:cNvPr id="39" name="Text"/>
          <p:cNvSpPr txBox="1"/>
          <p:nvPr/>
        </p:nvSpPr>
        <p:spPr>
          <a:xfrm>
            <a:off x="495300" y="4391025"/>
            <a:ext cx="8153400" cy="304800"/>
          </a:xfrm>
          <a:prstGeom prst="rect">
            <a:avLst/>
          </a:prstGeom>
          <a:noFill/>
          <a:ln w="9525">
            <a:noFill/>
          </a:ln>
        </p:spPr>
        <p:txBody>
          <a:bodyPr wrap="none" lIns="0" tIns="0" rIns="0" bIns="0" anchor="t">
            <a:noAutofit/>
          </a:bodyPr>
          <a:lstStyle/>
          <a:p>
            <a:pPr marL="0" indent="0" algn="l">
              <a:lnSpc>
                <a:spcPts val="1781"/>
              </a:lnSpc>
              <a:spcAft>
                <a:spcPts val="0"/>
              </a:spcAft>
              <a:buNone/>
            </a:pPr>
            <a:r>
              <a:rPr lang="en-US" sz="1425" b="0">
                <a:solidFill>
                  <a:srgbClr val="6D8495"/>
                </a:solidFill>
                <a:latin typeface="Roboto"/>
                <a:ea typeface="Roboto"/>
                <a:cs typeface="Roboto"/>
              </a:rPr>
              <a:t>Each answer leads to a choice the team can act on.</a:t>
            </a:r>
            <a:endParaRPr lang="en-US" sz="142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The meaning of the best choice</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5" name="Text"/>
          <p:cNvSpPr txBox="1"/>
          <p:nvPr/>
        </p:nvSpPr>
        <p:spPr>
          <a:xfrm>
            <a:off x="8048625" y="4867275"/>
            <a:ext cx="600075" cy="171450"/>
          </a:xfrm>
          <a:prstGeom prst="rect">
            <a:avLst/>
          </a:prstGeom>
          <a:noFill/>
          <a:ln w="9525">
            <a:noFill/>
          </a:ln>
        </p:spPr>
        <p:txBody>
          <a:bodyPr wrap="none" lIns="0" tIns="0" rIns="0" bIns="0" anchor="t">
            <a:noAutofit/>
          </a:bodyPr>
          <a:lstStyle/>
          <a:p>
            <a:pPr marL="0" indent="0" algn="r">
              <a:lnSpc>
                <a:spcPts val="1031"/>
              </a:lnSpc>
              <a:spcAft>
                <a:spcPts val="0"/>
              </a:spcAft>
              <a:buNone/>
            </a:pPr>
            <a:r>
              <a:rPr lang="en-US" sz="825" b="0">
                <a:solidFill>
                  <a:srgbClr val="6D8495"/>
                </a:solidFill>
                <a:latin typeface="Roboto"/>
                <a:ea typeface="Roboto"/>
                <a:cs typeface="Roboto"/>
              </a:rPr>
              <a:t>10 / 14</a:t>
            </a:r>
            <a:endParaRPr lang="en-US" sz="825"/>
          </a:p>
        </p:txBody>
      </p:sp>
      <p:sp>
        <p:nvSpPr>
          <p:cNvPr id="6" name="Text"/>
          <p:cNvSpPr txBox="1"/>
          <p:nvPr/>
        </p:nvSpPr>
        <p:spPr>
          <a:xfrm>
            <a:off x="495300" y="1047750"/>
            <a:ext cx="8153400" cy="428625"/>
          </a:xfrm>
          <a:prstGeom prst="rect">
            <a:avLst/>
          </a:prstGeom>
          <a:noFill/>
          <a:ln w="9525">
            <a:noFill/>
          </a:ln>
        </p:spPr>
        <p:txBody>
          <a:bodyPr wrap="none" lIns="0" tIns="0" rIns="0" bIns="0" anchor="t">
            <a:noAutofit/>
          </a:bodyPr>
          <a:lstStyle/>
          <a:p>
            <a:pPr marL="0" indent="0" algn="l">
              <a:lnSpc>
                <a:spcPts val="2625"/>
              </a:lnSpc>
              <a:spcAft>
                <a:spcPts val="0"/>
              </a:spcAft>
              <a:buNone/>
            </a:pPr>
            <a:r>
              <a:rPr lang="en-US" sz="2100" b="1">
                <a:solidFill>
                  <a:srgbClr val="007D8B"/>
                </a:solidFill>
                <a:latin typeface="Fira Sans Extra Condensed"/>
                <a:ea typeface="Fira Sans Extra Condensed"/>
                <a:cs typeface="Fira Sans Extra Condensed"/>
              </a:rPr>
              <a:t>The best choice depends on the goal.</a:t>
            </a:r>
            <a:endParaRPr lang="en-US" sz="2100"/>
          </a:p>
        </p:txBody>
      </p:sp>
      <p:sp>
        <p:nvSpPr>
          <p:cNvPr id="10" name="Text"/>
          <p:cNvSpPr txBox="1"/>
          <p:nvPr/>
        </p:nvSpPr>
        <p:spPr>
          <a:xfrm>
            <a:off x="1133475" y="1828800"/>
            <a:ext cx="3181350" cy="42862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Lower cost</a:t>
            </a:r>
            <a:endParaRPr lang="en-US" sz="2250"/>
          </a:p>
        </p:txBody>
      </p:sp>
      <p:sp>
        <p:nvSpPr>
          <p:cNvPr id="11" name="Text"/>
          <p:cNvSpPr txBox="1"/>
          <p:nvPr/>
        </p:nvSpPr>
        <p:spPr>
          <a:xfrm>
            <a:off x="1133475" y="2324100"/>
            <a:ext cx="3181350" cy="523875"/>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Spend less money</a:t>
            </a:r>
            <a:endParaRPr lang="en-US" sz="1575"/>
          </a:p>
        </p:txBody>
      </p:sp>
      <p:sp>
        <p:nvSpPr>
          <p:cNvPr id="16" name="Text"/>
          <p:cNvSpPr txBox="1"/>
          <p:nvPr/>
        </p:nvSpPr>
        <p:spPr>
          <a:xfrm>
            <a:off x="5448300" y="1828800"/>
            <a:ext cx="3181350" cy="42862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Faster service</a:t>
            </a:r>
            <a:endParaRPr lang="en-US" sz="2250"/>
          </a:p>
        </p:txBody>
      </p:sp>
      <p:sp>
        <p:nvSpPr>
          <p:cNvPr id="17" name="Text"/>
          <p:cNvSpPr txBox="1"/>
          <p:nvPr/>
        </p:nvSpPr>
        <p:spPr>
          <a:xfrm>
            <a:off x="5448300" y="2324100"/>
            <a:ext cx="3181350" cy="523875"/>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Reduce waiting time</a:t>
            </a:r>
            <a:endParaRPr lang="en-US" sz="1575"/>
          </a:p>
        </p:txBody>
      </p:sp>
      <p:sp>
        <p:nvSpPr>
          <p:cNvPr id="22" name="Text"/>
          <p:cNvSpPr txBox="1"/>
          <p:nvPr/>
        </p:nvSpPr>
        <p:spPr>
          <a:xfrm>
            <a:off x="1133475" y="3000375"/>
            <a:ext cx="3181350" cy="42862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Less waste</a:t>
            </a:r>
            <a:endParaRPr lang="en-US" sz="2250"/>
          </a:p>
        </p:txBody>
      </p:sp>
      <p:sp>
        <p:nvSpPr>
          <p:cNvPr id="23" name="Text"/>
          <p:cNvSpPr txBox="1"/>
          <p:nvPr/>
        </p:nvSpPr>
        <p:spPr>
          <a:xfrm>
            <a:off x="1133475" y="3495675"/>
            <a:ext cx="3181350" cy="523875"/>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Avoid unnecessary materials</a:t>
            </a:r>
            <a:endParaRPr lang="en-US" sz="1575"/>
          </a:p>
        </p:txBody>
      </p:sp>
      <p:sp>
        <p:nvSpPr>
          <p:cNvPr id="27" name="Text"/>
          <p:cNvSpPr txBox="1"/>
          <p:nvPr/>
        </p:nvSpPr>
        <p:spPr>
          <a:xfrm>
            <a:off x="5448300" y="3000375"/>
            <a:ext cx="3181350" cy="428625"/>
          </a:xfrm>
          <a:prstGeom prst="rect">
            <a:avLst/>
          </a:prstGeom>
          <a:noFill/>
          <a:ln w="9525">
            <a:noFill/>
          </a:ln>
        </p:spPr>
        <p:txBody>
          <a:bodyPr wrap="none" lIns="0" tIns="0" rIns="0" bIns="0" anchor="t">
            <a:noAutofit/>
          </a:bodyPr>
          <a:lstStyle/>
          <a:p>
            <a:pPr marL="0" indent="0" algn="l">
              <a:lnSpc>
                <a:spcPts val="2812"/>
              </a:lnSpc>
              <a:spcAft>
                <a:spcPts val="0"/>
              </a:spcAft>
              <a:buNone/>
            </a:pPr>
            <a:r>
              <a:rPr lang="en-US" sz="2250" b="1">
                <a:solidFill>
                  <a:srgbClr val="435D74"/>
                </a:solidFill>
                <a:latin typeface="Fira Sans Extra Condensed"/>
                <a:ea typeface="Fira Sans Extra Condensed"/>
                <a:cs typeface="Fira Sans Extra Condensed"/>
              </a:rPr>
              <a:t>Better service</a:t>
            </a:r>
            <a:endParaRPr lang="en-US" sz="2250"/>
          </a:p>
        </p:txBody>
      </p:sp>
      <p:sp>
        <p:nvSpPr>
          <p:cNvPr id="28" name="Text"/>
          <p:cNvSpPr txBox="1"/>
          <p:nvPr/>
        </p:nvSpPr>
        <p:spPr>
          <a:xfrm>
            <a:off x="5448300" y="3495675"/>
            <a:ext cx="3181350" cy="523875"/>
          </a:xfrm>
          <a:prstGeom prst="rect">
            <a:avLst/>
          </a:prstGeom>
          <a:noFill/>
          <a:ln w="9525">
            <a:noFill/>
          </a:ln>
        </p:spPr>
        <p:txBody>
          <a:bodyPr wrap="none" lIns="0" tIns="0" rIns="0" bIns="0" anchor="t">
            <a:noAutofit/>
          </a:bodyPr>
          <a:lstStyle/>
          <a:p>
            <a:pPr marL="0" indent="0" algn="l">
              <a:lnSpc>
                <a:spcPts val="1969"/>
              </a:lnSpc>
              <a:spcAft>
                <a:spcPts val="0"/>
              </a:spcAft>
              <a:buNone/>
            </a:pPr>
            <a:r>
              <a:rPr lang="en-US" sz="1575" b="0">
                <a:solidFill>
                  <a:srgbClr val="435D74"/>
                </a:solidFill>
                <a:latin typeface="Roboto"/>
                <a:ea typeface="Roboto"/>
                <a:cs typeface="Roboto"/>
              </a:rPr>
              <a:t>Meet more customer needs</a:t>
            </a:r>
            <a:endParaRPr lang="en-US" sz="1575"/>
          </a:p>
        </p:txBody>
      </p:sp>
      <p:cxnSp>
        <p:nvCxnSpPr>
          <p:cNvPr id="29" name="Connector"/>
          <p:cNvCxnSpPr/>
          <p:nvPr/>
        </p:nvCxnSpPr>
        <p:spPr>
          <a:xfrm>
            <a:off x="4572000" y="1838325"/>
            <a:ext cx="95" cy="2171700"/>
          </a:xfrm>
          <a:prstGeom prst="line">
            <a:avLst/>
          </a:prstGeom>
          <a:ln w="9525">
            <a:solidFill>
              <a:srgbClr val="869FB2"/>
            </a:solidFill>
          </a:ln>
        </p:spPr>
      </p:cxnSp>
      <p:sp>
        <p:nvSpPr>
          <p:cNvPr id="30" name="Panel"/>
          <p:cNvSpPr/>
          <p:nvPr/>
        </p:nvSpPr>
        <p:spPr>
          <a:xfrm>
            <a:off x="495300" y="4276725"/>
            <a:ext cx="8153400" cy="400050"/>
          </a:xfrm>
          <a:prstGeom prst="roundRect">
            <a:avLst>
              <a:gd name="adj" fmla="val 10000"/>
            </a:avLst>
          </a:prstGeom>
          <a:solidFill>
            <a:srgbClr val="F3F6F8"/>
          </a:solidFill>
          <a:ln w="9525">
            <a:noFill/>
          </a:ln>
        </p:spPr>
        <p:txBody>
          <a:bodyPr/>
          <a:lstStyle/>
          <a:p>
            <a:endParaRPr lang="en-US"/>
          </a:p>
        </p:txBody>
      </p:sp>
      <p:sp>
        <p:nvSpPr>
          <p:cNvPr id="31" name="Text"/>
          <p:cNvSpPr txBox="1"/>
          <p:nvPr/>
        </p:nvSpPr>
        <p:spPr>
          <a:xfrm>
            <a:off x="666750" y="435292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The business balances its goals and keeps the rules the plan must follow.</a:t>
            </a:r>
            <a:endParaRPr lang="en-US" sz="1350"/>
          </a:p>
        </p:txBody>
      </p:sp>
      <p:grpSp>
        <p:nvGrpSpPr>
          <p:cNvPr id="51" name="Slidesgo vector icon">
            <a:extLst>
              <a:ext uri="{FF2B5EF4-FFF2-40B4-BE49-F238E27FC236}">
                <a16:creationId xmlns:a16="http://schemas.microsoft.com/office/drawing/2014/main" id="{A1C03D15-599F-1E39-91AC-223283FCAD6E}"/>
              </a:ext>
            </a:extLst>
          </p:cNvPr>
          <p:cNvGrpSpPr/>
          <p:nvPr/>
        </p:nvGrpSpPr>
        <p:grpSpPr>
          <a:xfrm>
            <a:off x="495300" y="1824778"/>
            <a:ext cx="419100" cy="419100"/>
            <a:chOff x="1492675" y="2620775"/>
            <a:chExt cx="481825" cy="481825"/>
          </a:xfrm>
        </p:grpSpPr>
        <p:sp>
          <p:nvSpPr>
            <p:cNvPr id="52" name="Slidesgo vector icon">
              <a:extLst>
                <a:ext uri="{FF2B5EF4-FFF2-40B4-BE49-F238E27FC236}">
                  <a16:creationId xmlns:a16="http://schemas.microsoft.com/office/drawing/2014/main" id="{96DCC53B-5B42-D9C8-1E00-AA0EDA65B4EF}"/>
                </a:ext>
              </a:extLst>
            </p:cNvPr>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FD0DB"/>
                </a:solidFill>
              </a:endParaRPr>
            </a:p>
          </p:txBody>
        </p:sp>
        <p:sp>
          <p:nvSpPr>
            <p:cNvPr id="53" name="Slidesgo vector icon">
              <a:extLst>
                <a:ext uri="{FF2B5EF4-FFF2-40B4-BE49-F238E27FC236}">
                  <a16:creationId xmlns:a16="http://schemas.microsoft.com/office/drawing/2014/main" id="{DDF59275-BE11-9BD9-4D39-C1111EA19AC7}"/>
                </a:ext>
              </a:extLst>
            </p:cNvPr>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FD0DB"/>
                </a:solidFill>
              </a:endParaRPr>
            </a:p>
          </p:txBody>
        </p:sp>
      </p:grpSp>
      <p:grpSp>
        <p:nvGrpSpPr>
          <p:cNvPr id="54" name="Slidesgo vector icon">
            <a:extLst>
              <a:ext uri="{FF2B5EF4-FFF2-40B4-BE49-F238E27FC236}">
                <a16:creationId xmlns:a16="http://schemas.microsoft.com/office/drawing/2014/main" id="{781956E5-3639-4524-55B1-237F7852C0BB}"/>
              </a:ext>
            </a:extLst>
          </p:cNvPr>
          <p:cNvGrpSpPr/>
          <p:nvPr/>
        </p:nvGrpSpPr>
        <p:grpSpPr>
          <a:xfrm>
            <a:off x="4810125" y="1824778"/>
            <a:ext cx="419100" cy="436565"/>
            <a:chOff x="-65129950" y="2646800"/>
            <a:chExt cx="311125" cy="317425"/>
          </a:xfrm>
        </p:grpSpPr>
        <p:sp>
          <p:nvSpPr>
            <p:cNvPr id="55" name="Slidesgo vector icon">
              <a:extLst>
                <a:ext uri="{FF2B5EF4-FFF2-40B4-BE49-F238E27FC236}">
                  <a16:creationId xmlns:a16="http://schemas.microsoft.com/office/drawing/2014/main" id="{7BE9C7E5-EEBA-AC98-03CD-F4B37F1F88DE}"/>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Slidesgo vector icon">
              <a:extLst>
                <a:ext uri="{FF2B5EF4-FFF2-40B4-BE49-F238E27FC236}">
                  <a16:creationId xmlns:a16="http://schemas.microsoft.com/office/drawing/2014/main" id="{FADB2C54-B50F-4449-0F20-A8307CC66AC1}"/>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Slidesgo vector icon">
            <a:extLst>
              <a:ext uri="{FF2B5EF4-FFF2-40B4-BE49-F238E27FC236}">
                <a16:creationId xmlns:a16="http://schemas.microsoft.com/office/drawing/2014/main" id="{FD8C5E2F-88DF-1F42-C60D-8CA7F24B46F5}"/>
              </a:ext>
            </a:extLst>
          </p:cNvPr>
          <p:cNvGrpSpPr/>
          <p:nvPr/>
        </p:nvGrpSpPr>
        <p:grpSpPr>
          <a:xfrm>
            <a:off x="495300" y="2996353"/>
            <a:ext cx="419100" cy="419111"/>
            <a:chOff x="-2571737" y="2403625"/>
            <a:chExt cx="292225" cy="291425"/>
          </a:xfrm>
        </p:grpSpPr>
        <p:sp>
          <p:nvSpPr>
            <p:cNvPr id="58" name="Slidesgo vector icon">
              <a:extLst>
                <a:ext uri="{FF2B5EF4-FFF2-40B4-BE49-F238E27FC236}">
                  <a16:creationId xmlns:a16="http://schemas.microsoft.com/office/drawing/2014/main" id="{1B81B569-68ED-8F45-F8F5-5A96775331D6}"/>
                </a:ext>
              </a:extLst>
            </p:cNvPr>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Slidesgo vector icon">
              <a:extLst>
                <a:ext uri="{FF2B5EF4-FFF2-40B4-BE49-F238E27FC236}">
                  <a16:creationId xmlns:a16="http://schemas.microsoft.com/office/drawing/2014/main" id="{8D1960D0-1F42-77CA-AC4E-79609AF64D28}"/>
                </a:ext>
              </a:extLst>
            </p:cNvPr>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Slidesgo vector icon">
              <a:extLst>
                <a:ext uri="{FF2B5EF4-FFF2-40B4-BE49-F238E27FC236}">
                  <a16:creationId xmlns:a16="http://schemas.microsoft.com/office/drawing/2014/main" id="{385F08ED-5851-A04C-F690-E09E63556B83}"/>
                </a:ext>
              </a:extLst>
            </p:cNvPr>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Slidesgo vector icon">
              <a:extLst>
                <a:ext uri="{FF2B5EF4-FFF2-40B4-BE49-F238E27FC236}">
                  <a16:creationId xmlns:a16="http://schemas.microsoft.com/office/drawing/2014/main" id="{898DACC0-BEF7-E3DD-801B-4EB9EE851AE5}"/>
                </a:ext>
              </a:extLst>
            </p:cNvPr>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Slidesgo vector icon">
              <a:extLst>
                <a:ext uri="{FF2B5EF4-FFF2-40B4-BE49-F238E27FC236}">
                  <a16:creationId xmlns:a16="http://schemas.microsoft.com/office/drawing/2014/main" id="{4FC08471-C554-BA0A-1690-A3DAB72F88C0}"/>
                </a:ext>
              </a:extLst>
            </p:cNvPr>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Slidesgo vector icon">
              <a:extLst>
                <a:ext uri="{FF2B5EF4-FFF2-40B4-BE49-F238E27FC236}">
                  <a16:creationId xmlns:a16="http://schemas.microsoft.com/office/drawing/2014/main" id="{897B88E0-6A2B-FE2C-7D28-D35636C9F648}"/>
                </a:ext>
              </a:extLst>
            </p:cNvPr>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Slidesgo vector icon">
              <a:extLst>
                <a:ext uri="{FF2B5EF4-FFF2-40B4-BE49-F238E27FC236}">
                  <a16:creationId xmlns:a16="http://schemas.microsoft.com/office/drawing/2014/main" id="{61D90D7B-0769-C8BF-4AD7-C934D3F48F1A}"/>
                </a:ext>
              </a:extLst>
            </p:cNvPr>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Slidesgo vector icon">
            <a:extLst>
              <a:ext uri="{FF2B5EF4-FFF2-40B4-BE49-F238E27FC236}">
                <a16:creationId xmlns:a16="http://schemas.microsoft.com/office/drawing/2014/main" id="{F4E728AA-6FE5-E075-01AF-63830C63AB7B}"/>
              </a:ext>
            </a:extLst>
          </p:cNvPr>
          <p:cNvGrpSpPr/>
          <p:nvPr/>
        </p:nvGrpSpPr>
        <p:grpSpPr>
          <a:xfrm>
            <a:off x="4810125" y="2996353"/>
            <a:ext cx="419100" cy="417026"/>
            <a:chOff x="-63679950" y="3360375"/>
            <a:chExt cx="318225" cy="316650"/>
          </a:xfrm>
        </p:grpSpPr>
        <p:sp>
          <p:nvSpPr>
            <p:cNvPr id="66" name="Slidesgo vector icon">
              <a:extLst>
                <a:ext uri="{FF2B5EF4-FFF2-40B4-BE49-F238E27FC236}">
                  <a16:creationId xmlns:a16="http://schemas.microsoft.com/office/drawing/2014/main" id="{997E6BE8-1228-17A3-B003-ABA0EA41D68B}"/>
                </a:ext>
              </a:extLst>
            </p:cNvPr>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Slidesgo vector icon">
              <a:extLst>
                <a:ext uri="{FF2B5EF4-FFF2-40B4-BE49-F238E27FC236}">
                  <a16:creationId xmlns:a16="http://schemas.microsoft.com/office/drawing/2014/main" id="{224197E4-A740-C7AF-E0C5-6FA3EB71C195}"/>
                </a:ext>
              </a:extLst>
            </p:cNvPr>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Slidesgo vector icon">
              <a:extLst>
                <a:ext uri="{FF2B5EF4-FFF2-40B4-BE49-F238E27FC236}">
                  <a16:creationId xmlns:a16="http://schemas.microsoft.com/office/drawing/2014/main" id="{1ABAD2F7-BED2-1C36-68DC-8593E2CC6D59}"/>
                </a:ext>
              </a:extLst>
            </p:cNvPr>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Slidesgo vector icon">
              <a:extLst>
                <a:ext uri="{FF2B5EF4-FFF2-40B4-BE49-F238E27FC236}">
                  <a16:creationId xmlns:a16="http://schemas.microsoft.com/office/drawing/2014/main" id="{9ECA7519-BDB2-E67D-DFC3-8F736DF02376}"/>
                </a:ext>
              </a:extLst>
            </p:cNvPr>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D0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hort-term and long-term decision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Short-term and long-term decisions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5" name="Text"/>
          <p:cNvSpPr txBox="1"/>
          <p:nvPr/>
        </p:nvSpPr>
        <p:spPr>
          <a:xfrm>
            <a:off x="5429250" y="4867275"/>
            <a:ext cx="2381250" cy="171450"/>
          </a:xfrm>
          <a:prstGeom prst="rect">
            <a:avLst/>
          </a:prstGeom>
          <a:noFill/>
          <a:ln w="9525">
            <a:noFill/>
          </a:ln>
        </p:spPr>
        <p:txBody>
          <a:bodyPr wrap="none" lIns="0" tIns="0" rIns="0" bIns="0" anchor="t">
            <a:noAutofit/>
          </a:bodyPr>
          <a:lstStyle/>
          <a:p>
            <a:pPr marL="0" indent="0" algn="r">
              <a:lnSpc>
                <a:spcPts val="1031"/>
              </a:lnSpc>
              <a:spcAft>
                <a:spcPts val="0"/>
              </a:spcAft>
              <a:buNone/>
            </a:pPr>
            <a:r>
              <a:rPr lang="en-US" sz="825" b="0">
                <a:solidFill>
                  <a:srgbClr val="6D8495"/>
                </a:solidFill>
                <a:latin typeface="Roboto"/>
                <a:ea typeface="Roboto"/>
                <a:cs typeface="Roboto"/>
              </a:rPr>
              <a:t>Template artwork: Slidesgo</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dirty="0">
                <a:solidFill>
                  <a:srgbClr val="6D8495"/>
                </a:solidFill>
                <a:latin typeface="Roboto"/>
                <a:ea typeface="Roboto"/>
                <a:cs typeface="Roboto"/>
              </a:rPr>
              <a:t>11 /  14</a:t>
            </a:r>
            <a:endParaRPr lang="en-US" sz="825" dirty="0"/>
          </a:p>
        </p:txBody>
      </p:sp>
      <p:cxnSp>
        <p:nvCxnSpPr>
          <p:cNvPr id="7" name="Connector"/>
          <p:cNvCxnSpPr/>
          <p:nvPr/>
        </p:nvCxnSpPr>
        <p:spPr>
          <a:xfrm>
            <a:off x="923925" y="2362200"/>
            <a:ext cx="7286625" cy="95"/>
          </a:xfrm>
          <a:prstGeom prst="line">
            <a:avLst/>
          </a:prstGeom>
          <a:ln w="28575">
            <a:solidFill>
              <a:srgbClr val="869FB2"/>
            </a:solidFill>
          </a:ln>
        </p:spPr>
      </p:cxnSp>
      <p:grpSp>
        <p:nvGrpSpPr>
          <p:cNvPr id="8" name="Slidesgo vector icon"/>
          <p:cNvGrpSpPr/>
          <p:nvPr/>
        </p:nvGrpSpPr>
        <p:grpSpPr>
          <a:xfrm>
            <a:off x="885825" y="1285875"/>
            <a:ext cx="419100" cy="436565"/>
            <a:chOff x="-65129950" y="2646800"/>
            <a:chExt cx="311125" cy="317425"/>
          </a:xfrm>
        </p:grpSpPr>
        <p:sp>
          <p:nvSpPr>
            <p:cNvPr id="9" name="Slidesgo vector icon"/>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Circle"/>
          <p:cNvSpPr/>
          <p:nvPr/>
        </p:nvSpPr>
        <p:spPr>
          <a:xfrm>
            <a:off x="1019175" y="2286000"/>
            <a:ext cx="152400" cy="152400"/>
          </a:xfrm>
          <a:prstGeom prst="ellipse">
            <a:avLst/>
          </a:prstGeom>
          <a:solidFill>
            <a:srgbClr val="435D74"/>
          </a:solidFill>
          <a:ln w="9525">
            <a:noFill/>
          </a:ln>
        </p:spPr>
        <p:txBody>
          <a:bodyPr/>
          <a:lstStyle/>
          <a:p>
            <a:endParaRPr lang="en-US"/>
          </a:p>
        </p:txBody>
      </p:sp>
      <p:sp>
        <p:nvSpPr>
          <p:cNvPr id="12" name="Text"/>
          <p:cNvSpPr txBox="1"/>
          <p:nvPr/>
        </p:nvSpPr>
        <p:spPr>
          <a:xfrm>
            <a:off x="352425" y="1847850"/>
            <a:ext cx="1485900" cy="409575"/>
          </a:xfrm>
          <a:prstGeom prst="rect">
            <a:avLst/>
          </a:prstGeom>
          <a:noFill/>
          <a:ln w="9525">
            <a:noFill/>
          </a:ln>
        </p:spPr>
        <p:txBody>
          <a:bodyPr wrap="none" lIns="0" tIns="0" rIns="0" bIns="0" anchor="t">
            <a:noAutofit/>
          </a:bodyPr>
          <a:lstStyle/>
          <a:p>
            <a:pPr marL="0" indent="0" algn="ctr">
              <a:lnSpc>
                <a:spcPts val="2719"/>
              </a:lnSpc>
              <a:spcAft>
                <a:spcPts val="0"/>
              </a:spcAft>
              <a:buNone/>
            </a:pPr>
            <a:r>
              <a:rPr lang="en-US" sz="2175" b="1">
                <a:solidFill>
                  <a:srgbClr val="435D74"/>
                </a:solidFill>
                <a:latin typeface="Fira Sans Extra Condensed"/>
                <a:ea typeface="Fira Sans Extra Condensed"/>
                <a:cs typeface="Fira Sans Extra Condensed"/>
              </a:rPr>
              <a:t>Today</a:t>
            </a:r>
            <a:endParaRPr lang="en-US" sz="2175"/>
          </a:p>
        </p:txBody>
      </p:sp>
      <p:sp>
        <p:nvSpPr>
          <p:cNvPr id="13" name="Text"/>
          <p:cNvSpPr txBox="1"/>
          <p:nvPr/>
        </p:nvSpPr>
        <p:spPr>
          <a:xfrm>
            <a:off x="304800" y="2762250"/>
            <a:ext cx="1752600" cy="876300"/>
          </a:xfrm>
          <a:prstGeom prst="rect">
            <a:avLst/>
          </a:prstGeom>
          <a:noFill/>
          <a:ln w="9525">
            <a:noFill/>
          </a:ln>
        </p:spPr>
        <p:txBody>
          <a:bodyPr wrap="none" lIns="0" tIns="0" rIns="0" bIns="0" anchor="t">
            <a:noAutofit/>
          </a:bodyPr>
          <a:lstStyle/>
          <a:p>
            <a:pPr marL="0" indent="0" algn="ctr">
              <a:lnSpc>
                <a:spcPts val="1875"/>
              </a:lnSpc>
              <a:spcAft>
                <a:spcPts val="0"/>
              </a:spcAft>
              <a:buNone/>
            </a:pPr>
            <a:r>
              <a:rPr lang="en-US" sz="1500" b="0">
                <a:solidFill>
                  <a:srgbClr val="435D74"/>
                </a:solidFill>
                <a:latin typeface="Roboto"/>
                <a:ea typeface="Roboto"/>
                <a:cs typeface="Roboto"/>
              </a:rPr>
              <a:t>Choose which tasks</a:t>
            </a:r>
            <a:endParaRPr lang="en-US" sz="1500"/>
          </a:p>
          <a:p>
            <a:pPr marL="0" indent="0" algn="ctr">
              <a:lnSpc>
                <a:spcPts val="1875"/>
              </a:lnSpc>
              <a:spcAft>
                <a:spcPts val="0"/>
              </a:spcAft>
              <a:buNone/>
            </a:pPr>
            <a:r>
              <a:rPr lang="en-US" sz="1500" b="0">
                <a:solidFill>
                  <a:srgbClr val="435D74"/>
                </a:solidFill>
                <a:latin typeface="Roboto"/>
                <a:ea typeface="Roboto"/>
                <a:cs typeface="Roboto"/>
              </a:rPr>
              <a:t>to complete first.</a:t>
            </a:r>
            <a:endParaRPr lang="en-US" sz="1500"/>
          </a:p>
        </p:txBody>
      </p:sp>
      <p:grpSp>
        <p:nvGrpSpPr>
          <p:cNvPr id="14" name="Slidesgo vector icon"/>
          <p:cNvGrpSpPr/>
          <p:nvPr/>
        </p:nvGrpSpPr>
        <p:grpSpPr>
          <a:xfrm>
            <a:off x="3200400" y="1285875"/>
            <a:ext cx="419100" cy="416848"/>
            <a:chOff x="-5635200" y="2037975"/>
            <a:chExt cx="293025" cy="291450"/>
          </a:xfrm>
        </p:grpSpPr>
        <p:sp>
          <p:nvSpPr>
            <p:cNvPr id="15" name="Slidesgo vector icon"/>
            <p:cNvSpPr/>
            <p:nvPr/>
          </p:nvSpPr>
          <p:spPr>
            <a:xfrm>
              <a:off x="-5635200" y="2037975"/>
              <a:ext cx="293025" cy="291450"/>
            </a:xfrm>
            <a:custGeom>
              <a:avLst/>
              <a:gdLst/>
              <a:ahLst/>
              <a:cxnLst/>
              <a:rect l="l" t="t" r="r" b="b"/>
              <a:pathLst>
                <a:path w="11721" h="11658" extrusionOk="0">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Slidesgo vector icon"/>
            <p:cNvSpPr/>
            <p:nvPr/>
          </p:nvSpPr>
          <p:spPr>
            <a:xfrm>
              <a:off x="-5496575" y="2072625"/>
              <a:ext cx="102425" cy="102425"/>
            </a:xfrm>
            <a:custGeom>
              <a:avLst/>
              <a:gdLst/>
              <a:ahLst/>
              <a:cxnLst/>
              <a:rect l="l" t="t" r="r" b="b"/>
              <a:pathLst>
                <a:path w="4097" h="4097" extrusionOk="0">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Circle"/>
          <p:cNvSpPr/>
          <p:nvPr/>
        </p:nvSpPr>
        <p:spPr>
          <a:xfrm>
            <a:off x="3333750" y="2286000"/>
            <a:ext cx="152400" cy="152400"/>
          </a:xfrm>
          <a:prstGeom prst="ellipse">
            <a:avLst/>
          </a:prstGeom>
          <a:solidFill>
            <a:srgbClr val="435D74"/>
          </a:solidFill>
          <a:ln w="9525">
            <a:noFill/>
          </a:ln>
        </p:spPr>
        <p:txBody>
          <a:bodyPr/>
          <a:lstStyle/>
          <a:p>
            <a:endParaRPr lang="en-US"/>
          </a:p>
        </p:txBody>
      </p:sp>
      <p:sp>
        <p:nvSpPr>
          <p:cNvPr id="18" name="Text"/>
          <p:cNvSpPr txBox="1"/>
          <p:nvPr/>
        </p:nvSpPr>
        <p:spPr>
          <a:xfrm>
            <a:off x="2667000" y="1847850"/>
            <a:ext cx="1485900" cy="409575"/>
          </a:xfrm>
          <a:prstGeom prst="rect">
            <a:avLst/>
          </a:prstGeom>
          <a:noFill/>
          <a:ln w="9525">
            <a:noFill/>
          </a:ln>
        </p:spPr>
        <p:txBody>
          <a:bodyPr wrap="none" lIns="0" tIns="0" rIns="0" bIns="0" anchor="t">
            <a:noAutofit/>
          </a:bodyPr>
          <a:lstStyle/>
          <a:p>
            <a:pPr marL="0" indent="0" algn="ctr">
              <a:lnSpc>
                <a:spcPts val="2719"/>
              </a:lnSpc>
              <a:spcAft>
                <a:spcPts val="0"/>
              </a:spcAft>
              <a:buNone/>
            </a:pPr>
            <a:r>
              <a:rPr lang="en-US" sz="2175" b="1">
                <a:solidFill>
                  <a:srgbClr val="435D74"/>
                </a:solidFill>
                <a:latin typeface="Fira Sans Extra Condensed"/>
                <a:ea typeface="Fira Sans Extra Condensed"/>
                <a:cs typeface="Fira Sans Extra Condensed"/>
              </a:rPr>
              <a:t>Next week</a:t>
            </a:r>
            <a:endParaRPr lang="en-US" sz="2175"/>
          </a:p>
        </p:txBody>
      </p:sp>
      <p:sp>
        <p:nvSpPr>
          <p:cNvPr id="19" name="Text"/>
          <p:cNvSpPr txBox="1"/>
          <p:nvPr/>
        </p:nvSpPr>
        <p:spPr>
          <a:xfrm>
            <a:off x="2619375" y="2762250"/>
            <a:ext cx="1752600" cy="876300"/>
          </a:xfrm>
          <a:prstGeom prst="rect">
            <a:avLst/>
          </a:prstGeom>
          <a:noFill/>
          <a:ln w="9525">
            <a:noFill/>
          </a:ln>
        </p:spPr>
        <p:txBody>
          <a:bodyPr wrap="none" lIns="0" tIns="0" rIns="0" bIns="0" anchor="t">
            <a:noAutofit/>
          </a:bodyPr>
          <a:lstStyle/>
          <a:p>
            <a:pPr marL="0" indent="0" algn="ctr">
              <a:lnSpc>
                <a:spcPts val="1875"/>
              </a:lnSpc>
              <a:spcAft>
                <a:spcPts val="0"/>
              </a:spcAft>
              <a:buNone/>
            </a:pPr>
            <a:r>
              <a:rPr lang="en-US" sz="1500" b="0">
                <a:solidFill>
                  <a:srgbClr val="435D74"/>
                </a:solidFill>
                <a:latin typeface="Roboto"/>
                <a:ea typeface="Roboto"/>
                <a:cs typeface="Roboto"/>
              </a:rPr>
              <a:t>Plan working</a:t>
            </a:r>
            <a:endParaRPr lang="en-US" sz="1500"/>
          </a:p>
          <a:p>
            <a:pPr marL="0" indent="0" algn="ctr">
              <a:lnSpc>
                <a:spcPts val="1875"/>
              </a:lnSpc>
              <a:spcAft>
                <a:spcPts val="0"/>
              </a:spcAft>
              <a:buNone/>
            </a:pPr>
            <a:r>
              <a:rPr lang="en-US" sz="1500" b="0">
                <a:solidFill>
                  <a:srgbClr val="435D74"/>
                </a:solidFill>
                <a:latin typeface="Roboto"/>
                <a:ea typeface="Roboto"/>
                <a:cs typeface="Roboto"/>
              </a:rPr>
              <a:t>hours.</a:t>
            </a:r>
            <a:endParaRPr lang="en-US" sz="1500"/>
          </a:p>
        </p:txBody>
      </p:sp>
      <p:grpSp>
        <p:nvGrpSpPr>
          <p:cNvPr id="20" name="Slidesgo vector icon"/>
          <p:cNvGrpSpPr/>
          <p:nvPr/>
        </p:nvGrpSpPr>
        <p:grpSpPr>
          <a:xfrm>
            <a:off x="5514975" y="1285875"/>
            <a:ext cx="419100" cy="419111"/>
            <a:chOff x="-2571737" y="2403625"/>
            <a:chExt cx="292225" cy="291425"/>
          </a:xfrm>
        </p:grpSpPr>
        <p:sp>
          <p:nvSpPr>
            <p:cNvPr id="21"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Circle"/>
          <p:cNvSpPr/>
          <p:nvPr/>
        </p:nvSpPr>
        <p:spPr>
          <a:xfrm>
            <a:off x="5648325" y="2286000"/>
            <a:ext cx="152400" cy="152400"/>
          </a:xfrm>
          <a:prstGeom prst="ellipse">
            <a:avLst/>
          </a:prstGeom>
          <a:solidFill>
            <a:srgbClr val="435D74"/>
          </a:solidFill>
          <a:ln w="9525">
            <a:noFill/>
          </a:ln>
        </p:spPr>
        <p:txBody>
          <a:bodyPr/>
          <a:lstStyle/>
          <a:p>
            <a:endParaRPr lang="en-US"/>
          </a:p>
        </p:txBody>
      </p:sp>
      <p:sp>
        <p:nvSpPr>
          <p:cNvPr id="29" name="Text"/>
          <p:cNvSpPr txBox="1"/>
          <p:nvPr/>
        </p:nvSpPr>
        <p:spPr>
          <a:xfrm>
            <a:off x="4981575" y="1847850"/>
            <a:ext cx="1485900" cy="409575"/>
          </a:xfrm>
          <a:prstGeom prst="rect">
            <a:avLst/>
          </a:prstGeom>
          <a:noFill/>
          <a:ln w="9525">
            <a:noFill/>
          </a:ln>
        </p:spPr>
        <p:txBody>
          <a:bodyPr wrap="none" lIns="0" tIns="0" rIns="0" bIns="0" anchor="t">
            <a:noAutofit/>
          </a:bodyPr>
          <a:lstStyle/>
          <a:p>
            <a:pPr marL="0" indent="0" algn="ctr">
              <a:lnSpc>
                <a:spcPts val="2719"/>
              </a:lnSpc>
              <a:spcAft>
                <a:spcPts val="0"/>
              </a:spcAft>
              <a:buNone/>
            </a:pPr>
            <a:r>
              <a:rPr lang="en-US" sz="2175" b="1">
                <a:solidFill>
                  <a:srgbClr val="435D74"/>
                </a:solidFill>
                <a:latin typeface="Fira Sans Extra Condensed"/>
                <a:ea typeface="Fira Sans Extra Condensed"/>
                <a:cs typeface="Fira Sans Extra Condensed"/>
              </a:rPr>
              <a:t>Next month</a:t>
            </a:r>
            <a:endParaRPr lang="en-US" sz="2175"/>
          </a:p>
        </p:txBody>
      </p:sp>
      <p:sp>
        <p:nvSpPr>
          <p:cNvPr id="30" name="Text"/>
          <p:cNvSpPr txBox="1"/>
          <p:nvPr/>
        </p:nvSpPr>
        <p:spPr>
          <a:xfrm>
            <a:off x="4933950" y="2762250"/>
            <a:ext cx="1752600" cy="876300"/>
          </a:xfrm>
          <a:prstGeom prst="rect">
            <a:avLst/>
          </a:prstGeom>
          <a:noFill/>
          <a:ln w="9525">
            <a:noFill/>
          </a:ln>
        </p:spPr>
        <p:txBody>
          <a:bodyPr wrap="none" lIns="0" tIns="0" rIns="0" bIns="0" anchor="t">
            <a:noAutofit/>
          </a:bodyPr>
          <a:lstStyle/>
          <a:p>
            <a:pPr marL="0" indent="0" algn="ctr">
              <a:lnSpc>
                <a:spcPts val="1875"/>
              </a:lnSpc>
              <a:spcAft>
                <a:spcPts val="0"/>
              </a:spcAft>
              <a:buNone/>
            </a:pPr>
            <a:r>
              <a:rPr lang="en-US" sz="1500" b="0">
                <a:solidFill>
                  <a:srgbClr val="435D74"/>
                </a:solidFill>
                <a:latin typeface="Roboto"/>
                <a:ea typeface="Roboto"/>
                <a:cs typeface="Roboto"/>
              </a:rPr>
              <a:t>Decide how much</a:t>
            </a:r>
            <a:endParaRPr lang="en-US" sz="1500"/>
          </a:p>
          <a:p>
            <a:pPr marL="0" indent="0" algn="ctr">
              <a:lnSpc>
                <a:spcPts val="1875"/>
              </a:lnSpc>
              <a:spcAft>
                <a:spcPts val="0"/>
              </a:spcAft>
              <a:buNone/>
            </a:pPr>
            <a:r>
              <a:rPr lang="en-US" sz="1500" b="0">
                <a:solidFill>
                  <a:srgbClr val="435D74"/>
                </a:solidFill>
                <a:latin typeface="Roboto"/>
                <a:ea typeface="Roboto"/>
                <a:cs typeface="Roboto"/>
              </a:rPr>
              <a:t>stock</a:t>
            </a:r>
            <a:endParaRPr lang="en-US" sz="1500"/>
          </a:p>
          <a:p>
            <a:pPr marL="0" indent="0" algn="ctr">
              <a:lnSpc>
                <a:spcPts val="1875"/>
              </a:lnSpc>
              <a:spcAft>
                <a:spcPts val="0"/>
              </a:spcAft>
              <a:buNone/>
            </a:pPr>
            <a:r>
              <a:rPr lang="en-US" sz="1500" b="0">
                <a:solidFill>
                  <a:srgbClr val="435D74"/>
                </a:solidFill>
                <a:latin typeface="Roboto"/>
                <a:ea typeface="Roboto"/>
                <a:cs typeface="Roboto"/>
              </a:rPr>
              <a:t>each store receives.</a:t>
            </a:r>
            <a:endParaRPr lang="en-US" sz="1500"/>
          </a:p>
        </p:txBody>
      </p:sp>
      <p:grpSp>
        <p:nvGrpSpPr>
          <p:cNvPr id="31" name="Slidesgo vector icon"/>
          <p:cNvGrpSpPr/>
          <p:nvPr/>
        </p:nvGrpSpPr>
        <p:grpSpPr>
          <a:xfrm>
            <a:off x="7829550" y="1285875"/>
            <a:ext cx="419100" cy="476847"/>
            <a:chOff x="1529350" y="258825"/>
            <a:chExt cx="423475" cy="481825"/>
          </a:xfrm>
        </p:grpSpPr>
        <p:sp>
          <p:nvSpPr>
            <p:cNvPr id="32" name="Slidesgo vector icon"/>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7D8B"/>
                </a:solidFill>
              </a:endParaRPr>
            </a:p>
          </p:txBody>
        </p:sp>
        <p:sp>
          <p:nvSpPr>
            <p:cNvPr id="33" name="Slidesgo vector icon"/>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7D8B"/>
                </a:solidFill>
              </a:endParaRPr>
            </a:p>
          </p:txBody>
        </p:sp>
      </p:grpSp>
      <p:sp>
        <p:nvSpPr>
          <p:cNvPr id="34" name="Circle"/>
          <p:cNvSpPr/>
          <p:nvPr/>
        </p:nvSpPr>
        <p:spPr>
          <a:xfrm>
            <a:off x="7962900" y="2286000"/>
            <a:ext cx="152400" cy="152400"/>
          </a:xfrm>
          <a:prstGeom prst="ellipse">
            <a:avLst/>
          </a:prstGeom>
          <a:solidFill>
            <a:srgbClr val="435D74"/>
          </a:solidFill>
          <a:ln w="9525">
            <a:noFill/>
          </a:ln>
        </p:spPr>
        <p:txBody>
          <a:bodyPr/>
          <a:lstStyle/>
          <a:p>
            <a:endParaRPr lang="en-US"/>
          </a:p>
        </p:txBody>
      </p:sp>
      <p:sp>
        <p:nvSpPr>
          <p:cNvPr id="35" name="Text"/>
          <p:cNvSpPr txBox="1"/>
          <p:nvPr/>
        </p:nvSpPr>
        <p:spPr>
          <a:xfrm>
            <a:off x="7296150" y="1847850"/>
            <a:ext cx="1485900" cy="409575"/>
          </a:xfrm>
          <a:prstGeom prst="rect">
            <a:avLst/>
          </a:prstGeom>
          <a:noFill/>
          <a:ln w="9525">
            <a:noFill/>
          </a:ln>
        </p:spPr>
        <p:txBody>
          <a:bodyPr wrap="none" lIns="0" tIns="0" rIns="0" bIns="0" anchor="t">
            <a:noAutofit/>
          </a:bodyPr>
          <a:lstStyle/>
          <a:p>
            <a:pPr marL="0" indent="0" algn="ctr">
              <a:lnSpc>
                <a:spcPts val="2719"/>
              </a:lnSpc>
              <a:spcAft>
                <a:spcPts val="0"/>
              </a:spcAft>
              <a:buNone/>
            </a:pPr>
            <a:r>
              <a:rPr lang="en-US" sz="2175" b="1">
                <a:solidFill>
                  <a:srgbClr val="435D74"/>
                </a:solidFill>
                <a:latin typeface="Fira Sans Extra Condensed"/>
                <a:ea typeface="Fira Sans Extra Condensed"/>
                <a:cs typeface="Fira Sans Extra Condensed"/>
              </a:rPr>
              <a:t>Next year</a:t>
            </a:r>
            <a:endParaRPr lang="en-US" sz="2175"/>
          </a:p>
        </p:txBody>
      </p:sp>
      <p:sp>
        <p:nvSpPr>
          <p:cNvPr id="36" name="Text"/>
          <p:cNvSpPr txBox="1"/>
          <p:nvPr/>
        </p:nvSpPr>
        <p:spPr>
          <a:xfrm>
            <a:off x="7248525" y="2762250"/>
            <a:ext cx="1752600" cy="876300"/>
          </a:xfrm>
          <a:prstGeom prst="rect">
            <a:avLst/>
          </a:prstGeom>
          <a:noFill/>
          <a:ln w="9525">
            <a:noFill/>
          </a:ln>
        </p:spPr>
        <p:txBody>
          <a:bodyPr wrap="none" lIns="0" tIns="0" rIns="0" bIns="0" anchor="t">
            <a:noAutofit/>
          </a:bodyPr>
          <a:lstStyle/>
          <a:p>
            <a:pPr marL="0" indent="0" algn="ctr">
              <a:lnSpc>
                <a:spcPts val="1875"/>
              </a:lnSpc>
              <a:spcAft>
                <a:spcPts val="0"/>
              </a:spcAft>
              <a:buNone/>
            </a:pPr>
            <a:r>
              <a:rPr lang="en-US" sz="1500" b="0">
                <a:solidFill>
                  <a:srgbClr val="435D74"/>
                </a:solidFill>
                <a:latin typeface="Roboto"/>
                <a:ea typeface="Roboto"/>
                <a:cs typeface="Roboto"/>
              </a:rPr>
              <a:t>Choose where to</a:t>
            </a:r>
            <a:endParaRPr lang="en-US" sz="1500"/>
          </a:p>
          <a:p>
            <a:pPr marL="0" indent="0" algn="ctr">
              <a:lnSpc>
                <a:spcPts val="1875"/>
              </a:lnSpc>
              <a:spcAft>
                <a:spcPts val="0"/>
              </a:spcAft>
              <a:buNone/>
            </a:pPr>
            <a:r>
              <a:rPr lang="en-US" sz="1500" b="0">
                <a:solidFill>
                  <a:srgbClr val="435D74"/>
                </a:solidFill>
                <a:latin typeface="Roboto"/>
                <a:ea typeface="Roboto"/>
                <a:cs typeface="Roboto"/>
              </a:rPr>
              <a:t>add</a:t>
            </a:r>
            <a:endParaRPr lang="en-US" sz="1500"/>
          </a:p>
          <a:p>
            <a:pPr marL="0" indent="0" algn="ctr">
              <a:lnSpc>
                <a:spcPts val="1875"/>
              </a:lnSpc>
              <a:spcAft>
                <a:spcPts val="0"/>
              </a:spcAft>
              <a:buNone/>
            </a:pPr>
            <a:r>
              <a:rPr lang="en-US" sz="1500" b="0">
                <a:solidFill>
                  <a:srgbClr val="435D74"/>
                </a:solidFill>
                <a:latin typeface="Roboto"/>
                <a:ea typeface="Roboto"/>
                <a:cs typeface="Roboto"/>
              </a:rPr>
              <a:t>storage space.</a:t>
            </a:r>
            <a:endParaRPr lang="en-US" sz="1500"/>
          </a:p>
        </p:txBody>
      </p:sp>
      <p:sp>
        <p:nvSpPr>
          <p:cNvPr id="37"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38"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a:solidFill>
                  <a:srgbClr val="435D74"/>
                </a:solidFill>
                <a:latin typeface="Roboto"/>
                <a:ea typeface="Roboto"/>
                <a:cs typeface="Roboto"/>
              </a:rPr>
              <a:t>Long-term decisions need estimates about conditions further in the future.</a:t>
            </a:r>
            <a:endParaRPr lang="en-US" sz="13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Connected decision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Connected decisions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dirty="0">
                <a:solidFill>
                  <a:srgbClr val="6D8495"/>
                </a:solidFill>
                <a:latin typeface="Roboto"/>
                <a:ea typeface="Roboto"/>
                <a:cs typeface="Roboto"/>
              </a:rPr>
              <a:t>12 / </a:t>
            </a:r>
            <a:r>
              <a:rPr lang="en-US" sz="825" dirty="0">
                <a:solidFill>
                  <a:srgbClr val="6D8495"/>
                </a:solidFill>
                <a:latin typeface="Roboto"/>
                <a:ea typeface="Roboto"/>
                <a:cs typeface="Roboto"/>
              </a:rPr>
              <a:t> 14</a:t>
            </a:r>
            <a:endParaRPr lang="en-US" sz="825" dirty="0"/>
          </a:p>
        </p:txBody>
      </p:sp>
      <p:sp>
        <p:nvSpPr>
          <p:cNvPr id="7" name="Text"/>
          <p:cNvSpPr txBox="1"/>
          <p:nvPr/>
        </p:nvSpPr>
        <p:spPr>
          <a:xfrm>
            <a:off x="495300" y="1047750"/>
            <a:ext cx="7981950" cy="290762"/>
          </a:xfrm>
          <a:prstGeom prst="rect">
            <a:avLst/>
          </a:prstGeom>
          <a:noFill/>
          <a:ln w="9525">
            <a:noFill/>
          </a:ln>
        </p:spPr>
        <p:txBody>
          <a:bodyPr wrap="none" lIns="0" tIns="0" rIns="0" bIns="0" anchor="t">
            <a:noAutofit/>
          </a:bodyPr>
          <a:lstStyle/>
          <a:p>
            <a:pPr marL="0" indent="0" algn="l">
              <a:lnSpc>
                <a:spcPts val="2625"/>
              </a:lnSpc>
              <a:spcAft>
                <a:spcPts val="0"/>
              </a:spcAft>
              <a:buNone/>
            </a:pPr>
            <a:r>
              <a:rPr lang="en-US" sz="2100" b="1" dirty="0">
                <a:solidFill>
                  <a:srgbClr val="007D8B"/>
                </a:solidFill>
                <a:latin typeface="Fira Sans Extra Condensed"/>
                <a:ea typeface="Fira Sans Extra Condensed"/>
                <a:cs typeface="Fira Sans Extra Condensed"/>
              </a:rPr>
              <a:t>One decision can affect another.</a:t>
            </a:r>
            <a:endParaRPr lang="en-US" sz="2100" dirty="0"/>
          </a:p>
        </p:txBody>
      </p:sp>
      <p:grpSp>
        <p:nvGrpSpPr>
          <p:cNvPr id="8" name="Slidesgo vector icon"/>
          <p:cNvGrpSpPr/>
          <p:nvPr/>
        </p:nvGrpSpPr>
        <p:grpSpPr>
          <a:xfrm>
            <a:off x="638175" y="1685925"/>
            <a:ext cx="409575" cy="409586"/>
            <a:chOff x="-2571737" y="2403625"/>
            <a:chExt cx="292225" cy="291425"/>
          </a:xfrm>
        </p:grpSpPr>
        <p:sp>
          <p:nvSpPr>
            <p:cNvPr id="9"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Text"/>
          <p:cNvSpPr txBox="1"/>
          <p:nvPr/>
        </p:nvSpPr>
        <p:spPr>
          <a:xfrm>
            <a:off x="1352550" y="1685925"/>
            <a:ext cx="291465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More products</a:t>
            </a:r>
            <a:endParaRPr lang="en-US" sz="2025"/>
          </a:p>
        </p:txBody>
      </p:sp>
      <p:cxnSp>
        <p:nvCxnSpPr>
          <p:cNvPr id="17" name="Connector"/>
          <p:cNvCxnSpPr/>
          <p:nvPr/>
        </p:nvCxnSpPr>
        <p:spPr>
          <a:xfrm>
            <a:off x="4343400" y="1905000"/>
            <a:ext cx="561975" cy="95"/>
          </a:xfrm>
          <a:prstGeom prst="line">
            <a:avLst/>
          </a:prstGeom>
          <a:ln w="19050">
            <a:solidFill>
              <a:srgbClr val="007D8B"/>
            </a:solidFill>
            <a:tailEnd type="triangle" w="sm" len="sm"/>
          </a:ln>
        </p:spPr>
      </p:cxnSp>
      <p:sp>
        <p:nvSpPr>
          <p:cNvPr id="18" name="Text"/>
          <p:cNvSpPr txBox="1"/>
          <p:nvPr/>
        </p:nvSpPr>
        <p:spPr>
          <a:xfrm>
            <a:off x="5238750" y="1685925"/>
            <a:ext cx="339090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More storage space</a:t>
            </a:r>
            <a:endParaRPr lang="en-US" sz="2025"/>
          </a:p>
        </p:txBody>
      </p:sp>
      <p:cxnSp>
        <p:nvCxnSpPr>
          <p:cNvPr id="19" name="Connector"/>
          <p:cNvCxnSpPr/>
          <p:nvPr/>
        </p:nvCxnSpPr>
        <p:spPr>
          <a:xfrm>
            <a:off x="1352550" y="2266950"/>
            <a:ext cx="7296150" cy="95"/>
          </a:xfrm>
          <a:prstGeom prst="line">
            <a:avLst/>
          </a:prstGeom>
          <a:ln w="9525">
            <a:solidFill>
              <a:srgbClr val="D8E2E8"/>
            </a:solidFill>
          </a:ln>
        </p:spPr>
      </p:cxnSp>
      <p:grpSp>
        <p:nvGrpSpPr>
          <p:cNvPr id="20" name="Slidesgo vector icon"/>
          <p:cNvGrpSpPr/>
          <p:nvPr/>
        </p:nvGrpSpPr>
        <p:grpSpPr>
          <a:xfrm>
            <a:off x="638175" y="2447925"/>
            <a:ext cx="409575" cy="407548"/>
            <a:chOff x="-63679950" y="3360375"/>
            <a:chExt cx="318225" cy="316650"/>
          </a:xfrm>
        </p:grpSpPr>
        <p:sp>
          <p:nvSpPr>
            <p:cNvPr id="21" name="Slidesgo vector icon"/>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Slidesgo vector icon"/>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Slidesgo vector icon"/>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Slidesgo vector icon"/>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cNvSpPr txBox="1"/>
          <p:nvPr/>
        </p:nvSpPr>
        <p:spPr>
          <a:xfrm>
            <a:off x="1352550" y="2447925"/>
            <a:ext cx="291465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More sales</a:t>
            </a:r>
            <a:endParaRPr lang="en-US" sz="2025"/>
          </a:p>
        </p:txBody>
      </p:sp>
      <p:cxnSp>
        <p:nvCxnSpPr>
          <p:cNvPr id="26" name="Connector"/>
          <p:cNvCxnSpPr/>
          <p:nvPr/>
        </p:nvCxnSpPr>
        <p:spPr>
          <a:xfrm>
            <a:off x="4343400" y="2667000"/>
            <a:ext cx="561975" cy="95"/>
          </a:xfrm>
          <a:prstGeom prst="line">
            <a:avLst/>
          </a:prstGeom>
          <a:ln w="19050">
            <a:solidFill>
              <a:srgbClr val="007D8B"/>
            </a:solidFill>
            <a:tailEnd type="triangle" w="sm" len="sm"/>
          </a:ln>
        </p:spPr>
      </p:cxnSp>
      <p:sp>
        <p:nvSpPr>
          <p:cNvPr id="27" name="Text"/>
          <p:cNvSpPr txBox="1"/>
          <p:nvPr/>
        </p:nvSpPr>
        <p:spPr>
          <a:xfrm>
            <a:off x="5238750" y="2447925"/>
            <a:ext cx="339090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More workers</a:t>
            </a:r>
            <a:endParaRPr lang="en-US" sz="2025"/>
          </a:p>
        </p:txBody>
      </p:sp>
      <p:cxnSp>
        <p:nvCxnSpPr>
          <p:cNvPr id="28" name="Connector"/>
          <p:cNvCxnSpPr/>
          <p:nvPr/>
        </p:nvCxnSpPr>
        <p:spPr>
          <a:xfrm>
            <a:off x="1352550" y="3028950"/>
            <a:ext cx="7296150" cy="95"/>
          </a:xfrm>
          <a:prstGeom prst="line">
            <a:avLst/>
          </a:prstGeom>
          <a:ln w="9525">
            <a:solidFill>
              <a:srgbClr val="D8E2E8"/>
            </a:solidFill>
          </a:ln>
        </p:spPr>
      </p:cxnSp>
      <p:grpSp>
        <p:nvGrpSpPr>
          <p:cNvPr id="29" name="Slidesgo vector icon"/>
          <p:cNvGrpSpPr/>
          <p:nvPr/>
        </p:nvGrpSpPr>
        <p:grpSpPr>
          <a:xfrm>
            <a:off x="638175" y="3209925"/>
            <a:ext cx="409575" cy="426643"/>
            <a:chOff x="-65129950" y="2646800"/>
            <a:chExt cx="311125" cy="317425"/>
          </a:xfrm>
        </p:grpSpPr>
        <p:sp>
          <p:nvSpPr>
            <p:cNvPr id="30" name="Slidesgo vector icon"/>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Slidesgo vector icon"/>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Text"/>
          <p:cNvSpPr txBox="1"/>
          <p:nvPr/>
        </p:nvSpPr>
        <p:spPr>
          <a:xfrm>
            <a:off x="1352550" y="3209925"/>
            <a:ext cx="291465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dirty="0">
                <a:solidFill>
                  <a:srgbClr val="435D74"/>
                </a:solidFill>
                <a:latin typeface="Fira Sans Extra Condensed"/>
                <a:ea typeface="Fira Sans Extra Condensed"/>
                <a:cs typeface="Fira Sans Extra Condensed"/>
              </a:rPr>
              <a:t>Faster delivery</a:t>
            </a:r>
            <a:endParaRPr lang="en-US" sz="2025" dirty="0"/>
          </a:p>
        </p:txBody>
      </p:sp>
      <p:cxnSp>
        <p:nvCxnSpPr>
          <p:cNvPr id="33" name="Connector"/>
          <p:cNvCxnSpPr/>
          <p:nvPr/>
        </p:nvCxnSpPr>
        <p:spPr>
          <a:xfrm>
            <a:off x="4343400" y="3429000"/>
            <a:ext cx="561975" cy="95"/>
          </a:xfrm>
          <a:prstGeom prst="line">
            <a:avLst/>
          </a:prstGeom>
          <a:ln w="19050">
            <a:solidFill>
              <a:srgbClr val="007D8B"/>
            </a:solidFill>
            <a:tailEnd type="triangle" w="sm" len="sm"/>
          </a:ln>
        </p:spPr>
      </p:cxnSp>
      <p:sp>
        <p:nvSpPr>
          <p:cNvPr id="34" name="Text"/>
          <p:cNvSpPr txBox="1"/>
          <p:nvPr/>
        </p:nvSpPr>
        <p:spPr>
          <a:xfrm>
            <a:off x="5238750" y="3209925"/>
            <a:ext cx="3390900" cy="428625"/>
          </a:xfrm>
          <a:prstGeom prst="rect">
            <a:avLst/>
          </a:prstGeom>
          <a:noFill/>
          <a:ln w="9525">
            <a:noFill/>
          </a:ln>
        </p:spPr>
        <p:txBody>
          <a:bodyPr wrap="none" lIns="0" tIns="0" rIns="0" bIns="0" anchor="t">
            <a:noAutofit/>
          </a:bodyPr>
          <a:lstStyle/>
          <a:p>
            <a:pPr marL="0" indent="0" algn="l">
              <a:lnSpc>
                <a:spcPts val="2531"/>
              </a:lnSpc>
              <a:spcAft>
                <a:spcPts val="0"/>
              </a:spcAft>
              <a:buNone/>
            </a:pPr>
            <a:r>
              <a:rPr lang="en-US" sz="2025" b="1">
                <a:solidFill>
                  <a:srgbClr val="435D74"/>
                </a:solidFill>
                <a:latin typeface="Fira Sans Extra Condensed"/>
                <a:ea typeface="Fira Sans Extra Condensed"/>
                <a:cs typeface="Fira Sans Extra Condensed"/>
              </a:rPr>
              <a:t>Possibly higher cost</a:t>
            </a:r>
            <a:endParaRPr lang="en-US" sz="2025"/>
          </a:p>
        </p:txBody>
      </p:sp>
      <p:sp>
        <p:nvSpPr>
          <p:cNvPr id="35"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36"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88"/>
              </a:lnSpc>
              <a:spcAft>
                <a:spcPts val="0"/>
              </a:spcAft>
              <a:buNone/>
            </a:pPr>
            <a:r>
              <a:rPr lang="en-US" sz="1350" b="0" dirty="0">
                <a:solidFill>
                  <a:srgbClr val="435D74"/>
                </a:solidFill>
                <a:latin typeface="Roboto"/>
                <a:ea typeface="Roboto"/>
                <a:cs typeface="Roboto"/>
              </a:rPr>
              <a:t>Considering the connections helps avoid creating a new problem.</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How machine learning helps">
    <p:bg>
      <p:bgPr>
        <a:solidFill>
          <a:srgbClr val="FFFFFF"/>
        </a:solidFill>
        <a:effectLst/>
      </p:bgPr>
    </p:bg>
    <p:spTree>
      <p:nvGrpSpPr>
        <p:cNvPr id="1" name="Root"/>
        <p:cNvGrpSpPr/>
        <p:nvPr/>
      </p:nvGrpSpPr>
      <p:grpSpPr>
        <a:xfrm>
          <a:off x="0" y="0"/>
          <a:ext cx="0" cy="0"/>
          <a:chOff x="0" y="0"/>
          <a:chExt cx="0" cy="0"/>
        </a:xfrm>
      </p:grpSpPr>
      <p:sp>
        <p:nvSpPr>
          <p:cNvPr id="2" name="Text"/>
          <p:cNvSpPr txBox="1"/>
          <p:nvPr/>
        </p:nvSpPr>
        <p:spPr>
          <a:xfrm>
            <a:off x="495300" y="361950"/>
            <a:ext cx="8172450" cy="552450"/>
          </a:xfrm>
          <a:prstGeom prst="rect">
            <a:avLst/>
          </a:prstGeom>
          <a:noFill/>
          <a:ln w="9525">
            <a:noFill/>
          </a:ln>
        </p:spPr>
        <p:txBody>
          <a:bodyPr wrap="none" lIns="0" tIns="0" rIns="0" bIns="0" anchor="t">
            <a:noAutofit/>
          </a:bodyPr>
          <a:lstStyle/>
          <a:p>
            <a:pPr marL="0" indent="0" algn="l">
              <a:lnSpc>
                <a:spcPts val="3938"/>
              </a:lnSpc>
              <a:spcAft>
                <a:spcPts val="0"/>
              </a:spcAft>
              <a:buNone/>
            </a:pPr>
            <a:r>
              <a:rPr lang="en-US" sz="3150" b="1">
                <a:solidFill>
                  <a:srgbClr val="435D74"/>
                </a:solidFill>
                <a:latin typeface="Fira Sans Extra Condensed"/>
                <a:ea typeface="Fira Sans Extra Condensed"/>
                <a:cs typeface="Fira Sans Extra Condensed"/>
              </a:rPr>
              <a:t>How machine learning helps</a:t>
            </a:r>
            <a:endParaRPr lang="en-US" sz="3150"/>
          </a:p>
        </p:txBody>
      </p:sp>
      <p:cxnSp>
        <p:nvCxnSpPr>
          <p:cNvPr id="3" name="Connector"/>
          <p:cNvCxnSpPr/>
          <p:nvPr/>
        </p:nvCxnSpPr>
        <p:spPr>
          <a:xfrm>
            <a:off x="495300" y="4762500"/>
            <a:ext cx="8153400" cy="95"/>
          </a:xfrm>
          <a:prstGeom prst="line">
            <a:avLst/>
          </a:prstGeom>
          <a:ln w="6191">
            <a:solidFill>
              <a:srgbClr val="D8E2E8"/>
            </a:solidFill>
          </a:ln>
        </p:spPr>
      </p:cxnSp>
      <p:sp>
        <p:nvSpPr>
          <p:cNvPr id="4" name="Text"/>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p:cNvSpPr txBox="1"/>
          <p:nvPr/>
        </p:nvSpPr>
        <p:spPr>
          <a:xfrm>
            <a:off x="8048625" y="4867275"/>
            <a:ext cx="600075" cy="171450"/>
          </a:xfrm>
          <a:prstGeom prst="rect">
            <a:avLst/>
          </a:prstGeom>
          <a:noFill/>
          <a:ln w="9525">
            <a:noFill/>
          </a:ln>
        </p:spPr>
        <p:txBody>
          <a:bodyPr wrap="none" lIns="0" tIns="0" rIns="0" bIns="0" anchor="t">
            <a:noAutofit/>
          </a:bodyPr>
          <a:lstStyle/>
          <a:p>
            <a:pPr algn="r">
              <a:lnSpc>
                <a:spcPts val="1031"/>
              </a:lnSpc>
            </a:pPr>
            <a:r>
              <a:rPr lang="en-US" sz="825" b="0">
                <a:solidFill>
                  <a:srgbClr val="6D8495"/>
                </a:solidFill>
                <a:latin typeface="Roboto"/>
                <a:ea typeface="Roboto"/>
                <a:cs typeface="Roboto"/>
              </a:rPr>
              <a:t>13 </a:t>
            </a:r>
            <a:r>
              <a:rPr lang="en-US" sz="825">
                <a:solidFill>
                  <a:srgbClr val="6D8495"/>
                </a:solidFill>
                <a:latin typeface="Roboto"/>
                <a:ea typeface="Roboto"/>
                <a:cs typeface="Roboto"/>
              </a:rPr>
              <a:t>/ 14</a:t>
            </a:r>
            <a:endParaRPr lang="en-US" sz="825" dirty="0"/>
          </a:p>
        </p:txBody>
      </p:sp>
      <p:sp>
        <p:nvSpPr>
          <p:cNvPr id="7" name="Panel"/>
          <p:cNvSpPr/>
          <p:nvPr/>
        </p:nvSpPr>
        <p:spPr>
          <a:xfrm>
            <a:off x="495300" y="1104900"/>
            <a:ext cx="3762375" cy="495300"/>
          </a:xfrm>
          <a:prstGeom prst="roundRect">
            <a:avLst>
              <a:gd name="adj" fmla="val 10000"/>
            </a:avLst>
          </a:prstGeom>
          <a:solidFill>
            <a:srgbClr val="F3F6F8"/>
          </a:solidFill>
          <a:ln w="9525">
            <a:noFill/>
          </a:ln>
        </p:spPr>
        <p:txBody>
          <a:bodyPr/>
          <a:lstStyle/>
          <a:p>
            <a:endParaRPr lang="en-US"/>
          </a:p>
        </p:txBody>
      </p:sp>
      <p:sp>
        <p:nvSpPr>
          <p:cNvPr id="8" name="Text"/>
          <p:cNvSpPr txBox="1"/>
          <p:nvPr/>
        </p:nvSpPr>
        <p:spPr>
          <a:xfrm>
            <a:off x="685800" y="1209675"/>
            <a:ext cx="3381375" cy="371475"/>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435D74"/>
                </a:solidFill>
                <a:latin typeface="Fira Sans Extra Condensed"/>
                <a:ea typeface="Fira Sans Extra Condensed"/>
                <a:cs typeface="Fira Sans Extra Condensed"/>
              </a:rPr>
              <a:t>Machine learning estimates</a:t>
            </a:r>
            <a:endParaRPr lang="en-US" sz="2175"/>
          </a:p>
        </p:txBody>
      </p:sp>
      <p:sp>
        <p:nvSpPr>
          <p:cNvPr id="9" name="Panel"/>
          <p:cNvSpPr/>
          <p:nvPr/>
        </p:nvSpPr>
        <p:spPr>
          <a:xfrm>
            <a:off x="4857750" y="1104900"/>
            <a:ext cx="3790950" cy="495300"/>
          </a:xfrm>
          <a:prstGeom prst="roundRect">
            <a:avLst>
              <a:gd name="adj" fmla="val 10000"/>
            </a:avLst>
          </a:prstGeom>
          <a:solidFill>
            <a:srgbClr val="435D74"/>
          </a:solidFill>
          <a:ln w="9525">
            <a:noFill/>
          </a:ln>
        </p:spPr>
        <p:txBody>
          <a:bodyPr/>
          <a:lstStyle/>
          <a:p>
            <a:endParaRPr lang="en-US"/>
          </a:p>
        </p:txBody>
      </p:sp>
      <p:sp>
        <p:nvSpPr>
          <p:cNvPr id="10" name="Text"/>
          <p:cNvSpPr txBox="1"/>
          <p:nvPr/>
        </p:nvSpPr>
        <p:spPr>
          <a:xfrm>
            <a:off x="5048250" y="1209675"/>
            <a:ext cx="3381375" cy="371475"/>
          </a:xfrm>
          <a:prstGeom prst="rect">
            <a:avLst/>
          </a:prstGeom>
          <a:noFill/>
          <a:ln w="9525">
            <a:noFill/>
          </a:ln>
        </p:spPr>
        <p:txBody>
          <a:bodyPr wrap="none" lIns="0" tIns="0" rIns="0" bIns="0" anchor="t">
            <a:noAutofit/>
          </a:bodyPr>
          <a:lstStyle/>
          <a:p>
            <a:pPr marL="0" indent="0" algn="l">
              <a:lnSpc>
                <a:spcPts val="2719"/>
              </a:lnSpc>
              <a:spcAft>
                <a:spcPts val="0"/>
              </a:spcAft>
              <a:buNone/>
            </a:pPr>
            <a:r>
              <a:rPr lang="en-US" sz="2175" b="1">
                <a:solidFill>
                  <a:srgbClr val="FFFFFF"/>
                </a:solidFill>
                <a:latin typeface="Fira Sans Extra Condensed"/>
                <a:ea typeface="Fira Sans Extra Condensed"/>
                <a:cs typeface="Fira Sans Extra Condensed"/>
              </a:rPr>
              <a:t>Prescriptive model suggests</a:t>
            </a:r>
            <a:endParaRPr lang="en-US" sz="2175"/>
          </a:p>
        </p:txBody>
      </p:sp>
      <p:grpSp>
        <p:nvGrpSpPr>
          <p:cNvPr id="11" name="Slidesgo vector icon"/>
          <p:cNvGrpSpPr/>
          <p:nvPr/>
        </p:nvGrpSpPr>
        <p:grpSpPr>
          <a:xfrm>
            <a:off x="619125" y="1905000"/>
            <a:ext cx="333375" cy="333384"/>
            <a:chOff x="-2571737" y="2403625"/>
            <a:chExt cx="292225" cy="291425"/>
          </a:xfrm>
        </p:grpSpPr>
        <p:sp>
          <p:nvSpPr>
            <p:cNvPr id="12" name="Slidesgo vector icon"/>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Slidesgo vector icon"/>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Slidesgo vector icon"/>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Slidesgo vector icon"/>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Slidesgo vector icon"/>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Slidesgo vector icon"/>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Slidesgo vector icon"/>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
          <p:cNvSpPr txBox="1"/>
          <p:nvPr/>
        </p:nvSpPr>
        <p:spPr>
          <a:xfrm>
            <a:off x="1143000" y="1895475"/>
            <a:ext cx="3009900"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How much customers will buy</a:t>
            </a:r>
            <a:endParaRPr lang="en-US" sz="1500"/>
          </a:p>
        </p:txBody>
      </p:sp>
      <p:cxnSp>
        <p:nvCxnSpPr>
          <p:cNvPr id="20" name="Connector"/>
          <p:cNvCxnSpPr/>
          <p:nvPr/>
        </p:nvCxnSpPr>
        <p:spPr>
          <a:xfrm>
            <a:off x="4343400" y="2114550"/>
            <a:ext cx="381000" cy="95"/>
          </a:xfrm>
          <a:prstGeom prst="line">
            <a:avLst/>
          </a:prstGeom>
          <a:ln w="14288">
            <a:solidFill>
              <a:srgbClr val="869FB2"/>
            </a:solidFill>
            <a:tailEnd type="triangle" w="sm" len="sm"/>
          </a:ln>
        </p:spPr>
      </p:cxnSp>
      <p:sp>
        <p:nvSpPr>
          <p:cNvPr id="21" name="Text"/>
          <p:cNvSpPr txBox="1"/>
          <p:nvPr/>
        </p:nvSpPr>
        <p:spPr>
          <a:xfrm>
            <a:off x="5057775" y="1895475"/>
            <a:ext cx="3381375"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How much stock to order</a:t>
            </a:r>
            <a:endParaRPr lang="en-US" sz="1500"/>
          </a:p>
        </p:txBody>
      </p:sp>
      <p:grpSp>
        <p:nvGrpSpPr>
          <p:cNvPr id="22" name="Slidesgo vector icon"/>
          <p:cNvGrpSpPr/>
          <p:nvPr/>
        </p:nvGrpSpPr>
        <p:grpSpPr>
          <a:xfrm>
            <a:off x="619125" y="2619375"/>
            <a:ext cx="333375" cy="333367"/>
            <a:chOff x="1412450" y="1954475"/>
            <a:chExt cx="297750" cy="296175"/>
          </a:xfrm>
        </p:grpSpPr>
        <p:sp>
          <p:nvSpPr>
            <p:cNvPr id="23" name="Slidesgo vector icon"/>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Slidesgo vector icon"/>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
          <p:cNvSpPr txBox="1"/>
          <p:nvPr/>
        </p:nvSpPr>
        <p:spPr>
          <a:xfrm>
            <a:off x="1143000" y="2609850"/>
            <a:ext cx="3009900"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When a machine may fail</a:t>
            </a:r>
            <a:endParaRPr lang="en-US" sz="1500"/>
          </a:p>
        </p:txBody>
      </p:sp>
      <p:cxnSp>
        <p:nvCxnSpPr>
          <p:cNvPr id="26" name="Connector"/>
          <p:cNvCxnSpPr/>
          <p:nvPr/>
        </p:nvCxnSpPr>
        <p:spPr>
          <a:xfrm>
            <a:off x="4343400" y="2828925"/>
            <a:ext cx="381000" cy="95"/>
          </a:xfrm>
          <a:prstGeom prst="line">
            <a:avLst/>
          </a:prstGeom>
          <a:ln w="14288">
            <a:solidFill>
              <a:srgbClr val="869FB2"/>
            </a:solidFill>
            <a:tailEnd type="triangle" w="sm" len="sm"/>
          </a:ln>
        </p:spPr>
      </p:cxnSp>
      <p:sp>
        <p:nvSpPr>
          <p:cNvPr id="27" name="Text"/>
          <p:cNvSpPr txBox="1"/>
          <p:nvPr/>
        </p:nvSpPr>
        <p:spPr>
          <a:xfrm>
            <a:off x="5057775" y="2609850"/>
            <a:ext cx="3381375"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When to plan a repair</a:t>
            </a:r>
            <a:endParaRPr lang="en-US" sz="1500"/>
          </a:p>
        </p:txBody>
      </p:sp>
      <p:grpSp>
        <p:nvGrpSpPr>
          <p:cNvPr id="28" name="Slidesgo vector icon"/>
          <p:cNvGrpSpPr/>
          <p:nvPr/>
        </p:nvGrpSpPr>
        <p:grpSpPr>
          <a:xfrm>
            <a:off x="619125" y="3333750"/>
            <a:ext cx="333375" cy="331725"/>
            <a:chOff x="-63679950" y="3360375"/>
            <a:chExt cx="318225" cy="316650"/>
          </a:xfrm>
        </p:grpSpPr>
        <p:sp>
          <p:nvSpPr>
            <p:cNvPr id="29" name="Slidesgo vector icon"/>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Slidesgo vector icon"/>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Slidesgo vector icon"/>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Slidesgo vector icon"/>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007D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Text"/>
          <p:cNvSpPr txBox="1"/>
          <p:nvPr/>
        </p:nvSpPr>
        <p:spPr>
          <a:xfrm>
            <a:off x="1143000" y="3324225"/>
            <a:ext cx="3009900"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How many requests may arrive</a:t>
            </a:r>
            <a:endParaRPr lang="en-US" sz="1500"/>
          </a:p>
        </p:txBody>
      </p:sp>
      <p:cxnSp>
        <p:nvCxnSpPr>
          <p:cNvPr id="34" name="Connector"/>
          <p:cNvCxnSpPr/>
          <p:nvPr/>
        </p:nvCxnSpPr>
        <p:spPr>
          <a:xfrm>
            <a:off x="4343400" y="3543300"/>
            <a:ext cx="381000" cy="95"/>
          </a:xfrm>
          <a:prstGeom prst="line">
            <a:avLst/>
          </a:prstGeom>
          <a:ln w="14288">
            <a:solidFill>
              <a:srgbClr val="869FB2"/>
            </a:solidFill>
            <a:tailEnd type="triangle" w="sm" len="sm"/>
          </a:ln>
        </p:spPr>
      </p:cxnSp>
      <p:sp>
        <p:nvSpPr>
          <p:cNvPr id="35" name="Text"/>
          <p:cNvSpPr txBox="1"/>
          <p:nvPr/>
        </p:nvSpPr>
        <p:spPr>
          <a:xfrm>
            <a:off x="5057775" y="3324225"/>
            <a:ext cx="3381375" cy="590550"/>
          </a:xfrm>
          <a:prstGeom prst="rect">
            <a:avLst/>
          </a:prstGeom>
          <a:noFill/>
          <a:ln w="9525">
            <a:noFill/>
          </a:ln>
        </p:spPr>
        <p:txBody>
          <a:bodyPr wrap="none" lIns="0" tIns="0" rIns="0" bIns="0" anchor="t">
            <a:noAutofit/>
          </a:bodyPr>
          <a:lstStyle/>
          <a:p>
            <a:pPr marL="0" indent="0" algn="l">
              <a:lnSpc>
                <a:spcPts val="1875"/>
              </a:lnSpc>
              <a:spcAft>
                <a:spcPts val="0"/>
              </a:spcAft>
              <a:buNone/>
            </a:pPr>
            <a:r>
              <a:rPr lang="en-US" sz="1500" b="0">
                <a:solidFill>
                  <a:srgbClr val="435D74"/>
                </a:solidFill>
                <a:latin typeface="Roboto"/>
                <a:ea typeface="Roboto"/>
                <a:cs typeface="Roboto"/>
              </a:rPr>
              <a:t>How many workers to assign</a:t>
            </a:r>
            <a:endParaRPr lang="en-US" sz="1500"/>
          </a:p>
        </p:txBody>
      </p:sp>
      <p:sp>
        <p:nvSpPr>
          <p:cNvPr id="36" name="Panel"/>
          <p:cNvSpPr/>
          <p:nvPr/>
        </p:nvSpPr>
        <p:spPr>
          <a:xfrm>
            <a:off x="495300" y="4219575"/>
            <a:ext cx="8153400" cy="400050"/>
          </a:xfrm>
          <a:prstGeom prst="roundRect">
            <a:avLst>
              <a:gd name="adj" fmla="val 10000"/>
            </a:avLst>
          </a:prstGeom>
          <a:solidFill>
            <a:srgbClr val="F3F6F8"/>
          </a:solidFill>
          <a:ln w="9525">
            <a:noFill/>
          </a:ln>
        </p:spPr>
        <p:txBody>
          <a:bodyPr/>
          <a:lstStyle/>
          <a:p>
            <a:endParaRPr lang="en-US"/>
          </a:p>
        </p:txBody>
      </p:sp>
      <p:sp>
        <p:nvSpPr>
          <p:cNvPr id="37" name="Text"/>
          <p:cNvSpPr txBox="1"/>
          <p:nvPr/>
        </p:nvSpPr>
        <p:spPr>
          <a:xfrm>
            <a:off x="666750" y="4295775"/>
            <a:ext cx="7810500" cy="295275"/>
          </a:xfrm>
          <a:prstGeom prst="rect">
            <a:avLst/>
          </a:prstGeom>
          <a:noFill/>
          <a:ln w="9525">
            <a:noFill/>
          </a:ln>
        </p:spPr>
        <p:txBody>
          <a:bodyPr wrap="none" lIns="0" tIns="0" rIns="0" bIns="0" anchor="t">
            <a:noAutofit/>
          </a:bodyPr>
          <a:lstStyle/>
          <a:p>
            <a:pPr marL="0" indent="0" algn="l">
              <a:lnSpc>
                <a:spcPts val="1641"/>
              </a:lnSpc>
              <a:spcAft>
                <a:spcPts val="0"/>
              </a:spcAft>
              <a:buNone/>
            </a:pPr>
            <a:r>
              <a:rPr lang="en-US" sz="1312" b="0">
                <a:solidFill>
                  <a:srgbClr val="435D74"/>
                </a:solidFill>
                <a:latin typeface="Roboto"/>
                <a:ea typeface="Roboto"/>
                <a:cs typeface="Roboto"/>
              </a:rPr>
              <a:t>Predictions are inputs. Estimates can also come from people or other methods.</a:t>
            </a:r>
            <a:endParaRPr lang="en-US" sz="1312"/>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Root">
          <a:extLst>
            <a:ext uri="{FF2B5EF4-FFF2-40B4-BE49-F238E27FC236}">
              <a16:creationId xmlns:a16="http://schemas.microsoft.com/office/drawing/2014/main" id="{49B883FB-59AA-61C2-7CCC-52D1B478485B}"/>
            </a:ext>
          </a:extLst>
        </p:cNvPr>
        <p:cNvGrpSpPr/>
        <p:nvPr/>
      </p:nvGrpSpPr>
      <p:grpSpPr>
        <a:xfrm>
          <a:off x="0" y="0"/>
          <a:ext cx="0" cy="0"/>
          <a:chOff x="0" y="0"/>
          <a:chExt cx="0" cy="0"/>
        </a:xfrm>
      </p:grpSpPr>
      <p:cxnSp>
        <p:nvCxnSpPr>
          <p:cNvPr id="3" name="Connector">
            <a:extLst>
              <a:ext uri="{FF2B5EF4-FFF2-40B4-BE49-F238E27FC236}">
                <a16:creationId xmlns:a16="http://schemas.microsoft.com/office/drawing/2014/main" id="{1F6F1DD7-9C27-2067-E159-24DBF3A1B124}"/>
              </a:ext>
            </a:extLst>
          </p:cNvPr>
          <p:cNvCxnSpPr/>
          <p:nvPr/>
        </p:nvCxnSpPr>
        <p:spPr>
          <a:xfrm>
            <a:off x="495300" y="4762500"/>
            <a:ext cx="8153400" cy="95"/>
          </a:xfrm>
          <a:prstGeom prst="line">
            <a:avLst/>
          </a:prstGeom>
          <a:ln w="6191">
            <a:solidFill>
              <a:srgbClr val="D8E2E8"/>
            </a:solidFill>
          </a:ln>
        </p:spPr>
      </p:cxnSp>
      <p:sp>
        <p:nvSpPr>
          <p:cNvPr id="4" name="Text">
            <a:extLst>
              <a:ext uri="{FF2B5EF4-FFF2-40B4-BE49-F238E27FC236}">
                <a16:creationId xmlns:a16="http://schemas.microsoft.com/office/drawing/2014/main" id="{0C6390FA-3996-05C3-EB82-7E1EB5F70CAC}"/>
              </a:ext>
            </a:extLst>
          </p:cNvPr>
          <p:cNvSpPr txBox="1"/>
          <p:nvPr/>
        </p:nvSpPr>
        <p:spPr>
          <a:xfrm>
            <a:off x="495300" y="4867275"/>
            <a:ext cx="2762250" cy="171450"/>
          </a:xfrm>
          <a:prstGeom prst="rect">
            <a:avLst/>
          </a:prstGeom>
          <a:noFill/>
          <a:ln w="9525">
            <a:noFill/>
          </a:ln>
        </p:spPr>
        <p:txBody>
          <a:bodyPr wrap="none" lIns="0" tIns="0" rIns="0" bIns="0" anchor="t">
            <a:noAutofit/>
          </a:bodyPr>
          <a:lstStyle/>
          <a:p>
            <a:pPr marL="0" indent="0" algn="l">
              <a:lnSpc>
                <a:spcPts val="1031"/>
              </a:lnSpc>
              <a:spcAft>
                <a:spcPts val="0"/>
              </a:spcAft>
              <a:buNone/>
            </a:pPr>
            <a:r>
              <a:rPr lang="en-US" sz="825" b="0">
                <a:solidFill>
                  <a:srgbClr val="6D8495"/>
                </a:solidFill>
                <a:latin typeface="Roboto"/>
                <a:ea typeface="Roboto"/>
                <a:cs typeface="Roboto"/>
              </a:rPr>
              <a:t>Prescriptive analytics</a:t>
            </a:r>
            <a:endParaRPr lang="en-US" sz="825"/>
          </a:p>
        </p:txBody>
      </p:sp>
      <p:sp>
        <p:nvSpPr>
          <p:cNvPr id="6" name="Text">
            <a:extLst>
              <a:ext uri="{FF2B5EF4-FFF2-40B4-BE49-F238E27FC236}">
                <a16:creationId xmlns:a16="http://schemas.microsoft.com/office/drawing/2014/main" id="{8BE238E8-78E0-D554-C2D7-59227F0105BB}"/>
              </a:ext>
            </a:extLst>
          </p:cNvPr>
          <p:cNvSpPr txBox="1"/>
          <p:nvPr/>
        </p:nvSpPr>
        <p:spPr>
          <a:xfrm>
            <a:off x="8048625" y="4867275"/>
            <a:ext cx="600075" cy="171450"/>
          </a:xfrm>
          <a:prstGeom prst="rect">
            <a:avLst/>
          </a:prstGeom>
          <a:noFill/>
          <a:ln w="9525">
            <a:noFill/>
          </a:ln>
        </p:spPr>
        <p:txBody>
          <a:bodyPr wrap="none" lIns="0" tIns="0" rIns="0" bIns="0" anchor="t">
            <a:noAutofit/>
          </a:bodyPr>
          <a:lstStyle/>
          <a:p>
            <a:pPr marL="0" indent="0" algn="r">
              <a:lnSpc>
                <a:spcPts val="1031"/>
              </a:lnSpc>
              <a:spcAft>
                <a:spcPts val="0"/>
              </a:spcAft>
              <a:buNone/>
            </a:pPr>
            <a:r>
              <a:rPr lang="en-US" sz="825" b="0" dirty="0">
                <a:solidFill>
                  <a:srgbClr val="6D8495"/>
                </a:solidFill>
                <a:latin typeface="Roboto"/>
                <a:ea typeface="Roboto"/>
                <a:cs typeface="Roboto"/>
              </a:rPr>
              <a:t>14 / 14</a:t>
            </a:r>
            <a:endParaRPr lang="en-US" sz="825" dirty="0"/>
          </a:p>
        </p:txBody>
      </p:sp>
      <p:sp>
        <p:nvSpPr>
          <p:cNvPr id="22" name="Text">
            <a:extLst>
              <a:ext uri="{FF2B5EF4-FFF2-40B4-BE49-F238E27FC236}">
                <a16:creationId xmlns:a16="http://schemas.microsoft.com/office/drawing/2014/main" id="{402E276F-AAF5-DEAF-EC9D-95A2775EB50E}"/>
              </a:ext>
            </a:extLst>
          </p:cNvPr>
          <p:cNvSpPr txBox="1"/>
          <p:nvPr/>
        </p:nvSpPr>
        <p:spPr>
          <a:xfrm>
            <a:off x="1794424" y="1347538"/>
            <a:ext cx="6222044" cy="2007554"/>
          </a:xfrm>
          <a:prstGeom prst="rect">
            <a:avLst/>
          </a:prstGeom>
          <a:noFill/>
          <a:ln w="9525">
            <a:noFill/>
          </a:ln>
        </p:spPr>
        <p:txBody>
          <a:bodyPr wrap="none" lIns="0" tIns="0" rIns="0" bIns="0" anchor="t">
            <a:noAutofit/>
          </a:bodyPr>
          <a:lstStyle/>
          <a:p>
            <a:pPr marL="0" indent="0" algn="l">
              <a:lnSpc>
                <a:spcPts val="3938"/>
              </a:lnSpc>
              <a:spcAft>
                <a:spcPts val="0"/>
              </a:spcAft>
              <a:buNone/>
            </a:pPr>
            <a:endParaRPr lang="en-US" sz="9600" b="1" dirty="0">
              <a:solidFill>
                <a:srgbClr val="435D74"/>
              </a:solidFill>
              <a:latin typeface="Fira Sans Extra Condensed"/>
              <a:ea typeface="Fira Sans Extra Condensed"/>
              <a:cs typeface="Fira Sans Extra Condensed"/>
            </a:endParaRPr>
          </a:p>
          <a:p>
            <a:pPr marL="0" indent="0" algn="l">
              <a:lnSpc>
                <a:spcPts val="3938"/>
              </a:lnSpc>
              <a:spcAft>
                <a:spcPts val="0"/>
              </a:spcAft>
              <a:buNone/>
            </a:pPr>
            <a:endParaRPr lang="en-US" sz="9600" b="1" dirty="0">
              <a:solidFill>
                <a:srgbClr val="435D74"/>
              </a:solidFill>
              <a:latin typeface="Fira Sans Extra Condensed"/>
              <a:ea typeface="Fira Sans Extra Condensed"/>
              <a:cs typeface="Fira Sans Extra Condensed"/>
            </a:endParaRPr>
          </a:p>
          <a:p>
            <a:pPr marL="0" indent="0" algn="l">
              <a:lnSpc>
                <a:spcPts val="3938"/>
              </a:lnSpc>
              <a:spcAft>
                <a:spcPts val="0"/>
              </a:spcAft>
              <a:buNone/>
            </a:pPr>
            <a:r>
              <a:rPr lang="en-US" sz="9600" b="1" dirty="0">
                <a:solidFill>
                  <a:srgbClr val="435D74"/>
                </a:solidFill>
                <a:latin typeface="Fira Sans Extra Condensed"/>
                <a:ea typeface="Fira Sans Extra Condensed"/>
                <a:cs typeface="Fira Sans Extra Condensed"/>
              </a:rPr>
              <a:t>Thank You !</a:t>
            </a:r>
            <a:endParaRPr lang="en-US" sz="9600" dirty="0"/>
          </a:p>
        </p:txBody>
      </p:sp>
    </p:spTree>
    <p:extLst>
      <p:ext uri="{BB962C8B-B14F-4D97-AF65-F5344CB8AC3E}">
        <p14:creationId xmlns:p14="http://schemas.microsoft.com/office/powerpoint/2010/main" val="4170041916"/>
      </p:ext>
    </p:extLst>
  </p:cSld>
  <p:clrMapOvr>
    <a:masterClrMapping/>
  </p:clrMapOvr>
</p:sld>
</file>

<file path=ppt/theme/theme1.xml><?xml version="1.0" encoding="utf-8"?>
<a:theme xmlns:a="http://schemas.openxmlformats.org/drawingml/2006/main" name="Big Data Infographics by Slidesgo">
  <a:themeElements>
    <a:clrScheme name="Simple Light">
      <a:dk1>
        <a:srgbClr val="000000"/>
      </a:dk1>
      <a:lt1>
        <a:srgbClr val="FFFFFF"/>
      </a:lt1>
      <a:dk2>
        <a:srgbClr val="595959"/>
      </a:dk2>
      <a:lt2>
        <a:srgbClr val="EEEEEE"/>
      </a:lt2>
      <a:accent1>
        <a:srgbClr val="FFC64E"/>
      </a:accent1>
      <a:accent2>
        <a:srgbClr val="FF8001"/>
      </a:accent2>
      <a:accent3>
        <a:srgbClr val="5FD0DB"/>
      </a:accent3>
      <a:accent4>
        <a:srgbClr val="32AAD9"/>
      </a:accent4>
      <a:accent5>
        <a:srgbClr val="1A569C"/>
      </a:accent5>
      <a:accent6>
        <a:srgbClr val="D558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3588</Words>
  <Application>Microsoft Office PowerPoint</Application>
  <PresentationFormat>On-screen Show (16:9)</PresentationFormat>
  <Paragraphs>490</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Roboto</vt:lpstr>
      <vt:lpstr>Arial</vt:lpstr>
      <vt:lpstr>Proxima Nova Semibold</vt:lpstr>
      <vt:lpstr>Proxima Nova</vt:lpstr>
      <vt:lpstr>Fira Sans Extra Condensed SemiBold</vt:lpstr>
      <vt:lpstr>Fira Sans Extra Condensed</vt:lpstr>
      <vt:lpstr>Big Data Infographics by Slidesgo</vt:lpstr>
      <vt:lpstr>Slidesgo Final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Ali Omar</cp:lastModifiedBy>
  <cp:revision>4</cp:revision>
  <dcterms:modified xsi:type="dcterms:W3CDTF">2026-10-11T11:47:15Z</dcterms:modified>
</cp:coreProperties>
</file>