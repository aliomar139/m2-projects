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62000" y="850000"/>
            <a:ext cx="160000" cy="3400000"/>
          </a:xfrm>
          <a:prstGeom prst="rect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1250000" y="1100000"/>
            <a:ext cx="9800000" cy="13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5200" b="1" i="0">
                <a:solidFill>
                  <a:srgbClr val="FFFFFF"/>
                </a:solidFill>
                <a:latin typeface="Aptos"/>
              </a:rPr>
              <a:t>Prescriptive</a:t>
            </a:r>
            <a:endParaRPr lang="en-US" sz="5200"/>
          </a:p>
          <a:p>
            <a:pPr algn="l"/>
            <a:r>
              <a:rPr lang="en-US" sz="5200" b="1" i="0">
                <a:solidFill>
                  <a:srgbClr val="FFFFFF"/>
                </a:solidFill>
                <a:latin typeface="Aptos"/>
              </a:rPr>
              <a:t>analytics</a:t>
            </a:r>
            <a:endParaRPr lang="en-US" sz="5200"/>
          </a:p>
        </p:txBody>
      </p:sp>
      <p:sp>
        <p:nvSpPr>
          <p:cNvPr id="5" name="Text 5"/>
          <p:cNvSpPr txBox="1"/>
          <p:nvPr/>
        </p:nvSpPr>
        <p:spPr>
          <a:xfrm>
            <a:off x="1290000" y="2900000"/>
            <a:ext cx="94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500" b="0" i="0">
                <a:solidFill>
                  <a:srgbClr val="B7D7F0"/>
                </a:solidFill>
                <a:latin typeface="Aptos"/>
              </a:rPr>
              <a:t>Turning analysis into a recommended action</a:t>
            </a:r>
            <a:endParaRPr lang="en-US" sz="2500"/>
          </a:p>
        </p:txBody>
      </p:sp>
      <p:sp>
        <p:nvSpPr>
          <p:cNvPr id="6" name="Text 6"/>
          <p:cNvSpPr txBox="1"/>
          <p:nvPr/>
        </p:nvSpPr>
        <p:spPr>
          <a:xfrm>
            <a:off x="1290000" y="3940000"/>
            <a:ext cx="88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FFFFFF"/>
                </a:solidFill>
                <a:latin typeface="Aptos"/>
              </a:rPr>
              <a:t>Using goals, forecasts, and real-world limits to guide decisions</a:t>
            </a:r>
            <a:endParaRPr lang="en-US" sz="1900"/>
          </a:p>
        </p:txBody>
      </p:sp>
      <p:sp>
        <p:nvSpPr>
          <p:cNvPr id="7" name="Shape 7"/>
          <p:cNvSpPr/>
          <p:nvPr/>
        </p:nvSpPr>
        <p:spPr>
          <a:xfrm>
            <a:off x="10300000" y="4850000"/>
            <a:ext cx="500000" cy="50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0900000" y="4300000"/>
            <a:ext cx="400000" cy="40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1200000" y="5200000"/>
            <a:ext cx="250000" cy="250000"/>
          </a:xfrm>
          <a:prstGeom prst="ellipse">
            <a:avLst/>
          </a:prstGeom>
          <a:solidFill>
            <a:srgbClr val="74A9D8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What is prescriptive analytics?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THE DECISION QUESTION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5" name="Text 5"/>
          <p:cNvSpPr txBox="1"/>
          <p:nvPr/>
        </p:nvSpPr>
        <p:spPr>
          <a:xfrm>
            <a:off x="900000" y="1550000"/>
            <a:ext cx="10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3600" b="1" i="0">
                <a:solidFill>
                  <a:srgbClr val="145DA0"/>
                </a:solidFill>
                <a:latin typeface="Aptos"/>
              </a:rPr>
              <a:t>Given what we know, what should we do?</a:t>
            </a:r>
            <a:endParaRPr lang="en-US" sz="3600"/>
          </a:p>
        </p:txBody>
      </p:sp>
      <p:sp>
        <p:nvSpPr>
          <p:cNvPr id="6" name="Shape 6"/>
          <p:cNvSpPr/>
          <p:nvPr/>
        </p:nvSpPr>
        <p:spPr>
          <a:xfrm>
            <a:off x="1200000" y="2750000"/>
            <a:ext cx="3000000" cy="1250000"/>
          </a:xfrm>
          <a:prstGeom prst="rect">
            <a:avLst/>
          </a:prstGeom>
          <a:solidFill>
            <a:srgbClr val="EAF3FA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4550000" y="2750000"/>
            <a:ext cx="3000000" cy="125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7900000" y="2750000"/>
            <a:ext cx="3000000" cy="1250000"/>
          </a:xfrm>
          <a:prstGeom prst="rect">
            <a:avLst/>
          </a:prstGeom>
          <a:solidFill>
            <a:srgbClr val="FFF3E8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80000" y="3050000"/>
            <a:ext cx="264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Compare possible</a:t>
            </a:r>
            <a:endParaRPr lang="en-US" sz="2100"/>
          </a:p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actions</a:t>
            </a:r>
            <a:endParaRPr lang="en-US" sz="2100"/>
          </a:p>
        </p:txBody>
      </p:sp>
      <p:sp>
        <p:nvSpPr>
          <p:cNvPr id="10" name="Text 10"/>
          <p:cNvSpPr txBox="1"/>
          <p:nvPr/>
        </p:nvSpPr>
        <p:spPr>
          <a:xfrm>
            <a:off x="4730000" y="3050000"/>
            <a:ext cx="264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Evaluate against</a:t>
            </a:r>
            <a:endParaRPr lang="en-US" sz="2100"/>
          </a:p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a goal and limits</a:t>
            </a:r>
            <a:endParaRPr lang="en-US" sz="2100"/>
          </a:p>
        </p:txBody>
      </p:sp>
      <p:sp>
        <p:nvSpPr>
          <p:cNvPr id="11" name="Text 11"/>
          <p:cNvSpPr txBox="1"/>
          <p:nvPr/>
        </p:nvSpPr>
        <p:spPr>
          <a:xfrm>
            <a:off x="8080000" y="3050000"/>
            <a:ext cx="264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Recommend or</a:t>
            </a:r>
            <a:endParaRPr lang="en-US" sz="2100"/>
          </a:p>
          <a:p>
            <a:pPr algn="ctr"/>
            <a:r>
              <a:rPr lang="en-US" sz="2100" b="1" i="0">
                <a:solidFill>
                  <a:srgbClr val="102A43"/>
                </a:solidFill>
                <a:latin typeface="Aptos"/>
              </a:rPr>
              <a:t>automate an action</a:t>
            </a:r>
            <a:endParaRPr lang="en-US" sz="2100"/>
          </a:p>
        </p:txBody>
      </p:sp>
      <p:sp>
        <p:nvSpPr>
          <p:cNvPr id="12" name="Text 12"/>
          <p:cNvSpPr txBox="1"/>
          <p:nvPr/>
        </p:nvSpPr>
        <p:spPr>
          <a:xfrm>
            <a:off x="1100000" y="4750000"/>
            <a:ext cx="10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00" b="0" i="0">
                <a:solidFill>
                  <a:srgbClr val="243B53"/>
                </a:solidFill>
                <a:latin typeface="Aptos"/>
              </a:rPr>
              <a:t>Outputs can be a recommendation, ranked options, or an automated action.</a:t>
            </a:r>
            <a:endParaRPr lang="en-US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What goes into a prescription?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INPUTS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850000" y="1430000"/>
            <a:ext cx="260000" cy="26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350000" y="138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Decision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4250000" y="138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Which choice needs support?</a:t>
            </a:r>
            <a:endParaRPr lang="en-US" sz="1900"/>
          </a:p>
        </p:txBody>
      </p:sp>
      <p:sp>
        <p:nvSpPr>
          <p:cNvPr id="8" name="Shape 8"/>
          <p:cNvSpPr/>
          <p:nvPr/>
        </p:nvSpPr>
        <p:spPr>
          <a:xfrm>
            <a:off x="850000" y="231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50000" y="226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Goal</a:t>
            </a:r>
            <a:endParaRPr lang="en-US" sz="2100"/>
          </a:p>
        </p:txBody>
      </p:sp>
      <p:sp>
        <p:nvSpPr>
          <p:cNvPr id="10" name="Text 10"/>
          <p:cNvSpPr txBox="1"/>
          <p:nvPr/>
        </p:nvSpPr>
        <p:spPr>
          <a:xfrm>
            <a:off x="4250000" y="226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does a good outcome mean?</a:t>
            </a:r>
            <a:endParaRPr lang="en-US" sz="1900"/>
          </a:p>
        </p:txBody>
      </p:sp>
      <p:sp>
        <p:nvSpPr>
          <p:cNvPr id="11" name="Shape 11"/>
          <p:cNvSpPr/>
          <p:nvPr/>
        </p:nvSpPr>
        <p:spPr>
          <a:xfrm>
            <a:off x="850000" y="319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350000" y="314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Information</a:t>
            </a:r>
            <a:endParaRPr lang="en-US" sz="2100"/>
          </a:p>
        </p:txBody>
      </p:sp>
      <p:sp>
        <p:nvSpPr>
          <p:cNvPr id="13" name="Text 13"/>
          <p:cNvSpPr txBox="1"/>
          <p:nvPr/>
        </p:nvSpPr>
        <p:spPr>
          <a:xfrm>
            <a:off x="4250000" y="314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is happening, and what may happen next?</a:t>
            </a:r>
            <a:endParaRPr lang="en-US" sz="1900"/>
          </a:p>
        </p:txBody>
      </p:sp>
      <p:sp>
        <p:nvSpPr>
          <p:cNvPr id="14" name="Shape 14"/>
          <p:cNvSpPr/>
          <p:nvPr/>
        </p:nvSpPr>
        <p:spPr>
          <a:xfrm>
            <a:off x="850000" y="407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350000" y="402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Constraints</a:t>
            </a:r>
            <a:endParaRPr lang="en-US" sz="2100"/>
          </a:p>
        </p:txBody>
      </p:sp>
      <p:sp>
        <p:nvSpPr>
          <p:cNvPr id="16" name="Text 16"/>
          <p:cNvSpPr txBox="1"/>
          <p:nvPr/>
        </p:nvSpPr>
        <p:spPr>
          <a:xfrm>
            <a:off x="4250000" y="402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limits, rules, or requirements apply?</a:t>
            </a:r>
            <a:endParaRPr lang="en-US" sz="1900"/>
          </a:p>
        </p:txBody>
      </p:sp>
      <p:sp>
        <p:nvSpPr>
          <p:cNvPr id="17" name="Shape 17"/>
          <p:cNvSpPr/>
          <p:nvPr/>
        </p:nvSpPr>
        <p:spPr>
          <a:xfrm>
            <a:off x="850000" y="4950000"/>
            <a:ext cx="260000" cy="26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350000" y="490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Possible actions</a:t>
            </a:r>
            <a:endParaRPr lang="en-US" sz="2100"/>
          </a:p>
        </p:txBody>
      </p:sp>
      <p:sp>
        <p:nvSpPr>
          <p:cNvPr id="19" name="Text 19"/>
          <p:cNvSpPr txBox="1"/>
          <p:nvPr/>
        </p:nvSpPr>
        <p:spPr>
          <a:xfrm>
            <a:off x="4250000" y="4900000"/>
            <a:ext cx="68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900" b="0" i="0">
                <a:solidFill>
                  <a:srgbClr val="243B53"/>
                </a:solidFill>
                <a:latin typeface="Aptos"/>
              </a:rPr>
              <a:t>What can the organization actually do?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How it produces a recommendation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DECISION PROCESS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04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1130000" y="1800000"/>
            <a:ext cx="430000" cy="43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130000" y="1800000"/>
            <a:ext cx="4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FFFFFF"/>
                </a:solidFill>
                <a:latin typeface="Aptos"/>
              </a:rPr>
              <a:t>1</a:t>
            </a:r>
            <a:endParaRPr lang="en-US" sz="1700"/>
          </a:p>
        </p:txBody>
      </p:sp>
      <p:sp>
        <p:nvSpPr>
          <p:cNvPr id="20" name="Text 20"/>
          <p:cNvSpPr txBox="1"/>
          <p:nvPr/>
        </p:nvSpPr>
        <p:spPr>
          <a:xfrm>
            <a:off x="650000" y="245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Define the decision</a:t>
            </a:r>
            <a:endParaRPr lang="en-US" sz="1700"/>
          </a:p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and desired outcome</a:t>
            </a:r>
            <a:endParaRPr lang="en-US" sz="1700"/>
          </a:p>
        </p:txBody>
      </p:sp>
      <p:sp>
        <p:nvSpPr>
          <p:cNvPr id="30" name="Shape 30"/>
          <p:cNvSpPr/>
          <p:nvPr/>
        </p:nvSpPr>
        <p:spPr>
          <a:xfrm>
            <a:off x="1770000" y="1970000"/>
            <a:ext cx="1000000" cy="90000"/>
          </a:xfrm>
          <a:prstGeom prst="rect">
            <a:avLst/>
          </a:prstGeom>
          <a:solidFill>
            <a:srgbClr val="D7E3ED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3380000" y="1800000"/>
            <a:ext cx="430000" cy="43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3380000" y="1800000"/>
            <a:ext cx="4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FFFFFF"/>
                </a:solidFill>
                <a:latin typeface="Aptos"/>
              </a:rPr>
              <a:t>2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2900000" y="245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Estimate possible</a:t>
            </a:r>
            <a:endParaRPr lang="en-US" sz="1700"/>
          </a:p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conditions and outcomes</a:t>
            </a:r>
            <a:endParaRPr lang="en-US" sz="1700"/>
          </a:p>
        </p:txBody>
      </p:sp>
      <p:sp>
        <p:nvSpPr>
          <p:cNvPr id="31" name="Shape 31"/>
          <p:cNvSpPr/>
          <p:nvPr/>
        </p:nvSpPr>
        <p:spPr>
          <a:xfrm>
            <a:off x="4020000" y="1970000"/>
            <a:ext cx="1000000" cy="90000"/>
          </a:xfrm>
          <a:prstGeom prst="rect">
            <a:avLst/>
          </a:prstGeom>
          <a:solidFill>
            <a:srgbClr val="D7E3ED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5630000" y="1800000"/>
            <a:ext cx="430000" cy="43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630000" y="1800000"/>
            <a:ext cx="4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FFFFFF"/>
                </a:solidFill>
                <a:latin typeface="Aptos"/>
              </a:rPr>
              <a:t>3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5150000" y="245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Apply budgets, capacity,</a:t>
            </a:r>
            <a:endParaRPr lang="en-US" sz="1700"/>
          </a:p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deadlines, and rules</a:t>
            </a:r>
            <a:endParaRPr lang="en-US" sz="1700"/>
          </a:p>
        </p:txBody>
      </p:sp>
      <p:sp>
        <p:nvSpPr>
          <p:cNvPr id="32" name="Shape 32"/>
          <p:cNvSpPr/>
          <p:nvPr/>
        </p:nvSpPr>
        <p:spPr>
          <a:xfrm>
            <a:off x="6270000" y="1970000"/>
            <a:ext cx="1000000" cy="90000"/>
          </a:xfrm>
          <a:prstGeom prst="rect">
            <a:avLst/>
          </a:prstGeom>
          <a:solidFill>
            <a:srgbClr val="D7E3ED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7880000" y="1800000"/>
            <a:ext cx="430000" cy="43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880000" y="1800000"/>
            <a:ext cx="4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FFFFFF"/>
                </a:solidFill>
                <a:latin typeface="Aptos"/>
              </a:rPr>
              <a:t>4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7400000" y="245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Compare feasible actions</a:t>
            </a:r>
            <a:endParaRPr lang="en-US" sz="1700"/>
          </a:p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and trade-offs</a:t>
            </a:r>
            <a:endParaRPr lang="en-US" sz="1700"/>
          </a:p>
        </p:txBody>
      </p:sp>
      <p:sp>
        <p:nvSpPr>
          <p:cNvPr id="33" name="Shape 33"/>
          <p:cNvSpPr/>
          <p:nvPr/>
        </p:nvSpPr>
        <p:spPr>
          <a:xfrm>
            <a:off x="8520000" y="1970000"/>
            <a:ext cx="1000000" cy="90000"/>
          </a:xfrm>
          <a:prstGeom prst="rect">
            <a:avLst/>
          </a:prstGeom>
          <a:solidFill>
            <a:srgbClr val="D7E3ED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10130000" y="1800000"/>
            <a:ext cx="430000" cy="43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0130000" y="1800000"/>
            <a:ext cx="43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FFFFFF"/>
                </a:solidFill>
                <a:latin typeface="Aptos"/>
              </a:rPr>
              <a:t>5</a:t>
            </a:r>
            <a:endParaRPr lang="en-US" sz="1700"/>
          </a:p>
        </p:txBody>
      </p:sp>
      <p:sp>
        <p:nvSpPr>
          <p:cNvPr id="24" name="Text 24"/>
          <p:cNvSpPr txBox="1"/>
          <p:nvPr/>
        </p:nvSpPr>
        <p:spPr>
          <a:xfrm>
            <a:off x="9650000" y="2450000"/>
            <a:ext cx="145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Recommend for review</a:t>
            </a:r>
            <a:endParaRPr lang="en-US" sz="1700"/>
          </a:p>
          <a:p>
            <a:pPr algn="ctr"/>
            <a:r>
              <a:rPr lang="en-US" sz="1700" b="1" i="0">
                <a:solidFill>
                  <a:srgbClr val="102A43"/>
                </a:solidFill>
                <a:latin typeface="Aptos"/>
              </a:rPr>
              <a:t>or execution</a:t>
            </a:r>
            <a:endParaRPr lang="en-US" sz="1700"/>
          </a:p>
        </p:txBody>
      </p:sp>
      <p:sp>
        <p:nvSpPr>
          <p:cNvPr id="40" name="Text 40"/>
          <p:cNvSpPr txBox="1"/>
          <p:nvPr/>
        </p:nvSpPr>
        <p:spPr>
          <a:xfrm>
            <a:off x="1000000" y="4400000"/>
            <a:ext cx="100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100" b="1" i="0">
                <a:solidFill>
                  <a:srgbClr val="145DA0"/>
                </a:solidFill>
                <a:latin typeface="Aptos"/>
              </a:rPr>
              <a:t>Optimization searches for actions that best meet the stated goal.</a:t>
            </a: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Delivery planning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EXAMPLE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05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760000" y="1600000"/>
            <a:ext cx="10800000" cy="3600000"/>
          </a:xfrm>
          <a:prstGeom prst="rect">
            <a:avLst/>
          </a:prstGeom>
          <a:solidFill>
            <a:srgbClr val="EAF3FA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100000" y="190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i="0">
                <a:solidFill>
                  <a:srgbClr val="145DA0"/>
                </a:solidFill>
                <a:latin typeface="Aptos"/>
              </a:rPr>
              <a:t>GOAL</a:t>
            </a:r>
            <a:endParaRPr lang="en-US" sz="1200"/>
          </a:p>
        </p:txBody>
      </p:sp>
      <p:sp>
        <p:nvSpPr>
          <p:cNvPr id="7" name="Text 7"/>
          <p:cNvSpPr txBox="1"/>
          <p:nvPr/>
        </p:nvSpPr>
        <p:spPr>
          <a:xfrm>
            <a:off x="1100000" y="2280000"/>
            <a:ext cx="35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Deliver on time while controlling fuel use.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5100000" y="1900000"/>
            <a:ext cx="56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200" b="1" i="0">
                <a:solidFill>
                  <a:srgbClr val="145DA0"/>
                </a:solidFill>
                <a:latin typeface="Aptos"/>
              </a:rPr>
              <a:t>INFORMATION + CONSTRAINTS</a:t>
            </a:r>
            <a:endParaRPr lang="en-US" sz="1200"/>
          </a:p>
        </p:txBody>
      </p:sp>
      <p:sp>
        <p:nvSpPr>
          <p:cNvPr id="9" name="Text 9"/>
          <p:cNvSpPr txBox="1"/>
          <p:nvPr/>
        </p:nvSpPr>
        <p:spPr>
          <a:xfrm>
            <a:off x="5100000" y="2280000"/>
            <a:ext cx="56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50" b="0" i="0">
                <a:solidFill>
                  <a:srgbClr val="243B53"/>
                </a:solidFill>
                <a:latin typeface="Aptos"/>
              </a:rPr>
              <a:t>Locations, traffic, vehicle capacity, delivery windows, driver hours, road limits, and vehicle availability.</a:t>
            </a:r>
            <a:endParaRPr lang="en-US" sz="1850"/>
          </a:p>
        </p:txBody>
      </p:sp>
      <p:sp>
        <p:nvSpPr>
          <p:cNvPr id="10" name="Shape 10"/>
          <p:cNvSpPr/>
          <p:nvPr/>
        </p:nvSpPr>
        <p:spPr>
          <a:xfrm>
            <a:off x="1100000" y="3650000"/>
            <a:ext cx="10000000" cy="110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100000" y="4000000"/>
            <a:ext cx="10000000" cy="7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300" b="1" i="0">
                <a:solidFill>
                  <a:srgbClr val="102A43"/>
                </a:solidFill>
                <a:latin typeface="Aptos"/>
              </a:rPr>
              <a:t>Recommendation: a route plan that meets the schedule within those limits.</a:t>
            </a:r>
            <a:endParaRPr lang="en-US" sz="2300"/>
          </a:p>
        </p:txBody>
      </p:sp>
      <p:sp>
        <p:nvSpPr>
          <p:cNvPr id="12" name="Text 12"/>
          <p:cNvSpPr txBox="1"/>
          <p:nvPr/>
        </p:nvSpPr>
        <p:spPr>
          <a:xfrm>
            <a:off x="1100000" y="51000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0" i="0">
                <a:solidFill>
                  <a:srgbClr val="627D98"/>
                </a:solidFill>
                <a:latin typeface="Aptos"/>
              </a:rPr>
              <a:t>Change the goal or constraints, and the recommended routes may change.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Where it can help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EXAMPLE DECISIONS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06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760000" y="13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020000" y="14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Supply chain</a:t>
            </a:r>
            <a:endParaRPr lang="en-US" sz="1800"/>
          </a:p>
        </p:txBody>
      </p:sp>
      <p:sp>
        <p:nvSpPr>
          <p:cNvPr id="30" name="Text 30"/>
          <p:cNvSpPr txBox="1"/>
          <p:nvPr/>
        </p:nvSpPr>
        <p:spPr>
          <a:xfrm>
            <a:off x="4350000" y="14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much stock should go to each location?</a:t>
            </a:r>
            <a:endParaRPr lang="en-US" sz="1800"/>
          </a:p>
        </p:txBody>
      </p:sp>
      <p:sp>
        <p:nvSpPr>
          <p:cNvPr id="21" name="Text 21"/>
          <p:cNvSpPr txBox="1"/>
          <p:nvPr/>
        </p:nvSpPr>
        <p:spPr>
          <a:xfrm>
            <a:off x="1020000" y="230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Manufacturing</a:t>
            </a:r>
            <a:endParaRPr lang="en-US" sz="1800"/>
          </a:p>
        </p:txBody>
      </p:sp>
      <p:sp>
        <p:nvSpPr>
          <p:cNvPr id="31" name="Text 31"/>
          <p:cNvSpPr txBox="1"/>
          <p:nvPr/>
        </p:nvSpPr>
        <p:spPr>
          <a:xfrm>
            <a:off x="4350000" y="230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When should equipment be maintained?</a:t>
            </a:r>
            <a:endParaRPr lang="en-US" sz="1800"/>
          </a:p>
        </p:txBody>
      </p:sp>
      <p:sp>
        <p:nvSpPr>
          <p:cNvPr id="7" name="Shape 7"/>
          <p:cNvSpPr/>
          <p:nvPr/>
        </p:nvSpPr>
        <p:spPr>
          <a:xfrm>
            <a:off x="760000" y="30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020000" y="31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Healthcare operations</a:t>
            </a:r>
            <a:endParaRPr lang="en-US" sz="1800"/>
          </a:p>
        </p:txBody>
      </p:sp>
      <p:sp>
        <p:nvSpPr>
          <p:cNvPr id="32" name="Text 32"/>
          <p:cNvSpPr txBox="1"/>
          <p:nvPr/>
        </p:nvSpPr>
        <p:spPr>
          <a:xfrm>
            <a:off x="4350000" y="31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should staff and rooms be scheduled?</a:t>
            </a:r>
            <a:endParaRPr lang="en-US" sz="1800"/>
          </a:p>
        </p:txBody>
      </p:sp>
      <p:sp>
        <p:nvSpPr>
          <p:cNvPr id="23" name="Text 23"/>
          <p:cNvSpPr txBox="1"/>
          <p:nvPr/>
        </p:nvSpPr>
        <p:spPr>
          <a:xfrm>
            <a:off x="1020000" y="400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Finance</a:t>
            </a:r>
            <a:endParaRPr lang="en-US" sz="1800"/>
          </a:p>
        </p:txBody>
      </p:sp>
      <p:sp>
        <p:nvSpPr>
          <p:cNvPr id="33" name="Text 33"/>
          <p:cNvSpPr txBox="1"/>
          <p:nvPr/>
        </p:nvSpPr>
        <p:spPr>
          <a:xfrm>
            <a:off x="4350000" y="400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Which cases should investigators review first?</a:t>
            </a:r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760000" y="4780000"/>
            <a:ext cx="10700000" cy="700000"/>
          </a:xfrm>
          <a:prstGeom prst="rect">
            <a:avLst/>
          </a:prstGeom>
          <a:solidFill>
            <a:srgbClr val="F4F8F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1020000" y="4850000"/>
            <a:ext cx="30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45DA0"/>
                </a:solidFill>
                <a:latin typeface="Aptos"/>
              </a:rPr>
              <a:t>Customer service</a:t>
            </a:r>
            <a:endParaRPr lang="en-US" sz="1800"/>
          </a:p>
        </p:txBody>
      </p:sp>
      <p:sp>
        <p:nvSpPr>
          <p:cNvPr id="34" name="Text 34"/>
          <p:cNvSpPr txBox="1"/>
          <p:nvPr/>
        </p:nvSpPr>
        <p:spPr>
          <a:xfrm>
            <a:off x="4350000" y="4850000"/>
            <a:ext cx="65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243B53"/>
                </a:solidFill>
                <a:latin typeface="Aptos"/>
              </a:rPr>
              <a:t>How should a limited team prioritize requests?</a:t>
            </a:r>
            <a:endParaRPr lang="en-US" sz="1800"/>
          </a:p>
        </p:txBody>
      </p:sp>
      <p:sp>
        <p:nvSpPr>
          <p:cNvPr id="50" name="Text 50"/>
          <p:cNvSpPr txBox="1"/>
          <p:nvPr/>
        </p:nvSpPr>
        <p:spPr>
          <a:xfrm>
            <a:off x="1000000" y="575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650" b="0" i="0">
                <a:solidFill>
                  <a:srgbClr val="627D98"/>
                </a:solidFill>
                <a:latin typeface="Aptos"/>
              </a:rPr>
              <a:t>Each application connects a real decision to goals and constraints.</a:t>
            </a:r>
            <a:endParaRPr lang="en-US"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How it differs from other analytics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ANALYTICS QUESTIONS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07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780000" y="1400000"/>
            <a:ext cx="10600000" cy="78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050000" y="1480000"/>
            <a:ext cx="2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1" i="0">
                <a:solidFill>
                  <a:srgbClr val="627D98"/>
                </a:solidFill>
                <a:latin typeface="Aptos"/>
              </a:rPr>
              <a:t>DESCRIPTIVE</a:t>
            </a:r>
            <a:endParaRPr lang="en-US" sz="1450"/>
          </a:p>
        </p:txBody>
      </p:sp>
      <p:sp>
        <p:nvSpPr>
          <p:cNvPr id="7" name="Text 7"/>
          <p:cNvSpPr txBox="1"/>
          <p:nvPr/>
        </p:nvSpPr>
        <p:spPr>
          <a:xfrm>
            <a:off x="3550000" y="1480000"/>
            <a:ext cx="41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102A43"/>
                </a:solidFill>
                <a:latin typeface="Aptos"/>
              </a:rPr>
              <a:t>What happened?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7800000" y="1480000"/>
            <a:ext cx="3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Reports and summaries</a:t>
            </a:r>
            <a:endParaRPr lang="en-US" sz="1550"/>
          </a:p>
        </p:txBody>
      </p:sp>
      <p:sp>
        <p:nvSpPr>
          <p:cNvPr id="9" name="Shape 9"/>
          <p:cNvSpPr/>
          <p:nvPr/>
        </p:nvSpPr>
        <p:spPr>
          <a:xfrm>
            <a:off x="780000" y="2320000"/>
            <a:ext cx="10600000" cy="78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50000" y="2400000"/>
            <a:ext cx="2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1" i="0">
                <a:solidFill>
                  <a:srgbClr val="627D98"/>
                </a:solidFill>
                <a:latin typeface="Aptos"/>
              </a:rPr>
              <a:t>DIAGNOSTIC</a:t>
            </a:r>
            <a:endParaRPr lang="en-US" sz="1450"/>
          </a:p>
        </p:txBody>
      </p:sp>
      <p:sp>
        <p:nvSpPr>
          <p:cNvPr id="11" name="Text 11"/>
          <p:cNvSpPr txBox="1"/>
          <p:nvPr/>
        </p:nvSpPr>
        <p:spPr>
          <a:xfrm>
            <a:off x="3550000" y="2400000"/>
            <a:ext cx="41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102A43"/>
                </a:solidFill>
                <a:latin typeface="Aptos"/>
              </a:rPr>
              <a:t>Why did it happen?</a:t>
            </a:r>
            <a:endParaRPr lang="en-US" sz="1800"/>
          </a:p>
        </p:txBody>
      </p:sp>
      <p:sp>
        <p:nvSpPr>
          <p:cNvPr id="12" name="Text 12"/>
          <p:cNvSpPr txBox="1"/>
          <p:nvPr/>
        </p:nvSpPr>
        <p:spPr>
          <a:xfrm>
            <a:off x="7800000" y="2400000"/>
            <a:ext cx="3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Explanations and factors</a:t>
            </a:r>
            <a:endParaRPr lang="en-US" sz="1550"/>
          </a:p>
        </p:txBody>
      </p:sp>
      <p:sp>
        <p:nvSpPr>
          <p:cNvPr id="13" name="Shape 13"/>
          <p:cNvSpPr/>
          <p:nvPr/>
        </p:nvSpPr>
        <p:spPr>
          <a:xfrm>
            <a:off x="780000" y="3240000"/>
            <a:ext cx="10600000" cy="780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050000" y="3320000"/>
            <a:ext cx="2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1" i="0">
                <a:solidFill>
                  <a:srgbClr val="627D98"/>
                </a:solidFill>
                <a:latin typeface="Aptos"/>
              </a:rPr>
              <a:t>PREDICTIVE</a:t>
            </a:r>
            <a:endParaRPr lang="en-US" sz="1450"/>
          </a:p>
        </p:txBody>
      </p:sp>
      <p:sp>
        <p:nvSpPr>
          <p:cNvPr id="15" name="Text 15"/>
          <p:cNvSpPr txBox="1"/>
          <p:nvPr/>
        </p:nvSpPr>
        <p:spPr>
          <a:xfrm>
            <a:off x="3550000" y="3320000"/>
            <a:ext cx="41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0" i="0">
                <a:solidFill>
                  <a:srgbClr val="102A43"/>
                </a:solidFill>
                <a:latin typeface="Aptos"/>
              </a:rPr>
              <a:t>What may happen?</a:t>
            </a:r>
            <a:endParaRPr lang="en-US" sz="1800"/>
          </a:p>
        </p:txBody>
      </p:sp>
      <p:sp>
        <p:nvSpPr>
          <p:cNvPr id="16" name="Text 16"/>
          <p:cNvSpPr txBox="1"/>
          <p:nvPr/>
        </p:nvSpPr>
        <p:spPr>
          <a:xfrm>
            <a:off x="7800000" y="3320000"/>
            <a:ext cx="3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Forecasts and probabilities</a:t>
            </a:r>
            <a:endParaRPr lang="en-US" sz="1550"/>
          </a:p>
        </p:txBody>
      </p:sp>
      <p:sp>
        <p:nvSpPr>
          <p:cNvPr id="17" name="Shape 17"/>
          <p:cNvSpPr/>
          <p:nvPr/>
        </p:nvSpPr>
        <p:spPr>
          <a:xfrm>
            <a:off x="780000" y="4160000"/>
            <a:ext cx="10600000" cy="780000"/>
          </a:xfrm>
          <a:prstGeom prst="rect">
            <a:avLst/>
          </a:prstGeom>
          <a:solidFill>
            <a:srgbClr val="EAF3FA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050000" y="4240000"/>
            <a:ext cx="2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450" b="1" i="0">
                <a:solidFill>
                  <a:srgbClr val="145DA0"/>
                </a:solidFill>
                <a:latin typeface="Aptos"/>
              </a:rPr>
              <a:t>PRESCRIPTIVE</a:t>
            </a:r>
            <a:endParaRPr lang="en-US" sz="1450"/>
          </a:p>
        </p:txBody>
      </p:sp>
      <p:sp>
        <p:nvSpPr>
          <p:cNvPr id="19" name="Text 19"/>
          <p:cNvSpPr txBox="1"/>
          <p:nvPr/>
        </p:nvSpPr>
        <p:spPr>
          <a:xfrm>
            <a:off x="3550000" y="4240000"/>
            <a:ext cx="41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800" b="1" i="0">
                <a:solidFill>
                  <a:srgbClr val="102A43"/>
                </a:solidFill>
                <a:latin typeface="Aptos"/>
              </a:rPr>
              <a:t>What action should we take?</a:t>
            </a:r>
            <a:endParaRPr lang="en-US" sz="1800"/>
          </a:p>
        </p:txBody>
      </p:sp>
      <p:sp>
        <p:nvSpPr>
          <p:cNvPr id="20" name="Text 20"/>
          <p:cNvSpPr txBox="1"/>
          <p:nvPr/>
        </p:nvSpPr>
        <p:spPr>
          <a:xfrm>
            <a:off x="7800000" y="4240000"/>
            <a:ext cx="3300000" cy="43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550" b="0" i="0">
                <a:solidFill>
                  <a:srgbClr val="243B53"/>
                </a:solidFill>
                <a:latin typeface="Aptos"/>
              </a:rPr>
              <a:t>Recommended or optimized actions</a:t>
            </a:r>
            <a:endParaRPr lang="en-US" sz="1550"/>
          </a:p>
        </p:txBody>
      </p:sp>
      <p:sp>
        <p:nvSpPr>
          <p:cNvPr id="40" name="Text 40"/>
          <p:cNvSpPr txBox="1"/>
          <p:nvPr/>
        </p:nvSpPr>
        <p:spPr>
          <a:xfrm>
            <a:off x="1000000" y="55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0" i="0">
                <a:solidFill>
                  <a:srgbClr val="243B53"/>
                </a:solidFill>
                <a:latin typeface="Aptos"/>
              </a:rPr>
              <a:t>Prescriptive analytics uses findings and forecasts to evaluate choices against goals and constraints.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Good recommendations need good judgment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LIMITATIONS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08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1050000" y="1580000"/>
            <a:ext cx="210000" cy="210000"/>
          </a:xfrm>
          <a:prstGeom prst="ellipse">
            <a:avLst/>
          </a:prstGeom>
          <a:solidFill>
            <a:srgbClr val="E8893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500000" y="1500000"/>
            <a:ext cx="92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050" b="0" i="0">
                <a:solidFill>
                  <a:srgbClr val="243B53"/>
                </a:solidFill>
                <a:latin typeface="Aptos"/>
              </a:rPr>
              <a:t>A poorly chosen goal can produce an undesirable result.</a:t>
            </a:r>
            <a:endParaRPr lang="en-US" sz="2050"/>
          </a:p>
        </p:txBody>
      </p:sp>
      <p:sp>
        <p:nvSpPr>
          <p:cNvPr id="7" name="Shape 7"/>
          <p:cNvSpPr/>
          <p:nvPr/>
        </p:nvSpPr>
        <p:spPr>
          <a:xfrm>
            <a:off x="1050000" y="2430000"/>
            <a:ext cx="210000" cy="21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500000" y="2350000"/>
            <a:ext cx="92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050" b="0" i="0">
                <a:solidFill>
                  <a:srgbClr val="243B53"/>
                </a:solidFill>
                <a:latin typeface="Aptos"/>
              </a:rPr>
              <a:t>Incomplete or outdated data can distort the options.</a:t>
            </a:r>
            <a:endParaRPr lang="en-US" sz="2050"/>
          </a:p>
        </p:txBody>
      </p:sp>
      <p:sp>
        <p:nvSpPr>
          <p:cNvPr id="9" name="Shape 9"/>
          <p:cNvSpPr/>
          <p:nvPr/>
        </p:nvSpPr>
        <p:spPr>
          <a:xfrm>
            <a:off x="1050000" y="3280000"/>
            <a:ext cx="210000" cy="21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500000" y="3200000"/>
            <a:ext cx="92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050" b="0" i="0">
                <a:solidFill>
                  <a:srgbClr val="243B53"/>
                </a:solidFill>
                <a:latin typeface="Aptos"/>
              </a:rPr>
              <a:t>Recommendations depend on assumptions and constraints.</a:t>
            </a:r>
            <a:endParaRPr lang="en-US" sz="2050"/>
          </a:p>
        </p:txBody>
      </p:sp>
      <p:sp>
        <p:nvSpPr>
          <p:cNvPr id="11" name="Shape 11"/>
          <p:cNvSpPr/>
          <p:nvPr/>
        </p:nvSpPr>
        <p:spPr>
          <a:xfrm>
            <a:off x="1050000" y="4130000"/>
            <a:ext cx="210000" cy="210000"/>
          </a:xfrm>
          <a:prstGeom prst="ellipse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500000" y="4050000"/>
            <a:ext cx="9200000" cy="4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050" b="0" i="0">
                <a:solidFill>
                  <a:srgbClr val="243B53"/>
                </a:solidFill>
                <a:latin typeface="Aptos"/>
              </a:rPr>
              <a:t>People need a way to review decisions and results.</a:t>
            </a:r>
            <a:endParaRPr lang="en-US" sz="2050"/>
          </a:p>
        </p:txBody>
      </p:sp>
      <p:sp>
        <p:nvSpPr>
          <p:cNvPr id="20" name="Shape 20"/>
          <p:cNvSpPr/>
          <p:nvPr/>
        </p:nvSpPr>
        <p:spPr>
          <a:xfrm>
            <a:off x="1050000" y="5250000"/>
            <a:ext cx="10200000" cy="650000"/>
          </a:xfrm>
          <a:prstGeom prst="rect">
            <a:avLst/>
          </a:prstGeom>
          <a:solidFill>
            <a:srgbClr val="EAF3FA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300000" y="5370000"/>
            <a:ext cx="97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950" b="1" i="0">
                <a:solidFill>
                  <a:srgbClr val="145DA0"/>
                </a:solidFill>
                <a:latin typeface="Aptos"/>
              </a:rPr>
              <a:t>Ask: What is being optimized, and what might the model be missing?</a:t>
            </a:r>
            <a:endParaRPr lang="en-US" sz="1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From recommendation to responsible action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REVIEW AND OVERSIGHT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09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1000000" y="15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000000" y="15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0" name="Text 20"/>
          <p:cNvSpPr txBox="1"/>
          <p:nvPr/>
        </p:nvSpPr>
        <p:spPr>
          <a:xfrm>
            <a:off x="1600000" y="15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Understand the main trade-offs</a:t>
            </a:r>
            <a:endParaRPr lang="en-US" sz="2100"/>
          </a:p>
        </p:txBody>
      </p:sp>
      <p:sp>
        <p:nvSpPr>
          <p:cNvPr id="7" name="Shape 7"/>
          <p:cNvSpPr/>
          <p:nvPr/>
        </p:nvSpPr>
        <p:spPr>
          <a:xfrm>
            <a:off x="1000000" y="24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00000" y="24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1" name="Text 21"/>
          <p:cNvSpPr txBox="1"/>
          <p:nvPr/>
        </p:nvSpPr>
        <p:spPr>
          <a:xfrm>
            <a:off x="1600000" y="24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Approve or challenge the proposed action</a:t>
            </a:r>
            <a:endParaRPr lang="en-US" sz="2100"/>
          </a:p>
        </p:txBody>
      </p:sp>
      <p:sp>
        <p:nvSpPr>
          <p:cNvPr id="9" name="Shape 9"/>
          <p:cNvSpPr/>
          <p:nvPr/>
        </p:nvSpPr>
        <p:spPr>
          <a:xfrm>
            <a:off x="1000000" y="33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000000" y="33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1600000" y="33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Measure what happened afterward</a:t>
            </a:r>
            <a:endParaRPr lang="en-US" sz="2100"/>
          </a:p>
        </p:txBody>
      </p:sp>
      <p:sp>
        <p:nvSpPr>
          <p:cNvPr id="11" name="Shape 11"/>
          <p:cNvSpPr/>
          <p:nvPr/>
        </p:nvSpPr>
        <p:spPr>
          <a:xfrm>
            <a:off x="1000000" y="4250000"/>
            <a:ext cx="380000" cy="380000"/>
          </a:xfrm>
          <a:prstGeom prst="ellipse">
            <a:avLst/>
          </a:prstGeom>
          <a:solidFill>
            <a:srgbClr val="EAF3FA"/>
          </a:solidFill>
          <a:ln w="12700">
            <a:solidFill>
              <a:srgbClr val="145DA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1000000" y="4250000"/>
            <a:ext cx="38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1" i="0">
                <a:solidFill>
                  <a:srgbClr val="145DA0"/>
                </a:solidFill>
                <a:latin typeface="Aptos"/>
              </a:rPr>
              <a:t>✓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1600000" y="4210000"/>
            <a:ext cx="9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2100" b="1" i="0">
                <a:solidFill>
                  <a:srgbClr val="102A43"/>
                </a:solidFill>
                <a:latin typeface="Aptos"/>
              </a:rPr>
              <a:t>Adjust the approach when conditions change</a:t>
            </a:r>
            <a:endParaRPr lang="en-US" sz="2100"/>
          </a:p>
        </p:txBody>
      </p:sp>
      <p:sp>
        <p:nvSpPr>
          <p:cNvPr id="30" name="Text 30"/>
          <p:cNvSpPr txBox="1"/>
          <p:nvPr/>
        </p:nvSpPr>
        <p:spPr>
          <a:xfrm>
            <a:off x="1300000" y="5450000"/>
            <a:ext cx="95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1700" b="0" i="0">
                <a:solidFill>
                  <a:srgbClr val="627D98"/>
                </a:solidFill>
                <a:latin typeface="Aptos"/>
              </a:rPr>
              <a:t>Automation can fit routine decisions when rules and oversight are clear.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355600"/>
            <a:ext cx="10668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3200" b="1" i="0">
                <a:solidFill>
                  <a:srgbClr val="102A43"/>
                </a:solidFill>
                <a:latin typeface="Aptos"/>
              </a:rPr>
              <a:t>The central idea</a:t>
            </a:r>
            <a:endParaRPr lang="en-US" sz="3200"/>
          </a:p>
        </p:txBody>
      </p:sp>
      <p:sp>
        <p:nvSpPr>
          <p:cNvPr id="4" name="Text 4"/>
          <p:cNvSpPr txBox="1"/>
          <p:nvPr/>
        </p:nvSpPr>
        <p:spPr>
          <a:xfrm>
            <a:off x="685800" y="180000"/>
            <a:ext cx="10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1050" b="1" i="0">
                <a:solidFill>
                  <a:srgbClr val="145DA0"/>
                </a:solidFill>
                <a:latin typeface="Aptos"/>
              </a:rPr>
              <a:t>SUMMARY</a:t>
            </a:r>
            <a:endParaRPr lang="en-US" sz="1050"/>
          </a:p>
        </p:txBody>
      </p:sp>
      <p:sp>
        <p:nvSpPr>
          <p:cNvPr id="90" name="Text 90"/>
          <p:cNvSpPr txBox="1"/>
          <p:nvPr/>
        </p:nvSpPr>
        <p:spPr>
          <a:xfrm>
            <a:off x="11000000" y="6450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/>
            <a:r>
              <a:rPr lang="en-US" sz="1100" b="1" i="0">
                <a:solidFill>
                  <a:srgbClr val="627D98"/>
                </a:solidFill>
                <a:latin typeface="Aptos"/>
              </a:rPr>
              <a:t>10</a:t>
            </a:r>
            <a:endParaRPr lang="en-US" sz="1100"/>
          </a:p>
        </p:txBody>
      </p:sp>
      <p:sp>
        <p:nvSpPr>
          <p:cNvPr id="5" name="Shape 5"/>
          <p:cNvSpPr/>
          <p:nvPr/>
        </p:nvSpPr>
        <p:spPr>
          <a:xfrm>
            <a:off x="850000" y="1650000"/>
            <a:ext cx="10300000" cy="2450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50000" y="1950000"/>
            <a:ext cx="95000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600" b="1" i="0">
                <a:solidFill>
                  <a:srgbClr val="FFFFFF"/>
                </a:solidFill>
                <a:latin typeface="Aptos"/>
              </a:rPr>
              <a:t>Evaluate possible actions using available information, a defined goal, and real-world constraints.</a:t>
            </a:r>
            <a:endParaRPr lang="en-US" sz="2600"/>
          </a:p>
        </p:txBody>
      </p:sp>
      <p:sp>
        <p:nvSpPr>
          <p:cNvPr id="7" name="Text 7"/>
          <p:cNvSpPr txBox="1"/>
          <p:nvPr/>
        </p:nvSpPr>
        <p:spPr>
          <a:xfrm>
            <a:off x="1100000" y="4550000"/>
            <a:ext cx="10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200" b="1" i="0">
                <a:solidFill>
                  <a:srgbClr val="145DA0"/>
                </a:solidFill>
                <a:latin typeface="Aptos"/>
              </a:rPr>
              <a:t>A structured basis for choosing what to do.</a:t>
            </a:r>
            <a:endParaRPr lang="en-US" sz="2200"/>
          </a:p>
        </p:txBody>
      </p:sp>
      <p:sp>
        <p:nvSpPr>
          <p:cNvPr id="8" name="Text 8"/>
          <p:cNvSpPr txBox="1"/>
          <p:nvPr/>
        </p:nvSpPr>
        <p:spPr>
          <a:xfrm>
            <a:off x="1100000" y="55000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/>
            <a:r>
              <a:rPr lang="en-US" sz="2300" b="1" i="0">
                <a:solidFill>
                  <a:srgbClr val="102A43"/>
                </a:solidFill>
                <a:latin typeface="Aptos"/>
              </a:rPr>
              <a:t>Questions?</a:t>
            </a:r>
            <a:endParaRPr lang="en-US" sz="2300"/>
          </a:p>
        </p:txBody>
      </p:sp>
      <p:sp>
        <p:nvSpPr>
          <p:cNvPr id="9" name="Text 9"/>
          <p:cNvSpPr txBox="1"/>
          <p:nvPr/>
        </p:nvSpPr>
        <p:spPr>
          <a:xfrm>
            <a:off x="800000" y="6350000"/>
            <a:ext cx="10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l"/>
            <a:r>
              <a:rPr lang="en-US" sz="950" b="0" i="1">
                <a:solidFill>
                  <a:srgbClr val="627D98"/>
                </a:solidFill>
                <a:latin typeface="Aptos"/>
              </a:rPr>
              <a:t>Further reading: IBM Think, “What is prescriptive analytics?”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02A43"/>
      </a:dk1>
      <a:lt1>
        <a:srgbClr val="FFFFFF"/>
      </a:lt1>
      <a:dk2>
        <a:srgbClr val="243B53"/>
      </a:dk2>
      <a:lt2>
        <a:srgbClr val="F4F8FB"/>
      </a:lt2>
      <a:accent1>
        <a:srgbClr val="145DA0"/>
      </a:accent1>
      <a:accent2>
        <a:srgbClr val="E88936"/>
      </a:accent2>
      <a:accent3>
        <a:srgbClr val="74A9D8"/>
      </a:accent3>
      <a:accent4>
        <a:srgbClr val="627D98"/>
      </a:accent4>
      <a:accent5>
        <a:srgbClr val="EAF3FA"/>
      </a:accent5>
      <a:accent6>
        <a:srgbClr val="D7E3ED"/>
      </a:accent6>
      <a:hlink>
        <a:srgbClr val="145DA0"/>
      </a:hlink>
      <a:folHlink>
        <a:srgbClr val="627D9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